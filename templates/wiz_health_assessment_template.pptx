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75" r:id="rId6"/>
    <p:sldId id="259" r:id="rId7"/>
    <p:sldId id="260" r:id="rId8"/>
    <p:sldId id="261" r:id="rId9"/>
    <p:sldId id="276" r:id="rId10"/>
    <p:sldId id="262" r:id="rId11"/>
    <p:sldId id="263" r:id="rId12"/>
    <p:sldId id="264" r:id="rId13"/>
    <p:sldId id="265" r:id="rId14"/>
    <p:sldId id="266" r:id="rId15"/>
    <p:sldId id="267" r:id="rId16"/>
    <p:sldId id="268" r:id="rId17"/>
    <p:sldId id="277" r:id="rId18"/>
    <p:sldId id="269" r:id="rId19"/>
    <p:sldId id="270" r:id="rId20"/>
    <p:sldId id="278" r:id="rId21"/>
    <p:sldId id="271" r:id="rId22"/>
    <p:sldId id="272" r:id="rId23"/>
    <p:sldId id="273" r:id="rId24"/>
    <p:sldId id="274"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italic r:id="rId32"/>
    </p:embeddedFont>
    <p:embeddedFont>
      <p:font typeface="Poppins Light" panose="000004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4" d="100"/>
          <a:sy n="84" d="100"/>
        </p:scale>
        <p:origin x="1848" y="9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28600" algn="l" rtl="0">
              <a:lnSpc>
                <a:spcPct val="115000"/>
              </a:lnSpc>
              <a:spcBef>
                <a:spcPts val="1200"/>
              </a:spcBef>
              <a:spcAft>
                <a:spcPts val="0"/>
              </a:spcAft>
              <a:buClr>
                <a:schemeClr val="dk1"/>
              </a:buClr>
              <a:buSzPts val="1100"/>
              <a:buNone/>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5"/>
        <p:cNvGrpSpPr/>
        <p:nvPr/>
      </p:nvGrpSpPr>
      <p:grpSpPr>
        <a:xfrm>
          <a:off x="0" y="0"/>
          <a:ext cx="0" cy="0"/>
          <a:chOff x="0" y="0"/>
          <a:chExt cx="0" cy="0"/>
        </a:xfrm>
      </p:grpSpPr>
      <p:sp>
        <p:nvSpPr>
          <p:cNvPr id="1336" name="Google Shape;1336;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7" name="Google Shape;1337;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p>
        </p:txBody>
      </p:sp>
      <p:sp>
        <p:nvSpPr>
          <p:cNvPr id="1338" name="Google Shape;1338;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6"/>
        <p:cNvGrpSpPr/>
        <p:nvPr/>
      </p:nvGrpSpPr>
      <p:grpSpPr>
        <a:xfrm>
          <a:off x="0" y="0"/>
          <a:ext cx="0" cy="0"/>
          <a:chOff x="0" y="0"/>
          <a:chExt cx="0" cy="0"/>
        </a:xfrm>
      </p:grpSpPr>
      <p:sp>
        <p:nvSpPr>
          <p:cNvPr id="1357" name="Google Shape;1357;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8" name="Google Shape;1358;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9" name="Google Shape;1359;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None/>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None/>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8"/>
        <p:cNvGrpSpPr/>
        <p:nvPr/>
      </p:nvGrpSpPr>
      <p:grpSpPr>
        <a:xfrm>
          <a:off x="0" y="0"/>
          <a:ext cx="0" cy="0"/>
          <a:chOff x="0" y="0"/>
          <a:chExt cx="0" cy="0"/>
        </a:xfrm>
      </p:grpSpPr>
      <p:sp>
        <p:nvSpPr>
          <p:cNvPr id="1389" name="Google Shape;1389;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90" name="Google Shape;1390;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p>
        </p:txBody>
      </p:sp>
      <p:sp>
        <p:nvSpPr>
          <p:cNvPr id="1391" name="Google Shape;1391;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None/>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9"/>
        <p:cNvGrpSpPr/>
        <p:nvPr/>
      </p:nvGrpSpPr>
      <p:grpSpPr>
        <a:xfrm>
          <a:off x="0" y="0"/>
          <a:ext cx="0" cy="0"/>
          <a:chOff x="0" y="0"/>
          <a:chExt cx="0" cy="0"/>
        </a:xfrm>
      </p:grpSpPr>
      <p:sp>
        <p:nvSpPr>
          <p:cNvPr id="1410" name="Google Shape;1410;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11" name="Google Shape;1411;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2" name="Google Shape;1412;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0"/>
        <p:cNvGrpSpPr/>
        <p:nvPr/>
      </p:nvGrpSpPr>
      <p:grpSpPr>
        <a:xfrm>
          <a:off x="0" y="0"/>
          <a:ext cx="0" cy="0"/>
          <a:chOff x="0" y="0"/>
          <a:chExt cx="0" cy="0"/>
        </a:xfrm>
      </p:grpSpPr>
      <p:sp>
        <p:nvSpPr>
          <p:cNvPr id="1011" name="Google Shape;1011;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2" name="Google Shape;1012;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3" name="Google Shape;1013;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
        <p:cNvGrpSpPr/>
        <p:nvPr/>
      </p:nvGrpSpPr>
      <p:grpSpPr>
        <a:xfrm>
          <a:off x="0" y="0"/>
          <a:ext cx="0" cy="0"/>
          <a:chOff x="0" y="0"/>
          <a:chExt cx="0" cy="0"/>
        </a:xfrm>
      </p:grpSpPr>
      <p:sp>
        <p:nvSpPr>
          <p:cNvPr id="1204" name="Google Shape;1204;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5" name="Google Shape;1205;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6" name="Google Shape;1206;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3.png"/></Relationships>
</file>

<file path=ppt/slides/_rels/slide5.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51.png"/><Relationship Id="rId12" Type="http://schemas.openxmlformats.org/officeDocument/2006/relationships/image" Target="../media/image5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50.png"/><Relationship Id="rId11" Type="http://schemas.openxmlformats.org/officeDocument/2006/relationships/hyperlink" Target="https://app.wiz.io/inventory/containers/images" TargetMode="External"/><Relationship Id="rId5" Type="http://schemas.openxmlformats.org/officeDocument/2006/relationships/image" Target="../media/image49.png"/><Relationship Id="rId10" Type="http://schemas.openxmlformats.org/officeDocument/2006/relationships/hyperlink" Target="https://app.wiz.io/inventory/container-registries" TargetMode="External"/><Relationship Id="rId4" Type="http://schemas.openxmlformats.org/officeDocument/2006/relationships/image" Target="../media/image48.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6.xml.rels><?xml version="1.0" encoding="UTF-8" standalone="yes"?>
<Relationships xmlns="http://schemas.openxmlformats.org/package/2006/relationships"><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graphEntityCols%7E%28SECURITY_TOOL_SCAN%7E%28%7E%27status%7E%27analysisDate%7E%27lastSuccess%7E%27workloadAnalysisInfo_hasHighSeverityVulns%7E%27statusDetails%29%29%7Equery%7E%28type%7E%28%7E%27SECURITY_TOOL_SCAN%29%7Eselect%7Etrue%7Ewhere%7E%28dataSource_name%7E%28EQUALS%7E%28%7E%27Wiz*20Workload*20Scanner%29%29%7Estatus%7E%28EQUALS%7E%28%7E%27ScanStatusSuccess%29%29%29%29%29" TargetMode="External"/><Relationship Id="rId26"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29%29%29" TargetMode="External"/><Relationship Id="rId3" Type="http://schemas.openxmlformats.org/officeDocument/2006/relationships/image" Target="../media/image51.png"/><Relationship Id="rId21"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34"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7Estatus%7E%28EQUALS%7E%28%7E%27ScanStatusSkipped%29%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 Id="rId33"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7Estatus%7E%28EQUALS%7E%28%7E%27ScanStatusError%29%29%29%29%29" TargetMode="External"/><Relationship Id="rId2" Type="http://schemas.openxmlformats.org/officeDocument/2006/relationships/notesSlide" Target="../notesSlides/notesSlide6.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9"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2"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8"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7Estatus%7E%28EQUALS%7E%28%7E%27ScanStatusSkipped%29%29%29%29%29" TargetMode="External"/><Relationship Id="rId36"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graphEntityCols%7E%28SECURITY_TOOL_SCAN%7E%28%7E%27status%7E%27analysisDate%7E%27lastSuccess%7E%27workloadAnalysisInfo_hasHighSeverityVulns%7E%27statusDetails%29%29%7Equery%7E%28type%7E%28%7E%27SECURITY_TOOL_SCAN%29%7Eselect%7Etrue%7Ewhere%7E%28dataSource_name%7E%28EQUALS%7E%28%7E%27Wiz*20Workload*20Scanner%29%29%7Estatus%7E%28EQUALS%7E%28%7E%27ScanStatusSkipped%29%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31"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7Estatus%7E%28EQUALS%7E%28%7E%27ScanStatusSkipped%29%29%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7Equery%7E%28type%7E%28%7E%27SECURITY_TOOL_SCAN%29%7Eselect%7Etrue%7Ewhere%7E%28dataSource_name%7E%28EQUALS%7E%28%7E%27Wiz*20Data*20Scanner%29%29%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27"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7Estatus%7E%28EQUALS%7E%28%7E%27ScanStatusError%29%29%29%29%29" TargetMode="External"/><Relationship Id="rId30"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7Estatus%7E%28EQUALS%7E%28%7E%27ScanStatusError%29%29%29%29%29" TargetMode="External"/><Relationship Id="rId35"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graphEntityCols%7E%28SECURITY_TOOL_SCAN%7E%28%7E%27status%7E%27analysisDate%7E%27lastSuccess%7E%27workloadAnalysisInfo_hasHighSeverityVulns%7E%27statusDetails%29%29%7Equery%7E%28type%7E%28%7E%27SECURITY_TOOL_SCAN%29%7Eselect%7Etrue%7Ewhere%7E%28dataSource_name%7E%28EQUALS%7E%28%7E%27Wiz*20Workload*20Scanner%29%29%7Estatus%7E%28EQUALS%7E%28%7E%27ScanStatusError%29%29%29%29%29" TargetMode="External"/><Relationship Id="rId8" Type="http://schemas.openxmlformats.org/officeDocument/2006/relationships/image" Target="../media/image53.png"/></Relationships>
</file>

<file path=ppt/slides/_rels/slide7.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4.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7.xml"/><Relationship Id="rId16" Type="http://schemas.openxmlformats.org/officeDocument/2006/relationships/hyperlink" Target="https://app.wiz.io/boards/champion-center" TargetMode="External"/><Relationship Id="rId20" Type="http://schemas.openxmlformats.org/officeDocument/2006/relationships/image" Target="../media/image56.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5.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45.png"/><Relationship Id="rId7" Type="http://schemas.openxmlformats.org/officeDocument/2006/relationships/image" Target="../media/image6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57.png"/><Relationship Id="rId9"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6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65.png"/><Relationship Id="rId3" Type="http://schemas.openxmlformats.org/officeDocument/2006/relationships/image" Target="../media/image51.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66.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8.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67.png"/></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21.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2.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23.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a:ea typeface="Calibri"/>
                <a:cs typeface="Calibri"/>
                <a:sym typeface="Calibri"/>
              </a:rPr>
              <a:t>Tenant Health Assessment </a:t>
            </a:r>
            <a:br>
              <a:rPr lang="en" sz="2700" b="0" i="0" u="none" strike="noStrike" cap="none" dirty="0">
                <a:solidFill>
                  <a:schemeClr val="lt1"/>
                </a:solidFill>
                <a:latin typeface="Calibri"/>
                <a:ea typeface="Calibri"/>
                <a:cs typeface="Calibri"/>
                <a:sym typeface="Calibri"/>
              </a:rPr>
            </a:br>
            <a:r>
              <a:rPr lang="en" sz="2700" b="0" i="0" u="none" strike="noStrike" cap="none" dirty="0">
                <a:solidFill>
                  <a:schemeClr val="lt1"/>
                </a:solidFill>
                <a:latin typeface="Calibri"/>
                <a:ea typeface="Calibri"/>
                <a:cs typeface="Calibri"/>
                <a:sym typeface="Calibri"/>
              </a:rPr>
              <a:t>{{Customer}}</a:t>
            </a:r>
            <a:endParaRPr sz="2700" b="0" i="0" u="none" strike="noStrike" cap="none" dirty="0">
              <a:solidFill>
                <a:srgbClr val="000000"/>
              </a:solidFill>
              <a:latin typeface="Calibri"/>
              <a:ea typeface="Calibri"/>
              <a:cs typeface="Calibri"/>
              <a:sym typeface="Calibri"/>
            </a:endParaRPr>
          </a:p>
        </p:txBody>
      </p:sp>
      <p:sp>
        <p:nvSpPr>
          <p:cNvPr id="238" name="Google Shape;238;p47"/>
          <p:cNvSpPr txBox="1"/>
          <p:nvPr/>
        </p:nvSpPr>
        <p:spPr>
          <a:xfrm>
            <a:off x="318791" y="321742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dirty="0">
              <a:solidFill>
                <a:schemeClr val="lt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a:solidFill>
                  <a:schemeClr val="lt1"/>
                </a:solidFill>
                <a:latin typeface="Calibri"/>
                <a:ea typeface="Calibri"/>
                <a:cs typeface="Calibri"/>
                <a:sym typeface="Calibri"/>
              </a:rPr>
              <a:t>{Date}</a:t>
            </a:r>
            <a:endParaRPr sz="1500" b="0" i="0" u="none" strike="noStrike" cap="none" dirty="0">
              <a:solidFill>
                <a:schemeClr val="lt1"/>
              </a:solidFill>
              <a:latin typeface="Calibri"/>
              <a:ea typeface="Calibri"/>
              <a:cs typeface="Calibri"/>
              <a:sym typeface="Calibri"/>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cxnSp>
        <p:nvCxnSpPr>
          <p:cNvPr id="251" name="Google Shape;251;p48"/>
          <p:cNvCxnSpPr/>
          <p:nvPr/>
        </p:nvCxnSpPr>
        <p:spPr>
          <a:xfrm rot="10800000">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p:nvPr/>
        </p:nvCxnSpPr>
        <p:spPr>
          <a:xfrm rot="10800000">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p:nvPr/>
        </p:nvCxnSpPr>
        <p:spPr>
          <a:xfrm rot="10800000">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EMBED AND AUTOMATE SECURITY</a:t>
            </a:r>
            <a:endParaRPr sz="900" b="0" i="0" u="none" strike="noStrike" cap="none">
              <a:solidFill>
                <a:schemeClr val="dk1"/>
              </a:solidFill>
              <a:latin typeface="Calibri"/>
              <a:ea typeface="Calibri"/>
              <a:cs typeface="Calibri"/>
              <a:sym typeface="Calibri"/>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Enforce security policies consistently across cloud, code, and runtime</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Automate remediation and security lifecycle actions with automation rules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Continuously reduce risk without manual intervention</a:t>
            </a:r>
            <a:endParaRPr sz="800" b="0" i="0" u="none" strike="noStrike" cap="none">
              <a:solidFill>
                <a:srgbClr val="01123F"/>
              </a:solidFill>
              <a:latin typeface="Calibri"/>
              <a:ea typeface="Calibri"/>
              <a:cs typeface="Calibri"/>
              <a:sym typeface="Calibri"/>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SELF SERVICE SECURITY FOR DEVELOPERS</a:t>
            </a:r>
            <a:endParaRPr sz="900" b="0" i="0" u="none" strike="noStrike" cap="none">
              <a:solidFill>
                <a:schemeClr val="dk1"/>
              </a:solidFill>
              <a:latin typeface="Calibri"/>
              <a:ea typeface="Calibri"/>
              <a:cs typeface="Calibri"/>
              <a:sym typeface="Calibri"/>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Enable developers to identify  and remediate risk independently</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Deliver security context       directly into engineering processes with Workflows, integrations, and WizExtend</a:t>
            </a:r>
            <a:endParaRPr sz="800" b="0" i="0" u="none" strike="noStrike" cap="none">
              <a:solidFill>
                <a:srgbClr val="01123F"/>
              </a:solidFill>
              <a:latin typeface="Calibri"/>
              <a:ea typeface="Calibri"/>
              <a:cs typeface="Calibri"/>
              <a:sym typeface="Calibri"/>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SHARED SECURITY CONTEXT WITH ENGINEERING</a:t>
            </a:r>
            <a:endParaRPr sz="900" b="0" i="0" u="none" strike="noStrike" cap="none">
              <a:solidFill>
                <a:schemeClr val="dk1"/>
              </a:solidFill>
              <a:latin typeface="Calibri"/>
              <a:ea typeface="Calibri"/>
              <a:cs typeface="Calibri"/>
              <a:sym typeface="Calibri"/>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Map issues to an owner, application, or environment via Projects and Service Catalog</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Prioritize issues by business context and real exposure</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Align security and engineering on what matters most</a:t>
            </a:r>
            <a:endParaRPr sz="800" b="0" i="0" u="none" strike="noStrike" cap="none">
              <a:solidFill>
                <a:srgbClr val="01123F"/>
              </a:solidFill>
              <a:latin typeface="Calibri"/>
              <a:ea typeface="Calibri"/>
              <a:cs typeface="Calibri"/>
              <a:sym typeface="Calibri"/>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CENTRALIZE SECURITY ACROSS SECURITY TEAMS</a:t>
            </a:r>
            <a:endParaRPr sz="900" b="0" i="0" u="none" strike="noStrike" cap="none">
              <a:solidFill>
                <a:schemeClr val="dk1"/>
              </a:solidFill>
              <a:latin typeface="Calibri"/>
              <a:ea typeface="Calibri"/>
              <a:cs typeface="Calibri"/>
              <a:sym typeface="Calibri"/>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Security ownership is centralized across security teams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Standardize policies and prioritization across security teams</a:t>
            </a:r>
            <a:endParaRPr sz="800" b="0" i="0" u="none" strike="noStrike" cap="none">
              <a:solidFill>
                <a:srgbClr val="01123F"/>
              </a:solidFill>
              <a:latin typeface="Calibri"/>
              <a:ea typeface="Calibri"/>
              <a:cs typeface="Calibri"/>
              <a:sym typeface="Calibri"/>
            </a:endParaRPr>
          </a:p>
        </p:txBody>
      </p:sp>
      <p:cxnSp>
        <p:nvCxnSpPr>
          <p:cNvPr id="265" name="Google Shape;265;p48"/>
          <p:cNvCxnSpPr/>
          <p:nvPr/>
        </p:nvCxnSpPr>
        <p:spPr>
          <a:xfrm rot="10800000">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Risk is continuously mitigated and remediated by default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Full visibility into vulnerabilities across all environments</a:t>
            </a:r>
            <a:endParaRPr sz="1000" b="0" i="0" u="none" strike="noStrike" cap="none">
              <a:solidFill>
                <a:schemeClr val="dk1"/>
              </a:solidFill>
              <a:latin typeface="Calibri"/>
              <a:ea typeface="Calibri"/>
              <a:cs typeface="Calibri"/>
              <a:sym typeface="Calibri"/>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Engineers have what they need to remediate </a:t>
            </a:r>
            <a:endParaRPr sz="1000" b="0" i="0" u="none" strike="noStrike" cap="none">
              <a:solidFill>
                <a:schemeClr val="dk1"/>
              </a:solidFill>
              <a:latin typeface="Calibri"/>
              <a:ea typeface="Calibri"/>
              <a:cs typeface="Calibri"/>
              <a:sym typeface="Calibri"/>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Security is a natural part of development</a:t>
            </a:r>
            <a:endParaRPr sz="1000" b="0" i="0" u="none" strike="noStrike" cap="none">
              <a:solidFill>
                <a:schemeClr val="dk1"/>
              </a:solidFill>
              <a:latin typeface="Calibri"/>
              <a:ea typeface="Calibri"/>
              <a:cs typeface="Calibri"/>
              <a:sym typeface="Calibri"/>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a:ea typeface="Calibri"/>
              <a:cs typeface="Calibri"/>
              <a:sym typeface="Calibri"/>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a:ea typeface="Calibri"/>
                <a:cs typeface="Calibri"/>
                <a:sym typeface="Calibri"/>
              </a:rPr>
              <a:t>Where are you?</a:t>
            </a:r>
            <a:endParaRPr sz="1311" b="0" i="0" u="none" strike="noStrike" cap="none">
              <a:solidFill>
                <a:srgbClr val="000000"/>
              </a:solidFill>
              <a:latin typeface="Calibri"/>
              <a:ea typeface="Calibri"/>
              <a:cs typeface="Calibri"/>
              <a:sym typeface="Calibri"/>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Wiz Adoption &amp; Democratization</a:t>
            </a:r>
            <a:endParaRPr sz="2420">
              <a:latin typeface="Calibri"/>
              <a:ea typeface="Calibri"/>
              <a:cs typeface="Calibri"/>
              <a:sym typeface="Calibri"/>
            </a:endParaRPr>
          </a:p>
          <a:p>
            <a:pPr marL="0" lvl="0" indent="0" algn="l" rtl="0">
              <a:lnSpc>
                <a:spcPct val="100000"/>
              </a:lnSpc>
              <a:spcBef>
                <a:spcPts val="0"/>
              </a:spcBef>
              <a:spcAft>
                <a:spcPts val="0"/>
              </a:spcAft>
              <a:buSzPts val="2800"/>
              <a:buNone/>
            </a:pPr>
            <a:r>
              <a:rPr lang="en" sz="2420">
                <a:latin typeface="Calibri"/>
                <a:ea typeface="Calibri"/>
                <a:cs typeface="Calibri"/>
                <a:sym typeface="Calibri"/>
              </a:rPr>
              <a:t>Maturity Model </a:t>
            </a:r>
            <a:endParaRPr sz="242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w="9525" cap="flat" cmpd="sng">
            <a:solidFill>
              <a:schemeClr val="accent1"/>
            </a:solidFill>
            <a:prstDash val="solid"/>
            <a:round/>
            <a:headEnd type="none" w="sm" len="sm"/>
            <a:tailEnd type="none" w="sm" len="sm"/>
          </a:ln>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and AI Visibility Snapshot</a:t>
            </a:r>
            <a:endParaRPr sz="2420">
              <a:latin typeface="Calibri"/>
              <a:ea typeface="Calibri"/>
              <a:cs typeface="Calibri"/>
              <a:sym typeface="Calibri"/>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{{C_AWS}} AWS Connectors</a:t>
            </a:r>
            <a:endParaRPr sz="900" b="0" i="0" u="none" strike="noStrike" cap="none">
              <a:solidFill>
                <a:srgbClr val="000000"/>
              </a:solidFill>
              <a:latin typeface="Calibri"/>
              <a:ea typeface="Calibri"/>
              <a:cs typeface="Calibri"/>
              <a:sym typeface="Calibri"/>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{{K8S}} K8s Clusters</a:t>
            </a:r>
            <a:br>
              <a:rPr lang="en" sz="900" b="0" i="0" u="none" strike="noStrike" cap="none">
                <a:solidFill>
                  <a:srgbClr val="00113E"/>
                </a:solidFill>
                <a:latin typeface="Calibri"/>
                <a:ea typeface="Calibri"/>
                <a:cs typeface="Calibri"/>
                <a:sym typeface="Calibri"/>
              </a:rPr>
            </a:br>
            <a:r>
              <a:rPr lang="en" sz="900" b="0" i="0" u="none" strike="noStrike" cap="none">
                <a:solidFill>
                  <a:srgbClr val="00113E"/>
                </a:solidFill>
                <a:latin typeface="Calibri"/>
                <a:ea typeface="Calibri"/>
                <a:cs typeface="Calibri"/>
                <a:sym typeface="Calibri"/>
              </a:rPr>
              <a:t>{{KG_NC}} Not Connected via Connector</a:t>
            </a:r>
            <a:endParaRPr sz="900" b="0" i="0" u="none" strike="noStrike" cap="none">
              <a:solidFill>
                <a:srgbClr val="000000"/>
              </a:solidFill>
              <a:latin typeface="Calibri"/>
              <a:ea typeface="Calibri"/>
              <a:cs typeface="Calibri"/>
              <a:sym typeface="Calibri"/>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a:ea typeface="Calibri"/>
                <a:cs typeface="Calibri"/>
                <a:sym typeface="Calibri"/>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a:ea typeface="Calibri"/>
                <a:cs typeface="Calibri"/>
                <a:sym typeface="Calibri"/>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a:ea typeface="Calibri"/>
                <a:cs typeface="Calibri"/>
                <a:sym typeface="Calibri"/>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a:ea typeface="Calibri"/>
                <a:cs typeface="Calibri"/>
                <a:sym typeface="Calibri"/>
              </a:rPr>
              <a:t>{{C_OTH}} Others</a:t>
            </a:r>
            <a:br>
              <a:rPr lang="en" sz="900" b="0" i="0" u="none" strike="noStrike" cap="none">
                <a:solidFill>
                  <a:schemeClr val="dk1"/>
                </a:solidFill>
                <a:latin typeface="Calibri"/>
                <a:ea typeface="Calibri"/>
                <a:cs typeface="Calibri"/>
                <a:sym typeface="Calibri"/>
              </a:rPr>
            </a:br>
            <a:r>
              <a:rPr lang="en" sz="800" b="0" i="0" u="none" strike="noStrike" cap="none">
                <a:solidFill>
                  <a:schemeClr val="dk1"/>
                </a:solidFill>
                <a:latin typeface="Calibri"/>
                <a:ea typeface="Calibri"/>
                <a:cs typeface="Calibri"/>
                <a:sym typeface="Calibri"/>
              </a:rPr>
              <a:t>{{C_OTH_NAMES}}</a:t>
            </a:r>
            <a:br>
              <a:rPr lang="en" sz="900" b="0" i="0" u="none" strike="noStrike" cap="none">
                <a:solidFill>
                  <a:schemeClr val="dk1"/>
                </a:solidFill>
                <a:latin typeface="Calibri"/>
                <a:ea typeface="Calibri"/>
                <a:cs typeface="Calibri"/>
                <a:sym typeface="Calibri"/>
              </a:rPr>
            </a:br>
            <a:endParaRPr sz="900" b="0" i="0" u="none" strike="noStrike" cap="none">
              <a:solidFill>
                <a:schemeClr val="dk1"/>
              </a:solidFill>
              <a:latin typeface="Calibri"/>
              <a:ea typeface="Calibri"/>
              <a:cs typeface="Calibri"/>
              <a:sym typeface="Calibri"/>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{{SERVERLESS_FN_COUNT}} Serverless Functions</a:t>
            </a:r>
            <a:endParaRPr sz="900" b="0" i="0" u="none" strike="noStrike" cap="none">
              <a:solidFill>
                <a:srgbClr val="000000"/>
              </a:solidFill>
              <a:latin typeface="Calibri"/>
              <a:ea typeface="Calibri"/>
              <a:cs typeface="Calibri"/>
              <a:sym typeface="Calibri"/>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{{C_GCP}} GCP Connectors</a:t>
            </a:r>
            <a:endParaRPr sz="900" b="0" i="0" u="none" strike="noStrike" cap="none">
              <a:solidFill>
                <a:srgbClr val="000000"/>
              </a:solidFill>
              <a:latin typeface="Calibri"/>
              <a:ea typeface="Calibri"/>
              <a:cs typeface="Calibri"/>
              <a:sym typeface="Calibri"/>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{{C_AZ}} Azure Connectors</a:t>
            </a:r>
            <a:endParaRPr sz="900" b="0" i="0" u="none" strike="noStrike" cap="none">
              <a:solidFill>
                <a:srgbClr val="000000"/>
              </a:solidFill>
              <a:latin typeface="Calibri"/>
              <a:ea typeface="Calibri"/>
              <a:cs typeface="Calibri"/>
              <a:sym typeface="Calibri"/>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dirty="0">
                <a:solidFill>
                  <a:srgbClr val="00113E"/>
                </a:solidFill>
                <a:latin typeface="Calibri"/>
                <a:ea typeface="Calibri"/>
                <a:cs typeface="Calibri"/>
                <a:sym typeface="Calibri"/>
              </a:rPr>
              <a:t>{{CH_TOT}} Container </a:t>
            </a:r>
            <a:r>
              <a:rPr lang="en" sz="900" dirty="0">
                <a:solidFill>
                  <a:srgbClr val="00113E"/>
                </a:solidFill>
                <a:latin typeface="Calibri"/>
                <a:ea typeface="Calibri"/>
                <a:cs typeface="Calibri"/>
                <a:sym typeface="Calibri"/>
              </a:rPr>
              <a:t>Hosts</a:t>
            </a:r>
            <a:endParaRPr sz="900" b="0" i="0" u="none" strike="noStrike" cap="none" dirty="0">
              <a:solidFill>
                <a:srgbClr val="000000"/>
              </a:solidFill>
              <a:latin typeface="Calibri"/>
              <a:ea typeface="Calibri"/>
              <a:cs typeface="Calibri"/>
              <a:sym typeface="Calibri"/>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a:ea typeface="Calibri"/>
                <a:cs typeface="Calibri"/>
                <a:sym typeface="Calibri"/>
              </a:rPr>
              <a:t>Cloud Visibility</a:t>
            </a:r>
            <a:endParaRPr sz="1400" b="0" i="0" u="none" strike="noStrike" cap="none">
              <a:solidFill>
                <a:schemeClr val="dk1"/>
              </a:solidFill>
              <a:latin typeface="Calibri"/>
              <a:ea typeface="Calibri"/>
              <a:cs typeface="Calibri"/>
              <a:sym typeface="Calibri"/>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{{SERVERLESS_CT_COUNT}} Serverless Containers</a:t>
            </a:r>
            <a:endParaRPr sz="900" b="0" i="0" u="none" strike="noStrike" cap="none">
              <a:solidFill>
                <a:srgbClr val="00113E"/>
              </a:solidFill>
              <a:latin typeface="Calibri"/>
              <a:ea typeface="Calibri"/>
              <a:cs typeface="Calibri"/>
              <a:sym typeface="Calibri"/>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{{L_SE}} </a:t>
            </a:r>
            <a:br>
              <a:rPr lang="en" sz="900" b="0" i="0" u="none" strike="noStrike" cap="none">
                <a:solidFill>
                  <a:srgbClr val="00113E"/>
                </a:solidFill>
                <a:latin typeface="Calibri"/>
                <a:ea typeface="Calibri"/>
                <a:cs typeface="Calibri"/>
                <a:sym typeface="Calibri"/>
              </a:rPr>
            </a:br>
            <a:r>
              <a:rPr lang="en" sz="900" b="0" i="0" u="none" strike="noStrike" cap="none">
                <a:solidFill>
                  <a:srgbClr val="00113E"/>
                </a:solidFill>
                <a:latin typeface="Calibri"/>
                <a:ea typeface="Calibri"/>
                <a:cs typeface="Calibri"/>
                <a:sym typeface="Calibri"/>
              </a:rPr>
              <a:t>Wiz Runtime Sensors Deployed</a:t>
            </a:r>
            <a:endParaRPr sz="900" b="0" i="0" u="none" strike="noStrike" cap="none">
              <a:solidFill>
                <a:srgbClr val="000000"/>
              </a:solidFill>
              <a:latin typeface="Calibri"/>
              <a:ea typeface="Calibri"/>
              <a:cs typeface="Calibri"/>
              <a:sym typeface="Calibri"/>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{{CON_WE}} Connectors With Cloud Events</a:t>
            </a:r>
            <a:br>
              <a:rPr lang="en" sz="900" b="0" i="0" u="none" strike="noStrike" cap="none">
                <a:solidFill>
                  <a:srgbClr val="00113E"/>
                </a:solidFill>
                <a:latin typeface="Calibri"/>
                <a:ea typeface="Calibri"/>
                <a:cs typeface="Calibri"/>
                <a:sym typeface="Calibri"/>
              </a:rPr>
            </a:br>
            <a:r>
              <a:rPr lang="en" sz="900" b="0" i="0" u="none" strike="noStrike" cap="none">
                <a:solidFill>
                  <a:srgbClr val="00113E"/>
                </a:solidFill>
                <a:latin typeface="Calibri"/>
                <a:ea typeface="Calibri"/>
                <a:cs typeface="Calibri"/>
                <a:sym typeface="Calibri"/>
              </a:rPr>
              <a:t>{{CON_NE}} Connectors Without</a:t>
            </a:r>
            <a:endParaRPr sz="900" b="0" i="0" u="none" strike="noStrike" cap="none">
              <a:solidFill>
                <a:srgbClr val="000000"/>
              </a:solidFill>
              <a:latin typeface="Calibri"/>
              <a:ea typeface="Calibri"/>
              <a:cs typeface="Calibri"/>
              <a:sym typeface="Calibri"/>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w="9525" cap="flat" cmpd="sng">
            <a:solidFill>
              <a:schemeClr val="accent1"/>
            </a:solidFill>
            <a:prstDash val="solid"/>
            <a:round/>
            <a:headEnd type="none" w="sm" len="sm"/>
            <a:tailEnd type="none" w="sm" len="sm"/>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chemeClr val="hlink"/>
                </a:solidFill>
                <a:latin typeface="Calibri"/>
                <a:ea typeface="Calibri"/>
                <a:cs typeface="Calibri"/>
                <a:sym typeface="Calibri"/>
                <a:hlinkClick r:id="rId12"/>
              </a:rPr>
              <a:t>Deployments / Connectors</a:t>
            </a:r>
            <a:r>
              <a:rPr lang="en" sz="14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400" b="0" i="0" u="none" strike="noStrike" cap="none">
              <a:solidFill>
                <a:srgbClr val="0254EC"/>
              </a:solidFill>
              <a:latin typeface="Calibri"/>
              <a:ea typeface="Calibri"/>
              <a:cs typeface="Calibri"/>
              <a:sym typeface="Calibri"/>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{{CON_EN}}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Active Cloud Connectors</a:t>
            </a:r>
            <a:endParaRPr sz="700" b="0" i="0" u="none" strike="noStrike" cap="none" dirty="0">
              <a:solidFill>
                <a:srgbClr val="00113E"/>
              </a:solidFill>
              <a:latin typeface="Calibri"/>
              <a:ea typeface="Calibri"/>
              <a:cs typeface="Calibri"/>
              <a:sym typeface="Calibri"/>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{{CON_VCS}}</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VCS Connectors</a:t>
            </a:r>
            <a:endParaRPr sz="700" b="0" i="0" u="none" strike="noStrike" cap="none">
              <a:solidFill>
                <a:srgbClr val="00113E"/>
              </a:solidFill>
              <a:latin typeface="Calibri"/>
              <a:ea typeface="Calibri"/>
              <a:cs typeface="Calibri"/>
              <a:sym typeface="Calibri"/>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{{CON_TOT}}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Total Cloud Connectors</a:t>
            </a:r>
            <a:endParaRPr sz="700" b="0" i="0" u="none" strike="noStrike" cap="none" dirty="0">
              <a:solidFill>
                <a:srgbClr val="00113E"/>
              </a:solidFill>
              <a:latin typeface="Calibri"/>
              <a:ea typeface="Calibri"/>
              <a:cs typeface="Calibri"/>
              <a:sym typeface="Calibri"/>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{{OUT_DEP}}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Outpost Deployments</a:t>
            </a:r>
            <a:endParaRPr sz="700" b="0" i="0" u="none" strike="noStrike" cap="none">
              <a:solidFill>
                <a:srgbClr val="00113E"/>
              </a:solidFill>
              <a:latin typeface="Calibri"/>
              <a:ea typeface="Calibri"/>
              <a:cs typeface="Calibri"/>
              <a:sym typeface="Calibri"/>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{{CON_DIS}}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Inactive Connectors</a:t>
            </a:r>
            <a:endParaRPr sz="700" b="0" i="0" u="none" strike="noStrike" cap="none" dirty="0">
              <a:solidFill>
                <a:srgbClr val="00113E"/>
              </a:solidFill>
              <a:latin typeface="Calibri"/>
              <a:ea typeface="Calibri"/>
              <a:cs typeface="Calibri"/>
              <a:sym typeface="Calibri"/>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a:ea typeface="Calibri"/>
                <a:cs typeface="Calibri"/>
                <a:sym typeface="Calibri"/>
              </a:rPr>
              <a:t>{{CON_BRO}}</a:t>
            </a:r>
            <a:br>
              <a:rPr lang="en" sz="698" b="0" i="0" u="none" strike="noStrike" cap="none">
                <a:solidFill>
                  <a:srgbClr val="00113E"/>
                </a:solidFill>
                <a:latin typeface="Calibri"/>
                <a:ea typeface="Calibri"/>
                <a:cs typeface="Calibri"/>
                <a:sym typeface="Calibri"/>
              </a:rPr>
            </a:br>
            <a:r>
              <a:rPr lang="en" sz="698" b="0" i="0" u="none" strike="noStrike" cap="none">
                <a:solidFill>
                  <a:srgbClr val="00113E"/>
                </a:solidFill>
                <a:latin typeface="Calibri"/>
                <a:ea typeface="Calibri"/>
                <a:cs typeface="Calibri"/>
                <a:sym typeface="Calibri"/>
              </a:rPr>
              <a:t>Broker Deployments</a:t>
            </a:r>
            <a:endParaRPr sz="698" b="0" i="0" u="none" strike="noStrike" cap="none">
              <a:solidFill>
                <a:srgbClr val="00113E"/>
              </a:solidFill>
              <a:latin typeface="Calibri"/>
              <a:ea typeface="Calibri"/>
              <a:cs typeface="Calibri"/>
              <a:sym typeface="Calibri"/>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{{CON_R}}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Registry Connectors</a:t>
            </a:r>
            <a:endParaRPr sz="700" b="0" i="0" u="none" strike="noStrike" cap="none">
              <a:solidFill>
                <a:srgbClr val="00113E"/>
              </a:solidFill>
              <a:latin typeface="Calibri"/>
              <a:ea typeface="Calibri"/>
              <a:cs typeface="Calibri"/>
              <a:sym typeface="Calibri"/>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{{CON_K8S}}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Kubernetes Connectors</a:t>
            </a:r>
            <a:endParaRPr sz="700" b="0" i="0" u="none" strike="noStrike" cap="none">
              <a:solidFill>
                <a:srgbClr val="00113E"/>
              </a:solidFill>
              <a:latin typeface="Calibri"/>
              <a:ea typeface="Calibri"/>
              <a:cs typeface="Calibri"/>
              <a:sym typeface="Calibri"/>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w="9525" cap="flat" cmpd="sng">
            <a:solidFill>
              <a:schemeClr val="accent1"/>
            </a:solidFill>
            <a:prstDash val="solid"/>
            <a:round/>
            <a:headEnd type="none" w="sm" len="sm"/>
            <a:tailEnd type="none" w="sm" len="sm"/>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chemeClr val="hlink"/>
                </a:solidFill>
                <a:latin typeface="Calibri"/>
                <a:ea typeface="Calibri"/>
                <a:cs typeface="Calibri"/>
                <a:sym typeface="Calibri"/>
                <a:hlinkClick r:id="rId14"/>
              </a:rPr>
              <a:t>Cloud Events</a:t>
            </a:r>
            <a:r>
              <a:rPr lang="en" sz="14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400" b="0" i="0" u="none" strike="noStrike" cap="none">
              <a:solidFill>
                <a:srgbClr val="0254EC"/>
              </a:solidFill>
              <a:latin typeface="Calibri"/>
              <a:ea typeface="Calibri"/>
              <a:cs typeface="Calibri"/>
              <a:sym typeface="Calibri"/>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{{CLOUD_EVENTS_2}}</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{{CLOUD_EVENTS_3}}</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{{CLOUD_EVENTS_4}}</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{{CLOUD_EVENTS_5}}</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{{CLOUD_EVENTS_6}}</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{{CLOUD_EVENTS_7}}</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{{CLOUD_EVENTS_8}}</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{{CLOUD_EVENTS_9}}</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{{CLOUD_EVENTS_10}}</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{{CLOUD_EVENTS_11}}</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{{CLOUD_EVENTS_12}}</a:t>
            </a:r>
            <a:endParaRPr sz="800" b="0" i="0" u="none" strike="noStrike" cap="none">
              <a:solidFill>
                <a:srgbClr val="333333"/>
              </a:solidFill>
              <a:latin typeface="Calibri"/>
              <a:ea typeface="Calibri"/>
              <a:cs typeface="Calibri"/>
              <a:sym typeface="Calibri"/>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{{CLOUD_EVENTS_1}}</a:t>
            </a:r>
            <a:endParaRPr sz="800" b="0" i="0" u="none" strike="noStrike" cap="none">
              <a:solidFill>
                <a:srgbClr val="333333"/>
              </a:solidFill>
              <a:latin typeface="Calibri"/>
              <a:ea typeface="Calibri"/>
              <a:cs typeface="Calibri"/>
              <a:sym typeface="Calibri"/>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a:t>
            </a:r>
            <a:endParaRPr sz="800" b="0" i="0" u="none" strike="noStrike" cap="none">
              <a:solidFill>
                <a:srgbClr val="333333"/>
              </a:solidFill>
              <a:latin typeface="Calibri"/>
              <a:ea typeface="Calibri"/>
              <a:cs typeface="Calibri"/>
              <a:sym typeface="Calibri"/>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{{CE_2}}</a:t>
            </a:r>
            <a:endParaRPr sz="800" b="0" i="0" u="none" strike="noStrike" cap="none">
              <a:solidFill>
                <a:srgbClr val="333333"/>
              </a:solidFill>
              <a:latin typeface="Calibri"/>
              <a:ea typeface="Calibri"/>
              <a:cs typeface="Calibri"/>
              <a:sym typeface="Calibri"/>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{{CE_3}}</a:t>
            </a:r>
            <a:endParaRPr sz="800" b="0" i="0" u="none" strike="noStrike" cap="none">
              <a:solidFill>
                <a:srgbClr val="333333"/>
              </a:solidFill>
              <a:latin typeface="Calibri"/>
              <a:ea typeface="Calibri"/>
              <a:cs typeface="Calibri"/>
              <a:sym typeface="Calibri"/>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{{CE_4}}</a:t>
            </a:r>
            <a:endParaRPr sz="800" b="0" i="0" u="none" strike="noStrike" cap="none">
              <a:solidFill>
                <a:srgbClr val="333333"/>
              </a:solidFill>
              <a:latin typeface="Calibri"/>
              <a:ea typeface="Calibri"/>
              <a:cs typeface="Calibri"/>
              <a:sym typeface="Calibri"/>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{{CE_5}}</a:t>
            </a:r>
            <a:endParaRPr sz="800" b="0" i="0" u="none" strike="noStrike" cap="none">
              <a:solidFill>
                <a:srgbClr val="333333"/>
              </a:solidFill>
              <a:latin typeface="Calibri"/>
              <a:ea typeface="Calibri"/>
              <a:cs typeface="Calibri"/>
              <a:sym typeface="Calibri"/>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{{CE_6}}</a:t>
            </a:r>
            <a:endParaRPr sz="800" b="0" i="0" u="none" strike="noStrike" cap="none">
              <a:solidFill>
                <a:srgbClr val="333333"/>
              </a:solidFill>
              <a:latin typeface="Calibri"/>
              <a:ea typeface="Calibri"/>
              <a:cs typeface="Calibri"/>
              <a:sym typeface="Calibri"/>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{{CE_7}}</a:t>
            </a:r>
            <a:endParaRPr sz="800" b="0" i="0" u="none" strike="noStrike" cap="none">
              <a:solidFill>
                <a:srgbClr val="333333"/>
              </a:solidFill>
              <a:latin typeface="Calibri"/>
              <a:ea typeface="Calibri"/>
              <a:cs typeface="Calibri"/>
              <a:sym typeface="Calibri"/>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{{CE_8}}</a:t>
            </a:r>
            <a:endParaRPr sz="800" b="0" i="0" u="none" strike="noStrike" cap="none">
              <a:solidFill>
                <a:srgbClr val="333333"/>
              </a:solidFill>
              <a:latin typeface="Calibri"/>
              <a:ea typeface="Calibri"/>
              <a:cs typeface="Calibri"/>
              <a:sym typeface="Calibri"/>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{{CE_9}}</a:t>
            </a:r>
            <a:endParaRPr sz="800" b="0" i="0" u="none" strike="noStrike" cap="none">
              <a:solidFill>
                <a:srgbClr val="333333"/>
              </a:solidFill>
              <a:latin typeface="Calibri"/>
              <a:ea typeface="Calibri"/>
              <a:cs typeface="Calibri"/>
              <a:sym typeface="Calibri"/>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{{CE_10}}</a:t>
            </a:r>
            <a:endParaRPr sz="800" b="0" i="0" u="none" strike="noStrike" cap="none">
              <a:solidFill>
                <a:srgbClr val="333333"/>
              </a:solidFill>
              <a:latin typeface="Calibri"/>
              <a:ea typeface="Calibri"/>
              <a:cs typeface="Calibri"/>
              <a:sym typeface="Calibri"/>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{{CE_11}}</a:t>
            </a:r>
            <a:endParaRPr sz="800" b="0" i="0" u="none" strike="noStrike" cap="none">
              <a:solidFill>
                <a:srgbClr val="333333"/>
              </a:solidFill>
              <a:latin typeface="Calibri"/>
              <a:ea typeface="Calibri"/>
              <a:cs typeface="Calibri"/>
              <a:sym typeface="Calibri"/>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{{CE_12}}</a:t>
            </a:r>
            <a:endParaRPr sz="800" b="0" i="0" u="none" strike="noStrike" cap="none">
              <a:solidFill>
                <a:srgbClr val="333333"/>
              </a:solidFill>
              <a:latin typeface="Calibri"/>
              <a:ea typeface="Calibri"/>
              <a:cs typeface="Calibri"/>
              <a:sym typeface="Calibri"/>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w="9525" cap="flat" cmpd="sng">
            <a:solidFill>
              <a:schemeClr val="accent1"/>
            </a:solidFill>
            <a:prstDash val="solid"/>
            <a:round/>
            <a:headEnd type="none" w="sm" len="sm"/>
            <a:tailEnd type="none" w="sm" len="sm"/>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chemeClr val="hlink"/>
                </a:solidFill>
                <a:latin typeface="Calibri"/>
                <a:ea typeface="Calibri"/>
                <a:cs typeface="Calibri"/>
                <a:sym typeface="Calibri"/>
                <a:hlinkClick r:id="rId16"/>
              </a:rPr>
              <a:t>AI Visibility / Inventory</a:t>
            </a:r>
            <a:r>
              <a:rPr lang="en" sz="14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400" b="0" i="0" u="none" strike="noStrike" cap="none">
              <a:solidFill>
                <a:srgbClr val="0254EC"/>
              </a:solidFill>
              <a:latin typeface="Calibri"/>
              <a:ea typeface="Calibri"/>
              <a:cs typeface="Calibri"/>
              <a:sym typeface="Calibri"/>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{{AI_MODELS_COUNT}}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Models</a:t>
            </a:r>
            <a:endParaRPr sz="1200" b="0" i="0" u="none" strike="noStrike" cap="none">
              <a:solidFill>
                <a:srgbClr val="000000"/>
              </a:solidFill>
              <a:latin typeface="Calibri"/>
              <a:ea typeface="Calibri"/>
              <a:cs typeface="Calibri"/>
              <a:sym typeface="Calibri"/>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{{AI_AGENTS_COUNT}}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Agents</a:t>
            </a:r>
            <a:endParaRPr sz="700" b="0" i="0" u="none" strike="noStrike" cap="none">
              <a:solidFill>
                <a:srgbClr val="00113E"/>
              </a:solidFill>
              <a:latin typeface="Calibri"/>
              <a:ea typeface="Calibri"/>
              <a:cs typeface="Calibri"/>
              <a:sym typeface="Calibri"/>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{{AI_PIPELINES_COUNT}}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Pipelines</a:t>
            </a:r>
            <a:endParaRPr sz="700" b="0" i="0" u="none" strike="noStrike" cap="none">
              <a:solidFill>
                <a:srgbClr val="00113E"/>
              </a:solidFill>
              <a:latin typeface="Calibri"/>
              <a:ea typeface="Calibri"/>
              <a:cs typeface="Calibri"/>
              <a:sym typeface="Calibri"/>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{{AI_WORKLOADS_COUNT}}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Workloads</a:t>
            </a:r>
            <a:endParaRPr sz="700" b="0" i="0" u="none" strike="noStrike" cap="none">
              <a:solidFill>
                <a:srgbClr val="00113E"/>
              </a:solidFill>
              <a:latin typeface="Calibri"/>
              <a:ea typeface="Calibri"/>
              <a:cs typeface="Calibri"/>
              <a:sym typeface="Calibri"/>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{{AI_GUARDRAILS_COUNT}}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Guardrails</a:t>
            </a:r>
            <a:endParaRPr sz="700" b="0" i="0" u="none" strike="noStrike" cap="none">
              <a:solidFill>
                <a:srgbClr val="00113E"/>
              </a:solidFill>
              <a:latin typeface="Calibri"/>
              <a:ea typeface="Calibri"/>
              <a:cs typeface="Calibri"/>
              <a:sym typeface="Calibri"/>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{{AI_MCP_SERVERS_COUNT}}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MCP Servers</a:t>
            </a:r>
            <a:endParaRPr sz="700" b="0" i="0" u="none" strike="noStrike" cap="none">
              <a:solidFill>
                <a:srgbClr val="00113E"/>
              </a:solidFill>
              <a:latin typeface="Calibri"/>
              <a:ea typeface="Calibri"/>
              <a:cs typeface="Calibri"/>
              <a:sym typeface="Calibri"/>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{{AI_TECHNOLOGIES_COUNT}}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Technologies</a:t>
            </a:r>
            <a:endParaRPr sz="700" b="0" i="0" u="none" strike="noStrike" cap="none">
              <a:solidFill>
                <a:srgbClr val="00113E"/>
              </a:solidFill>
              <a:latin typeface="Calibri"/>
              <a:ea typeface="Calibri"/>
              <a:cs typeface="Calibri"/>
              <a:sym typeface="Calibri"/>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{{AI_CODE_REPOS_COUNT}}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Code Repos with AI</a:t>
            </a:r>
            <a:endParaRPr sz="700" b="0" i="0" u="none" strike="noStrike" cap="none">
              <a:solidFill>
                <a:srgbClr val="00113E"/>
              </a:solidFill>
              <a:latin typeface="Calibri"/>
              <a:ea typeface="Calibri"/>
              <a:cs typeface="Calibri"/>
              <a:sym typeface="Calibri"/>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{{CLOUD_EVENTS_13}}</a:t>
            </a:r>
            <a:endParaRPr sz="800" b="0" i="0" u="none" strike="noStrike" cap="none">
              <a:solidFill>
                <a:srgbClr val="333333"/>
              </a:solidFill>
              <a:latin typeface="Calibri"/>
              <a:ea typeface="Calibri"/>
              <a:cs typeface="Calibri"/>
              <a:sym typeface="Calibri"/>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{{CE_13}}</a:t>
            </a:r>
            <a:endParaRPr sz="800" b="0" i="0" u="none" strike="noStrike" cap="none">
              <a:solidFill>
                <a:srgbClr val="333333"/>
              </a:solidFill>
              <a:latin typeface="Calibri"/>
              <a:ea typeface="Calibri"/>
              <a:cs typeface="Calibri"/>
              <a:sym typeface="Calibri"/>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{{CON_ADM}}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Admission Controllers</a:t>
            </a:r>
            <a:endParaRPr sz="700" b="0" i="0" u="none" strike="noStrike" cap="none" dirty="0">
              <a:solidFill>
                <a:srgbClr val="00113E"/>
              </a:solidFill>
              <a:latin typeface="Calibri"/>
              <a:ea typeface="Calibri"/>
              <a:cs typeface="Calibri"/>
              <a:sym typeface="Calibri"/>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{{AI_DATASETS_COUNT}}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Datastores</a:t>
            </a:r>
            <a:endParaRPr sz="700" b="0" i="0" u="none" strike="noStrike" cap="none">
              <a:solidFill>
                <a:srgbClr val="00113E"/>
              </a:solidFill>
              <a:latin typeface="Calibri"/>
              <a:ea typeface="Calibri"/>
              <a:cs typeface="Calibri"/>
              <a:sym typeface="Calibri"/>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{{AI_CA_COUNT}}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Coding Agents (IDE)</a:t>
            </a:r>
            <a:endParaRPr sz="700" b="0" i="0" u="none" strike="noStrike" cap="none">
              <a:solidFill>
                <a:srgbClr val="00113E"/>
              </a:solidFill>
              <a:latin typeface="Calibri"/>
              <a:ea typeface="Calibri"/>
              <a:cs typeface="Calibri"/>
              <a:sym typeface="Calibri"/>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{{CON_WOS}}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WizOS Workloads</a:t>
            </a:r>
            <a:endParaRPr sz="700" b="0" i="0" u="none" strike="noStrike" cap="none">
              <a:solidFill>
                <a:srgbClr val="00113E"/>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39"/>
        <p:cNvGrpSpPr/>
        <p:nvPr/>
      </p:nvGrpSpPr>
      <p:grpSpPr>
        <a:xfrm>
          <a:off x="0" y="0"/>
          <a:ext cx="0" cy="0"/>
          <a:chOff x="0" y="0"/>
          <a:chExt cx="0" cy="0"/>
        </a:xfrm>
      </p:grpSpPr>
      <p:pic>
        <p:nvPicPr>
          <p:cNvPr id="1340" name="Google Shape;1340;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41" name="Google Shape;1341;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2" name="Google Shape;1342;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3" name="Google Shape;1343;p66"/>
          <p:cNvSpPr txBox="1"/>
          <p:nvPr/>
        </p:nvSpPr>
        <p:spPr>
          <a:xfrm>
            <a:off x="319913"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An unscanned resource</a:t>
            </a: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 is one in which </a:t>
            </a:r>
            <a:r>
              <a:rPr lang="en" sz="900" b="0" i="0" u="none" strike="noStrike" cap="none" dirty="0">
                <a:solidFill>
                  <a:schemeClr val="dk1"/>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Light"/>
              </a:rPr>
              <a:t>Wiz can identify but cannot directly scan, such as unconnected repositories, cloud accounts, and organizations.</a:t>
            </a: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 </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Classify </a:t>
            </a:r>
            <a:r>
              <a:rPr lang="en" sz="900" b="0" i="0" u="none" strike="noStrike" cap="none" dirty="0">
                <a:solidFill>
                  <a:schemeClr val="dk1"/>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Light"/>
              </a:rPr>
              <a:t>these resources, determine if they belong to your organization or a third party, and identify gaps in your security coverage.</a:t>
            </a: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 </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344" name="Google Shape;1344;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5" name="Google Shape;1345;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6" name="Google Shape;1346;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7" name="Google Shape;1347;p66"/>
          <p:cNvSpPr txBox="1"/>
          <p:nvPr/>
        </p:nvSpPr>
        <p:spPr>
          <a:xfrm>
            <a:off x="3209516"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US" sz="900"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{{FA1_VISIBILITY}}</a:t>
            </a:r>
            <a:endParaRPr sz="90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{{FA</a:t>
            </a:r>
            <a:r>
              <a:rPr lang="en" sz="900"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2_VISIBILITY</a:t>
            </a:r>
            <a:endParaRPr sz="90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48" name="Google Shape;1348;p66"/>
          <p:cNvSpPr txBox="1"/>
          <p:nvPr/>
        </p:nvSpPr>
        <p:spPr>
          <a:xfrm>
            <a:off x="6078114" y="3177641"/>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Fold in third-party telemetry</a:t>
            </a: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 Integrating with additional tools to provide stronger attribution. I.e. Pull findings from tools like ServiceNow, Armorcode, Crowdstrike, etc.) across cloud and on-prem.</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Normalize, deduplicate and enrich existing Wiz data, in one view.</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49" name="Google Shape;1349;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Expand Coverage 3rd Party Resources &amp; Telemetry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350" name="Google Shape;1350;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Improve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Visibility &amp; Coverage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351" name="Google Shape;1351;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2" name="Google Shape;1352;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3" name="Google Shape;1353;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4" name="Google Shape;1354;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Review Unscanned </a:t>
            </a:r>
            <a:b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Resources for Coverage Gaps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355" name="Google Shape;1355;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Adopt Additional Features &amp; Functionality in Wiz</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w="9525" cap="flat" cmpd="sng">
            <a:solidFill>
              <a:schemeClr val="accent1"/>
            </a:solidFill>
            <a:prstDash val="solid"/>
            <a:round/>
            <a:headEnd type="none" w="sm" len="sm"/>
            <a:tailEnd type="none" w="sm" len="sm"/>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Wiz Adoption &amp; Usage Snapshot</a:t>
            </a:r>
            <a:endParaRPr sz="2420">
              <a:latin typeface="Calibri"/>
              <a:ea typeface="Calibri"/>
              <a:cs typeface="Calibri"/>
              <a:sym typeface="Calibri"/>
            </a:endParaRPr>
          </a:p>
        </p:txBody>
      </p:sp>
      <p:sp>
        <p:nvSpPr>
          <p:cNvPr id="390" name="Google Shape;390;p50"/>
          <p:cNvSpPr txBox="1"/>
          <p:nvPr/>
        </p:nvSpPr>
        <p:spPr>
          <a:xfrm>
            <a:off x="614172" y="1378747"/>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Cloud Advanced</a:t>
            </a:r>
            <a:br>
              <a:rPr lang="en" sz="1100" b="0" i="0" u="none" strike="noStrike" cap="none" dirty="0">
                <a:solidFill>
                  <a:srgbClr val="00113E"/>
                </a:solidFill>
                <a:latin typeface="Calibri"/>
                <a:ea typeface="Calibri"/>
                <a:cs typeface="Calibri"/>
                <a:sym typeface="Calibri"/>
              </a:rPr>
            </a:br>
            <a:endParaRPr sz="1100" b="0" i="0" u="none" strike="noStrike" cap="none" dirty="0">
              <a:solidFill>
                <a:srgbClr val="000000"/>
              </a:solidFill>
              <a:latin typeface="Calibri"/>
              <a:ea typeface="Calibri"/>
              <a:cs typeface="Calibri"/>
              <a:sym typeface="Calibri"/>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a:ea typeface="Calibri"/>
                <a:cs typeface="Calibri"/>
                <a:sym typeface="Calibri"/>
              </a:rPr>
              <a:t>Product Usage</a:t>
            </a:r>
            <a:endParaRPr sz="1600" b="0" i="0" u="none" strike="noStrike" cap="none">
              <a:solidFill>
                <a:schemeClr val="dk1"/>
              </a:solidFill>
              <a:latin typeface="Calibri"/>
              <a:ea typeface="Calibri"/>
              <a:cs typeface="Calibri"/>
              <a:sym typeface="Calibri"/>
            </a:endParaRPr>
          </a:p>
        </p:txBody>
      </p:sp>
      <p:sp>
        <p:nvSpPr>
          <p:cNvPr id="393" name="Google Shape;393;p50"/>
          <p:cNvSpPr txBox="1"/>
          <p:nvPr/>
        </p:nvSpPr>
        <p:spPr>
          <a:xfrm>
            <a:off x="613618" y="1876601"/>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Runtime Sensor</a:t>
            </a:r>
            <a:endParaRPr sz="1300" b="0" i="0" u="none" strike="noStrike" cap="none" dirty="0">
              <a:solidFill>
                <a:srgbClr val="38761D"/>
              </a:solidFill>
              <a:latin typeface="Calibri"/>
              <a:ea typeface="Calibri"/>
              <a:cs typeface="Calibri"/>
              <a:sym typeface="Calibri"/>
            </a:endParaRPr>
          </a:p>
        </p:txBody>
      </p:sp>
      <p:pic>
        <p:nvPicPr>
          <p:cNvPr id="394" name="Google Shape;394;p50" title="Screenshot 2025-07-09 at 19.45.30.png"/>
          <p:cNvPicPr preferRelativeResize="0"/>
          <p:nvPr/>
        </p:nvPicPr>
        <p:blipFill rotWithShape="1">
          <a:blip r:embed="rId4">
            <a:alphaModFix/>
          </a:blip>
          <a:srcRect/>
          <a:stretch/>
        </p:blipFill>
        <p:spPr>
          <a:xfrm>
            <a:off x="212175" y="1880796"/>
            <a:ext cx="384944" cy="394315"/>
          </a:xfrm>
          <a:prstGeom prst="rect">
            <a:avLst/>
          </a:prstGeom>
          <a:noFill/>
          <a:ln>
            <a:noFill/>
          </a:ln>
        </p:spPr>
      </p:pic>
      <p:sp>
        <p:nvSpPr>
          <p:cNvPr id="395" name="Google Shape;395;p50"/>
          <p:cNvSpPr txBox="1"/>
          <p:nvPr/>
        </p:nvSpPr>
        <p:spPr>
          <a:xfrm>
            <a:off x="618387" y="2392927"/>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Wiz Defend Ingestion</a:t>
            </a:r>
            <a:endParaRPr sz="1300" b="0" i="0" u="none" strike="noStrike" cap="none" dirty="0">
              <a:solidFill>
                <a:srgbClr val="38761D"/>
              </a:solidFill>
              <a:latin typeface="Calibri"/>
              <a:ea typeface="Calibri"/>
              <a:cs typeface="Calibri"/>
              <a:sym typeface="Calibri"/>
            </a:endParaRPr>
          </a:p>
        </p:txBody>
      </p:sp>
      <p:pic>
        <p:nvPicPr>
          <p:cNvPr id="396" name="Google Shape;396;p50" title="Screenshot 2025-07-09 at 19.46.40.png"/>
          <p:cNvPicPr preferRelativeResize="0"/>
          <p:nvPr/>
        </p:nvPicPr>
        <p:blipFill rotWithShape="1">
          <a:blip r:embed="rId5">
            <a:alphaModFix/>
          </a:blip>
          <a:srcRect/>
          <a:stretch/>
        </p:blipFill>
        <p:spPr>
          <a:xfrm>
            <a:off x="194378" y="2404673"/>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2928550"/>
            <a:ext cx="385851" cy="388893"/>
          </a:xfrm>
          <a:prstGeom prst="rect">
            <a:avLst/>
          </a:prstGeom>
          <a:noFill/>
          <a:ln>
            <a:noFill/>
          </a:ln>
        </p:spPr>
      </p:pic>
      <p:sp>
        <p:nvSpPr>
          <p:cNvPr id="398" name="Google Shape;398;p50"/>
          <p:cNvSpPr txBox="1"/>
          <p:nvPr/>
        </p:nvSpPr>
        <p:spPr>
          <a:xfrm>
            <a:off x="621949" y="2904636"/>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Wiz Code</a:t>
            </a:r>
            <a:endParaRPr sz="1300" b="0" i="0" u="none" strike="noStrike" cap="none" dirty="0">
              <a:solidFill>
                <a:srgbClr val="38761D"/>
              </a:solidFill>
              <a:latin typeface="Calibri"/>
              <a:ea typeface="Calibri"/>
              <a:cs typeface="Calibri"/>
              <a:sym typeface="Calibri"/>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w="9525" cap="flat" cmpd="sng">
            <a:solidFill>
              <a:schemeClr val="accent1"/>
            </a:solidFill>
            <a:prstDash val="solid"/>
            <a:round/>
            <a:headEnd type="none" w="sm" len="sm"/>
            <a:tailEnd type="none" w="sm" len="sm"/>
          </a:ln>
        </p:spPr>
      </p:pic>
      <p:sp>
        <p:nvSpPr>
          <p:cNvPr id="400" name="Google Shape;400;p50"/>
          <p:cNvSpPr txBox="1"/>
          <p:nvPr/>
        </p:nvSpPr>
        <p:spPr>
          <a:xfrm>
            <a:off x="3171351" y="997628"/>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Time With Wiz</a:t>
            </a:r>
            <a:endParaRPr sz="1500" b="0" i="0" u="none" strike="noStrike" cap="none">
              <a:solidFill>
                <a:schemeClr val="dk1"/>
              </a:solidFill>
              <a:latin typeface="Calibri"/>
              <a:ea typeface="Calibri"/>
              <a:cs typeface="Calibri"/>
              <a:sym typeface="Calibri"/>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w="9525" cap="flat" cmpd="sng">
            <a:solidFill>
              <a:schemeClr val="accent1"/>
            </a:solidFill>
            <a:prstDash val="solid"/>
            <a:round/>
            <a:headEnd type="none" w="sm" len="sm"/>
            <a:tailEnd type="none" w="sm" len="sm"/>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a:ea typeface="Calibri"/>
                <a:cs typeface="Calibri"/>
                <a:sym typeface="Calibri"/>
              </a:rPr>
              <a:t>Kubernetes / Containers</a:t>
            </a:r>
            <a:br>
              <a:rPr lang="en" sz="1600" b="0" i="0" u="none" strike="noStrike" cap="none">
                <a:solidFill>
                  <a:schemeClr val="dk1"/>
                </a:solidFill>
                <a:latin typeface="Calibri"/>
                <a:ea typeface="Calibri"/>
                <a:cs typeface="Calibri"/>
                <a:sym typeface="Calibri"/>
              </a:rPr>
            </a:br>
            <a:r>
              <a:rPr lang="en" sz="1600" b="0" i="0" u="none" strike="noStrike" cap="none">
                <a:solidFill>
                  <a:schemeClr val="dk1"/>
                </a:solidFill>
                <a:latin typeface="Calibri"/>
                <a:ea typeface="Calibri"/>
                <a:cs typeface="Calibri"/>
                <a:sym typeface="Calibri"/>
              </a:rPr>
              <a:t>&amp; Wiz CLI</a:t>
            </a:r>
            <a:endParaRPr sz="1600" b="0" i="0" u="none" strike="noStrike" cap="none">
              <a:solidFill>
                <a:schemeClr val="dk1"/>
              </a:solidFill>
              <a:latin typeface="Calibri"/>
              <a:ea typeface="Calibri"/>
              <a:cs typeface="Calibri"/>
              <a:sym typeface="Calibri"/>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8"/>
              </a:rPr>
              <a:t>K8s Clusters</a:t>
            </a:r>
            <a:endParaRPr sz="1000" b="0" i="0" u="none" strike="noStrike" cap="none">
              <a:solidFill>
                <a:srgbClr val="0254EC"/>
              </a:solidFill>
              <a:latin typeface="Calibri"/>
              <a:ea typeface="Calibri"/>
              <a:cs typeface="Calibri"/>
              <a:sym typeface="Calibri"/>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{{K8S}}</a:t>
            </a:r>
            <a:endParaRPr sz="1000" b="0" i="0" u="none" strike="noStrike" cap="none">
              <a:solidFill>
                <a:srgbClr val="333333"/>
              </a:solidFill>
              <a:latin typeface="Calibri"/>
              <a:ea typeface="Calibri"/>
              <a:cs typeface="Calibri"/>
              <a:sym typeface="Calibri"/>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{{TI}}</a:t>
            </a:r>
            <a:endParaRPr sz="1000" b="0" i="0" u="none" strike="noStrike" cap="none">
              <a:solidFill>
                <a:srgbClr val="333333"/>
              </a:solidFill>
              <a:latin typeface="Calibri"/>
              <a:ea typeface="Calibri"/>
              <a:cs typeface="Calibri"/>
              <a:sym typeface="Calibri"/>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9"/>
              </a:rPr>
              <a:t>Wiz CLI SCANS (30d) </a:t>
            </a:r>
            <a:r>
              <a:rPr lang="en" sz="1400" b="0" i="0" u="none" strike="noStrike" cap="none">
                <a:solidFill>
                  <a:schemeClr val="hlink"/>
                </a:solidFill>
                <a:uFill>
                  <a:noFill/>
                </a:uFill>
                <a:latin typeface="Calibri"/>
                <a:ea typeface="Calibri"/>
                <a:cs typeface="Calibri"/>
                <a:sym typeface="Calibri"/>
                <a:hlinkClick r:id="rId9"/>
              </a:rPr>
              <a:t>↗</a:t>
            </a:r>
            <a:endParaRPr sz="1100" b="0" i="0" u="none" strike="noStrike" cap="none">
              <a:solidFill>
                <a:srgbClr val="0254EC"/>
              </a:solidFill>
              <a:latin typeface="Calibri"/>
              <a:ea typeface="Calibri"/>
              <a:cs typeface="Calibri"/>
              <a:sym typeface="Calibri"/>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a:solidFill>
                  <a:srgbClr val="333333"/>
                </a:solidFill>
                <a:latin typeface="Calibri"/>
                <a:ea typeface="Calibri"/>
                <a:cs typeface="Calibri"/>
                <a:sym typeface="Calibri"/>
              </a:rPr>
              <a:t>{{CLI}}</a:t>
            </a:r>
            <a:endParaRPr sz="2000" b="0" i="0" u="none" strike="noStrike" cap="none">
              <a:solidFill>
                <a:srgbClr val="333333"/>
              </a:solidFill>
              <a:latin typeface="Calibri"/>
              <a:ea typeface="Calibri"/>
              <a:cs typeface="Calibri"/>
              <a:sym typeface="Calibri"/>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0"/>
              </a:rPr>
              <a:t>Container Registries</a:t>
            </a:r>
            <a:endParaRPr sz="1000" b="0" i="0" u="none" strike="noStrike" cap="none">
              <a:solidFill>
                <a:srgbClr val="0254EC"/>
              </a:solidFill>
              <a:latin typeface="Calibri"/>
              <a:ea typeface="Calibri"/>
              <a:cs typeface="Calibri"/>
              <a:sym typeface="Calibri"/>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{{R_TOT}}</a:t>
            </a:r>
            <a:endParaRPr sz="1000" b="0" i="0" u="none" strike="noStrike" cap="none">
              <a:solidFill>
                <a:srgbClr val="333333"/>
              </a:solidFill>
              <a:latin typeface="Calibri"/>
              <a:ea typeface="Calibri"/>
              <a:cs typeface="Calibri"/>
              <a:sym typeface="Calibri"/>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1"/>
              </a:rPr>
              <a:t>Container Images</a:t>
            </a:r>
            <a:endParaRPr sz="1000" b="0" i="0" u="none" strike="noStrike" cap="none">
              <a:solidFill>
                <a:srgbClr val="0254EC"/>
              </a:solidFill>
              <a:latin typeface="Calibri"/>
              <a:ea typeface="Calibri"/>
              <a:cs typeface="Calibri"/>
              <a:sym typeface="Calibri"/>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Current Contract End</a:t>
            </a:r>
            <a:br>
              <a:rPr lang="en" sz="1000" b="0" i="0" u="none" strike="noStrike" cap="none">
                <a:solidFill>
                  <a:schemeClr val="dk1"/>
                </a:solidFill>
                <a:latin typeface="Calibri"/>
                <a:ea typeface="Calibri"/>
                <a:cs typeface="Calibri"/>
                <a:sym typeface="Calibri"/>
              </a:rPr>
            </a:br>
            <a:r>
              <a:rPr lang="en" sz="1000" b="0" i="0" u="none" strike="noStrike" cap="none">
                <a:solidFill>
                  <a:schemeClr val="dk1"/>
                </a:solidFill>
                <a:latin typeface="Calibri"/>
                <a:ea typeface="Calibri"/>
                <a:cs typeface="Calibri"/>
                <a:sym typeface="Calibri"/>
              </a:rPr>
              <a:t>{{CONTRACT_END_FMT}}</a:t>
            </a:r>
            <a:endParaRPr sz="1000" b="0" i="0" u="none" strike="noStrike" cap="none">
              <a:solidFill>
                <a:schemeClr val="dk1"/>
              </a:solidFill>
              <a:latin typeface="Calibri"/>
              <a:ea typeface="Calibri"/>
              <a:cs typeface="Calibri"/>
              <a:sym typeface="Calibri"/>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1155CC"/>
                </a:solidFill>
                <a:latin typeface="Calibri"/>
                <a:ea typeface="Calibri"/>
                <a:cs typeface="Calibri"/>
                <a:sym typeface="Calibri"/>
              </a:rPr>
              <a:t>{{CUS_NOD}} Days as Wiz Customer</a:t>
            </a:r>
            <a:endParaRPr sz="1100" b="0" i="0" u="none" strike="noStrike" cap="none">
              <a:solidFill>
                <a:srgbClr val="1155CC"/>
              </a:solidFill>
              <a:latin typeface="Calibri"/>
              <a:ea typeface="Calibri"/>
              <a:cs typeface="Calibri"/>
              <a:sym typeface="Calibri"/>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{{D_U_R}} Days Until Renewal</a:t>
            </a:r>
            <a:endParaRPr sz="1000" b="0" i="0" u="none" strike="noStrike" cap="none">
              <a:solidFill>
                <a:schemeClr val="dk1"/>
              </a:solidFill>
              <a:latin typeface="Calibri"/>
              <a:ea typeface="Calibri"/>
              <a:cs typeface="Calibri"/>
              <a:sym typeface="Calibri"/>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w="9525" cap="flat" cmpd="sng">
            <a:solidFill>
              <a:schemeClr val="accent1"/>
            </a:solidFill>
            <a:prstDash val="solid"/>
            <a:round/>
            <a:headEnd type="none" w="sm" len="sm"/>
            <a:tailEnd type="none" w="sm" len="sm"/>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chemeClr val="hlink"/>
                </a:solidFill>
                <a:latin typeface="Calibri"/>
                <a:ea typeface="Calibri"/>
                <a:cs typeface="Calibri"/>
                <a:sym typeface="Calibri"/>
                <a:hlinkClick r:id="rId13"/>
              </a:rPr>
              <a:t>Unscanned Resources </a:t>
            </a:r>
            <a:r>
              <a:rPr lang="en" sz="1500" b="0" i="0" u="none" strike="noStrike" cap="none">
                <a:solidFill>
                  <a:schemeClr val="hlink"/>
                </a:solidFill>
                <a:uFill>
                  <a:noFill/>
                </a:uFill>
                <a:latin typeface="Calibri"/>
                <a:ea typeface="Calibri"/>
                <a:cs typeface="Calibri"/>
                <a:sym typeface="Calibri"/>
                <a:hlinkClick r:id="rId13"/>
              </a:rPr>
              <a:t>↗</a:t>
            </a:r>
            <a:endParaRPr sz="1500" b="0" i="0" u="none" strike="noStrike" cap="none">
              <a:solidFill>
                <a:srgbClr val="0254EC"/>
              </a:solidFill>
              <a:latin typeface="Calibri"/>
              <a:ea typeface="Calibri"/>
              <a:cs typeface="Calibri"/>
              <a:sym typeface="Calibri"/>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a:ea typeface="Calibri"/>
                <a:cs typeface="Calibri"/>
                <a:sym typeface="Calibri"/>
              </a:rPr>
              <a:t>{{U_RES}} Unscanned Resources</a:t>
            </a:r>
            <a:br>
              <a:rPr lang="en" sz="1200" b="0" i="0" u="none" strike="noStrike" cap="none">
                <a:solidFill>
                  <a:srgbClr val="333333"/>
                </a:solidFill>
                <a:latin typeface="Calibri"/>
                <a:ea typeface="Calibri"/>
                <a:cs typeface="Calibri"/>
                <a:sym typeface="Calibri"/>
              </a:rPr>
            </a:br>
            <a:r>
              <a:rPr lang="en" sz="800" b="0" i="0" u="none" strike="noStrike" cap="none">
                <a:solidFill>
                  <a:srgbClr val="333333"/>
                </a:solidFill>
                <a:latin typeface="Calibri"/>
                <a:ea typeface="Calibri"/>
                <a:cs typeface="Calibri"/>
                <a:sym typeface="Calibri"/>
              </a:rPr>
              <a:t>Cloud Organizations, Code Repositories &amp; Subscriptions</a:t>
            </a:r>
            <a:endParaRPr sz="800" b="0" i="0" u="none" strike="noStrike" cap="none">
              <a:solidFill>
                <a:srgbClr val="333333"/>
              </a:solidFill>
              <a:latin typeface="Calibri"/>
              <a:ea typeface="Calibri"/>
              <a:cs typeface="Calibri"/>
              <a:sym typeface="Calibri"/>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w="9525" cap="flat" cmpd="sng">
            <a:solidFill>
              <a:schemeClr val="accent1"/>
            </a:solidFill>
            <a:prstDash val="solid"/>
            <a:round/>
            <a:headEnd type="none" w="sm" len="sm"/>
            <a:tailEnd type="none" w="sm" len="sm"/>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chemeClr val="hlink"/>
                </a:solidFill>
                <a:latin typeface="Calibri"/>
                <a:ea typeface="Calibri"/>
                <a:cs typeface="Calibri"/>
                <a:sym typeface="Calibri"/>
                <a:hlinkClick r:id="rId14"/>
              </a:rPr>
              <a:t>Red Agent Scans</a:t>
            </a:r>
            <a:r>
              <a:rPr lang="en" sz="15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500" b="0" i="0" u="none" strike="noStrike" cap="none">
              <a:solidFill>
                <a:srgbClr val="0254EC"/>
              </a:solidFill>
              <a:latin typeface="Calibri"/>
              <a:ea typeface="Calibri"/>
              <a:cs typeface="Calibri"/>
              <a:sym typeface="Calibri"/>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dirty="0">
                <a:solidFill>
                  <a:srgbClr val="333333"/>
                </a:solidFill>
                <a:latin typeface="Calibri"/>
                <a:ea typeface="Calibri"/>
                <a:cs typeface="Calibri"/>
                <a:sym typeface="Calibri"/>
              </a:rPr>
              <a:t>Web API Crawler</a:t>
            </a:r>
            <a:r>
              <a:rPr lang="en" sz="900" b="0" i="0" u="none" strike="noStrike" cap="none" dirty="0">
                <a:solidFill>
                  <a:srgbClr val="333333"/>
                </a:solidFill>
                <a:latin typeface="Calibri"/>
                <a:ea typeface="Calibri"/>
                <a:cs typeface="Calibri"/>
                <a:sym typeface="Calibri"/>
              </a:rPr>
              <a:t>: {{RA_</a:t>
            </a:r>
            <a:r>
              <a:rPr lang="en" sz="900" dirty="0">
                <a:solidFill>
                  <a:srgbClr val="333333"/>
                </a:solidFill>
                <a:latin typeface="Calibri"/>
                <a:ea typeface="Calibri"/>
                <a:cs typeface="Calibri"/>
                <a:sym typeface="Calibri"/>
              </a:rPr>
              <a:t>WC</a:t>
            </a:r>
            <a:r>
              <a:rPr lang="en" sz="900" b="0" i="0" u="none" strike="noStrike" cap="none" dirty="0">
                <a:solidFill>
                  <a:srgbClr val="333333"/>
                </a:solidFill>
                <a:latin typeface="Calibri"/>
                <a:ea typeface="Calibri"/>
                <a:cs typeface="Calibri"/>
                <a:sym typeface="Calibri"/>
              </a:rPr>
              <a:t>}}</a:t>
            </a:r>
            <a:endParaRPr sz="900" b="0" i="0" u="none" strike="noStrike" cap="none" dirty="0">
              <a:solidFill>
                <a:srgbClr val="333333"/>
              </a:solidFill>
              <a:latin typeface="Calibri"/>
              <a:ea typeface="Calibri"/>
              <a:cs typeface="Calibri"/>
              <a:sym typeface="Calibri"/>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dirty="0">
                <a:solidFill>
                  <a:srgbClr val="333333"/>
                </a:solidFill>
                <a:latin typeface="Calibri"/>
                <a:ea typeface="Calibri"/>
                <a:cs typeface="Calibri"/>
                <a:sym typeface="Calibri"/>
              </a:rPr>
              <a:t>API DAST Attacker</a:t>
            </a:r>
            <a:r>
              <a:rPr lang="en" sz="900" b="0" i="0" u="none" strike="noStrike" cap="none" dirty="0">
                <a:solidFill>
                  <a:srgbClr val="333333"/>
                </a:solidFill>
                <a:latin typeface="Calibri"/>
                <a:ea typeface="Calibri"/>
                <a:cs typeface="Calibri"/>
                <a:sym typeface="Calibri"/>
              </a:rPr>
              <a:t>: {{RA_</a:t>
            </a:r>
            <a:r>
              <a:rPr lang="en" sz="900" dirty="0">
                <a:solidFill>
                  <a:srgbClr val="333333"/>
                </a:solidFill>
                <a:latin typeface="Calibri"/>
                <a:ea typeface="Calibri"/>
                <a:cs typeface="Calibri"/>
                <a:sym typeface="Calibri"/>
              </a:rPr>
              <a:t>DAST</a:t>
            </a:r>
            <a:r>
              <a:rPr lang="en" sz="900" b="0" i="0" u="none" strike="noStrike" cap="none" dirty="0">
                <a:solidFill>
                  <a:srgbClr val="333333"/>
                </a:solidFill>
                <a:latin typeface="Calibri"/>
                <a:ea typeface="Calibri"/>
                <a:cs typeface="Calibri"/>
                <a:sym typeface="Calibri"/>
              </a:rPr>
              <a:t>}}</a:t>
            </a:r>
            <a:endParaRPr sz="900" b="0" i="0" u="none" strike="noStrike" cap="none" dirty="0">
              <a:solidFill>
                <a:srgbClr val="333333"/>
              </a:solidFill>
              <a:latin typeface="Calibri"/>
              <a:ea typeface="Calibri"/>
              <a:cs typeface="Calibri"/>
              <a:sym typeface="Calibri"/>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a:ea typeface="Calibri"/>
                <a:cs typeface="Calibri"/>
                <a:sym typeface="Calibri"/>
              </a:rPr>
              <a:t>Secret Blast Radius: {{RA_SI}}</a:t>
            </a:r>
            <a:endParaRPr sz="900" b="0" i="0" u="none" strike="noStrike" cap="none" dirty="0">
              <a:solidFill>
                <a:srgbClr val="333333"/>
              </a:solidFill>
              <a:latin typeface="Calibri"/>
              <a:ea typeface="Calibri"/>
              <a:cs typeface="Calibri"/>
              <a:sym typeface="Calibri"/>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Total Monthly Scans: {{RA_TOTS}}</a:t>
            </a:r>
            <a:endParaRPr sz="1100" b="0" i="0" u="none" strike="noStrike" cap="none">
              <a:solidFill>
                <a:srgbClr val="333333"/>
              </a:solidFill>
              <a:latin typeface="Calibri"/>
              <a:ea typeface="Calibri"/>
              <a:cs typeface="Calibri"/>
              <a:sym typeface="Calibri"/>
            </a:endParaRPr>
          </a:p>
        </p:txBody>
      </p:sp>
      <p:sp>
        <p:nvSpPr>
          <p:cNvPr id="2" name="Google Shape;390;p50">
            <a:extLst>
              <a:ext uri="{FF2B5EF4-FFF2-40B4-BE49-F238E27FC236}">
                <a16:creationId xmlns:a16="http://schemas.microsoft.com/office/drawing/2014/main" id="{82D1517E-B19B-BBBA-6A10-B46AFA56C909}"/>
              </a:ext>
            </a:extLst>
          </p:cNvPr>
          <p:cNvSpPr txBox="1"/>
          <p:nvPr/>
        </p:nvSpPr>
        <p:spPr>
          <a:xfrm>
            <a:off x="614178" y="1558857"/>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a:t>
            </a:r>
            <a:r>
              <a:rPr lang="en" sz="1100" dirty="0">
                <a:solidFill>
                  <a:srgbClr val="38761D"/>
                </a:solidFill>
                <a:latin typeface="Calibri"/>
                <a:ea typeface="Calibri"/>
                <a:cs typeface="Calibri"/>
                <a:sym typeface="Calibri"/>
              </a:rPr>
              <a:t>LU_ADV</a:t>
            </a:r>
            <a:r>
              <a:rPr lang="en" sz="1100" b="0" i="0" u="none" strike="noStrike" cap="none" dirty="0">
                <a:solidFill>
                  <a:srgbClr val="38761D"/>
                </a:solidFill>
                <a:latin typeface="Calibri"/>
                <a:ea typeface="Calibri"/>
                <a:cs typeface="Calibri"/>
                <a:sym typeface="Calibri"/>
              </a:rPr>
              <a:t>}}</a:t>
            </a:r>
            <a:endParaRPr sz="1100" b="0" i="0" u="none" strike="noStrike" cap="none" dirty="0">
              <a:solidFill>
                <a:srgbClr val="000000"/>
              </a:solidFill>
              <a:latin typeface="Calibri"/>
              <a:ea typeface="Calibri"/>
              <a:cs typeface="Calibri"/>
              <a:sym typeface="Calibri"/>
            </a:endParaRPr>
          </a:p>
        </p:txBody>
      </p:sp>
      <p:sp>
        <p:nvSpPr>
          <p:cNvPr id="3" name="Google Shape;390;p50">
            <a:extLst>
              <a:ext uri="{FF2B5EF4-FFF2-40B4-BE49-F238E27FC236}">
                <a16:creationId xmlns:a16="http://schemas.microsoft.com/office/drawing/2014/main" id="{0D3C1DDD-C73F-BE82-8B2D-D1DD83BDBE94}"/>
              </a:ext>
            </a:extLst>
          </p:cNvPr>
          <p:cNvSpPr txBox="1"/>
          <p:nvPr/>
        </p:nvSpPr>
        <p:spPr>
          <a:xfrm>
            <a:off x="614184" y="2043762"/>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a:t>
            </a:r>
            <a:r>
              <a:rPr lang="en" sz="1100" dirty="0">
                <a:solidFill>
                  <a:srgbClr val="38761D"/>
                </a:solidFill>
                <a:latin typeface="Calibri"/>
                <a:ea typeface="Calibri"/>
                <a:cs typeface="Calibri"/>
                <a:sym typeface="Calibri"/>
              </a:rPr>
              <a:t>LU_SENSOR</a:t>
            </a:r>
            <a:r>
              <a:rPr lang="en" sz="1100" b="0" i="0" u="none" strike="noStrike" cap="none" dirty="0">
                <a:solidFill>
                  <a:srgbClr val="38761D"/>
                </a:solidFill>
                <a:latin typeface="Calibri"/>
                <a:ea typeface="Calibri"/>
                <a:cs typeface="Calibri"/>
                <a:sym typeface="Calibri"/>
              </a:rPr>
              <a:t>}}</a:t>
            </a:r>
            <a:endParaRPr sz="1100" b="0" i="0" u="none" strike="noStrike" cap="none" dirty="0">
              <a:solidFill>
                <a:srgbClr val="000000"/>
              </a:solidFill>
              <a:latin typeface="Calibri"/>
              <a:ea typeface="Calibri"/>
              <a:cs typeface="Calibri"/>
              <a:sym typeface="Calibri"/>
            </a:endParaRPr>
          </a:p>
        </p:txBody>
      </p:sp>
      <p:sp>
        <p:nvSpPr>
          <p:cNvPr id="4" name="Google Shape;390;p50">
            <a:extLst>
              <a:ext uri="{FF2B5EF4-FFF2-40B4-BE49-F238E27FC236}">
                <a16:creationId xmlns:a16="http://schemas.microsoft.com/office/drawing/2014/main" id="{549788B0-FA68-A49F-A6D9-E1FE8C634547}"/>
              </a:ext>
            </a:extLst>
          </p:cNvPr>
          <p:cNvSpPr txBox="1"/>
          <p:nvPr/>
        </p:nvSpPr>
        <p:spPr>
          <a:xfrm>
            <a:off x="614178" y="2574855"/>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a:t>
            </a:r>
            <a:r>
              <a:rPr lang="en" sz="1100" dirty="0">
                <a:solidFill>
                  <a:srgbClr val="38761D"/>
                </a:solidFill>
                <a:latin typeface="Calibri"/>
                <a:ea typeface="Calibri"/>
                <a:cs typeface="Calibri"/>
                <a:sym typeface="Calibri"/>
              </a:rPr>
              <a:t>LU_DEFEND</a:t>
            </a:r>
            <a:r>
              <a:rPr lang="en" sz="1100" b="0" i="0" u="none" strike="noStrike" cap="none" dirty="0">
                <a:solidFill>
                  <a:srgbClr val="38761D"/>
                </a:solidFill>
                <a:latin typeface="Calibri"/>
                <a:ea typeface="Calibri"/>
                <a:cs typeface="Calibri"/>
                <a:sym typeface="Calibri"/>
              </a:rPr>
              <a:t>}} Units</a:t>
            </a:r>
            <a:endParaRPr sz="1100" b="0" i="0" u="none" strike="noStrike" cap="none" dirty="0">
              <a:solidFill>
                <a:srgbClr val="000000"/>
              </a:solidFill>
              <a:latin typeface="Calibri"/>
              <a:ea typeface="Calibri"/>
              <a:cs typeface="Calibri"/>
              <a:sym typeface="Calibri"/>
            </a:endParaRPr>
          </a:p>
        </p:txBody>
      </p:sp>
      <p:sp>
        <p:nvSpPr>
          <p:cNvPr id="5" name="Google Shape;390;p50">
            <a:extLst>
              <a:ext uri="{FF2B5EF4-FFF2-40B4-BE49-F238E27FC236}">
                <a16:creationId xmlns:a16="http://schemas.microsoft.com/office/drawing/2014/main" id="{73EBBFB4-9E81-B198-565D-7B23F277B69C}"/>
              </a:ext>
            </a:extLst>
          </p:cNvPr>
          <p:cNvSpPr txBox="1"/>
          <p:nvPr/>
        </p:nvSpPr>
        <p:spPr>
          <a:xfrm>
            <a:off x="614178" y="3073623"/>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a:t>
            </a:r>
            <a:r>
              <a:rPr lang="en" sz="1100" dirty="0">
                <a:solidFill>
                  <a:srgbClr val="38761D"/>
                </a:solidFill>
                <a:latin typeface="Calibri"/>
                <a:ea typeface="Calibri"/>
                <a:cs typeface="Calibri"/>
                <a:sym typeface="Calibri"/>
              </a:rPr>
              <a:t>LU_CODE</a:t>
            </a:r>
            <a:r>
              <a:rPr lang="en" sz="1100" b="0" i="0" u="none" strike="noStrike" cap="none" dirty="0">
                <a:solidFill>
                  <a:srgbClr val="38761D"/>
                </a:solidFill>
                <a:latin typeface="Calibri"/>
                <a:ea typeface="Calibri"/>
                <a:cs typeface="Calibri"/>
                <a:sym typeface="Calibri"/>
              </a:rPr>
              <a:t>}} Developers</a:t>
            </a:r>
            <a:endParaRPr sz="1100" b="0" i="0" u="none" strike="noStrike" cap="none" dirty="0">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Wiz System Health &amp; Scans Snapshot</a:t>
            </a:r>
            <a:endParaRPr sz="2420">
              <a:latin typeface="Calibri"/>
              <a:ea typeface="Calibri"/>
              <a:cs typeface="Calibri"/>
              <a:sym typeface="Calibri"/>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w="9525" cap="flat" cmpd="sng">
            <a:solidFill>
              <a:schemeClr val="accent1"/>
            </a:solidFill>
            <a:prstDash val="solid"/>
            <a:round/>
            <a:headEnd type="none" w="sm" len="sm"/>
            <a:tailEnd type="none" w="sm" len="sm"/>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System Health Issues</a:t>
            </a:r>
            <a:endParaRPr sz="1500" b="0" i="0" u="none" strike="noStrike" cap="none">
              <a:solidFill>
                <a:schemeClr val="dk1"/>
              </a:solidFill>
              <a:latin typeface="Calibri"/>
              <a:ea typeface="Calibri"/>
              <a:cs typeface="Calibri"/>
              <a:sym typeface="Calibri"/>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4"/>
              </a:rPr>
              <a:t>Critical SHIs</a:t>
            </a:r>
            <a:endParaRPr sz="1000" b="0" i="0" u="none" strike="noStrike" cap="none">
              <a:solidFill>
                <a:srgbClr val="0254EC"/>
              </a:solidFill>
              <a:latin typeface="Calibri"/>
              <a:ea typeface="Calibri"/>
              <a:cs typeface="Calibri"/>
              <a:sym typeface="Calibri"/>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{{SHI_C}}</a:t>
            </a:r>
            <a:endParaRPr sz="1000" b="0" i="0" u="none" strike="noStrike" cap="none">
              <a:solidFill>
                <a:srgbClr val="333333"/>
              </a:solidFill>
              <a:latin typeface="Calibri"/>
              <a:ea typeface="Calibri"/>
              <a:cs typeface="Calibri"/>
              <a:sym typeface="Calibri"/>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High SHIs</a:t>
            </a:r>
            <a:endParaRPr sz="1000" b="0" i="0" u="none" strike="noStrike" cap="none">
              <a:solidFill>
                <a:srgbClr val="0254EC"/>
              </a:solidFill>
              <a:latin typeface="Calibri"/>
              <a:ea typeface="Calibri"/>
              <a:cs typeface="Calibri"/>
              <a:sym typeface="Calibri"/>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{{SHI_H}}</a:t>
            </a:r>
            <a:endParaRPr sz="1000" b="0" i="0" u="none" strike="noStrike" cap="none">
              <a:solidFill>
                <a:srgbClr val="333333"/>
              </a:solidFill>
              <a:latin typeface="Calibri"/>
              <a:ea typeface="Calibri"/>
              <a:cs typeface="Calibri"/>
              <a:sym typeface="Calibri"/>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6"/>
              </a:rPr>
              <a:t>Resolved Critical SHIs</a:t>
            </a:r>
            <a:endParaRPr sz="1000" b="0" i="0" u="none" strike="noStrike" cap="none">
              <a:solidFill>
                <a:srgbClr val="0254EC"/>
              </a:solidFill>
              <a:latin typeface="Calibri"/>
              <a:ea typeface="Calibri"/>
              <a:cs typeface="Calibri"/>
              <a:sym typeface="Calibri"/>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{{SHI_R_C}}</a:t>
            </a:r>
            <a:endParaRPr sz="1000" b="0" i="0" u="none" strike="noStrike" cap="none">
              <a:solidFill>
                <a:srgbClr val="333333"/>
              </a:solidFill>
              <a:latin typeface="Calibri"/>
              <a:ea typeface="Calibri"/>
              <a:cs typeface="Calibri"/>
              <a:sym typeface="Calibri"/>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7"/>
              </a:rPr>
              <a:t>Resolved High SHIs</a:t>
            </a:r>
            <a:endParaRPr sz="1000" b="0" i="0" u="none" strike="noStrike" cap="none">
              <a:solidFill>
                <a:srgbClr val="0254EC"/>
              </a:solidFill>
              <a:latin typeface="Calibri"/>
              <a:ea typeface="Calibri"/>
              <a:cs typeface="Calibri"/>
              <a:sym typeface="Calibri"/>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{{SHI_R_H}}</a:t>
            </a:r>
            <a:endParaRPr sz="1000" b="0" i="0" u="none" strike="noStrike" cap="none">
              <a:solidFill>
                <a:srgbClr val="333333"/>
              </a:solidFill>
              <a:latin typeface="Calibri"/>
              <a:ea typeface="Calibri"/>
              <a:cs typeface="Calibri"/>
              <a:sym typeface="Calibri"/>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Resolved SHIs in Past 30 Days</a:t>
            </a:r>
            <a:endParaRPr sz="1000" b="0" i="0" u="none" strike="noStrike" cap="none">
              <a:solidFill>
                <a:srgbClr val="333333"/>
              </a:solidFill>
              <a:latin typeface="Calibri"/>
              <a:ea typeface="Calibri"/>
              <a:cs typeface="Calibri"/>
              <a:sym typeface="Calibri"/>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w="9525" cap="flat" cmpd="sng">
            <a:solidFill>
              <a:schemeClr val="accent1"/>
            </a:solidFill>
            <a:prstDash val="solid"/>
            <a:round/>
            <a:headEnd type="none" w="sm" len="sm"/>
            <a:tailEnd type="none" w="sm" len="sm"/>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Non-OS, Registry &amp; VM Image Scans</a:t>
            </a:r>
            <a:endParaRPr sz="1500" b="0" i="0" u="none" strike="noStrike" cap="none">
              <a:solidFill>
                <a:schemeClr val="dk1"/>
              </a:solidFill>
              <a:latin typeface="Calibri"/>
              <a:ea typeface="Calibri"/>
              <a:cs typeface="Calibri"/>
              <a:sym typeface="Calibri"/>
            </a:endParaRPr>
          </a:p>
        </p:txBody>
      </p:sp>
      <p:pic>
        <p:nvPicPr>
          <p:cNvPr id="452" name="Google Shape;452;p51"/>
          <p:cNvPicPr preferRelativeResize="0"/>
          <p:nvPr/>
        </p:nvPicPr>
        <p:blipFill rotWithShape="1">
          <a:blip r:embed="rId3">
            <a:alphaModFix/>
          </a:blip>
          <a:srcRect/>
          <a:stretch/>
        </p:blipFill>
        <p:spPr>
          <a:xfrm>
            <a:off x="6483927" y="933600"/>
            <a:ext cx="2532948" cy="1594700"/>
          </a:xfrm>
          <a:prstGeom prst="rect">
            <a:avLst/>
          </a:prstGeom>
          <a:noFill/>
          <a:ln w="9525" cap="flat" cmpd="sng">
            <a:solidFill>
              <a:schemeClr val="accent1"/>
            </a:solidFill>
            <a:prstDash val="solid"/>
            <a:round/>
            <a:headEnd type="none" w="sm" len="sm"/>
            <a:tailEnd type="none" w="sm" len="sm"/>
          </a:ln>
        </p:spPr>
      </p:pic>
      <p:sp>
        <p:nvSpPr>
          <p:cNvPr id="453" name="Google Shape;453;p51"/>
          <p:cNvSpPr txBox="1"/>
          <p:nvPr/>
        </p:nvSpPr>
        <p:spPr>
          <a:xfrm>
            <a:off x="6491831" y="1016199"/>
            <a:ext cx="2522747"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dirty="0">
                <a:solidFill>
                  <a:schemeClr val="dk1"/>
                </a:solidFill>
                <a:latin typeface="Calibri"/>
                <a:ea typeface="Calibri"/>
                <a:cs typeface="Calibri"/>
                <a:sym typeface="Calibri"/>
              </a:rPr>
              <a:t>Data Security (DSPM) Scans</a:t>
            </a:r>
            <a:endParaRPr sz="1500" b="0" i="0" u="none" strike="noStrike" cap="none" dirty="0">
              <a:solidFill>
                <a:schemeClr val="dk1"/>
              </a:solidFill>
              <a:latin typeface="Calibri"/>
              <a:ea typeface="Calibri"/>
              <a:cs typeface="Calibri"/>
              <a:sym typeface="Calibri"/>
            </a:endParaRPr>
          </a:p>
        </p:txBody>
      </p:sp>
      <p:sp>
        <p:nvSpPr>
          <p:cNvPr id="454" name="Google Shape;454;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55" name="Google Shape;455;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56" name="Google Shape;456;p51"/>
          <p:cNvSpPr txBox="1"/>
          <p:nvPr/>
        </p:nvSpPr>
        <p:spPr>
          <a:xfrm>
            <a:off x="6426123"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chemeClr val="hlink"/>
                </a:solidFill>
                <a:latin typeface="Calibri"/>
                <a:ea typeface="Calibri"/>
                <a:cs typeface="Calibri"/>
                <a:sym typeface="Calibri"/>
                <a:hlinkClick r:id="rId9"/>
              </a:rPr>
              <a:t>Total</a:t>
            </a:r>
            <a:r>
              <a:rPr lang="en" sz="1000" b="0" i="0" u="none" strike="noStrike" cap="none" dirty="0">
                <a:solidFill>
                  <a:srgbClr val="333333"/>
                </a:solidFill>
                <a:latin typeface="Calibri"/>
                <a:ea typeface="Calibri"/>
                <a:cs typeface="Calibri"/>
                <a:sym typeface="Calibri"/>
              </a:rPr>
              <a:t>: {{DS_T}}</a:t>
            </a:r>
            <a:endParaRPr sz="1000" b="0" i="0" u="none" strike="noStrike" cap="none" dirty="0">
              <a:solidFill>
                <a:srgbClr val="333333"/>
              </a:solidFill>
              <a:latin typeface="Calibri"/>
              <a:ea typeface="Calibri"/>
              <a:cs typeface="Calibri"/>
              <a:sym typeface="Calibri"/>
            </a:endParaRPr>
          </a:p>
        </p:txBody>
      </p:sp>
      <p:sp>
        <p:nvSpPr>
          <p:cNvPr id="457" name="Google Shape;457;p51"/>
          <p:cNvSpPr txBox="1"/>
          <p:nvPr/>
        </p:nvSpPr>
        <p:spPr>
          <a:xfrm>
            <a:off x="6425673"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0"/>
              </a:rPr>
              <a:t>Failed</a:t>
            </a:r>
            <a:r>
              <a:rPr lang="en" sz="1000" b="0" i="0" u="none" strike="noStrike" cap="none">
                <a:solidFill>
                  <a:srgbClr val="333333"/>
                </a:solidFill>
                <a:latin typeface="Calibri"/>
                <a:ea typeface="Calibri"/>
                <a:cs typeface="Calibri"/>
                <a:sym typeface="Calibri"/>
              </a:rPr>
              <a:t>: {{DS_F}}</a:t>
            </a:r>
            <a:endParaRPr sz="1000" b="0" i="0" u="none" strike="noStrike" cap="none">
              <a:solidFill>
                <a:srgbClr val="333333"/>
              </a:solidFill>
              <a:latin typeface="Calibri"/>
              <a:ea typeface="Calibri"/>
              <a:cs typeface="Calibri"/>
              <a:sym typeface="Calibri"/>
            </a:endParaRPr>
          </a:p>
        </p:txBody>
      </p:sp>
      <p:sp>
        <p:nvSpPr>
          <p:cNvPr id="458" name="Google Shape;458;p51"/>
          <p:cNvSpPr txBox="1"/>
          <p:nvPr/>
        </p:nvSpPr>
        <p:spPr>
          <a:xfrm>
            <a:off x="6258947"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a:ea typeface="Calibri"/>
                <a:cs typeface="Calibri"/>
                <a:sym typeface="Calibri"/>
              </a:rPr>
              <a:t>Data Scan Coverage:</a:t>
            </a:r>
            <a:r>
              <a:rPr lang="en" sz="1000" b="0" i="0" u="none" strike="noStrike" cap="none">
                <a:solidFill>
                  <a:srgbClr val="333333"/>
                </a:solidFill>
                <a:latin typeface="Calibri"/>
                <a:ea typeface="Calibri"/>
                <a:cs typeface="Calibri"/>
                <a:sym typeface="Calibri"/>
              </a:rPr>
              <a:t> {{DS_P}}</a:t>
            </a:r>
            <a:endParaRPr sz="1000" b="0" i="0" u="none" strike="noStrike" cap="none">
              <a:solidFill>
                <a:srgbClr val="333333"/>
              </a:solidFill>
              <a:latin typeface="Calibri"/>
              <a:ea typeface="Calibri"/>
              <a:cs typeface="Calibri"/>
              <a:sym typeface="Calibri"/>
            </a:endParaRPr>
          </a:p>
        </p:txBody>
      </p:sp>
      <p:sp>
        <p:nvSpPr>
          <p:cNvPr id="459" name="Google Shape;459;p51"/>
          <p:cNvSpPr txBox="1"/>
          <p:nvPr/>
        </p:nvSpPr>
        <p:spPr>
          <a:xfrm>
            <a:off x="6419464"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1"/>
              </a:rPr>
              <a:t>Skipped</a:t>
            </a:r>
            <a:r>
              <a:rPr lang="en" sz="1000" b="0" i="0" u="none" strike="noStrike" cap="none">
                <a:solidFill>
                  <a:srgbClr val="333333"/>
                </a:solidFill>
                <a:latin typeface="Calibri"/>
                <a:ea typeface="Calibri"/>
                <a:cs typeface="Calibri"/>
                <a:sym typeface="Calibri"/>
              </a:rPr>
              <a:t>: {{DS_SK}}</a:t>
            </a:r>
            <a:endParaRPr sz="1000" b="0" i="0" u="none" strike="noStrike" cap="none">
              <a:solidFill>
                <a:srgbClr val="333333"/>
              </a:solidFill>
              <a:latin typeface="Calibri"/>
              <a:ea typeface="Calibri"/>
              <a:cs typeface="Calibri"/>
              <a:sym typeface="Calibri"/>
            </a:endParaRPr>
          </a:p>
        </p:txBody>
      </p:sp>
      <p:pic>
        <p:nvPicPr>
          <p:cNvPr id="460" name="Google Shape;460;p51"/>
          <p:cNvPicPr preferRelativeResize="0"/>
          <p:nvPr/>
        </p:nvPicPr>
        <p:blipFill rotWithShape="1">
          <a:blip r:embed="rId3">
            <a:alphaModFix/>
          </a:blip>
          <a:srcRect/>
          <a:stretch/>
        </p:blipFill>
        <p:spPr>
          <a:xfrm>
            <a:off x="6071616" y="2962656"/>
            <a:ext cx="2939187" cy="2033900"/>
          </a:xfrm>
          <a:prstGeom prst="rect">
            <a:avLst/>
          </a:prstGeom>
          <a:noFill/>
          <a:ln w="9525" cap="flat" cmpd="sng">
            <a:solidFill>
              <a:schemeClr val="accent1"/>
            </a:solidFill>
            <a:prstDash val="solid"/>
            <a:round/>
            <a:headEnd type="none" w="sm" len="sm"/>
            <a:tailEnd type="none" w="sm" len="sm"/>
          </a:ln>
        </p:spPr>
      </p:pic>
      <p:sp>
        <p:nvSpPr>
          <p:cNvPr id="461" name="Google Shape;461;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Data Security Scans</a:t>
            </a:r>
            <a:br>
              <a:rPr lang="en" sz="15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Counts by Resource Type</a:t>
            </a:r>
            <a:r>
              <a:rPr lang="en" sz="1500" b="0" i="0" u="none" strike="noStrike" cap="none">
                <a:solidFill>
                  <a:schemeClr val="dk1"/>
                </a:solidFill>
                <a:latin typeface="Calibri"/>
                <a:ea typeface="Calibri"/>
                <a:cs typeface="Calibri"/>
                <a:sym typeface="Calibri"/>
              </a:rPr>
              <a:t> </a:t>
            </a:r>
            <a:endParaRPr sz="1500" b="0" i="0" u="none" strike="noStrike" cap="none">
              <a:solidFill>
                <a:schemeClr val="dk1"/>
              </a:solidFill>
              <a:latin typeface="Calibri"/>
              <a:ea typeface="Calibri"/>
              <a:cs typeface="Calibri"/>
              <a:sym typeface="Calibri"/>
            </a:endParaRPr>
          </a:p>
        </p:txBody>
      </p:sp>
      <p:sp>
        <p:nvSpPr>
          <p:cNvPr id="462" name="Google Shape;462;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63" name="Google Shape;463;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2"/>
              </a:rPr>
              <a:t>Buckets</a:t>
            </a:r>
            <a:r>
              <a:rPr lang="en" sz="1000" b="0" i="0" u="none" strike="noStrike" cap="none">
                <a:solidFill>
                  <a:srgbClr val="333333"/>
                </a:solidFill>
                <a:latin typeface="Calibri"/>
                <a:ea typeface="Calibri"/>
                <a:cs typeface="Calibri"/>
                <a:sym typeface="Calibri"/>
              </a:rPr>
              <a:t>: {{DS_B}}</a:t>
            </a:r>
            <a:endParaRPr sz="1000" b="0" i="0" u="none" strike="noStrike" cap="none">
              <a:solidFill>
                <a:srgbClr val="333333"/>
              </a:solidFill>
              <a:latin typeface="Calibri"/>
              <a:ea typeface="Calibri"/>
              <a:cs typeface="Calibri"/>
              <a:sym typeface="Calibri"/>
            </a:endParaRPr>
          </a:p>
        </p:txBody>
      </p:sp>
      <p:sp>
        <p:nvSpPr>
          <p:cNvPr id="464" name="Google Shape;464;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3"/>
              </a:rPr>
              <a:t>PaaS Databases</a:t>
            </a:r>
            <a:r>
              <a:rPr lang="en" sz="1000" b="0" i="0" u="none" strike="noStrike" cap="none">
                <a:solidFill>
                  <a:srgbClr val="333333"/>
                </a:solidFill>
                <a:latin typeface="Calibri"/>
                <a:ea typeface="Calibri"/>
                <a:cs typeface="Calibri"/>
                <a:sym typeface="Calibri"/>
              </a:rPr>
              <a:t>: {{DS_PD}}</a:t>
            </a:r>
            <a:endParaRPr sz="1000" b="0" i="0" u="none" strike="noStrike" cap="none">
              <a:solidFill>
                <a:srgbClr val="333333"/>
              </a:solidFill>
              <a:latin typeface="Calibri"/>
              <a:ea typeface="Calibri"/>
              <a:cs typeface="Calibri"/>
              <a:sym typeface="Calibri"/>
            </a:endParaRPr>
          </a:p>
        </p:txBody>
      </p:sp>
      <p:sp>
        <p:nvSpPr>
          <p:cNvPr id="465" name="Google Shape;465;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4"/>
              </a:rPr>
              <a:t>Virtual Drives</a:t>
            </a:r>
            <a:r>
              <a:rPr lang="en" sz="1000" b="0" i="0" u="none" strike="noStrike" cap="none">
                <a:solidFill>
                  <a:srgbClr val="333333"/>
                </a:solidFill>
                <a:latin typeface="Calibri"/>
                <a:ea typeface="Calibri"/>
                <a:cs typeface="Calibri"/>
                <a:sym typeface="Calibri"/>
              </a:rPr>
              <a:t>: {{DS_VD}}</a:t>
            </a:r>
            <a:endParaRPr sz="1000" b="0" i="0" u="none" strike="noStrike" cap="none">
              <a:solidFill>
                <a:srgbClr val="333333"/>
              </a:solidFill>
              <a:latin typeface="Calibri"/>
              <a:ea typeface="Calibri"/>
              <a:cs typeface="Calibri"/>
              <a:sym typeface="Calibri"/>
            </a:endParaRPr>
          </a:p>
        </p:txBody>
      </p:sp>
      <p:sp>
        <p:nvSpPr>
          <p:cNvPr id="466" name="Google Shape;466;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5"/>
              </a:rPr>
              <a:t>Data Warehouses</a:t>
            </a:r>
            <a:r>
              <a:rPr lang="en" sz="1000" b="0" i="0" u="none" strike="noStrike" cap="none">
                <a:solidFill>
                  <a:srgbClr val="333333"/>
                </a:solidFill>
                <a:latin typeface="Calibri"/>
                <a:ea typeface="Calibri"/>
                <a:cs typeface="Calibri"/>
                <a:sym typeface="Calibri"/>
              </a:rPr>
              <a:t>: {{DS_DW}}</a:t>
            </a:r>
            <a:endParaRPr sz="1000" b="0" i="0" u="none" strike="noStrike" cap="none">
              <a:solidFill>
                <a:srgbClr val="333333"/>
              </a:solidFill>
              <a:latin typeface="Calibri"/>
              <a:ea typeface="Calibri"/>
              <a:cs typeface="Calibri"/>
              <a:sym typeface="Calibri"/>
            </a:endParaRPr>
          </a:p>
        </p:txBody>
      </p:sp>
      <p:sp>
        <p:nvSpPr>
          <p:cNvPr id="467" name="Google Shape;467;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6"/>
              </a:rPr>
              <a:t>AI Datastores</a:t>
            </a:r>
            <a:r>
              <a:rPr lang="en" sz="1000" b="0" i="0" u="none" strike="noStrike" cap="none">
                <a:solidFill>
                  <a:srgbClr val="333333"/>
                </a:solidFill>
                <a:latin typeface="Calibri"/>
                <a:ea typeface="Calibri"/>
                <a:cs typeface="Calibri"/>
                <a:sym typeface="Calibri"/>
              </a:rPr>
              <a:t>: {{DS_AI}}</a:t>
            </a:r>
            <a:endParaRPr sz="1000" b="0" i="0" u="none" strike="noStrike" cap="none">
              <a:solidFill>
                <a:srgbClr val="333333"/>
              </a:solidFill>
              <a:latin typeface="Calibri"/>
              <a:ea typeface="Calibri"/>
              <a:cs typeface="Calibri"/>
              <a:sym typeface="Calibri"/>
            </a:endParaRPr>
          </a:p>
        </p:txBody>
      </p:sp>
      <p:sp>
        <p:nvSpPr>
          <p:cNvPr id="468" name="Google Shape;468;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7"/>
              </a:rPr>
              <a:t>File System Services</a:t>
            </a:r>
            <a:r>
              <a:rPr lang="en" sz="1000" b="0" i="0" u="none" strike="noStrike" cap="none">
                <a:solidFill>
                  <a:srgbClr val="333333"/>
                </a:solidFill>
                <a:latin typeface="Calibri"/>
                <a:ea typeface="Calibri"/>
                <a:cs typeface="Calibri"/>
                <a:sym typeface="Calibri"/>
              </a:rPr>
              <a:t>: {{DS_FSS}}</a:t>
            </a:r>
            <a:endParaRPr sz="1000" b="0" i="0" u="none" strike="noStrike" cap="none">
              <a:solidFill>
                <a:srgbClr val="333333"/>
              </a:solidFill>
              <a:latin typeface="Calibri"/>
              <a:ea typeface="Calibri"/>
              <a:cs typeface="Calibri"/>
              <a:sym typeface="Calibri"/>
            </a:endParaRPr>
          </a:p>
        </p:txBody>
      </p:sp>
      <p:pic>
        <p:nvPicPr>
          <p:cNvPr id="469" name="Google Shape;469;p51"/>
          <p:cNvPicPr preferRelativeResize="0"/>
          <p:nvPr/>
        </p:nvPicPr>
        <p:blipFill rotWithShape="1">
          <a:blip r:embed="rId3">
            <a:alphaModFix/>
          </a:blip>
          <a:srcRect/>
          <a:stretch/>
        </p:blipFill>
        <p:spPr>
          <a:xfrm>
            <a:off x="3080275" y="933600"/>
            <a:ext cx="3188398" cy="1594690"/>
          </a:xfrm>
          <a:prstGeom prst="rect">
            <a:avLst/>
          </a:prstGeom>
          <a:noFill/>
          <a:ln w="9525" cap="flat" cmpd="sng">
            <a:solidFill>
              <a:schemeClr val="accent1"/>
            </a:solidFill>
            <a:prstDash val="solid"/>
            <a:round/>
            <a:headEnd type="none" w="sm" len="sm"/>
            <a:tailEnd type="none" w="sm" len="sm"/>
          </a:ln>
        </p:spPr>
      </p:pic>
      <p:sp>
        <p:nvSpPr>
          <p:cNvPr id="470" name="Google Shape;470;p51"/>
          <p:cNvSpPr txBox="1"/>
          <p:nvPr/>
        </p:nvSpPr>
        <p:spPr>
          <a:xfrm>
            <a:off x="3080276" y="1001134"/>
            <a:ext cx="3174975"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dirty="0">
                <a:solidFill>
                  <a:schemeClr val="dk1"/>
                </a:solidFill>
                <a:latin typeface="Calibri"/>
                <a:ea typeface="Calibri"/>
                <a:cs typeface="Calibri"/>
                <a:sym typeface="Calibri"/>
              </a:rPr>
              <a:t>Workload Scans</a:t>
            </a:r>
            <a:endParaRPr sz="1200" b="0" i="0" u="none" strike="noStrike" cap="none" dirty="0">
              <a:solidFill>
                <a:schemeClr val="dk1"/>
              </a:solidFill>
              <a:latin typeface="Calibri"/>
              <a:ea typeface="Calibri"/>
              <a:cs typeface="Calibri"/>
              <a:sym typeface="Calibri"/>
            </a:endParaRPr>
          </a:p>
        </p:txBody>
      </p:sp>
      <p:sp>
        <p:nvSpPr>
          <p:cNvPr id="471" name="Google Shape;471;p51"/>
          <p:cNvSpPr txBox="1"/>
          <p:nvPr/>
        </p:nvSpPr>
        <p:spPr>
          <a:xfrm>
            <a:off x="3072365" y="1578966"/>
            <a:ext cx="3177693"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72" name="Google Shape;472;p51"/>
          <p:cNvSpPr txBox="1"/>
          <p:nvPr/>
        </p:nvSpPr>
        <p:spPr>
          <a:xfrm>
            <a:off x="3080274" y="1296582"/>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chemeClr val="hlink"/>
                </a:solidFill>
                <a:latin typeface="Calibri"/>
                <a:ea typeface="Calibri"/>
                <a:cs typeface="Calibri"/>
                <a:sym typeface="Calibri"/>
                <a:hlinkClick r:id="rId18"/>
              </a:rPr>
              <a:t>Total Workload Scans</a:t>
            </a:r>
            <a:r>
              <a:rPr lang="en" sz="1000" b="0" i="0" u="none" strike="noStrike" cap="none" dirty="0">
                <a:solidFill>
                  <a:srgbClr val="333333"/>
                </a:solidFill>
                <a:latin typeface="Calibri"/>
                <a:ea typeface="Calibri"/>
                <a:cs typeface="Calibri"/>
                <a:sym typeface="Calibri"/>
              </a:rPr>
              <a:t>: {{WS_T}}</a:t>
            </a:r>
            <a:endParaRPr sz="1000" b="0" i="0" u="none" strike="noStrike" cap="none" dirty="0">
              <a:solidFill>
                <a:srgbClr val="333333"/>
              </a:solidFill>
              <a:latin typeface="Calibri"/>
              <a:ea typeface="Calibri"/>
              <a:cs typeface="Calibri"/>
              <a:sym typeface="Calibri"/>
            </a:endParaRPr>
          </a:p>
        </p:txBody>
      </p:sp>
      <p:sp>
        <p:nvSpPr>
          <p:cNvPr id="476" name="Google Shape;476;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pic>
        <p:nvPicPr>
          <p:cNvPr id="477" name="Google Shape;477;p51"/>
          <p:cNvPicPr preferRelativeResize="0"/>
          <p:nvPr/>
        </p:nvPicPr>
        <p:blipFill rotWithShape="1">
          <a:blip r:embed="rId3">
            <a:alphaModFix/>
          </a:blip>
          <a:srcRect/>
          <a:stretch/>
        </p:blipFill>
        <p:spPr>
          <a:xfrm>
            <a:off x="119827" y="2962925"/>
            <a:ext cx="2755502" cy="2126475"/>
          </a:xfrm>
          <a:prstGeom prst="rect">
            <a:avLst/>
          </a:prstGeom>
          <a:noFill/>
          <a:ln w="9525" cap="flat" cmpd="sng">
            <a:solidFill>
              <a:schemeClr val="accent1"/>
            </a:solidFill>
            <a:prstDash val="solid"/>
            <a:round/>
            <a:headEnd type="none" w="sm" len="sm"/>
            <a:tailEnd type="none" w="sm" len="sm"/>
          </a:ln>
        </p:spPr>
      </p:pic>
      <p:sp>
        <p:nvSpPr>
          <p:cNvPr id="478" name="Google Shape;478;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System Health Issues</a:t>
            </a:r>
            <a:br>
              <a:rPr lang="en" sz="15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Counts by Resource Type</a:t>
            </a:r>
            <a:r>
              <a:rPr lang="en" sz="1500" b="0" i="0" u="none" strike="noStrike" cap="none">
                <a:solidFill>
                  <a:schemeClr val="dk1"/>
                </a:solidFill>
                <a:latin typeface="Calibri"/>
                <a:ea typeface="Calibri"/>
                <a:cs typeface="Calibri"/>
                <a:sym typeface="Calibri"/>
              </a:rPr>
              <a:t> </a:t>
            </a:r>
            <a:endParaRPr sz="1500" b="0" i="0" u="none" strike="noStrike" cap="none">
              <a:solidFill>
                <a:schemeClr val="dk1"/>
              </a:solidFill>
              <a:latin typeface="Calibri"/>
              <a:ea typeface="Calibri"/>
              <a:cs typeface="Calibri"/>
              <a:sym typeface="Calibri"/>
            </a:endParaRPr>
          </a:p>
        </p:txBody>
      </p:sp>
      <p:sp>
        <p:nvSpPr>
          <p:cNvPr id="479" name="Google Shape;479;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9"/>
              </a:rPr>
              <a:t>Outposts</a:t>
            </a:r>
            <a:r>
              <a:rPr lang="en" sz="1000" b="0" i="0" u="none" strike="noStrike" cap="none">
                <a:solidFill>
                  <a:srgbClr val="333333"/>
                </a:solidFill>
                <a:latin typeface="Calibri"/>
                <a:ea typeface="Calibri"/>
                <a:cs typeface="Calibri"/>
                <a:sym typeface="Calibri"/>
              </a:rPr>
              <a:t>: {{SHI_O}}</a:t>
            </a:r>
            <a:endParaRPr sz="1000" b="0" i="0" u="none" strike="noStrike" cap="none">
              <a:solidFill>
                <a:srgbClr val="333333"/>
              </a:solidFill>
              <a:latin typeface="Calibri"/>
              <a:ea typeface="Calibri"/>
              <a:cs typeface="Calibri"/>
              <a:sym typeface="Calibri"/>
            </a:endParaRPr>
          </a:p>
        </p:txBody>
      </p:sp>
      <p:sp>
        <p:nvSpPr>
          <p:cNvPr id="480" name="Google Shape;480;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0"/>
              </a:rPr>
              <a:t>Registry Connectors</a:t>
            </a:r>
            <a:r>
              <a:rPr lang="en" sz="1000" b="0" i="0" u="none" strike="noStrike" cap="none">
                <a:solidFill>
                  <a:srgbClr val="333333"/>
                </a:solidFill>
                <a:latin typeface="Calibri"/>
                <a:ea typeface="Calibri"/>
                <a:cs typeface="Calibri"/>
                <a:sym typeface="Calibri"/>
              </a:rPr>
              <a:t>: {{SHI_RC}}</a:t>
            </a:r>
            <a:endParaRPr sz="1000" b="0" i="0" u="none" strike="noStrike" cap="none">
              <a:solidFill>
                <a:srgbClr val="333333"/>
              </a:solidFill>
              <a:latin typeface="Calibri"/>
              <a:ea typeface="Calibri"/>
              <a:cs typeface="Calibri"/>
              <a:sym typeface="Calibri"/>
            </a:endParaRPr>
          </a:p>
        </p:txBody>
      </p:sp>
      <p:sp>
        <p:nvSpPr>
          <p:cNvPr id="481" name="Google Shape;481;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1"/>
              </a:rPr>
              <a:t>Integrations</a:t>
            </a:r>
            <a:r>
              <a:rPr lang="en" sz="1000" b="0" i="0" u="none" strike="noStrike" cap="none">
                <a:solidFill>
                  <a:srgbClr val="333333"/>
                </a:solidFill>
                <a:latin typeface="Calibri"/>
                <a:ea typeface="Calibri"/>
                <a:cs typeface="Calibri"/>
                <a:sym typeface="Calibri"/>
              </a:rPr>
              <a:t>: {{SHI_I}}</a:t>
            </a:r>
            <a:endParaRPr sz="1000" b="0" i="0" u="none" strike="noStrike" cap="none">
              <a:solidFill>
                <a:srgbClr val="333333"/>
              </a:solidFill>
              <a:latin typeface="Calibri"/>
              <a:ea typeface="Calibri"/>
              <a:cs typeface="Calibri"/>
              <a:sym typeface="Calibri"/>
            </a:endParaRPr>
          </a:p>
        </p:txBody>
      </p:sp>
      <p:sp>
        <p:nvSpPr>
          <p:cNvPr id="482" name="Google Shape;482;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2"/>
              </a:rPr>
              <a:t>K8S Connectors</a:t>
            </a:r>
            <a:r>
              <a:rPr lang="en" sz="1000" b="0" i="0" u="none" strike="noStrike" cap="none">
                <a:solidFill>
                  <a:srgbClr val="333333"/>
                </a:solidFill>
                <a:latin typeface="Calibri"/>
                <a:ea typeface="Calibri"/>
                <a:cs typeface="Calibri"/>
                <a:sym typeface="Calibri"/>
              </a:rPr>
              <a:t>: {{SHI_KC}}</a:t>
            </a:r>
            <a:endParaRPr sz="1000" b="0" i="0" u="none" strike="noStrike" cap="none">
              <a:solidFill>
                <a:srgbClr val="333333"/>
              </a:solidFill>
              <a:latin typeface="Calibri"/>
              <a:ea typeface="Calibri"/>
              <a:cs typeface="Calibri"/>
              <a:sym typeface="Calibri"/>
            </a:endParaRPr>
          </a:p>
        </p:txBody>
      </p:sp>
      <p:sp>
        <p:nvSpPr>
          <p:cNvPr id="483" name="Google Shape;483;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3"/>
              </a:rPr>
              <a:t>VCS Connectors</a:t>
            </a:r>
            <a:r>
              <a:rPr lang="en" sz="1000" b="0" i="0" u="none" strike="noStrike" cap="none">
                <a:solidFill>
                  <a:srgbClr val="333333"/>
                </a:solidFill>
                <a:latin typeface="Calibri"/>
                <a:ea typeface="Calibri"/>
                <a:cs typeface="Calibri"/>
                <a:sym typeface="Calibri"/>
              </a:rPr>
              <a:t>: {{SHI_VCS}}</a:t>
            </a:r>
            <a:endParaRPr sz="1000" b="0" i="0" u="none" strike="noStrike" cap="none">
              <a:solidFill>
                <a:srgbClr val="333333"/>
              </a:solidFill>
              <a:latin typeface="Calibri"/>
              <a:ea typeface="Calibri"/>
              <a:cs typeface="Calibri"/>
              <a:sym typeface="Calibri"/>
            </a:endParaRPr>
          </a:p>
        </p:txBody>
      </p:sp>
      <p:sp>
        <p:nvSpPr>
          <p:cNvPr id="484" name="Google Shape;484;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4"/>
              </a:rPr>
              <a:t>Brokers</a:t>
            </a:r>
            <a:r>
              <a:rPr lang="en" sz="1000" b="0" i="0" u="none" strike="noStrike" cap="none">
                <a:solidFill>
                  <a:srgbClr val="333333"/>
                </a:solidFill>
                <a:latin typeface="Calibri"/>
                <a:ea typeface="Calibri"/>
                <a:cs typeface="Calibri"/>
                <a:sym typeface="Calibri"/>
              </a:rPr>
              <a:t>: {{SHI_B}}</a:t>
            </a:r>
            <a:endParaRPr sz="1000" b="0" i="0" u="none" strike="noStrike" cap="none">
              <a:solidFill>
                <a:srgbClr val="333333"/>
              </a:solidFill>
              <a:latin typeface="Calibri"/>
              <a:ea typeface="Calibri"/>
              <a:cs typeface="Calibri"/>
              <a:sym typeface="Calibri"/>
            </a:endParaRPr>
          </a:p>
        </p:txBody>
      </p:sp>
      <p:sp>
        <p:nvSpPr>
          <p:cNvPr id="485" name="Google Shape;485;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5"/>
              </a:rPr>
              <a:t>Cloud Connectors</a:t>
            </a:r>
            <a:r>
              <a:rPr lang="en" sz="1000" b="0" i="0" u="none" strike="noStrike" cap="none">
                <a:solidFill>
                  <a:srgbClr val="333333"/>
                </a:solidFill>
                <a:latin typeface="Calibri"/>
                <a:ea typeface="Calibri"/>
                <a:cs typeface="Calibri"/>
                <a:sym typeface="Calibri"/>
              </a:rPr>
              <a:t>: {{SHI_CC}}</a:t>
            </a:r>
            <a:endParaRPr sz="1000" b="0" i="0" u="none" strike="noStrike" cap="none">
              <a:solidFill>
                <a:srgbClr val="333333"/>
              </a:solidFill>
              <a:latin typeface="Calibri"/>
              <a:ea typeface="Calibri"/>
              <a:cs typeface="Calibri"/>
              <a:sym typeface="Calibri"/>
            </a:endParaRPr>
          </a:p>
        </p:txBody>
      </p:sp>
      <p:sp>
        <p:nvSpPr>
          <p:cNvPr id="486" name="Google Shape;486;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487" name="Google Shape;487;p51"/>
          <p:cNvSpPr txBox="1"/>
          <p:nvPr/>
        </p:nvSpPr>
        <p:spPr>
          <a:xfrm>
            <a:off x="3097638" y="3166433"/>
            <a:ext cx="2742900" cy="207300"/>
          </a:xfrm>
          <a:prstGeom prst="rect">
            <a:avLst/>
          </a:prstGeom>
          <a:solidFill>
            <a:srgbClr val="FFFFFF"/>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097A7"/>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Non-OS Disk Scans</a:t>
            </a:r>
            <a:r>
              <a:rPr lang="en" sz="1000" b="0" i="0" u="none" strike="noStrike" cap="none">
                <a:solidFill>
                  <a:srgbClr val="333333"/>
                </a:solidFill>
                <a:latin typeface="Calibri"/>
                <a:ea typeface="Calibri"/>
                <a:cs typeface="Calibri"/>
                <a:sym typeface="Calibri"/>
              </a:rPr>
              <a:t>: {{NON_T}}</a:t>
            </a:r>
            <a:endParaRPr sz="1000" b="0" i="0" u="none" strike="noStrike" cap="none">
              <a:solidFill>
                <a:srgbClr val="333333"/>
              </a:solidFill>
              <a:latin typeface="Calibri"/>
              <a:ea typeface="Calibri"/>
              <a:cs typeface="Calibri"/>
              <a:sym typeface="Calibri"/>
            </a:endParaRPr>
          </a:p>
        </p:txBody>
      </p:sp>
      <p:sp>
        <p:nvSpPr>
          <p:cNvPr id="488" name="Google Shape;488;p51"/>
          <p:cNvSpPr txBox="1"/>
          <p:nvPr/>
        </p:nvSpPr>
        <p:spPr>
          <a:xfrm>
            <a:off x="3116051" y="3365306"/>
            <a:ext cx="2715900" cy="176700"/>
          </a:xfrm>
          <a:prstGeom prst="rect">
            <a:avLst/>
          </a:prstGeom>
          <a:solidFill>
            <a:srgbClr val="FFFFFF"/>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sng" strike="noStrike" cap="none">
                <a:solidFill>
                  <a:srgbClr val="0097A7"/>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Failed</a:t>
            </a:r>
            <a:r>
              <a:rPr lang="en" sz="900" b="0" i="0" u="none" strike="noStrike" cap="none">
                <a:solidFill>
                  <a:srgbClr val="333333"/>
                </a:solidFill>
                <a:latin typeface="Calibri"/>
                <a:ea typeface="Calibri"/>
                <a:cs typeface="Calibri"/>
                <a:sym typeface="Calibri"/>
              </a:rPr>
              <a:t>: {{NON_F}} / </a:t>
            </a:r>
            <a:r>
              <a:rPr lang="en" sz="900" b="0" i="0" u="sng" strike="noStrike" cap="none">
                <a:solidFill>
                  <a:srgbClr val="0097A7"/>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Skipped</a:t>
            </a:r>
            <a:r>
              <a:rPr lang="en" sz="900" b="0" i="0" u="none" strike="noStrike" cap="none">
                <a:solidFill>
                  <a:srgbClr val="333333"/>
                </a:solidFill>
                <a:latin typeface="Calibri"/>
                <a:ea typeface="Calibri"/>
                <a:cs typeface="Calibri"/>
                <a:sym typeface="Calibri"/>
              </a:rPr>
              <a:t>: {{NON_S}}</a:t>
            </a:r>
            <a:endParaRPr sz="900" b="0" i="0" u="none" strike="noStrike" cap="none">
              <a:solidFill>
                <a:srgbClr val="333333"/>
              </a:solidFill>
              <a:latin typeface="Calibri"/>
              <a:ea typeface="Calibri"/>
              <a:cs typeface="Calibri"/>
              <a:sym typeface="Calibri"/>
            </a:endParaRPr>
          </a:p>
        </p:txBody>
      </p:sp>
      <p:sp>
        <p:nvSpPr>
          <p:cNvPr id="489" name="Google Shape;489;p51"/>
          <p:cNvSpPr txBox="1"/>
          <p:nvPr/>
        </p:nvSpPr>
        <p:spPr>
          <a:xfrm>
            <a:off x="3125493" y="3816773"/>
            <a:ext cx="2684100" cy="1926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097A7"/>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Container Image Scans</a:t>
            </a:r>
            <a:r>
              <a:rPr lang="en" sz="1000" b="0" i="0" u="none" strike="noStrike" cap="none">
                <a:solidFill>
                  <a:srgbClr val="333333"/>
                </a:solidFill>
                <a:latin typeface="Calibri"/>
                <a:ea typeface="Calibri"/>
                <a:cs typeface="Calibri"/>
                <a:sym typeface="Calibri"/>
              </a:rPr>
              <a:t>: {{RCI_T}}</a:t>
            </a:r>
            <a:endParaRPr sz="1000" b="0" i="0" u="none" strike="noStrike" cap="none">
              <a:solidFill>
                <a:srgbClr val="333333"/>
              </a:solidFill>
              <a:latin typeface="Calibri"/>
              <a:ea typeface="Calibri"/>
              <a:cs typeface="Calibri"/>
              <a:sym typeface="Calibri"/>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sng" strike="noStrike" cap="none">
                <a:solidFill>
                  <a:srgbClr val="0097A7"/>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Failed</a:t>
            </a:r>
            <a:r>
              <a:rPr lang="en" sz="900" b="0" i="0" u="none" strike="noStrike" cap="none">
                <a:solidFill>
                  <a:srgbClr val="333333"/>
                </a:solidFill>
                <a:latin typeface="Calibri"/>
                <a:ea typeface="Calibri"/>
                <a:cs typeface="Calibri"/>
                <a:sym typeface="Calibri"/>
              </a:rPr>
              <a:t>: {{RCI_F}} / </a:t>
            </a:r>
            <a:r>
              <a:rPr lang="en" sz="900" b="0" i="0" u="sng" strike="noStrike" cap="none">
                <a:solidFill>
                  <a:srgbClr val="0097A7"/>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Skipped</a:t>
            </a:r>
            <a:r>
              <a:rPr lang="en" sz="900" b="0" i="0" u="none" strike="noStrike" cap="none">
                <a:solidFill>
                  <a:srgbClr val="333333"/>
                </a:solidFill>
                <a:latin typeface="Calibri"/>
                <a:ea typeface="Calibri"/>
                <a:cs typeface="Calibri"/>
                <a:sym typeface="Calibri"/>
              </a:rPr>
              <a:t>: {{RCI_S}}</a:t>
            </a:r>
            <a:endParaRPr sz="900" b="0" i="0" u="none" strike="noStrike" cap="none">
              <a:solidFill>
                <a:srgbClr val="333333"/>
              </a:solidFill>
              <a:latin typeface="Calibri"/>
              <a:ea typeface="Calibri"/>
              <a:cs typeface="Calibri"/>
              <a:sym typeface="Calibri"/>
            </a:endParaRPr>
          </a:p>
        </p:txBody>
      </p:sp>
      <p:sp>
        <p:nvSpPr>
          <p:cNvPr id="491" name="Google Shape;491;p51"/>
          <p:cNvSpPr txBox="1"/>
          <p:nvPr/>
        </p:nvSpPr>
        <p:spPr>
          <a:xfrm>
            <a:off x="3115085" y="4449820"/>
            <a:ext cx="2715900" cy="2016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097A7"/>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VM Image Scans</a:t>
            </a:r>
            <a:r>
              <a:rPr lang="en" sz="1000" b="0" i="0" u="none" strike="noStrike" cap="none">
                <a:solidFill>
                  <a:srgbClr val="333333"/>
                </a:solidFill>
                <a:latin typeface="Calibri"/>
                <a:ea typeface="Calibri"/>
                <a:cs typeface="Calibri"/>
                <a:sym typeface="Calibri"/>
              </a:rPr>
              <a:t>: {{VMI_T}}</a:t>
            </a:r>
            <a:endParaRPr sz="1000" b="0" i="0" u="none" strike="noStrike" cap="none">
              <a:solidFill>
                <a:srgbClr val="333333"/>
              </a:solidFill>
              <a:latin typeface="Calibri"/>
              <a:ea typeface="Calibri"/>
              <a:cs typeface="Calibri"/>
              <a:sym typeface="Calibri"/>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sng" strike="noStrike" cap="none">
                <a:solidFill>
                  <a:srgbClr val="0097A7"/>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Failed</a:t>
            </a:r>
            <a:r>
              <a:rPr lang="en" sz="900" b="0" i="0" u="none" strike="noStrike" cap="none">
                <a:solidFill>
                  <a:srgbClr val="333333"/>
                </a:solidFill>
                <a:latin typeface="Calibri"/>
                <a:ea typeface="Calibri"/>
                <a:cs typeface="Calibri"/>
                <a:sym typeface="Calibri"/>
              </a:rPr>
              <a:t>: {{VMI_F}} / </a:t>
            </a:r>
            <a:r>
              <a:rPr lang="en" sz="900" b="0" i="0" u="sng" strike="noStrike" cap="none">
                <a:solidFill>
                  <a:srgbClr val="0097A7"/>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Skipped</a:t>
            </a:r>
            <a:r>
              <a:rPr lang="en" sz="900" b="0" i="0" u="none" strike="noStrike" cap="none">
                <a:solidFill>
                  <a:srgbClr val="333333"/>
                </a:solidFill>
                <a:latin typeface="Calibri"/>
                <a:ea typeface="Calibri"/>
                <a:cs typeface="Calibri"/>
                <a:sym typeface="Calibri"/>
              </a:rPr>
              <a:t>: {{VMI_S}}</a:t>
            </a:r>
            <a:endParaRPr sz="900" b="0" i="0" u="none" strike="noStrike" cap="none">
              <a:solidFill>
                <a:srgbClr val="333333"/>
              </a:solidFill>
              <a:latin typeface="Calibri"/>
              <a:ea typeface="Calibri"/>
              <a:cs typeface="Calibri"/>
              <a:sym typeface="Calibri"/>
            </a:endParaRPr>
          </a:p>
        </p:txBody>
      </p:sp>
      <p:sp>
        <p:nvSpPr>
          <p:cNvPr id="493" name="Google Shape;493;p51"/>
          <p:cNvSpPr txBox="1"/>
          <p:nvPr/>
        </p:nvSpPr>
        <p:spPr>
          <a:xfrm>
            <a:off x="3121555" y="3532304"/>
            <a:ext cx="27018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Non-OS Disk Scan Coverage: {{NON_C}}</a:t>
            </a:r>
            <a:endParaRPr sz="900" b="0" i="0" u="none" strike="noStrike" cap="none">
              <a:solidFill>
                <a:srgbClr val="333333"/>
              </a:solidFill>
              <a:latin typeface="Calibri"/>
              <a:ea typeface="Calibri"/>
              <a:cs typeface="Calibri"/>
              <a:sym typeface="Calibri"/>
            </a:endParaRPr>
          </a:p>
        </p:txBody>
      </p:sp>
      <p:sp>
        <p:nvSpPr>
          <p:cNvPr id="494" name="Google Shape;494;p51"/>
          <p:cNvSpPr txBox="1"/>
          <p:nvPr/>
        </p:nvSpPr>
        <p:spPr>
          <a:xfrm>
            <a:off x="3116240" y="4171296"/>
            <a:ext cx="2715900" cy="201600"/>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Container Image Scan Coverage: {{RCI_C}}</a:t>
            </a:r>
            <a:endParaRPr sz="900" b="0" i="0" u="none" strike="noStrike" cap="none">
              <a:solidFill>
                <a:srgbClr val="333333"/>
              </a:solidFill>
              <a:latin typeface="Calibri"/>
              <a:ea typeface="Calibri"/>
              <a:cs typeface="Calibri"/>
              <a:sym typeface="Calibri"/>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VM Image Scan Coverage: {{VMI_C}}</a:t>
            </a:r>
            <a:endParaRPr sz="900" b="0" i="0" u="none" strike="noStrike" cap="none">
              <a:solidFill>
                <a:srgbClr val="333333"/>
              </a:solidFill>
              <a:latin typeface="Calibri"/>
              <a:ea typeface="Calibri"/>
              <a:cs typeface="Calibri"/>
              <a:sym typeface="Calibri"/>
            </a:endParaRPr>
          </a:p>
        </p:txBody>
      </p:sp>
      <p:sp>
        <p:nvSpPr>
          <p:cNvPr id="3" name="Google Shape;473;p51">
            <a:extLst>
              <a:ext uri="{FF2B5EF4-FFF2-40B4-BE49-F238E27FC236}">
                <a16:creationId xmlns:a16="http://schemas.microsoft.com/office/drawing/2014/main" id="{D3CCA7BC-5C8C-64A8-3E89-8946581ECE8D}"/>
              </a:ext>
            </a:extLst>
          </p:cNvPr>
          <p:cNvSpPr txBox="1"/>
          <p:nvPr/>
        </p:nvSpPr>
        <p:spPr>
          <a:xfrm>
            <a:off x="3092446" y="2131817"/>
            <a:ext cx="3171034" cy="207300"/>
          </a:xfrm>
          <a:prstGeom prst="rect">
            <a:avLst/>
          </a:prstGeom>
          <a:noFill/>
          <a:ln>
            <a:noFill/>
          </a:ln>
        </p:spPr>
        <p:txBody>
          <a:bodyPr spcFirstLastPara="1" wrap="square" lIns="91250" tIns="91250" rIns="91250" bIns="91250" anchor="t" anchorCtr="0">
            <a:noAutofit/>
          </a:bodyPr>
          <a:lstStyle/>
          <a:p>
            <a:pPr marL="0" marR="0" lvl="0" indent="0" algn="ctr" rtl="0">
              <a:spcBef>
                <a:spcPts val="0"/>
              </a:spcBef>
              <a:spcAft>
                <a:spcPts val="0"/>
              </a:spcAft>
              <a:buClr>
                <a:srgbClr val="000000"/>
              </a:buClr>
              <a:buSzPts val="1000"/>
              <a:buFont typeface="Arial"/>
              <a:buNone/>
            </a:pPr>
            <a:r>
              <a:rPr lang="en" sz="900" b="0" i="0" u="none" strike="noStrike" cap="none" dirty="0">
                <a:solidFill>
                  <a:srgbClr val="333333"/>
                </a:solidFill>
                <a:latin typeface="Calibri"/>
                <a:ea typeface="Calibri"/>
                <a:cs typeface="Calibri"/>
                <a:sym typeface="Calibri"/>
              </a:rPr>
              <a:t>Top Failure Reason: </a:t>
            </a:r>
            <a:br>
              <a:rPr lang="en" sz="900" b="0" i="0" u="none" strike="noStrike" cap="none" dirty="0">
                <a:solidFill>
                  <a:srgbClr val="333333"/>
                </a:solidFill>
                <a:latin typeface="Calibri"/>
                <a:ea typeface="Calibri"/>
                <a:cs typeface="Calibri"/>
                <a:sym typeface="Calibri"/>
              </a:rPr>
            </a:br>
            <a:r>
              <a:rPr lang="en" sz="900" b="0" i="0" u="none" strike="noStrike" cap="none" dirty="0">
                <a:solidFill>
                  <a:srgbClr val="333333"/>
                </a:solidFill>
                <a:latin typeface="Calibri"/>
                <a:ea typeface="Calibri"/>
                <a:cs typeface="Calibri"/>
                <a:sym typeface="Calibri"/>
              </a:rPr>
              <a:t>{{WS_S1}}</a:t>
            </a:r>
            <a:endParaRPr sz="900" b="0" i="0" u="none" strike="noStrike" cap="none" dirty="0">
              <a:solidFill>
                <a:srgbClr val="333333"/>
              </a:solidFill>
              <a:latin typeface="Calibri"/>
              <a:ea typeface="Calibri"/>
              <a:cs typeface="Calibri"/>
              <a:sym typeface="Calibri"/>
            </a:endParaRPr>
          </a:p>
        </p:txBody>
      </p:sp>
      <p:sp>
        <p:nvSpPr>
          <p:cNvPr id="4" name="Google Shape;472;p51">
            <a:extLst>
              <a:ext uri="{FF2B5EF4-FFF2-40B4-BE49-F238E27FC236}">
                <a16:creationId xmlns:a16="http://schemas.microsoft.com/office/drawing/2014/main" id="{ADFD464D-5F95-C6CE-5742-579822A4A499}"/>
              </a:ext>
            </a:extLst>
          </p:cNvPr>
          <p:cNvSpPr txBox="1"/>
          <p:nvPr/>
        </p:nvSpPr>
        <p:spPr>
          <a:xfrm>
            <a:off x="3084890" y="1493623"/>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chemeClr val="hlink"/>
                </a:solidFill>
                <a:latin typeface="Calibri"/>
                <a:ea typeface="Calibri"/>
                <a:cs typeface="Calibri"/>
                <a:sym typeface="Calibri"/>
                <a:hlinkClick r:id="rId35"/>
              </a:rPr>
              <a:t>Failed Workload Scans</a:t>
            </a:r>
            <a:r>
              <a:rPr lang="en" sz="1000" b="0" i="0" u="none" strike="noStrike" cap="none" dirty="0">
                <a:solidFill>
                  <a:srgbClr val="333333"/>
                </a:solidFill>
                <a:latin typeface="Calibri"/>
                <a:ea typeface="Calibri"/>
                <a:cs typeface="Calibri"/>
                <a:sym typeface="Calibri"/>
              </a:rPr>
              <a:t>: {{WS_</a:t>
            </a:r>
            <a:r>
              <a:rPr lang="en" sz="1000" dirty="0">
                <a:solidFill>
                  <a:srgbClr val="333333"/>
                </a:solidFill>
                <a:latin typeface="Calibri"/>
                <a:ea typeface="Calibri"/>
                <a:cs typeface="Calibri"/>
                <a:sym typeface="Calibri"/>
              </a:rPr>
              <a:t>F</a:t>
            </a:r>
            <a:r>
              <a:rPr lang="en" sz="1000" b="0" i="0" u="none" strike="noStrike" cap="none" dirty="0">
                <a:solidFill>
                  <a:srgbClr val="333333"/>
                </a:solidFill>
                <a:latin typeface="Calibri"/>
                <a:ea typeface="Calibri"/>
                <a:cs typeface="Calibri"/>
                <a:sym typeface="Calibri"/>
              </a:rPr>
              <a:t>}}</a:t>
            </a:r>
            <a:endParaRPr sz="1000" b="0" i="0" u="none" strike="noStrike" cap="none" dirty="0">
              <a:solidFill>
                <a:srgbClr val="333333"/>
              </a:solidFill>
              <a:latin typeface="Calibri"/>
              <a:ea typeface="Calibri"/>
              <a:cs typeface="Calibri"/>
              <a:sym typeface="Calibri"/>
            </a:endParaRPr>
          </a:p>
        </p:txBody>
      </p:sp>
      <p:sp>
        <p:nvSpPr>
          <p:cNvPr id="5" name="Google Shape;472;p51">
            <a:extLst>
              <a:ext uri="{FF2B5EF4-FFF2-40B4-BE49-F238E27FC236}">
                <a16:creationId xmlns:a16="http://schemas.microsoft.com/office/drawing/2014/main" id="{9B293F5D-041A-56DE-A085-0A24241B2365}"/>
              </a:ext>
            </a:extLst>
          </p:cNvPr>
          <p:cNvSpPr txBox="1"/>
          <p:nvPr/>
        </p:nvSpPr>
        <p:spPr>
          <a:xfrm>
            <a:off x="3084888" y="1690664"/>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u="sng" dirty="0">
                <a:solidFill>
                  <a:schemeClr val="hlink"/>
                </a:solidFill>
                <a:latin typeface="Calibri"/>
                <a:ea typeface="Calibri"/>
                <a:cs typeface="Calibri"/>
                <a:sym typeface="Calibri"/>
                <a:hlinkClick r:id="rId36"/>
              </a:rPr>
              <a:t>Skipped</a:t>
            </a:r>
            <a:r>
              <a:rPr lang="en" sz="1000" b="0" i="0" u="sng" strike="noStrike" cap="none" dirty="0">
                <a:solidFill>
                  <a:schemeClr val="hlink"/>
                </a:solidFill>
                <a:latin typeface="Calibri"/>
                <a:ea typeface="Calibri"/>
                <a:cs typeface="Calibri"/>
                <a:sym typeface="Calibri"/>
                <a:hlinkClick r:id="rId36"/>
              </a:rPr>
              <a:t> Workload Scans</a:t>
            </a:r>
            <a:r>
              <a:rPr lang="en" sz="1000" b="0" i="0" u="none" strike="noStrike" cap="none" dirty="0">
                <a:solidFill>
                  <a:srgbClr val="333333"/>
                </a:solidFill>
                <a:latin typeface="Calibri"/>
                <a:ea typeface="Calibri"/>
                <a:cs typeface="Calibri"/>
                <a:sym typeface="Calibri"/>
              </a:rPr>
              <a:t>: {{WS_S}}</a:t>
            </a:r>
            <a:endParaRPr sz="1000" b="0" i="0" u="none" strike="noStrike" cap="none" dirty="0">
              <a:solidFill>
                <a:srgbClr val="333333"/>
              </a:solidFill>
              <a:latin typeface="Calibri"/>
              <a:ea typeface="Calibri"/>
              <a:cs typeface="Calibri"/>
              <a:sym typeface="Calibri"/>
            </a:endParaRPr>
          </a:p>
        </p:txBody>
      </p:sp>
      <p:sp>
        <p:nvSpPr>
          <p:cNvPr id="6" name="Google Shape;472;p51">
            <a:extLst>
              <a:ext uri="{FF2B5EF4-FFF2-40B4-BE49-F238E27FC236}">
                <a16:creationId xmlns:a16="http://schemas.microsoft.com/office/drawing/2014/main" id="{407A4C8C-27D1-4DD1-9A1D-17C2B3042FD4}"/>
              </a:ext>
            </a:extLst>
          </p:cNvPr>
          <p:cNvSpPr txBox="1"/>
          <p:nvPr/>
        </p:nvSpPr>
        <p:spPr>
          <a:xfrm>
            <a:off x="3084893" y="1887704"/>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dirty="0">
                <a:solidFill>
                  <a:schemeClr val="tx1"/>
                </a:solidFill>
                <a:latin typeface="Calibri"/>
                <a:ea typeface="Calibri"/>
                <a:cs typeface="Calibri"/>
                <a:sym typeface="Calibri"/>
              </a:rPr>
              <a:t>Workload Scan Coverage</a:t>
            </a:r>
            <a:r>
              <a:rPr lang="en" sz="1000" b="0" i="0" u="none" strike="noStrike" cap="none" dirty="0">
                <a:solidFill>
                  <a:srgbClr val="333333"/>
                </a:solidFill>
                <a:latin typeface="Calibri"/>
                <a:ea typeface="Calibri"/>
                <a:cs typeface="Calibri"/>
                <a:sym typeface="Calibri"/>
              </a:rPr>
              <a:t>: {{WS_</a:t>
            </a:r>
            <a:r>
              <a:rPr lang="en" sz="1000" dirty="0">
                <a:solidFill>
                  <a:srgbClr val="333333"/>
                </a:solidFill>
                <a:latin typeface="Calibri"/>
                <a:ea typeface="Calibri"/>
                <a:cs typeface="Calibri"/>
                <a:sym typeface="Calibri"/>
              </a:rPr>
              <a:t>P</a:t>
            </a:r>
            <a:r>
              <a:rPr lang="en" sz="1000" b="0" i="0" u="none" strike="noStrike" cap="none" dirty="0">
                <a:solidFill>
                  <a:srgbClr val="333333"/>
                </a:solidFill>
                <a:latin typeface="Calibri"/>
                <a:ea typeface="Calibri"/>
                <a:cs typeface="Calibri"/>
                <a:sym typeface="Calibri"/>
              </a:rPr>
              <a:t>}}</a:t>
            </a:r>
            <a:endParaRPr sz="1000" b="0" i="0" u="none" strike="noStrike" cap="none" dirty="0">
              <a:solidFill>
                <a:srgbClr val="333333"/>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Democratization Snapshot</a:t>
            </a:r>
            <a:endParaRPr sz="2420">
              <a:latin typeface="Calibri"/>
              <a:ea typeface="Calibri"/>
              <a:cs typeface="Calibri"/>
              <a:sym typeface="Calibri"/>
            </a:endParaRPr>
          </a:p>
        </p:txBody>
      </p:sp>
      <p:sp>
        <p:nvSpPr>
          <p:cNvPr id="502" name="Google Shape;502;p52"/>
          <p:cNvSpPr/>
          <p:nvPr/>
        </p:nvSpPr>
        <p:spPr>
          <a:xfrm>
            <a:off x="145225" y="1212546"/>
            <a:ext cx="2401200" cy="953400"/>
          </a:xfrm>
          <a:prstGeom prst="roundRect">
            <a:avLst>
              <a:gd name="adj" fmla="val 16667"/>
            </a:avLst>
          </a:prstGeom>
          <a:noFill/>
          <a:ln w="9650" cap="sq" cmpd="sng">
            <a:solidFill>
              <a:schemeClr val="accent1"/>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a:ea typeface="Calibri"/>
                <a:cs typeface="Calibri"/>
                <a:sym typeface="Calibri"/>
              </a:rPr>
              <a:t>Users &amp; Engagement</a:t>
            </a:r>
            <a:endParaRPr sz="1300" b="0" i="0" u="none" strike="noStrike" cap="none">
              <a:solidFill>
                <a:srgbClr val="333333"/>
              </a:solidFill>
              <a:latin typeface="Calibri"/>
              <a:ea typeface="Calibri"/>
              <a:cs typeface="Calibri"/>
              <a:sym typeface="Calibri"/>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Total Users</a:t>
            </a:r>
            <a:endParaRPr sz="1000" b="0" i="0" u="none" strike="noStrike" cap="none">
              <a:solidFill>
                <a:srgbClr val="0254EC"/>
              </a:solidFill>
              <a:latin typeface="Calibri"/>
              <a:ea typeface="Calibri"/>
              <a:cs typeface="Calibri"/>
              <a:sym typeface="Calibri"/>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{{U_TOT}}</a:t>
            </a:r>
            <a:endParaRPr sz="1000" b="1" i="0" u="none" strike="noStrike" cap="none">
              <a:solidFill>
                <a:srgbClr val="333333"/>
              </a:solidFill>
              <a:latin typeface="Calibri"/>
              <a:ea typeface="Calibri"/>
              <a:cs typeface="Calibri"/>
              <a:sym typeface="Calibri"/>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4"/>
              </a:rPr>
              <a:t>Active (Last 30 Days)</a:t>
            </a:r>
            <a:endParaRPr sz="1000" b="0" i="0" u="none" strike="noStrike" cap="none">
              <a:solidFill>
                <a:srgbClr val="0254EC"/>
              </a:solidFill>
              <a:latin typeface="Calibri"/>
              <a:ea typeface="Calibri"/>
              <a:cs typeface="Calibri"/>
              <a:sym typeface="Calibri"/>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{{U_ACT}}</a:t>
            </a:r>
            <a:endParaRPr sz="1000" b="1" i="0" u="none" strike="noStrike" cap="none">
              <a:solidFill>
                <a:srgbClr val="333333"/>
              </a:solidFill>
              <a:latin typeface="Calibri"/>
              <a:ea typeface="Calibri"/>
              <a:cs typeface="Calibri"/>
              <a:sym typeface="Calibri"/>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a:ea typeface="Calibri"/>
                <a:cs typeface="Calibri"/>
                <a:sym typeface="Calibri"/>
              </a:rPr>
              <a:t>Engagement Rate</a:t>
            </a:r>
            <a:endParaRPr sz="1000" b="0" i="0" u="none" strike="noStrike" cap="none">
              <a:solidFill>
                <a:srgbClr val="0254EC"/>
              </a:solidFill>
              <a:latin typeface="Calibri"/>
              <a:ea typeface="Calibri"/>
              <a:cs typeface="Calibri"/>
              <a:sym typeface="Calibri"/>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{{U_ENG}}</a:t>
            </a:r>
            <a:endParaRPr sz="1000" b="1" i="0" u="none" strike="noStrike" cap="none">
              <a:solidFill>
                <a:srgbClr val="333333"/>
              </a:solidFill>
              <a:latin typeface="Calibri"/>
              <a:ea typeface="Calibri"/>
              <a:cs typeface="Calibri"/>
              <a:sym typeface="Calibri"/>
            </a:endParaRPr>
          </a:p>
        </p:txBody>
      </p:sp>
      <p:sp>
        <p:nvSpPr>
          <p:cNvPr id="510" name="Google Shape;510;p52"/>
          <p:cNvSpPr/>
          <p:nvPr/>
        </p:nvSpPr>
        <p:spPr>
          <a:xfrm>
            <a:off x="2714774" y="1111825"/>
            <a:ext cx="3290529" cy="220395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a:ea typeface="Calibri"/>
              <a:cs typeface="Calibri"/>
              <a:sym typeface="Calibri"/>
            </a:endParaRPr>
          </a:p>
        </p:txBody>
      </p:sp>
      <p:sp>
        <p:nvSpPr>
          <p:cNvPr id="511" name="Google Shape;511;p52"/>
          <p:cNvSpPr txBox="1"/>
          <p:nvPr/>
        </p:nvSpPr>
        <p:spPr>
          <a:xfrm>
            <a:off x="2828728" y="1492318"/>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{{IA_2}}</a:t>
            </a:r>
            <a:endParaRPr sz="848" b="0" i="0" u="none" strike="noStrike" cap="none">
              <a:solidFill>
                <a:srgbClr val="333333"/>
              </a:solidFill>
              <a:latin typeface="Calibri"/>
              <a:ea typeface="Calibri"/>
              <a:cs typeface="Calibri"/>
              <a:sym typeface="Calibri"/>
            </a:endParaRPr>
          </a:p>
        </p:txBody>
      </p:sp>
      <p:sp>
        <p:nvSpPr>
          <p:cNvPr id="512" name="Google Shape;512;p52"/>
          <p:cNvSpPr txBox="1"/>
          <p:nvPr/>
        </p:nvSpPr>
        <p:spPr>
          <a:xfrm>
            <a:off x="2828728" y="1667642"/>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{{IA_3}}</a:t>
            </a:r>
            <a:endParaRPr sz="848" b="0" i="0" u="none" strike="noStrike" cap="none">
              <a:solidFill>
                <a:srgbClr val="333333"/>
              </a:solidFill>
              <a:latin typeface="Calibri"/>
              <a:ea typeface="Calibri"/>
              <a:cs typeface="Calibri"/>
              <a:sym typeface="Calibri"/>
            </a:endParaRPr>
          </a:p>
        </p:txBody>
      </p:sp>
      <p:sp>
        <p:nvSpPr>
          <p:cNvPr id="513" name="Google Shape;513;p52"/>
          <p:cNvSpPr txBox="1"/>
          <p:nvPr/>
        </p:nvSpPr>
        <p:spPr>
          <a:xfrm>
            <a:off x="2828726" y="1839906"/>
            <a:ext cx="2338694" cy="192051"/>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{{IA_4}}</a:t>
            </a:r>
            <a:endParaRPr sz="848" b="0" i="0" u="none" strike="noStrike" cap="none">
              <a:solidFill>
                <a:srgbClr val="333333"/>
              </a:solidFill>
              <a:latin typeface="Calibri"/>
              <a:ea typeface="Calibri"/>
              <a:cs typeface="Calibri"/>
              <a:sym typeface="Calibri"/>
            </a:endParaRPr>
          </a:p>
        </p:txBody>
      </p:sp>
      <p:sp>
        <p:nvSpPr>
          <p:cNvPr id="514" name="Google Shape;514;p52"/>
          <p:cNvSpPr txBox="1"/>
          <p:nvPr/>
        </p:nvSpPr>
        <p:spPr>
          <a:xfrm>
            <a:off x="2828728" y="2018325"/>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{{IA_5}}</a:t>
            </a:r>
            <a:endParaRPr sz="848" b="0" i="0" u="none" strike="noStrike" cap="none">
              <a:solidFill>
                <a:srgbClr val="333333"/>
              </a:solidFill>
              <a:latin typeface="Calibri"/>
              <a:ea typeface="Calibri"/>
              <a:cs typeface="Calibri"/>
              <a:sym typeface="Calibri"/>
            </a:endParaRPr>
          </a:p>
        </p:txBody>
      </p:sp>
      <p:sp>
        <p:nvSpPr>
          <p:cNvPr id="515" name="Google Shape;515;p52"/>
          <p:cNvSpPr txBox="1"/>
          <p:nvPr/>
        </p:nvSpPr>
        <p:spPr>
          <a:xfrm>
            <a:off x="2828728" y="2193660"/>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{{IA_6}}</a:t>
            </a:r>
            <a:endParaRPr sz="848" b="0" i="0" u="none" strike="noStrike" cap="none">
              <a:solidFill>
                <a:srgbClr val="333333"/>
              </a:solidFill>
              <a:latin typeface="Calibri"/>
              <a:ea typeface="Calibri"/>
              <a:cs typeface="Calibri"/>
              <a:sym typeface="Calibri"/>
            </a:endParaRPr>
          </a:p>
        </p:txBody>
      </p:sp>
      <p:sp>
        <p:nvSpPr>
          <p:cNvPr id="516" name="Google Shape;516;p52"/>
          <p:cNvSpPr txBox="1"/>
          <p:nvPr/>
        </p:nvSpPr>
        <p:spPr>
          <a:xfrm>
            <a:off x="2828728" y="2368996"/>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{{IA_7}}</a:t>
            </a:r>
            <a:endParaRPr sz="848" b="0" i="0" u="none" strike="noStrike" cap="none">
              <a:solidFill>
                <a:srgbClr val="333333"/>
              </a:solidFill>
              <a:latin typeface="Calibri"/>
              <a:ea typeface="Calibri"/>
              <a:cs typeface="Calibri"/>
              <a:sym typeface="Calibri"/>
            </a:endParaRPr>
          </a:p>
        </p:txBody>
      </p:sp>
      <p:sp>
        <p:nvSpPr>
          <p:cNvPr id="517" name="Google Shape;517;p52"/>
          <p:cNvSpPr txBox="1"/>
          <p:nvPr/>
        </p:nvSpPr>
        <p:spPr>
          <a:xfrm>
            <a:off x="2828728" y="2544332"/>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{{IA_8}}</a:t>
            </a:r>
            <a:endParaRPr sz="848" b="0" i="0" u="none" strike="noStrike" cap="none">
              <a:solidFill>
                <a:srgbClr val="333333"/>
              </a:solidFill>
              <a:latin typeface="Calibri"/>
              <a:ea typeface="Calibri"/>
              <a:cs typeface="Calibri"/>
              <a:sym typeface="Calibri"/>
            </a:endParaRPr>
          </a:p>
        </p:txBody>
      </p:sp>
      <p:sp>
        <p:nvSpPr>
          <p:cNvPr id="518" name="Google Shape;518;p52"/>
          <p:cNvSpPr txBox="1"/>
          <p:nvPr/>
        </p:nvSpPr>
        <p:spPr>
          <a:xfrm>
            <a:off x="2828728" y="2719667"/>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{{IA_9}}</a:t>
            </a:r>
            <a:endParaRPr sz="848" b="0" i="0" u="none" strike="noStrike" cap="none">
              <a:solidFill>
                <a:srgbClr val="333333"/>
              </a:solidFill>
              <a:latin typeface="Calibri"/>
              <a:ea typeface="Calibri"/>
              <a:cs typeface="Calibri"/>
              <a:sym typeface="Calibri"/>
            </a:endParaRPr>
          </a:p>
        </p:txBody>
      </p:sp>
      <p:sp>
        <p:nvSpPr>
          <p:cNvPr id="519" name="Google Shape;519;p52"/>
          <p:cNvSpPr txBox="1"/>
          <p:nvPr/>
        </p:nvSpPr>
        <p:spPr>
          <a:xfrm>
            <a:off x="2823192" y="2895003"/>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{{IA_10}}</a:t>
            </a:r>
            <a:endParaRPr sz="848" b="0" i="0" u="none" strike="noStrike" cap="none">
              <a:solidFill>
                <a:srgbClr val="333333"/>
              </a:solidFill>
              <a:latin typeface="Calibri"/>
              <a:ea typeface="Calibri"/>
              <a:cs typeface="Calibri"/>
              <a:sym typeface="Calibri"/>
            </a:endParaRPr>
          </a:p>
        </p:txBody>
      </p:sp>
      <p:sp>
        <p:nvSpPr>
          <p:cNvPr id="520" name="Google Shape;520;p52"/>
          <p:cNvSpPr txBox="1"/>
          <p:nvPr/>
        </p:nvSpPr>
        <p:spPr>
          <a:xfrm>
            <a:off x="2828726" y="1314586"/>
            <a:ext cx="2338694" cy="17504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{{IA_1}}</a:t>
            </a:r>
            <a:endParaRPr sz="848" b="0" i="0" u="none" strike="noStrike" cap="none">
              <a:solidFill>
                <a:srgbClr val="333333"/>
              </a:solidFill>
              <a:latin typeface="Calibri"/>
              <a:ea typeface="Calibri"/>
              <a:cs typeface="Calibri"/>
              <a:sym typeface="Calibri"/>
            </a:endParaRPr>
          </a:p>
        </p:txBody>
      </p:sp>
      <p:sp>
        <p:nvSpPr>
          <p:cNvPr id="521" name="Google Shape;521;p52"/>
          <p:cNvSpPr txBox="1"/>
          <p:nvPr/>
        </p:nvSpPr>
        <p:spPr>
          <a:xfrm>
            <a:off x="4962307"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a:ea typeface="Calibri"/>
                <a:cs typeface="Calibri"/>
                <a:sym typeface="Calibri"/>
              </a:rPr>
              <a:t>{{IR_1}}</a:t>
            </a:r>
            <a:endParaRPr sz="848" b="0" i="0" u="none" strike="noStrike" cap="none" dirty="0">
              <a:solidFill>
                <a:srgbClr val="333333"/>
              </a:solidFill>
              <a:latin typeface="Calibri"/>
              <a:ea typeface="Calibri"/>
              <a:cs typeface="Calibri"/>
              <a:sym typeface="Calibri"/>
            </a:endParaRPr>
          </a:p>
        </p:txBody>
      </p:sp>
      <p:sp>
        <p:nvSpPr>
          <p:cNvPr id="522" name="Google Shape;522;p52"/>
          <p:cNvSpPr txBox="1"/>
          <p:nvPr/>
        </p:nvSpPr>
        <p:spPr>
          <a:xfrm>
            <a:off x="4962307"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{{IR_2}}</a:t>
            </a:r>
            <a:endParaRPr sz="848" b="0" i="0" u="none" strike="noStrike" cap="none">
              <a:solidFill>
                <a:srgbClr val="333333"/>
              </a:solidFill>
              <a:latin typeface="Calibri"/>
              <a:ea typeface="Calibri"/>
              <a:cs typeface="Calibri"/>
              <a:sym typeface="Calibri"/>
            </a:endParaRPr>
          </a:p>
        </p:txBody>
      </p:sp>
      <p:sp>
        <p:nvSpPr>
          <p:cNvPr id="523" name="Google Shape;523;p52"/>
          <p:cNvSpPr txBox="1"/>
          <p:nvPr/>
        </p:nvSpPr>
        <p:spPr>
          <a:xfrm>
            <a:off x="4962307"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{{IR_3}}</a:t>
            </a:r>
            <a:endParaRPr sz="848" b="0" i="0" u="none" strike="noStrike" cap="none">
              <a:solidFill>
                <a:srgbClr val="333333"/>
              </a:solidFill>
              <a:latin typeface="Calibri"/>
              <a:ea typeface="Calibri"/>
              <a:cs typeface="Calibri"/>
              <a:sym typeface="Calibri"/>
            </a:endParaRPr>
          </a:p>
        </p:txBody>
      </p:sp>
      <p:sp>
        <p:nvSpPr>
          <p:cNvPr id="524" name="Google Shape;524;p52"/>
          <p:cNvSpPr txBox="1"/>
          <p:nvPr/>
        </p:nvSpPr>
        <p:spPr>
          <a:xfrm>
            <a:off x="4962307"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{{IR_4}}</a:t>
            </a:r>
            <a:endParaRPr sz="848" b="0" i="0" u="none" strike="noStrike" cap="none">
              <a:solidFill>
                <a:srgbClr val="333333"/>
              </a:solidFill>
              <a:latin typeface="Calibri"/>
              <a:ea typeface="Calibri"/>
              <a:cs typeface="Calibri"/>
              <a:sym typeface="Calibri"/>
            </a:endParaRPr>
          </a:p>
        </p:txBody>
      </p:sp>
      <p:sp>
        <p:nvSpPr>
          <p:cNvPr id="525" name="Google Shape;525;p52"/>
          <p:cNvSpPr txBox="1"/>
          <p:nvPr/>
        </p:nvSpPr>
        <p:spPr>
          <a:xfrm>
            <a:off x="4962307"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{{IR_5}}</a:t>
            </a:r>
            <a:endParaRPr sz="848" b="0" i="0" u="none" strike="noStrike" cap="none">
              <a:solidFill>
                <a:srgbClr val="333333"/>
              </a:solidFill>
              <a:latin typeface="Calibri"/>
              <a:ea typeface="Calibri"/>
              <a:cs typeface="Calibri"/>
              <a:sym typeface="Calibri"/>
            </a:endParaRPr>
          </a:p>
        </p:txBody>
      </p:sp>
      <p:sp>
        <p:nvSpPr>
          <p:cNvPr id="526" name="Google Shape;526;p52"/>
          <p:cNvSpPr txBox="1"/>
          <p:nvPr/>
        </p:nvSpPr>
        <p:spPr>
          <a:xfrm>
            <a:off x="4962307"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{{IR_6}}</a:t>
            </a:r>
            <a:endParaRPr sz="848" b="0" i="0" u="none" strike="noStrike" cap="none">
              <a:solidFill>
                <a:srgbClr val="333333"/>
              </a:solidFill>
              <a:latin typeface="Calibri"/>
              <a:ea typeface="Calibri"/>
              <a:cs typeface="Calibri"/>
              <a:sym typeface="Calibri"/>
            </a:endParaRPr>
          </a:p>
        </p:txBody>
      </p:sp>
      <p:sp>
        <p:nvSpPr>
          <p:cNvPr id="527" name="Google Shape;527;p52"/>
          <p:cNvSpPr txBox="1"/>
          <p:nvPr/>
        </p:nvSpPr>
        <p:spPr>
          <a:xfrm>
            <a:off x="4962307"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{{IR_7}}</a:t>
            </a:r>
            <a:endParaRPr sz="848" b="0" i="0" u="none" strike="noStrike" cap="none">
              <a:solidFill>
                <a:srgbClr val="333333"/>
              </a:solidFill>
              <a:latin typeface="Calibri"/>
              <a:ea typeface="Calibri"/>
              <a:cs typeface="Calibri"/>
              <a:sym typeface="Calibri"/>
            </a:endParaRPr>
          </a:p>
        </p:txBody>
      </p:sp>
      <p:sp>
        <p:nvSpPr>
          <p:cNvPr id="528" name="Google Shape;528;p52"/>
          <p:cNvSpPr txBox="1"/>
          <p:nvPr/>
        </p:nvSpPr>
        <p:spPr>
          <a:xfrm>
            <a:off x="4962307"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{{IR_8}}</a:t>
            </a:r>
            <a:endParaRPr sz="848" b="0" i="0" u="none" strike="noStrike" cap="none">
              <a:solidFill>
                <a:srgbClr val="333333"/>
              </a:solidFill>
              <a:latin typeface="Calibri"/>
              <a:ea typeface="Calibri"/>
              <a:cs typeface="Calibri"/>
              <a:sym typeface="Calibri"/>
            </a:endParaRPr>
          </a:p>
        </p:txBody>
      </p:sp>
      <p:sp>
        <p:nvSpPr>
          <p:cNvPr id="529" name="Google Shape;529;p52"/>
          <p:cNvSpPr txBox="1"/>
          <p:nvPr/>
        </p:nvSpPr>
        <p:spPr>
          <a:xfrm>
            <a:off x="4962307"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{{IR_9}}</a:t>
            </a:r>
            <a:endParaRPr sz="848" b="0" i="0" u="none" strike="noStrike" cap="none">
              <a:solidFill>
                <a:srgbClr val="333333"/>
              </a:solidFill>
              <a:latin typeface="Calibri"/>
              <a:ea typeface="Calibri"/>
              <a:cs typeface="Calibri"/>
              <a:sym typeface="Calibri"/>
            </a:endParaRPr>
          </a:p>
        </p:txBody>
      </p:sp>
      <p:sp>
        <p:nvSpPr>
          <p:cNvPr id="530" name="Google Shape;530;p52"/>
          <p:cNvSpPr txBox="1"/>
          <p:nvPr/>
        </p:nvSpPr>
        <p:spPr>
          <a:xfrm>
            <a:off x="4972718"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{{IR_10}}</a:t>
            </a:r>
            <a:endParaRPr sz="848" b="0" i="0" u="none" strike="noStrike" cap="none">
              <a:solidFill>
                <a:srgbClr val="333333"/>
              </a:solidFill>
              <a:latin typeface="Calibri"/>
              <a:ea typeface="Calibri"/>
              <a:cs typeface="Calibri"/>
              <a:sym typeface="Calibri"/>
            </a:endParaRPr>
          </a:p>
        </p:txBody>
      </p:sp>
      <p:sp>
        <p:nvSpPr>
          <p:cNvPr id="531" name="Google Shape;531;p52"/>
          <p:cNvSpPr txBox="1"/>
          <p:nvPr/>
        </p:nvSpPr>
        <p:spPr>
          <a:xfrm>
            <a:off x="2714775" y="792813"/>
            <a:ext cx="3290528"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5"/>
              </a:rPr>
              <a:t>Active Integrations</a:t>
            </a:r>
            <a:r>
              <a:rPr lang="en" sz="13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6"/>
              </a:rPr>
              <a:t>↗</a:t>
            </a:r>
            <a:endParaRPr sz="1300" b="0" i="0" u="none" strike="noStrike" cap="none">
              <a:solidFill>
                <a:srgbClr val="0254EC"/>
              </a:solidFill>
              <a:latin typeface="Calibri"/>
              <a:ea typeface="Calibri"/>
              <a:cs typeface="Calibri"/>
              <a:sym typeface="Calibri"/>
            </a:endParaRPr>
          </a:p>
        </p:txBody>
      </p:sp>
      <p:sp>
        <p:nvSpPr>
          <p:cNvPr id="532" name="Google Shape;532;p52"/>
          <p:cNvSpPr txBox="1"/>
          <p:nvPr/>
        </p:nvSpPr>
        <p:spPr>
          <a:xfrm>
            <a:off x="2714750" y="1108842"/>
            <a:ext cx="3159552" cy="240862"/>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1136"/>
              <a:buFont typeface="Arial"/>
              <a:buNone/>
            </a:pPr>
            <a:r>
              <a:rPr lang="en" sz="1136" b="0" i="0" u="none" strike="noStrike" cap="none" dirty="0">
                <a:solidFill>
                  <a:srgbClr val="333333"/>
                </a:solidFill>
                <a:latin typeface="Calibri"/>
                <a:ea typeface="Calibri"/>
                <a:cs typeface="Calibri"/>
                <a:sym typeface="Calibri"/>
              </a:rPr>
              <a:t>Integration                                               Status</a:t>
            </a:r>
            <a:endParaRPr sz="1136" b="0" i="0" u="none" strike="noStrike" cap="none" dirty="0">
              <a:solidFill>
                <a:srgbClr val="333333"/>
              </a:solidFill>
              <a:latin typeface="Calibri"/>
              <a:ea typeface="Calibri"/>
              <a:cs typeface="Calibri"/>
              <a:sym typeface="Calibri"/>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a:ea typeface="Calibri"/>
              <a:cs typeface="Calibri"/>
              <a:sym typeface="Calibri"/>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a:solidFill>
                  <a:schemeClr val="hlink"/>
                </a:solidFill>
                <a:latin typeface="Calibri"/>
                <a:ea typeface="Calibri"/>
                <a:cs typeface="Calibri"/>
                <a:sym typeface="Calibri"/>
                <a:hlinkClick r:id="rId7"/>
              </a:rPr>
              <a:t>HBI</a:t>
            </a:r>
            <a:r>
              <a:rPr lang="en" sz="810" b="0" i="0" u="none" strike="noStrike" cap="none">
                <a:solidFill>
                  <a:srgbClr val="333333"/>
                </a:solidFill>
                <a:latin typeface="Calibri"/>
                <a:ea typeface="Calibri"/>
                <a:cs typeface="Calibri"/>
                <a:sym typeface="Calibri"/>
              </a:rPr>
              <a:t> (High Business Impact)</a:t>
            </a:r>
            <a:endParaRPr sz="810" b="0" i="0" u="none" strike="noStrike" cap="none">
              <a:solidFill>
                <a:srgbClr val="333333"/>
              </a:solidFill>
              <a:latin typeface="Calibri"/>
              <a:ea typeface="Calibri"/>
              <a:cs typeface="Calibri"/>
              <a:sym typeface="Calibri"/>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a:solidFill>
                  <a:srgbClr val="333333"/>
                </a:solidFill>
                <a:latin typeface="Calibri"/>
                <a:ea typeface="Calibri"/>
                <a:cs typeface="Calibri"/>
                <a:sym typeface="Calibri"/>
              </a:rPr>
              <a:t>{{P_HBI}}</a:t>
            </a:r>
            <a:endParaRPr sz="810" b="1" i="0" u="none" strike="noStrike" cap="none">
              <a:solidFill>
                <a:srgbClr val="333333"/>
              </a:solidFill>
              <a:latin typeface="Calibri"/>
              <a:ea typeface="Calibri"/>
              <a:cs typeface="Calibri"/>
              <a:sym typeface="Calibri"/>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a:solidFill>
                  <a:schemeClr val="hlink"/>
                </a:solidFill>
                <a:latin typeface="Calibri"/>
                <a:ea typeface="Calibri"/>
                <a:cs typeface="Calibri"/>
                <a:sym typeface="Calibri"/>
                <a:hlinkClick r:id="rId8"/>
              </a:rPr>
              <a:t>MBI</a:t>
            </a:r>
            <a:r>
              <a:rPr lang="en" sz="810" b="0" i="0" u="none" strike="noStrike" cap="none">
                <a:solidFill>
                  <a:srgbClr val="333333"/>
                </a:solidFill>
                <a:latin typeface="Calibri"/>
                <a:ea typeface="Calibri"/>
                <a:cs typeface="Calibri"/>
                <a:sym typeface="Calibri"/>
              </a:rPr>
              <a:t> (Medium Business Impact)</a:t>
            </a:r>
            <a:endParaRPr sz="810" b="0" i="0" u="none" strike="noStrike" cap="none">
              <a:solidFill>
                <a:srgbClr val="333333"/>
              </a:solidFill>
              <a:latin typeface="Calibri"/>
              <a:ea typeface="Calibri"/>
              <a:cs typeface="Calibri"/>
              <a:sym typeface="Calibri"/>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a:solidFill>
                  <a:srgbClr val="333333"/>
                </a:solidFill>
                <a:latin typeface="Calibri"/>
                <a:ea typeface="Calibri"/>
                <a:cs typeface="Calibri"/>
                <a:sym typeface="Calibri"/>
              </a:rPr>
              <a:t>{{P_MBI}}</a:t>
            </a:r>
            <a:endParaRPr sz="810" b="1" i="0" u="none" strike="noStrike" cap="none">
              <a:solidFill>
                <a:srgbClr val="333333"/>
              </a:solidFill>
              <a:latin typeface="Calibri"/>
              <a:ea typeface="Calibri"/>
              <a:cs typeface="Calibri"/>
              <a:sym typeface="Calibri"/>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a:ea typeface="Calibri"/>
                <a:cs typeface="Calibri"/>
                <a:sym typeface="Calibri"/>
              </a:rPr>
              <a:t>Projects</a:t>
            </a:r>
            <a:endParaRPr sz="1300" b="0" i="0" u="none" strike="noStrike" cap="none">
              <a:solidFill>
                <a:srgbClr val="333333"/>
              </a:solidFill>
              <a:latin typeface="Calibri"/>
              <a:ea typeface="Calibri"/>
              <a:cs typeface="Calibri"/>
              <a:sym typeface="Calibri"/>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Total Parent</a:t>
            </a:r>
            <a:endParaRPr sz="1000" b="0" i="0" u="none" strike="noStrike" cap="none">
              <a:solidFill>
                <a:schemeClr val="dk1"/>
              </a:solidFill>
              <a:latin typeface="Calibri"/>
              <a:ea typeface="Calibri"/>
              <a:cs typeface="Calibri"/>
              <a:sym typeface="Calibri"/>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a:ea typeface="Calibri"/>
                <a:cs typeface="Calibri"/>
                <a:sym typeface="Calibri"/>
              </a:rPr>
              <a:t>{{P_TOT}}</a:t>
            </a:r>
            <a:endParaRPr sz="990" b="1" i="0" u="none" strike="noStrike" cap="none">
              <a:solidFill>
                <a:srgbClr val="333333"/>
              </a:solidFill>
              <a:latin typeface="Calibri"/>
              <a:ea typeface="Calibri"/>
              <a:cs typeface="Calibri"/>
              <a:sym typeface="Calibri"/>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a:solidFill>
                  <a:schemeClr val="hlink"/>
                </a:solidFill>
                <a:latin typeface="Calibri"/>
                <a:ea typeface="Calibri"/>
                <a:cs typeface="Calibri"/>
                <a:sym typeface="Calibri"/>
                <a:hlinkClick r:id="rId9"/>
              </a:rPr>
              <a:t>LBI</a:t>
            </a:r>
            <a:r>
              <a:rPr lang="en" sz="810" b="0" i="0" u="none" strike="noStrike" cap="none">
                <a:solidFill>
                  <a:srgbClr val="333333"/>
                </a:solidFill>
                <a:latin typeface="Calibri"/>
                <a:ea typeface="Calibri"/>
                <a:cs typeface="Calibri"/>
                <a:sym typeface="Calibri"/>
              </a:rPr>
              <a:t> (Low Business Impact)</a:t>
            </a:r>
            <a:endParaRPr sz="810" b="0" i="0" u="none" strike="noStrike" cap="none">
              <a:solidFill>
                <a:srgbClr val="333333"/>
              </a:solidFill>
              <a:latin typeface="Calibri"/>
              <a:ea typeface="Calibri"/>
              <a:cs typeface="Calibri"/>
              <a:sym typeface="Calibri"/>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a:solidFill>
                  <a:srgbClr val="333333"/>
                </a:solidFill>
                <a:latin typeface="Calibri"/>
                <a:ea typeface="Calibri"/>
                <a:cs typeface="Calibri"/>
                <a:sym typeface="Calibri"/>
              </a:rPr>
              <a:t>{{P_LBI}}</a:t>
            </a:r>
            <a:endParaRPr sz="810" b="1" i="0" u="none" strike="noStrike" cap="none">
              <a:solidFill>
                <a:srgbClr val="333333"/>
              </a:solidFill>
              <a:latin typeface="Calibri"/>
              <a:ea typeface="Calibri"/>
              <a:cs typeface="Calibri"/>
              <a:sym typeface="Calibri"/>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Total Child</a:t>
            </a:r>
            <a:endParaRPr sz="1000" b="0" i="0" u="none" strike="noStrike" cap="none">
              <a:solidFill>
                <a:schemeClr val="dk1"/>
              </a:solidFill>
              <a:latin typeface="Calibri"/>
              <a:ea typeface="Calibri"/>
              <a:cs typeface="Calibri"/>
              <a:sym typeface="Calibri"/>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a:ea typeface="Calibri"/>
                <a:cs typeface="Calibri"/>
                <a:sym typeface="Calibri"/>
              </a:rPr>
              <a:t>{{PC_TOT}}</a:t>
            </a:r>
            <a:endParaRPr sz="990" b="1" i="0" u="none" strike="noStrike" cap="none">
              <a:solidFill>
                <a:srgbClr val="333333"/>
              </a:solidFill>
              <a:latin typeface="Calibri"/>
              <a:ea typeface="Calibri"/>
              <a:cs typeface="Calibri"/>
              <a:sym typeface="Calibri"/>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a:ea typeface="Calibri"/>
                <a:cs typeface="Calibri"/>
                <a:sym typeface="Calibri"/>
              </a:rPr>
              <a:t>Features / Functionality Usage</a:t>
            </a:r>
            <a:endParaRPr sz="1300" b="0" i="0" u="none" strike="noStrike" cap="none">
              <a:solidFill>
                <a:srgbClr val="333333"/>
              </a:solidFill>
              <a:latin typeface="Calibri"/>
              <a:ea typeface="Calibri"/>
              <a:cs typeface="Calibri"/>
              <a:sym typeface="Calibri"/>
            </a:endParaRPr>
          </a:p>
        </p:txBody>
      </p:sp>
      <p:sp>
        <p:nvSpPr>
          <p:cNvPr id="546" name="Google Shape;546;p52"/>
          <p:cNvSpPr/>
          <p:nvPr/>
        </p:nvSpPr>
        <p:spPr>
          <a:xfrm>
            <a:off x="6163222" y="1119161"/>
            <a:ext cx="2835527" cy="2041333"/>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547" name="Google Shape;547;p52"/>
          <p:cNvSpPr txBox="1"/>
          <p:nvPr/>
        </p:nvSpPr>
        <p:spPr>
          <a:xfrm>
            <a:off x="6322754" y="113465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0"/>
              </a:rPr>
              <a:t>Custom Compliance Frameworks</a:t>
            </a:r>
            <a:endParaRPr sz="900" b="0" i="0" u="none" strike="noStrike" cap="none">
              <a:solidFill>
                <a:srgbClr val="0254EC"/>
              </a:solidFill>
              <a:latin typeface="Calibri"/>
              <a:ea typeface="Calibri"/>
              <a:cs typeface="Calibri"/>
              <a:sym typeface="Calibri"/>
            </a:endParaRPr>
          </a:p>
        </p:txBody>
      </p:sp>
      <p:sp>
        <p:nvSpPr>
          <p:cNvPr id="548" name="Google Shape;548;p52"/>
          <p:cNvSpPr txBox="1"/>
          <p:nvPr/>
        </p:nvSpPr>
        <p:spPr>
          <a:xfrm>
            <a:off x="7250324" y="113312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{{F_FW}}</a:t>
            </a:r>
            <a:endParaRPr sz="900" b="1" i="0" u="none" strike="noStrike" cap="none">
              <a:solidFill>
                <a:srgbClr val="333333"/>
              </a:solidFill>
              <a:latin typeface="Calibri"/>
              <a:ea typeface="Calibri"/>
              <a:cs typeface="Calibri"/>
              <a:sym typeface="Calibri"/>
            </a:endParaRPr>
          </a:p>
        </p:txBody>
      </p:sp>
      <p:sp>
        <p:nvSpPr>
          <p:cNvPr id="549" name="Google Shape;549;p52"/>
          <p:cNvSpPr txBox="1"/>
          <p:nvPr/>
        </p:nvSpPr>
        <p:spPr>
          <a:xfrm>
            <a:off x="6322754" y="133418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1"/>
              </a:rPr>
              <a:t>Resource Tag Rules (On / Off)</a:t>
            </a:r>
            <a:endParaRPr sz="900" b="0" i="0" u="none" strike="noStrike" cap="none">
              <a:solidFill>
                <a:srgbClr val="0254EC"/>
              </a:solidFill>
              <a:latin typeface="Calibri"/>
              <a:ea typeface="Calibri"/>
              <a:cs typeface="Calibri"/>
              <a:sym typeface="Calibri"/>
            </a:endParaRPr>
          </a:p>
        </p:txBody>
      </p:sp>
      <p:sp>
        <p:nvSpPr>
          <p:cNvPr id="550" name="Google Shape;550;p52"/>
          <p:cNvSpPr txBox="1"/>
          <p:nvPr/>
        </p:nvSpPr>
        <p:spPr>
          <a:xfrm>
            <a:off x="7250324" y="133265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{{F_TR}}</a:t>
            </a:r>
            <a:endParaRPr sz="900" b="1" i="0" u="none" strike="noStrike" cap="none">
              <a:solidFill>
                <a:srgbClr val="333333"/>
              </a:solidFill>
              <a:latin typeface="Calibri"/>
              <a:ea typeface="Calibri"/>
              <a:cs typeface="Calibri"/>
              <a:sym typeface="Calibri"/>
            </a:endParaRPr>
          </a:p>
        </p:txBody>
      </p:sp>
      <p:sp>
        <p:nvSpPr>
          <p:cNvPr id="551" name="Google Shape;551;p52"/>
          <p:cNvSpPr txBox="1"/>
          <p:nvPr/>
        </p:nvSpPr>
        <p:spPr>
          <a:xfrm>
            <a:off x="6322754" y="153370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2"/>
              </a:rPr>
              <a:t>Service Catalog Discovery Rules</a:t>
            </a:r>
            <a:endParaRPr sz="900" b="0" i="0" u="none" strike="noStrike" cap="none">
              <a:solidFill>
                <a:srgbClr val="0254EC"/>
              </a:solidFill>
              <a:latin typeface="Calibri"/>
              <a:ea typeface="Calibri"/>
              <a:cs typeface="Calibri"/>
              <a:sym typeface="Calibri"/>
            </a:endParaRPr>
          </a:p>
        </p:txBody>
      </p:sp>
      <p:sp>
        <p:nvSpPr>
          <p:cNvPr id="552" name="Google Shape;552;p52"/>
          <p:cNvSpPr txBox="1"/>
          <p:nvPr/>
        </p:nvSpPr>
        <p:spPr>
          <a:xfrm>
            <a:off x="7250324" y="153218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{{F_DR}}</a:t>
            </a:r>
            <a:endParaRPr sz="900" b="1" i="0" u="none" strike="noStrike" cap="none">
              <a:solidFill>
                <a:srgbClr val="333333"/>
              </a:solidFill>
              <a:latin typeface="Calibri"/>
              <a:ea typeface="Calibri"/>
              <a:cs typeface="Calibri"/>
              <a:sym typeface="Calibri"/>
            </a:endParaRPr>
          </a:p>
        </p:txBody>
      </p:sp>
      <p:sp>
        <p:nvSpPr>
          <p:cNvPr id="553" name="Google Shape;553;p52"/>
          <p:cNvSpPr txBox="1"/>
          <p:nvPr/>
        </p:nvSpPr>
        <p:spPr>
          <a:xfrm>
            <a:off x="6322754" y="172649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3"/>
              </a:rPr>
              <a:t>Inventory Management Rules</a:t>
            </a:r>
            <a:endParaRPr sz="900" b="0" i="0" u="none" strike="noStrike" cap="none">
              <a:solidFill>
                <a:srgbClr val="0254EC"/>
              </a:solidFill>
              <a:latin typeface="Calibri"/>
              <a:ea typeface="Calibri"/>
              <a:cs typeface="Calibri"/>
              <a:sym typeface="Calibri"/>
            </a:endParaRPr>
          </a:p>
        </p:txBody>
      </p:sp>
      <p:sp>
        <p:nvSpPr>
          <p:cNvPr id="554" name="Google Shape;554;p52"/>
          <p:cNvSpPr txBox="1"/>
          <p:nvPr/>
        </p:nvSpPr>
        <p:spPr>
          <a:xfrm>
            <a:off x="7250324" y="172496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{{F_IR}}</a:t>
            </a:r>
            <a:endParaRPr sz="900" b="1" i="0" u="none" strike="noStrike" cap="none">
              <a:solidFill>
                <a:srgbClr val="333333"/>
              </a:solidFill>
              <a:latin typeface="Calibri"/>
              <a:ea typeface="Calibri"/>
              <a:cs typeface="Calibri"/>
              <a:sym typeface="Calibri"/>
            </a:endParaRPr>
          </a:p>
        </p:txBody>
      </p:sp>
      <p:sp>
        <p:nvSpPr>
          <p:cNvPr id="555" name="Google Shape;555;p52"/>
          <p:cNvSpPr txBox="1"/>
          <p:nvPr/>
        </p:nvSpPr>
        <p:spPr>
          <a:xfrm>
            <a:off x="6322754" y="192602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4"/>
              </a:rPr>
              <a:t>User Created Posture Policies</a:t>
            </a:r>
            <a:endParaRPr sz="900" b="0" i="0" u="none" strike="noStrike" cap="none">
              <a:solidFill>
                <a:srgbClr val="0254EC"/>
              </a:solidFill>
              <a:latin typeface="Calibri"/>
              <a:ea typeface="Calibri"/>
              <a:cs typeface="Calibri"/>
              <a:sym typeface="Calibri"/>
            </a:endParaRPr>
          </a:p>
        </p:txBody>
      </p:sp>
      <p:sp>
        <p:nvSpPr>
          <p:cNvPr id="556" name="Google Shape;556;p52"/>
          <p:cNvSpPr txBox="1"/>
          <p:nvPr/>
        </p:nvSpPr>
        <p:spPr>
          <a:xfrm>
            <a:off x="7250324" y="192449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{{F_PP}}</a:t>
            </a:r>
            <a:endParaRPr sz="900" b="1" i="0" u="none" strike="noStrike" cap="none">
              <a:solidFill>
                <a:srgbClr val="333333"/>
              </a:solidFill>
              <a:latin typeface="Calibri"/>
              <a:ea typeface="Calibri"/>
              <a:cs typeface="Calibri"/>
              <a:sym typeface="Calibri"/>
            </a:endParaRPr>
          </a:p>
        </p:txBody>
      </p:sp>
      <p:sp>
        <p:nvSpPr>
          <p:cNvPr id="557" name="Google Shape;557;p52"/>
          <p:cNvSpPr txBox="1"/>
          <p:nvPr/>
        </p:nvSpPr>
        <p:spPr>
          <a:xfrm>
            <a:off x="6322754" y="212555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5"/>
              </a:rPr>
              <a:t>User Created Monitored Metrics</a:t>
            </a:r>
            <a:endParaRPr sz="900" b="0" i="0" u="none" strike="noStrike" cap="none">
              <a:solidFill>
                <a:srgbClr val="0254EC"/>
              </a:solidFill>
              <a:latin typeface="Calibri"/>
              <a:ea typeface="Calibri"/>
              <a:cs typeface="Calibri"/>
              <a:sym typeface="Calibri"/>
            </a:endParaRPr>
          </a:p>
        </p:txBody>
      </p:sp>
      <p:sp>
        <p:nvSpPr>
          <p:cNvPr id="558" name="Google Shape;558;p52"/>
          <p:cNvSpPr txBox="1"/>
          <p:nvPr/>
        </p:nvSpPr>
        <p:spPr>
          <a:xfrm>
            <a:off x="7250324" y="2124024"/>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{{F_MM}}</a:t>
            </a:r>
            <a:endParaRPr sz="900" b="1" i="0" u="none" strike="noStrike" cap="none">
              <a:solidFill>
                <a:srgbClr val="333333"/>
              </a:solidFill>
              <a:latin typeface="Calibri"/>
              <a:ea typeface="Calibri"/>
              <a:cs typeface="Calibri"/>
              <a:sym typeface="Calibri"/>
            </a:endParaRPr>
          </a:p>
        </p:txBody>
      </p:sp>
      <p:sp>
        <p:nvSpPr>
          <p:cNvPr id="559" name="Google Shape;559;p52"/>
          <p:cNvSpPr txBox="1"/>
          <p:nvPr/>
        </p:nvSpPr>
        <p:spPr>
          <a:xfrm>
            <a:off x="6315488" y="232208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6"/>
              </a:rPr>
              <a:t>Champion Center Owners</a:t>
            </a:r>
            <a:endParaRPr sz="900" b="0" i="0" u="none" strike="noStrike" cap="none">
              <a:solidFill>
                <a:srgbClr val="0254EC"/>
              </a:solidFill>
              <a:latin typeface="Calibri"/>
              <a:ea typeface="Calibri"/>
              <a:cs typeface="Calibri"/>
              <a:sym typeface="Calibri"/>
            </a:endParaRPr>
          </a:p>
        </p:txBody>
      </p:sp>
      <p:sp>
        <p:nvSpPr>
          <p:cNvPr id="560" name="Google Shape;560;p52"/>
          <p:cNvSpPr txBox="1"/>
          <p:nvPr/>
        </p:nvSpPr>
        <p:spPr>
          <a:xfrm>
            <a:off x="7243057" y="230914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{{CC_TOT}}</a:t>
            </a:r>
            <a:endParaRPr sz="900" b="1" i="0" u="none" strike="noStrike" cap="none">
              <a:solidFill>
                <a:srgbClr val="333333"/>
              </a:solidFill>
              <a:latin typeface="Calibri"/>
              <a:ea typeface="Calibri"/>
              <a:cs typeface="Calibri"/>
              <a:sym typeface="Calibri"/>
            </a:endParaRPr>
          </a:p>
        </p:txBody>
      </p:sp>
      <p:sp>
        <p:nvSpPr>
          <p:cNvPr id="561" name="Google Shape;561;p52"/>
          <p:cNvSpPr txBox="1"/>
          <p:nvPr/>
        </p:nvSpPr>
        <p:spPr>
          <a:xfrm>
            <a:off x="6319629" y="250869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7"/>
              </a:rPr>
              <a:t>Using Wiz Browser Extension</a:t>
            </a:r>
            <a:endParaRPr sz="900" b="0" i="0" u="none" strike="noStrike" cap="none">
              <a:solidFill>
                <a:srgbClr val="0254EC"/>
              </a:solidFill>
              <a:latin typeface="Calibri"/>
              <a:ea typeface="Calibri"/>
              <a:cs typeface="Calibri"/>
              <a:sym typeface="Calibri"/>
            </a:endParaRPr>
          </a:p>
        </p:txBody>
      </p:sp>
      <p:sp>
        <p:nvSpPr>
          <p:cNvPr id="562" name="Google Shape;562;p52"/>
          <p:cNvSpPr txBox="1"/>
          <p:nvPr/>
        </p:nvSpPr>
        <p:spPr>
          <a:xfrm>
            <a:off x="7247197" y="249576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{{F_BE}}</a:t>
            </a:r>
            <a:endParaRPr sz="900" b="1" i="0" u="none" strike="noStrike" cap="none">
              <a:solidFill>
                <a:srgbClr val="333333"/>
              </a:solidFill>
              <a:latin typeface="Calibri"/>
              <a:ea typeface="Calibri"/>
              <a:cs typeface="Calibri"/>
              <a:sym typeface="Calibri"/>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a:solidFill>
                  <a:srgbClr val="0254EC"/>
                </a:solidFill>
                <a:latin typeface="Calibri"/>
                <a:ea typeface="Calibri"/>
                <a:cs typeface="Calibri"/>
                <a:sym typeface="Calibri"/>
              </a:rPr>
              <a:t>Green Agent</a:t>
            </a:r>
            <a:endParaRPr sz="800" b="1" i="0" u="none" strike="noStrike" cap="none">
              <a:solidFill>
                <a:srgbClr val="000000"/>
              </a:solidFill>
              <a:latin typeface="Calibri"/>
              <a:ea typeface="Calibri"/>
              <a:cs typeface="Calibri"/>
              <a:sym typeface="Calibri"/>
            </a:endParaRPr>
          </a:p>
        </p:txBody>
      </p:sp>
      <p:sp>
        <p:nvSpPr>
          <p:cNvPr id="567" name="Google Shape;567;p52"/>
          <p:cNvSpPr/>
          <p:nvPr/>
        </p:nvSpPr>
        <p:spPr>
          <a:xfrm>
            <a:off x="1837294" y="4876841"/>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1021" b="0" i="0" u="none" strike="noStrike" cap="none">
                <a:solidFill>
                  <a:srgbClr val="000000"/>
                </a:solidFill>
                <a:latin typeface="Calibri"/>
                <a:ea typeface="Calibri"/>
                <a:cs typeface="Calibri"/>
                <a:sym typeface="Calibri"/>
              </a:rPr>
              <a:t>Enabled</a:t>
            </a:r>
            <a:br>
              <a:rPr lang="en" sz="1021" b="0" i="0" u="none" strike="noStrike" cap="none">
                <a:solidFill>
                  <a:srgbClr val="000000"/>
                </a:solidFill>
                <a:latin typeface="Calibri"/>
                <a:ea typeface="Calibri"/>
                <a:cs typeface="Calibri"/>
                <a:sym typeface="Calibri"/>
              </a:rPr>
            </a:br>
            <a:r>
              <a:rPr lang="en" sz="1021" b="0" i="0" u="none" strike="noStrike" cap="none">
                <a:solidFill>
                  <a:srgbClr val="000000"/>
                </a:solidFill>
                <a:latin typeface="Calibri"/>
                <a:ea typeface="Calibri"/>
                <a:cs typeface="Calibri"/>
                <a:sym typeface="Calibri"/>
              </a:rPr>
              <a:t>{{F_GA}}</a:t>
            </a:r>
            <a:br>
              <a:rPr lang="en" sz="1021" b="0" i="0" u="none" strike="noStrike" cap="none">
                <a:solidFill>
                  <a:srgbClr val="000000"/>
                </a:solidFill>
                <a:latin typeface="Calibri"/>
                <a:ea typeface="Calibri"/>
                <a:cs typeface="Calibri"/>
                <a:sym typeface="Calibri"/>
              </a:rPr>
            </a:br>
            <a:endParaRPr sz="1021" b="0" i="0" u="none" strike="noStrike" cap="none">
              <a:solidFill>
                <a:srgbClr val="000000"/>
              </a:solidFill>
              <a:latin typeface="Calibri"/>
              <a:ea typeface="Calibri"/>
              <a:cs typeface="Calibri"/>
              <a:sym typeface="Calibri"/>
            </a:endParaRPr>
          </a:p>
        </p:txBody>
      </p:sp>
      <p:sp>
        <p:nvSpPr>
          <p:cNvPr id="568" name="Google Shape;568;p52"/>
          <p:cNvSpPr/>
          <p:nvPr/>
        </p:nvSpPr>
        <p:spPr>
          <a:xfrm>
            <a:off x="792658" y="4465733"/>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Preventive Security</a:t>
            </a:r>
            <a:endParaRPr sz="900" b="1" i="0" u="none" strike="noStrike" cap="none">
              <a:solidFill>
                <a:srgbClr val="000000"/>
              </a:solidFill>
              <a:latin typeface="Calibri"/>
              <a:ea typeface="Calibri"/>
              <a:cs typeface="Calibri"/>
              <a:sym typeface="Calibri"/>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a:ea typeface="Calibri"/>
                <a:cs typeface="Calibri"/>
                <a:sym typeface="Calibri"/>
              </a:rPr>
              <a:t>Build securely and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remediate at the source</a:t>
            </a:r>
            <a:endParaRPr sz="730" b="0" i="0" u="none" strike="noStrike" cap="none">
              <a:solidFill>
                <a:srgbClr val="000000"/>
              </a:solidFill>
              <a:latin typeface="Calibri"/>
              <a:ea typeface="Calibri"/>
              <a:cs typeface="Calibri"/>
              <a:sym typeface="Calibri"/>
            </a:endParaRPr>
          </a:p>
        </p:txBody>
      </p:sp>
      <p:sp>
        <p:nvSpPr>
          <p:cNvPr id="570" name="Google Shape;570;p52"/>
          <p:cNvSpPr/>
          <p:nvPr/>
        </p:nvSpPr>
        <p:spPr>
          <a:xfrm>
            <a:off x="3258006"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Reactive Security</a:t>
            </a:r>
            <a:endParaRPr sz="900" b="1" i="0" u="none" strike="noStrike" cap="none">
              <a:solidFill>
                <a:srgbClr val="000000"/>
              </a:solidFill>
              <a:latin typeface="Calibri"/>
              <a:ea typeface="Calibri"/>
              <a:cs typeface="Calibri"/>
              <a:sym typeface="Calibri"/>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a:ea typeface="Calibri"/>
                <a:cs typeface="Calibri"/>
                <a:sym typeface="Calibri"/>
              </a:rPr>
              <a:t>Investigate and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triage high-fidelity threats</a:t>
            </a:r>
            <a:endParaRPr sz="730" b="0" i="0" u="none" strike="noStrike" cap="none">
              <a:solidFill>
                <a:srgbClr val="000000"/>
              </a:solidFill>
              <a:latin typeface="Calibri"/>
              <a:ea typeface="Calibri"/>
              <a:cs typeface="Calibri"/>
              <a:sym typeface="Calibri"/>
            </a:endParaRPr>
          </a:p>
        </p:txBody>
      </p:sp>
      <p:sp>
        <p:nvSpPr>
          <p:cNvPr id="572" name="Google Shape;572;p52"/>
          <p:cNvSpPr/>
          <p:nvPr/>
        </p:nvSpPr>
        <p:spPr>
          <a:xfrm>
            <a:off x="5714491"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Proactive Security</a:t>
            </a:r>
            <a:endParaRPr sz="900" b="1" i="0" u="none" strike="noStrike" cap="none">
              <a:solidFill>
                <a:srgbClr val="000000"/>
              </a:solidFill>
              <a:latin typeface="Calibri"/>
              <a:ea typeface="Calibri"/>
              <a:cs typeface="Calibri"/>
              <a:sym typeface="Calibri"/>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a:ea typeface="Calibri"/>
                <a:cs typeface="Calibri"/>
                <a:sym typeface="Calibri"/>
              </a:rPr>
              <a:t>Identify high-risk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issues before they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can be exploited</a:t>
            </a:r>
            <a:endParaRPr sz="730" b="0" i="0" u="none" strike="noStrike" cap="none">
              <a:solidFill>
                <a:srgbClr val="000000"/>
              </a:solidFill>
              <a:latin typeface="Calibri"/>
              <a:ea typeface="Calibri"/>
              <a:cs typeface="Calibri"/>
              <a:sym typeface="Calibri"/>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a:solidFill>
                  <a:srgbClr val="0254EC"/>
                </a:solidFill>
                <a:latin typeface="Calibri"/>
                <a:ea typeface="Calibri"/>
                <a:cs typeface="Calibri"/>
                <a:sym typeface="Calibri"/>
              </a:rPr>
              <a:t>Blue Agent</a:t>
            </a:r>
            <a:endParaRPr sz="800" b="1" i="0" u="none" strike="noStrike" cap="none">
              <a:solidFill>
                <a:srgbClr val="000000"/>
              </a:solidFill>
              <a:latin typeface="Calibri"/>
              <a:ea typeface="Calibri"/>
              <a:cs typeface="Calibri"/>
              <a:sym typeface="Calibri"/>
            </a:endParaRPr>
          </a:p>
        </p:txBody>
      </p:sp>
      <p:sp>
        <p:nvSpPr>
          <p:cNvPr id="575" name="Google Shape;575;p52"/>
          <p:cNvSpPr/>
          <p:nvPr/>
        </p:nvSpPr>
        <p:spPr>
          <a:xfrm>
            <a:off x="4304342" y="4885978"/>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1021" b="0" i="0" u="none" strike="noStrike" cap="none">
                <a:solidFill>
                  <a:srgbClr val="000000"/>
                </a:solidFill>
                <a:latin typeface="Calibri"/>
                <a:ea typeface="Calibri"/>
                <a:cs typeface="Calibri"/>
                <a:sym typeface="Calibri"/>
              </a:rPr>
              <a:t>Enabled</a:t>
            </a:r>
            <a:br>
              <a:rPr lang="en" sz="1021" b="0" i="0" u="none" strike="noStrike" cap="none">
                <a:solidFill>
                  <a:srgbClr val="000000"/>
                </a:solidFill>
                <a:latin typeface="Calibri"/>
                <a:ea typeface="Calibri"/>
                <a:cs typeface="Calibri"/>
                <a:sym typeface="Calibri"/>
              </a:rPr>
            </a:br>
            <a:r>
              <a:rPr lang="en" sz="1021" b="0" i="0" u="none" strike="noStrike" cap="none">
                <a:solidFill>
                  <a:srgbClr val="000000"/>
                </a:solidFill>
                <a:latin typeface="Calibri"/>
                <a:ea typeface="Calibri"/>
                <a:cs typeface="Calibri"/>
                <a:sym typeface="Calibri"/>
              </a:rPr>
              <a:t>{{F_BA}}</a:t>
            </a:r>
            <a:br>
              <a:rPr lang="en" sz="1021" b="0" i="0" u="none" strike="noStrike" cap="none">
                <a:solidFill>
                  <a:srgbClr val="000000"/>
                </a:solidFill>
                <a:latin typeface="Calibri"/>
                <a:ea typeface="Calibri"/>
                <a:cs typeface="Calibri"/>
                <a:sym typeface="Calibri"/>
              </a:rPr>
            </a:br>
            <a:endParaRPr sz="1021" b="0" i="0" u="none" strike="noStrike" cap="none">
              <a:solidFill>
                <a:srgbClr val="000000"/>
              </a:solidFill>
              <a:latin typeface="Calibri"/>
              <a:ea typeface="Calibri"/>
              <a:cs typeface="Calibri"/>
              <a:sym typeface="Calibri"/>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a:solidFill>
                  <a:srgbClr val="0254EC"/>
                </a:solidFill>
                <a:latin typeface="Calibri"/>
                <a:ea typeface="Calibri"/>
                <a:cs typeface="Calibri"/>
                <a:sym typeface="Calibri"/>
              </a:rPr>
              <a:t>Red Agent</a:t>
            </a:r>
            <a:endParaRPr sz="800" b="1" i="0" u="none" strike="noStrike" cap="none">
              <a:solidFill>
                <a:srgbClr val="000000"/>
              </a:solidFill>
              <a:latin typeface="Calibri"/>
              <a:ea typeface="Calibri"/>
              <a:cs typeface="Calibri"/>
              <a:sym typeface="Calibri"/>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1021" b="0" i="0" u="none" strike="noStrike" cap="none">
                <a:solidFill>
                  <a:srgbClr val="000000"/>
                </a:solidFill>
                <a:latin typeface="Calibri"/>
                <a:ea typeface="Calibri"/>
                <a:cs typeface="Calibri"/>
                <a:sym typeface="Calibri"/>
              </a:rPr>
              <a:t>Enabled</a:t>
            </a:r>
            <a:br>
              <a:rPr lang="en" sz="1021" b="0" i="0" u="none" strike="noStrike" cap="none">
                <a:solidFill>
                  <a:srgbClr val="000000"/>
                </a:solidFill>
                <a:latin typeface="Calibri"/>
                <a:ea typeface="Calibri"/>
                <a:cs typeface="Calibri"/>
                <a:sym typeface="Calibri"/>
              </a:rPr>
            </a:br>
            <a:r>
              <a:rPr lang="en" sz="1021" b="0" i="0" u="none" strike="noStrike" cap="none">
                <a:solidFill>
                  <a:srgbClr val="000000"/>
                </a:solidFill>
                <a:latin typeface="Calibri"/>
                <a:ea typeface="Calibri"/>
                <a:cs typeface="Calibri"/>
                <a:sym typeface="Calibri"/>
              </a:rPr>
              <a:t>{{F_RA}}</a:t>
            </a:r>
            <a:br>
              <a:rPr lang="en" sz="1021" b="0" i="0" u="none" strike="noStrike" cap="none">
                <a:solidFill>
                  <a:srgbClr val="000000"/>
                </a:solidFill>
                <a:latin typeface="Calibri"/>
                <a:ea typeface="Calibri"/>
                <a:cs typeface="Calibri"/>
                <a:sym typeface="Calibri"/>
              </a:rPr>
            </a:br>
            <a:endParaRPr sz="1021" b="0" i="0" u="none" strike="noStrike" cap="none">
              <a:solidFill>
                <a:srgbClr val="000000"/>
              </a:solidFill>
              <a:latin typeface="Calibri"/>
              <a:ea typeface="Calibri"/>
              <a:cs typeface="Calibri"/>
              <a:sym typeface="Calibri"/>
            </a:endParaRPr>
          </a:p>
        </p:txBody>
      </p:sp>
      <p:sp>
        <p:nvSpPr>
          <p:cNvPr id="578" name="Google Shape;578;p52"/>
          <p:cNvSpPr/>
          <p:nvPr/>
        </p:nvSpPr>
        <p:spPr>
          <a:xfrm>
            <a:off x="6241955" y="3251123"/>
            <a:ext cx="2673777" cy="5631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a:ea typeface="Calibri"/>
              <a:cs typeface="Calibri"/>
              <a:sym typeface="Calibri"/>
            </a:endParaRPr>
          </a:p>
        </p:txBody>
      </p:sp>
      <p:sp>
        <p:nvSpPr>
          <p:cNvPr id="579" name="Google Shape;579;p52"/>
          <p:cNvSpPr txBox="1"/>
          <p:nvPr/>
        </p:nvSpPr>
        <p:spPr>
          <a:xfrm>
            <a:off x="6286917"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21"/>
              </a:rPr>
              <a:t>Automation Workflows</a:t>
            </a:r>
            <a:endParaRPr sz="900" b="0" i="0" u="none" strike="noStrike" cap="none">
              <a:solidFill>
                <a:srgbClr val="0254EC"/>
              </a:solidFill>
              <a:latin typeface="Calibri"/>
              <a:ea typeface="Calibri"/>
              <a:cs typeface="Calibri"/>
              <a:sym typeface="Calibri"/>
            </a:endParaRPr>
          </a:p>
        </p:txBody>
      </p:sp>
      <p:sp>
        <p:nvSpPr>
          <p:cNvPr id="580" name="Google Shape;580;p52"/>
          <p:cNvSpPr txBox="1"/>
          <p:nvPr/>
        </p:nvSpPr>
        <p:spPr>
          <a:xfrm>
            <a:off x="7177159"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{{F_WF}}</a:t>
            </a:r>
            <a:endParaRPr sz="900" b="1" i="0" u="none" strike="noStrike" cap="none">
              <a:solidFill>
                <a:srgbClr val="333333"/>
              </a:solidFill>
              <a:latin typeface="Calibri"/>
              <a:ea typeface="Calibri"/>
              <a:cs typeface="Calibri"/>
              <a:sym typeface="Calibri"/>
            </a:endParaRPr>
          </a:p>
        </p:txBody>
      </p:sp>
      <p:sp>
        <p:nvSpPr>
          <p:cNvPr id="581" name="Google Shape;581;p52"/>
          <p:cNvSpPr txBox="1"/>
          <p:nvPr/>
        </p:nvSpPr>
        <p:spPr>
          <a:xfrm>
            <a:off x="6286917"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22"/>
              </a:rPr>
              <a:t>Automation Rules (On / Off)</a:t>
            </a:r>
            <a:endParaRPr sz="900" b="0" i="0" u="none" strike="noStrike" cap="none">
              <a:solidFill>
                <a:srgbClr val="0254EC"/>
              </a:solidFill>
              <a:latin typeface="Calibri"/>
              <a:ea typeface="Calibri"/>
              <a:cs typeface="Calibri"/>
              <a:sym typeface="Calibri"/>
            </a:endParaRPr>
          </a:p>
        </p:txBody>
      </p:sp>
      <p:sp>
        <p:nvSpPr>
          <p:cNvPr id="582" name="Google Shape;582;p52"/>
          <p:cNvSpPr txBox="1"/>
          <p:nvPr/>
        </p:nvSpPr>
        <p:spPr>
          <a:xfrm>
            <a:off x="7177159"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{{F_AR}}</a:t>
            </a:r>
            <a:endParaRPr sz="900" b="1" i="0" u="none" strike="noStrike" cap="none">
              <a:solidFill>
                <a:srgbClr val="333333"/>
              </a:solidFill>
              <a:latin typeface="Calibri"/>
              <a:ea typeface="Calibri"/>
              <a:cs typeface="Calibri"/>
              <a:sym typeface="Calibri"/>
            </a:endParaRPr>
          </a:p>
        </p:txBody>
      </p:sp>
      <p:sp>
        <p:nvSpPr>
          <p:cNvPr id="583" name="Google Shape;583;p52"/>
          <p:cNvSpPr txBox="1"/>
          <p:nvPr/>
        </p:nvSpPr>
        <p:spPr>
          <a:xfrm>
            <a:off x="6326261" y="270274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23"/>
              </a:rPr>
              <a:t>Wiz MCP Users</a:t>
            </a:r>
            <a:endParaRPr sz="900" b="0" i="0" u="none" strike="noStrike" cap="none">
              <a:solidFill>
                <a:srgbClr val="0254EC"/>
              </a:solidFill>
              <a:latin typeface="Calibri"/>
              <a:ea typeface="Calibri"/>
              <a:cs typeface="Calibri"/>
              <a:sym typeface="Calibri"/>
            </a:endParaRPr>
          </a:p>
        </p:txBody>
      </p:sp>
      <p:sp>
        <p:nvSpPr>
          <p:cNvPr id="584" name="Google Shape;584;p52"/>
          <p:cNvSpPr txBox="1"/>
          <p:nvPr/>
        </p:nvSpPr>
        <p:spPr>
          <a:xfrm>
            <a:off x="7253830" y="268981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{{F_WMCP}}</a:t>
            </a:r>
            <a:endParaRPr sz="900" b="1" i="0" u="none" strike="noStrike" cap="none">
              <a:solidFill>
                <a:srgbClr val="333333"/>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60"/>
        <p:cNvGrpSpPr/>
        <p:nvPr/>
      </p:nvGrpSpPr>
      <p:grpSpPr>
        <a:xfrm>
          <a:off x="0" y="0"/>
          <a:ext cx="0" cy="0"/>
          <a:chOff x="0" y="0"/>
          <a:chExt cx="0" cy="0"/>
        </a:xfrm>
      </p:grpSpPr>
      <p:pic>
        <p:nvPicPr>
          <p:cNvPr id="1361" name="Google Shape;1361;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2" name="Google Shape;1362;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3" name="Google Shape;1363;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4" name="Google Shape;1364;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Assigning Ownership</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365" name="Google Shape;1365;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Service Catalog democratizes ownership to developers. Auto-group resources by applications</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366" name="Google Shape;1366;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7" name="Google Shape;1367;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Leverage Integrations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368" name="Google Shape;1368;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9" name="Google Shape;1369;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70" name="Google Shape;1370;p67"/>
          <p:cNvSpPr txBox="1"/>
          <p:nvPr/>
        </p:nvSpPr>
        <p:spPr>
          <a:xfrm>
            <a:off x="3218709"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Get Issues in front of the right people, using the tools they’re accustomed to. Jira, ServiceNow, Teams, etc.</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Send prescriptive data to SIEM / SOAR</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Route by team, severity or environment. Integration + per-team Action templates = Cutting the noise and operationalizing Wiz </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71" name="Google Shape;1371;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Take the human out of the routing. Auto-assign Issues to the right owners and notify accordingly</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72" name="Google Shape;1372;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Automation (Workflows)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373" name="Google Shape;1373;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4" name="Google Shape;1374;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Mature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for Democratization Improvements</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375" name="Google Shape;1375;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6" name="Google Shape;1376;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7" name="Google Shape;1377;p67"/>
          <p:cNvGrpSpPr/>
          <p:nvPr/>
        </p:nvGrpSpPr>
        <p:grpSpPr>
          <a:xfrm>
            <a:off x="4726377" y="4145669"/>
            <a:ext cx="4010949" cy="832434"/>
            <a:chOff x="4726377" y="3456975"/>
            <a:chExt cx="4010949" cy="832434"/>
          </a:xfrm>
        </p:grpSpPr>
        <p:pic>
          <p:nvPicPr>
            <p:cNvPr id="1378" name="Google Shape;1378;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9" name="Google Shape;1379;p67"/>
            <p:cNvSpPr txBox="1"/>
            <p:nvPr/>
          </p:nvSpPr>
          <p:spPr>
            <a:xfrm>
              <a:off x="5566125" y="3585438"/>
              <a:ext cx="3048900" cy="406108"/>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Is Wiz completely integrated into your workflow? What could help make it part of day to day?</a:t>
              </a: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380" name="Google Shape;1380;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81" name="Google Shape;1381;p67"/>
          <p:cNvGrpSpPr/>
          <p:nvPr/>
        </p:nvGrpSpPr>
        <p:grpSpPr>
          <a:xfrm>
            <a:off x="434302" y="4145669"/>
            <a:ext cx="4010949" cy="832434"/>
            <a:chOff x="434302" y="3456975"/>
            <a:chExt cx="4010949" cy="832434"/>
          </a:xfrm>
        </p:grpSpPr>
        <p:pic>
          <p:nvPicPr>
            <p:cNvPr id="1382" name="Google Shape;1382;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3" name="Google Shape;1383;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What is your current issues resolution flow? What is your ideal state? Is there anything blocking you from further democratization? </a:t>
              </a: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grpSp>
          <p:nvGrpSpPr>
            <p:cNvPr id="1384" name="Google Shape;1384;p67"/>
            <p:cNvGrpSpPr/>
            <p:nvPr/>
          </p:nvGrpSpPr>
          <p:grpSpPr>
            <a:xfrm>
              <a:off x="434302" y="3457087"/>
              <a:ext cx="839753" cy="832322"/>
              <a:chOff x="434302" y="3457087"/>
              <a:chExt cx="839753" cy="832322"/>
            </a:xfrm>
          </p:grpSpPr>
          <p:pic>
            <p:nvPicPr>
              <p:cNvPr id="1385" name="Google Shape;1385;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6" name="Google Shape;1386;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7" name="Google Shape;1387;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w="9525" cap="flat" cmpd="sng">
            <a:solidFill>
              <a:schemeClr val="accent1"/>
            </a:solidFill>
            <a:prstDash val="solid"/>
            <a:round/>
            <a:headEnd type="none" w="sm" len="sm"/>
            <a:tailEnd type="none" w="sm" len="sm"/>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Preview Hub Availability vs Usage</a:t>
            </a:r>
            <a:endParaRPr sz="2420">
              <a:latin typeface="Calibri"/>
              <a:ea typeface="Calibri"/>
              <a:cs typeface="Calibri"/>
              <a:sym typeface="Calibri"/>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Public Future-Billable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a:ea typeface="Calibri"/>
                <a:cs typeface="Calibri"/>
                <a:sym typeface="Calibri"/>
              </a:rPr>
              <a:t>Advanced License:</a:t>
            </a:r>
            <a:br>
              <a:rPr lang="en" sz="11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{{BILLABLE_ADVANCED}}</a:t>
            </a:r>
            <a:br>
              <a:rPr lang="en" sz="1100" b="0" i="0" u="none" strike="noStrike" cap="none">
                <a:solidFill>
                  <a:srgbClr val="4A4A4A"/>
                </a:solidFill>
                <a:latin typeface="Calibri"/>
                <a:ea typeface="Calibri"/>
                <a:cs typeface="Calibri"/>
                <a:sym typeface="Calibri"/>
              </a:rPr>
            </a:br>
            <a:br>
              <a:rPr lang="en" sz="1100" b="0" i="0" u="none" strike="noStrike" cap="none">
                <a:solidFill>
                  <a:srgbClr val="4A4A4A"/>
                </a:solidFill>
                <a:latin typeface="Calibri"/>
                <a:ea typeface="Calibri"/>
                <a:cs typeface="Calibri"/>
                <a:sym typeface="Calibri"/>
              </a:rPr>
            </a:br>
            <a:r>
              <a:rPr lang="en" sz="1100" b="0" i="0" u="none" strike="noStrike" cap="none">
                <a:solidFill>
                  <a:srgbClr val="4A4A4A"/>
                </a:solidFill>
                <a:latin typeface="Calibri"/>
                <a:ea typeface="Calibri"/>
                <a:cs typeface="Calibri"/>
                <a:sym typeface="Calibri"/>
              </a:rPr>
              <a:t>Sensor / Defend License:</a:t>
            </a:r>
            <a:br>
              <a:rPr lang="en" sz="11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{{BILLABLE_SENSOR}}</a:t>
            </a:r>
            <a:br>
              <a:rPr lang="en" sz="9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{{BILLABLE_DEFEND}}</a:t>
            </a:r>
            <a:endParaRPr sz="9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a:ea typeface="Calibri"/>
                <a:cs typeface="Calibri"/>
                <a:sym typeface="Calibri"/>
              </a:rPr>
              <a:t>Wiz Code License:</a:t>
            </a:r>
            <a:br>
              <a:rPr lang="en" sz="11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{{BILLABLE_CODE}}</a:t>
            </a:r>
            <a:endParaRPr sz="900" b="0" i="0" u="none" strike="noStrike" cap="none">
              <a:solidFill>
                <a:srgbClr val="4A4A4A"/>
              </a:solidFill>
              <a:latin typeface="Calibri"/>
              <a:ea typeface="Calibri"/>
              <a:cs typeface="Calibri"/>
              <a:sym typeface="Calibri"/>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w="9525" cap="flat" cmpd="sng">
            <a:solidFill>
              <a:schemeClr val="accent1"/>
            </a:solidFill>
            <a:prstDash val="solid"/>
            <a:round/>
            <a:headEnd type="none" w="sm" len="sm"/>
            <a:tailEnd type="none" w="sm" len="sm"/>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Public Non-Billable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a:solidFill>
                  <a:srgbClr val="4A4A4A"/>
                </a:solidFill>
                <a:latin typeface="Calibri"/>
                <a:ea typeface="Calibri"/>
                <a:cs typeface="Calibri"/>
                <a:sym typeface="Calibri"/>
              </a:rPr>
              <a:t>{{ALL_NON_BILLABLE_PREVIEW}}</a:t>
            </a:r>
            <a:br>
              <a:rPr lang="en" sz="1000" b="0" i="0" u="none" strike="noStrike" cap="none">
                <a:solidFill>
                  <a:srgbClr val="4A4A4A"/>
                </a:solidFill>
                <a:latin typeface="Calibri"/>
                <a:ea typeface="Calibri"/>
                <a:cs typeface="Calibri"/>
                <a:sym typeface="Calibri"/>
              </a:rPr>
            </a:br>
            <a:endParaRPr sz="1000" b="0" i="0" u="none" strike="noStrike" cap="none">
              <a:solidFill>
                <a:srgbClr val="4A4A4A"/>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w="9525" cap="flat" cmpd="sng">
            <a:solidFill>
              <a:schemeClr val="accent1"/>
            </a:solidFill>
            <a:prstDash val="solid"/>
            <a:round/>
            <a:headEnd type="none" w="sm" len="sm"/>
            <a:tailEnd type="none" w="sm" len="sm"/>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Preview Hub Availability vs Usage</a:t>
            </a:r>
            <a:endParaRPr sz="2420">
              <a:latin typeface="Calibri"/>
              <a:ea typeface="Calibri"/>
              <a:cs typeface="Calibri"/>
              <a:sym typeface="Calibri"/>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Private Future-Billable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a:ea typeface="Calibri"/>
                <a:cs typeface="Calibri"/>
                <a:sym typeface="Calibri"/>
              </a:rPr>
              <a:t>{{PRIVATE_BILLABLE}}</a:t>
            </a:r>
            <a:endParaRPr sz="10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a:ea typeface="Calibri"/>
              <a:cs typeface="Calibri"/>
              <a:sym typeface="Calibri"/>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w="9525" cap="flat" cmpd="sng">
            <a:solidFill>
              <a:schemeClr val="accent1"/>
            </a:solidFill>
            <a:prstDash val="solid"/>
            <a:round/>
            <a:headEnd type="none" w="sm" len="sm"/>
            <a:tailEnd type="none" w="sm" len="sm"/>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Private Non-Billable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a:ea typeface="Calibri"/>
                <a:cs typeface="Calibri"/>
                <a:sym typeface="Calibri"/>
              </a:rPr>
              <a:t>{{PRIVATE_NON_BILLABLE}}</a:t>
            </a:r>
            <a:endParaRPr sz="10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a:ea typeface="Calibri"/>
              <a:cs typeface="Calibri"/>
              <a:sym typeface="Calibri"/>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a:ea typeface="Calibri"/>
                <a:cs typeface="Calibri"/>
                <a:sym typeface="Calibri"/>
              </a:rPr>
              <a:t>**Private Features are typically only available upon request and approval</a:t>
            </a:r>
            <a:endParaRPr sz="1100" b="1"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w="9525" cap="flat" cmpd="sng">
            <a:solidFill>
              <a:schemeClr val="accent1"/>
            </a:solidFill>
            <a:prstDash val="solid"/>
            <a:round/>
            <a:headEnd type="none" w="sm" len="sm"/>
            <a:tailEnd type="none" w="sm" len="sm"/>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Roadmap Tracker Usage</a:t>
            </a:r>
            <a:endParaRPr sz="2420">
              <a:latin typeface="Calibri"/>
              <a:ea typeface="Calibri"/>
              <a:cs typeface="Calibri"/>
              <a:sym typeface="Calibri"/>
            </a:endParaRPr>
          </a:p>
        </p:txBody>
      </p:sp>
      <p:sp>
        <p:nvSpPr>
          <p:cNvPr id="617" name="Google Shape;617;p55"/>
          <p:cNvSpPr txBox="1"/>
          <p:nvPr/>
        </p:nvSpPr>
        <p:spPr>
          <a:xfrm>
            <a:off x="406975" y="1231821"/>
            <a:ext cx="8306406" cy="375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chemeClr val="hlink"/>
                </a:solidFill>
                <a:latin typeface="Calibri"/>
                <a:ea typeface="Calibri"/>
                <a:cs typeface="Calibri"/>
                <a:sym typeface="Calibri"/>
                <a:hlinkClick r:id="rId4"/>
              </a:rPr>
              <a:t>Tracked Roadmap Items</a:t>
            </a:r>
            <a:r>
              <a:rPr lang="en" sz="1800" b="0" i="0" u="none" strike="noStrike" cap="none">
                <a:solidFill>
                  <a:schemeClr val="hlink"/>
                </a:solidFill>
                <a:uFill>
                  <a:noFill/>
                </a:uFill>
                <a:latin typeface="Calibri"/>
                <a:ea typeface="Calibri"/>
                <a:cs typeface="Calibri"/>
                <a:sym typeface="Calibri"/>
                <a:hlinkClick r:id="rId4"/>
              </a:rPr>
              <a:t> ↗</a:t>
            </a:r>
            <a:endParaRPr sz="1800" b="0" i="0" u="none" strike="noStrike" cap="none">
              <a:solidFill>
                <a:srgbClr val="0254EC"/>
              </a:solidFill>
              <a:latin typeface="Calibri"/>
              <a:ea typeface="Calibri"/>
              <a:cs typeface="Calibri"/>
              <a:sym typeface="Calibri"/>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a:ea typeface="Calibri"/>
                <a:cs typeface="Calibri"/>
                <a:sym typeface="Calibri"/>
              </a:rPr>
              <a:t>{{ROADMAP_TRACKER}}</a:t>
            </a:r>
            <a:endParaRPr sz="1100" b="0" i="0" u="none" strike="noStrike" cap="none" dirty="0">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dirty="0">
              <a:solidFill>
                <a:srgbClr val="4A4A4A"/>
              </a:solidFill>
              <a:latin typeface="Calibri"/>
              <a:ea typeface="Calibri"/>
              <a:cs typeface="Calibri"/>
              <a:sym typeface="Calibri"/>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a:solidFill>
                  <a:srgbClr val="60646C"/>
                </a:solidFill>
                <a:latin typeface="Calibri"/>
                <a:ea typeface="Calibri"/>
                <a:cs typeface="Calibri"/>
                <a:sym typeface="Calibri"/>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a:solidFill>
                <a:srgbClr val="60646C"/>
              </a:solidFill>
              <a:latin typeface="Calibri"/>
              <a:ea typeface="Calibri"/>
              <a:cs typeface="Calibri"/>
              <a:sym typeface="Calibri"/>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a:ea typeface="Calibri"/>
                <a:cs typeface="Calibri"/>
                <a:sym typeface="Calibri"/>
              </a:rPr>
              <a:t>Reducing Critical Risk and Beyond</a:t>
            </a:r>
            <a:endParaRPr sz="2700" b="0" i="0" u="none" strike="noStrike" cap="none" dirty="0">
              <a:solidFill>
                <a:schemeClr val="lt1"/>
              </a:solidFill>
              <a:latin typeface="Calibri"/>
              <a:ea typeface="Calibri"/>
              <a:cs typeface="Calibri"/>
              <a:sym typeface="Calibri"/>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cxnSp>
        <p:nvCxnSpPr>
          <p:cNvPr id="638" name="Google Shape;638;p57"/>
          <p:cNvCxnSpPr/>
          <p:nvPr/>
        </p:nvCxnSpPr>
        <p:spPr>
          <a:xfrm rot="10800000">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p:nvPr/>
        </p:nvCxnSpPr>
        <p:spPr>
          <a:xfrm rot="10800000">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p:nvPr/>
        </p:nvCxnSpPr>
        <p:spPr>
          <a:xfrm rot="10800000" flipH="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Wiz Security</a:t>
            </a:r>
            <a:endParaRPr sz="2420">
              <a:latin typeface="Calibri"/>
              <a:ea typeface="Calibri"/>
              <a:cs typeface="Calibri"/>
              <a:sym typeface="Calibri"/>
            </a:endParaRPr>
          </a:p>
          <a:p>
            <a:pPr marL="0" lvl="0" indent="0" algn="l" rtl="0">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Maturity Model </a:t>
            </a:r>
            <a:endParaRPr sz="2420">
              <a:latin typeface="Calibri"/>
              <a:ea typeface="Calibri"/>
              <a:cs typeface="Calibri"/>
              <a:sym typeface="Calibri"/>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BACKLOG PREVENTION - DEVELOP SECURELY</a:t>
            </a:r>
            <a:endParaRPr sz="900" b="0" i="0" u="none" strike="noStrike" cap="none">
              <a:solidFill>
                <a:schemeClr val="dk1"/>
              </a:solidFill>
              <a:latin typeface="Calibri"/>
              <a:ea typeface="Calibri"/>
              <a:cs typeface="Calibri"/>
              <a:sym typeface="Calibri"/>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Enforce code-to-cloud guardrails to prevent issues from ever being deployed with Wiz Code</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Give devs cloud context directly in IDEs and code for secure by design</a:t>
            </a:r>
            <a:endParaRPr sz="800" b="0" i="0" u="none" strike="noStrike" cap="none">
              <a:solidFill>
                <a:srgbClr val="01123F"/>
              </a:solidFill>
              <a:latin typeface="Calibri"/>
              <a:ea typeface="Calibri"/>
              <a:cs typeface="Calibri"/>
              <a:sym typeface="Calibri"/>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POSTURE HARDENING</a:t>
            </a:r>
            <a:endParaRPr sz="900" b="0" i="0" u="none" strike="noStrike" cap="none">
              <a:solidFill>
                <a:schemeClr val="dk1"/>
              </a:solidFill>
              <a:latin typeface="Calibri"/>
              <a:ea typeface="Calibri"/>
              <a:cs typeface="Calibri"/>
              <a:sym typeface="Calibri"/>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Address non-urgent findings impacting overall security posture, including Posture Issues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Manage exposures in the environment with Wiz XM</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Consolidate remediation for greater impact in a shorter      time frame</a:t>
            </a:r>
            <a:endParaRPr sz="800" b="0" i="0" u="none" strike="noStrike" cap="none">
              <a:solidFill>
                <a:srgbClr val="01123F"/>
              </a:solidFill>
              <a:latin typeface="Calibri"/>
              <a:ea typeface="Calibri"/>
              <a:cs typeface="Calibri"/>
              <a:sym typeface="Calibri"/>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REDUCE CRITICAL RISK</a:t>
            </a:r>
            <a:endParaRPr sz="900" b="0" i="0" u="none" strike="noStrike" cap="none">
              <a:solidFill>
                <a:schemeClr val="dk1"/>
              </a:solidFill>
              <a:latin typeface="Calibri"/>
              <a:ea typeface="Calibri"/>
              <a:cs typeface="Calibri"/>
              <a:sym typeface="Calibri"/>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Prioritize immediately  exploitable attack paths   (validate with Wiz ASM)</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Achieve Zero Critical Risk Issues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Prioritize external findings (UVM) with Wiz context</a:t>
            </a:r>
            <a:endParaRPr sz="800" b="0" i="0" u="none" strike="noStrike" cap="none">
              <a:solidFill>
                <a:srgbClr val="01123F"/>
              </a:solidFill>
              <a:latin typeface="Calibri"/>
              <a:ea typeface="Calibri"/>
              <a:cs typeface="Calibri"/>
              <a:sym typeface="Calibri"/>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GAIN VISIBILITY</a:t>
            </a:r>
            <a:endParaRPr sz="900" b="0" i="0" u="none" strike="noStrike" cap="none">
              <a:solidFill>
                <a:schemeClr val="dk1"/>
              </a:solidFill>
              <a:latin typeface="Calibri"/>
              <a:ea typeface="Calibri"/>
              <a:cs typeface="Calibri"/>
              <a:sym typeface="Calibri"/>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100% code-to-cloud visibility into any repo, pipeline, or cloud</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Centralize visibility across on-prem, hybrid, cloud, code with UVM</a:t>
            </a:r>
            <a:endParaRPr sz="800" b="0" i="0" u="none" strike="noStrike" cap="none">
              <a:solidFill>
                <a:srgbClr val="01123F"/>
              </a:solidFill>
              <a:latin typeface="Calibri"/>
              <a:ea typeface="Calibri"/>
              <a:cs typeface="Calibri"/>
              <a:sym typeface="Calibri"/>
            </a:endParaRPr>
          </a:p>
        </p:txBody>
      </p:sp>
      <p:cxnSp>
        <p:nvCxnSpPr>
          <p:cNvPr id="653" name="Google Shape;653;p57"/>
          <p:cNvCxnSpPr/>
          <p:nvPr/>
        </p:nvCxnSpPr>
        <p:spPr>
          <a:xfrm rot="10800000" flipH="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Harden the SDLC while maintaining “Zero Criticals” and SLA compliance requirements</a:t>
            </a:r>
            <a:endParaRPr sz="1000" b="0" i="0" u="none" strike="noStrike" cap="none">
              <a:solidFill>
                <a:schemeClr val="dk1"/>
              </a:solidFill>
              <a:latin typeface="Calibri"/>
              <a:ea typeface="Calibri"/>
              <a:cs typeface="Calibri"/>
              <a:sym typeface="Calibri"/>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Full visibility into vulnerabilities across all environments</a:t>
            </a:r>
            <a:endParaRPr sz="1000" b="0" i="0" u="none" strike="noStrike" cap="none">
              <a:solidFill>
                <a:schemeClr val="dk1"/>
              </a:solidFill>
              <a:latin typeface="Calibri"/>
              <a:ea typeface="Calibri"/>
              <a:cs typeface="Calibri"/>
              <a:sym typeface="Calibri"/>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Achieve “Zero Critical” Risk Issues</a:t>
            </a:r>
            <a:endParaRPr sz="1000" b="0" i="0" u="none" strike="noStrike" cap="none">
              <a:solidFill>
                <a:schemeClr val="dk1"/>
              </a:solidFill>
              <a:latin typeface="Calibri"/>
              <a:ea typeface="Calibri"/>
              <a:cs typeface="Calibri"/>
              <a:sym typeface="Calibri"/>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Meet all SLAs for Posture Issues</a:t>
            </a:r>
            <a:endParaRPr sz="1000" b="0" i="0" u="none" strike="noStrike" cap="none">
              <a:solidFill>
                <a:schemeClr val="dk1"/>
              </a:solidFill>
              <a:latin typeface="Calibri"/>
              <a:ea typeface="Calibri"/>
              <a:cs typeface="Calibri"/>
              <a:sym typeface="Calibri"/>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a:ea typeface="Calibri"/>
              <a:cs typeface="Calibri"/>
              <a:sym typeface="Calibri"/>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a:ea typeface="Calibri"/>
                <a:cs typeface="Calibri"/>
                <a:sym typeface="Calibri"/>
              </a:rPr>
              <a:t>Where are you?</a:t>
            </a:r>
            <a:endParaRPr sz="1311" b="0" i="0" u="none" strike="noStrike" cap="none">
              <a:solidFill>
                <a:srgbClr val="000000"/>
              </a:solidFill>
              <a:latin typeface="Calibri"/>
              <a:ea typeface="Calibri"/>
              <a:cs typeface="Calibri"/>
              <a:sym typeface="Calibri"/>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Security Posture Snapshot</a:t>
            </a:r>
            <a:endParaRPr sz="2420">
              <a:latin typeface="Calibri"/>
              <a:ea typeface="Calibri"/>
              <a:cs typeface="Calibri"/>
              <a:sym typeface="Calibri"/>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w="9525" cap="flat" cmpd="sng">
            <a:solidFill>
              <a:schemeClr val="accent1"/>
            </a:solidFill>
            <a:prstDash val="solid"/>
            <a:round/>
            <a:headEnd type="none" w="sm" len="sm"/>
            <a:tailEnd type="none" w="sm" len="sm"/>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a:ea typeface="Calibri"/>
                <a:cs typeface="Calibri"/>
                <a:sym typeface="Calibri"/>
              </a:rPr>
              <a:t>Current Security Score</a:t>
            </a:r>
            <a:endParaRPr sz="1200" b="0" i="0" u="none" strike="noStrike" cap="none">
              <a:solidFill>
                <a:schemeClr val="dk1"/>
              </a:solidFill>
              <a:latin typeface="Calibri"/>
              <a:ea typeface="Calibri"/>
              <a:cs typeface="Calibri"/>
              <a:sym typeface="Calibri"/>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90 Day Trend {{s1d}}</a:t>
            </a:r>
            <a:endParaRPr sz="1000" b="0" i="0" u="none" strike="noStrike" cap="none">
              <a:solidFill>
                <a:schemeClr val="dk1"/>
              </a:solidFill>
              <a:latin typeface="Calibri"/>
              <a:ea typeface="Calibri"/>
              <a:cs typeface="Calibri"/>
              <a:sym typeface="Calibri"/>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{{SS}}%</a:t>
            </a:r>
            <a:endParaRPr sz="2100" b="0" i="0" u="none" strike="noStrike" cap="none">
              <a:solidFill>
                <a:srgbClr val="1155CC"/>
              </a:solidFill>
              <a:latin typeface="Calibri"/>
              <a:ea typeface="Calibri"/>
              <a:cs typeface="Calibri"/>
              <a:sym typeface="Calibri"/>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w="9525" cap="flat" cmpd="sng">
            <a:solidFill>
              <a:schemeClr val="accent1"/>
            </a:solidFill>
            <a:prstDash val="solid"/>
            <a:round/>
            <a:headEnd type="none" w="sm" len="sm"/>
            <a:tailEnd type="none" w="sm" len="sm"/>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a:ea typeface="Calibri"/>
                <a:cs typeface="Calibri"/>
                <a:sym typeface="Calibri"/>
              </a:rPr>
              <a:t>Industry Benchmark</a:t>
            </a:r>
            <a:endParaRPr sz="1200" b="0" i="0" u="none" strike="noStrike" cap="none">
              <a:solidFill>
                <a:schemeClr val="dk1"/>
              </a:solidFill>
              <a:latin typeface="Calibri"/>
              <a:ea typeface="Calibri"/>
              <a:cs typeface="Calibri"/>
              <a:sym typeface="Calibri"/>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Security Score Gap {{SG}}%</a:t>
            </a:r>
            <a:endParaRPr sz="900" b="0" i="0" u="none" strike="noStrike" cap="none">
              <a:solidFill>
                <a:schemeClr val="dk1"/>
              </a:solidFill>
              <a:latin typeface="Calibri"/>
              <a:ea typeface="Calibri"/>
              <a:cs typeface="Calibri"/>
              <a:sym typeface="Calibri"/>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a:ea typeface="Calibri"/>
                <a:cs typeface="Calibri"/>
                <a:sym typeface="Calibri"/>
              </a:rPr>
              <a:t>{{SP}}%</a:t>
            </a:r>
            <a:endParaRPr sz="1700" b="0" i="0" u="none" strike="noStrike" cap="none">
              <a:solidFill>
                <a:srgbClr val="1155CC"/>
              </a:solidFill>
              <a:latin typeface="Calibri"/>
              <a:ea typeface="Calibri"/>
              <a:cs typeface="Calibri"/>
              <a:sym typeface="Calibri"/>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w="9525" cap="flat" cmpd="sng">
            <a:solidFill>
              <a:schemeClr val="accent1"/>
            </a:solidFill>
            <a:prstDash val="solid"/>
            <a:round/>
            <a:headEnd type="none" w="sm" len="sm"/>
            <a:tailEnd type="none" w="sm" len="sm"/>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chemeClr val="hlink"/>
                </a:solidFill>
                <a:latin typeface="Calibri"/>
                <a:ea typeface="Calibri"/>
                <a:cs typeface="Calibri"/>
                <a:sym typeface="Calibri"/>
                <a:hlinkClick r:id="rId4"/>
              </a:rPr>
              <a:t>Open Critical Issues</a:t>
            </a:r>
            <a:r>
              <a:rPr lang="en" sz="1200" b="0" i="0" u="none" strike="noStrike" cap="none">
                <a:solidFill>
                  <a:srgbClr val="0254EC"/>
                </a:solidFill>
                <a:latin typeface="Calibri"/>
                <a:ea typeface="Calibri"/>
                <a:cs typeface="Calibri"/>
                <a:sym typeface="Calibri"/>
              </a:rPr>
              <a:t> ↗</a:t>
            </a:r>
            <a:endParaRPr sz="1200" b="0" i="0" u="none" strike="noStrike" cap="none">
              <a:solidFill>
                <a:srgbClr val="0254EC"/>
              </a:solidFill>
              <a:latin typeface="Calibri"/>
              <a:ea typeface="Calibri"/>
              <a:cs typeface="Calibri"/>
              <a:sym typeface="Calibri"/>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Resolved Criticals </a:t>
            </a:r>
            <a:r>
              <a:rPr lang="en" sz="1100" b="0" i="0" u="none" strike="noStrike" cap="none">
                <a:solidFill>
                  <a:schemeClr val="hlink"/>
                </a:solidFill>
                <a:uFill>
                  <a:noFill/>
                </a:uFill>
                <a:latin typeface="Calibri"/>
                <a:ea typeface="Calibri"/>
                <a:cs typeface="Calibri"/>
                <a:sym typeface="Calibri"/>
                <a:hlinkClick r:id="rId5"/>
              </a:rPr>
              <a:t>↗</a:t>
            </a:r>
            <a:r>
              <a:rPr lang="en" sz="1000" b="0" i="0" u="none" strike="noStrike" cap="none">
                <a:solidFill>
                  <a:srgbClr val="0254EC"/>
                </a:solidFill>
                <a:latin typeface="Calibri"/>
                <a:ea typeface="Calibri"/>
                <a:cs typeface="Calibri"/>
                <a:sym typeface="Calibri"/>
              </a:rPr>
              <a:t> </a:t>
            </a:r>
            <a:r>
              <a:rPr lang="en" sz="1000" b="1" i="0" u="none" strike="noStrike" cap="none">
                <a:solidFill>
                  <a:srgbClr val="0254EC"/>
                </a:solidFill>
                <a:latin typeface="Calibri"/>
                <a:ea typeface="Calibri"/>
                <a:cs typeface="Calibri"/>
                <a:sym typeface="Calibri"/>
              </a:rPr>
              <a:t>{{RC}}</a:t>
            </a:r>
            <a:endParaRPr sz="1000" b="1" i="0" u="none" strike="noStrike" cap="none">
              <a:solidFill>
                <a:srgbClr val="0254EC"/>
              </a:solidFill>
              <a:latin typeface="Calibri"/>
              <a:ea typeface="Calibri"/>
              <a:cs typeface="Calibri"/>
              <a:sym typeface="Calibri"/>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{{OC}}</a:t>
            </a:r>
            <a:endParaRPr sz="2100" b="0" i="0" u="none" strike="noStrike" cap="none">
              <a:solidFill>
                <a:srgbClr val="1155CC"/>
              </a:solidFill>
              <a:latin typeface="Calibri"/>
              <a:ea typeface="Calibri"/>
              <a:cs typeface="Calibri"/>
              <a:sym typeface="Calibri"/>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w="9525" cap="flat" cmpd="sng">
            <a:solidFill>
              <a:schemeClr val="accent1"/>
            </a:solidFill>
            <a:prstDash val="solid"/>
            <a:round/>
            <a:headEnd type="none" w="sm" len="sm"/>
            <a:tailEnd type="none" w="sm" len="sm"/>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chemeClr val="hlink"/>
                </a:solidFill>
                <a:latin typeface="Calibri"/>
                <a:ea typeface="Calibri"/>
                <a:cs typeface="Calibri"/>
                <a:sym typeface="Calibri"/>
                <a:hlinkClick r:id="rId6"/>
              </a:rPr>
              <a:t>Open High Issues</a:t>
            </a:r>
            <a:r>
              <a:rPr lang="en" sz="1200" b="0" i="0" u="none" strike="noStrike" cap="none">
                <a:solidFill>
                  <a:srgbClr val="0254EC"/>
                </a:solidFill>
                <a:latin typeface="Calibri"/>
                <a:ea typeface="Calibri"/>
                <a:cs typeface="Calibri"/>
                <a:sym typeface="Calibri"/>
              </a:rPr>
              <a:t> ↗</a:t>
            </a:r>
            <a:endParaRPr sz="1200" b="0" i="0" u="none" strike="noStrike" cap="none">
              <a:solidFill>
                <a:srgbClr val="0254EC"/>
              </a:solidFill>
              <a:latin typeface="Calibri"/>
              <a:ea typeface="Calibri"/>
              <a:cs typeface="Calibri"/>
              <a:sym typeface="Calibri"/>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7"/>
              </a:rPr>
              <a:t>Resolved Highs</a:t>
            </a:r>
            <a:r>
              <a:rPr lang="en" sz="1000" b="0" i="0" u="none" strike="noStrike" cap="none">
                <a:solidFill>
                  <a:srgbClr val="0254EC"/>
                </a:solidFill>
                <a:latin typeface="Calibri"/>
                <a:ea typeface="Calibri"/>
                <a:cs typeface="Calibri"/>
                <a:sym typeface="Calibri"/>
              </a:rPr>
              <a:t> </a:t>
            </a:r>
            <a:r>
              <a:rPr lang="en" sz="1100" b="0" i="0" u="none" strike="noStrike" cap="none">
                <a:solidFill>
                  <a:schemeClr val="hlink"/>
                </a:solidFill>
                <a:uFill>
                  <a:noFill/>
                </a:uFill>
                <a:latin typeface="Calibri"/>
                <a:ea typeface="Calibri"/>
                <a:cs typeface="Calibri"/>
                <a:sym typeface="Calibri"/>
                <a:hlinkClick r:id="rId7"/>
              </a:rPr>
              <a:t>↗</a:t>
            </a:r>
            <a:r>
              <a:rPr lang="en" sz="1000" b="0" i="0" u="none" strike="noStrike" cap="none">
                <a:solidFill>
                  <a:srgbClr val="0254EC"/>
                </a:solidFill>
                <a:latin typeface="Calibri"/>
                <a:ea typeface="Calibri"/>
                <a:cs typeface="Calibri"/>
                <a:sym typeface="Calibri"/>
              </a:rPr>
              <a:t> </a:t>
            </a:r>
            <a:r>
              <a:rPr lang="en" sz="1000" b="1" i="0" u="none" strike="noStrike" cap="none">
                <a:solidFill>
                  <a:srgbClr val="0254EC"/>
                </a:solidFill>
                <a:latin typeface="Calibri"/>
                <a:ea typeface="Calibri"/>
                <a:cs typeface="Calibri"/>
                <a:sym typeface="Calibri"/>
              </a:rPr>
              <a:t>{{RH}}</a:t>
            </a:r>
            <a:endParaRPr sz="900" b="1" i="0" u="none" strike="noStrike" cap="none">
              <a:solidFill>
                <a:srgbClr val="0254EC"/>
              </a:solidFill>
              <a:latin typeface="Calibri"/>
              <a:ea typeface="Calibri"/>
              <a:cs typeface="Calibri"/>
              <a:sym typeface="Calibri"/>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{{OH}}</a:t>
            </a:r>
            <a:endParaRPr sz="2100" b="0" i="0" u="none" strike="noStrike" cap="none">
              <a:solidFill>
                <a:srgbClr val="1155CC"/>
              </a:solidFill>
              <a:latin typeface="Calibri"/>
              <a:ea typeface="Calibri"/>
              <a:cs typeface="Calibri"/>
              <a:sym typeface="Calibri"/>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w="9525" cap="flat" cmpd="sng">
            <a:solidFill>
              <a:schemeClr val="accent1"/>
            </a:solidFill>
            <a:prstDash val="solid"/>
            <a:round/>
            <a:headEnd type="none" w="sm" len="sm"/>
            <a:tailEnd type="none" w="sm" len="sm"/>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a:ea typeface="Calibri"/>
                <a:cs typeface="Calibri"/>
                <a:sym typeface="Calibri"/>
              </a:rPr>
              <a:t>Ignored Issues</a:t>
            </a:r>
            <a:endParaRPr sz="1200" b="0" i="0" u="none" strike="noStrike" cap="none">
              <a:solidFill>
                <a:schemeClr val="dk1"/>
              </a:solidFill>
              <a:latin typeface="Calibri"/>
              <a:ea typeface="Calibri"/>
              <a:cs typeface="Calibri"/>
              <a:sym typeface="Calibri"/>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8"/>
              </a:rPr>
              <a:t>Total Ignored Issues</a:t>
            </a:r>
            <a:endParaRPr sz="1000" b="0" i="0" u="none" strike="noStrike" cap="none">
              <a:solidFill>
                <a:srgbClr val="0254EC"/>
              </a:solidFill>
              <a:latin typeface="Calibri"/>
              <a:ea typeface="Calibri"/>
              <a:cs typeface="Calibri"/>
              <a:sym typeface="Calibri"/>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{{RJ}}</a:t>
            </a:r>
            <a:endParaRPr sz="2100" b="0" i="0" u="none" strike="noStrike" cap="none">
              <a:solidFill>
                <a:srgbClr val="1155CC"/>
              </a:solidFill>
              <a:latin typeface="Calibri"/>
              <a:ea typeface="Calibri"/>
              <a:cs typeface="Calibri"/>
              <a:sym typeface="Calibri"/>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w="9525" cap="flat" cmpd="sng">
            <a:solidFill>
              <a:schemeClr val="accent1"/>
            </a:solidFill>
            <a:prstDash val="solid"/>
            <a:round/>
            <a:headEnd type="none" w="sm" len="sm"/>
            <a:tailEnd type="none" w="sm" len="sm"/>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chemeClr val="hlink"/>
                </a:solidFill>
                <a:latin typeface="Calibri"/>
                <a:ea typeface="Calibri"/>
                <a:cs typeface="Calibri"/>
                <a:sym typeface="Calibri"/>
                <a:hlinkClick r:id="rId9"/>
              </a:rPr>
              <a:t>AI Findings</a:t>
            </a:r>
            <a:r>
              <a:rPr lang="en" sz="1200" b="0" i="0" u="none" strike="noStrike" cap="none">
                <a:solidFill>
                  <a:srgbClr val="0254EC"/>
                </a:solidFill>
                <a:latin typeface="Calibri"/>
                <a:ea typeface="Calibri"/>
                <a:cs typeface="Calibri"/>
                <a:sym typeface="Calibri"/>
              </a:rPr>
              <a:t> ↗</a:t>
            </a:r>
            <a:endParaRPr sz="1200" b="0" i="0" u="none" strike="noStrike" cap="none">
              <a:solidFill>
                <a:srgbClr val="0254EC"/>
              </a:solidFill>
              <a:latin typeface="Calibri"/>
              <a:ea typeface="Calibri"/>
              <a:cs typeface="Calibri"/>
              <a:sym typeface="Calibri"/>
            </a:endParaRPr>
          </a:p>
        </p:txBody>
      </p:sp>
      <p:sp>
        <p:nvSpPr>
          <p:cNvPr id="697" name="Google Shape;697;p58"/>
          <p:cNvSpPr txBox="1"/>
          <p:nvPr/>
        </p:nvSpPr>
        <p:spPr>
          <a:xfrm>
            <a:off x="2583825" y="2481279"/>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Aft>
                <a:spcPts val="145"/>
              </a:spcAft>
              <a:buClr>
                <a:srgbClr val="000000"/>
              </a:buClr>
              <a:buSzPts val="1000"/>
              <a:buFont typeface="Arial"/>
              <a:buNone/>
            </a:pPr>
            <a:r>
              <a:rPr lang="en" sz="1000" b="0" i="0" u="none" strike="noStrike" cap="none" dirty="0">
                <a:solidFill>
                  <a:srgbClr val="1155CC"/>
                </a:solidFill>
                <a:latin typeface="Calibri"/>
                <a:ea typeface="Calibri"/>
                <a:cs typeface="Calibri"/>
                <a:sym typeface="Calibri"/>
              </a:rPr>
              <a:t>Security Findings: {{AI_SF}}</a:t>
            </a:r>
            <a:br>
              <a:rPr lang="en" sz="1000" b="0" i="0" u="none" strike="noStrike" cap="none" dirty="0">
                <a:solidFill>
                  <a:srgbClr val="1155CC"/>
                </a:solidFill>
                <a:latin typeface="Calibri"/>
                <a:ea typeface="Calibri"/>
                <a:cs typeface="Calibri"/>
                <a:sym typeface="Calibri"/>
              </a:rPr>
            </a:br>
            <a:r>
              <a:rPr lang="en" sz="1000" b="0" i="0" u="none" strike="noStrike" cap="none" dirty="0">
                <a:solidFill>
                  <a:srgbClr val="1155CC"/>
                </a:solidFill>
                <a:latin typeface="Calibri"/>
                <a:ea typeface="Calibri"/>
                <a:cs typeface="Calibri"/>
                <a:sym typeface="Calibri"/>
              </a:rPr>
              <a:t>Configuration Findings: {{AI_MF}}</a:t>
            </a:r>
            <a:endParaRPr sz="1000" b="0" i="0" u="none" strike="noStrike" cap="none" dirty="0">
              <a:solidFill>
                <a:srgbClr val="1155CC"/>
              </a:solidFill>
              <a:latin typeface="Calibri"/>
              <a:ea typeface="Calibri"/>
              <a:cs typeface="Calibri"/>
              <a:sym typeface="Calibri"/>
            </a:endParaRPr>
          </a:p>
          <a:p>
            <a:pPr marL="0" marR="0" lvl="0" indent="0" algn="l" rtl="0">
              <a:lnSpc>
                <a:spcPct val="150000"/>
              </a:lnSpc>
              <a:spcAft>
                <a:spcPts val="135"/>
              </a:spcAft>
              <a:buClr>
                <a:srgbClr val="000000"/>
              </a:buClr>
              <a:buSzPts val="1000"/>
              <a:buFont typeface="Arial"/>
              <a:buNone/>
            </a:pPr>
            <a:r>
              <a:rPr lang="en" sz="1000" b="0" i="0" u="none" strike="noStrike" cap="none" dirty="0">
                <a:solidFill>
                  <a:srgbClr val="1155CC"/>
                </a:solidFill>
                <a:latin typeface="Calibri"/>
                <a:ea typeface="Calibri"/>
                <a:cs typeface="Calibri"/>
                <a:sym typeface="Calibri"/>
              </a:rPr>
              <a:t>AI Inventory Findings: {{AI_IF}}</a:t>
            </a:r>
          </a:p>
          <a:p>
            <a:pPr marL="0" marR="0" lvl="0" indent="0" algn="l" rtl="0">
              <a:lnSpc>
                <a:spcPct val="150000"/>
              </a:lnSpc>
              <a:spcAft>
                <a:spcPts val="135"/>
              </a:spcAft>
              <a:buClr>
                <a:srgbClr val="000000"/>
              </a:buClr>
              <a:buSzPts val="1000"/>
              <a:buFont typeface="Arial"/>
              <a:buNone/>
            </a:pPr>
            <a:r>
              <a:rPr lang="en" sz="1000" dirty="0">
                <a:solidFill>
                  <a:srgbClr val="1155CC"/>
                </a:solidFill>
                <a:latin typeface="Calibri"/>
                <a:ea typeface="Calibri"/>
                <a:cs typeface="Calibri"/>
                <a:sym typeface="Calibri"/>
              </a:rPr>
              <a:t>AI Risk Issues: {{AI_RI}}</a:t>
            </a:r>
            <a:endParaRPr sz="1000" b="0" i="0" u="none" strike="noStrike" cap="none" dirty="0">
              <a:solidFill>
                <a:srgbClr val="1155CC"/>
              </a:solidFill>
              <a:latin typeface="Calibri"/>
              <a:ea typeface="Calibri"/>
              <a:cs typeface="Calibri"/>
              <a:sym typeface="Calibri"/>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w="9525" cap="flat" cmpd="sng">
            <a:solidFill>
              <a:schemeClr val="accent1"/>
            </a:solidFill>
            <a:prstDash val="solid"/>
            <a:round/>
            <a:headEnd type="none" w="sm" len="sm"/>
            <a:tailEnd type="none" w="sm" len="sm"/>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chemeClr val="hlink"/>
                </a:solidFill>
                <a:latin typeface="Calibri"/>
                <a:ea typeface="Calibri"/>
                <a:cs typeface="Calibri"/>
                <a:sym typeface="Calibri"/>
                <a:hlinkClick r:id="rId11"/>
              </a:rPr>
              <a:t>Threats MTTR </a:t>
            </a:r>
            <a:r>
              <a:rPr lang="en" sz="1300" b="0" i="0" u="none" strike="noStrike" cap="none">
                <a:solidFill>
                  <a:schemeClr val="hlink"/>
                </a:solidFill>
                <a:uFill>
                  <a:noFill/>
                </a:uFill>
                <a:latin typeface="Calibri"/>
                <a:ea typeface="Calibri"/>
                <a:cs typeface="Calibri"/>
                <a:sym typeface="Calibri"/>
                <a:hlinkClick r:id="rId11"/>
              </a:rPr>
              <a:t>↗</a:t>
            </a:r>
            <a:endParaRPr sz="1300" b="0" i="0" u="none" strike="noStrike" cap="none">
              <a:solidFill>
                <a:srgbClr val="0254EC"/>
              </a:solidFill>
              <a:latin typeface="Calibri"/>
              <a:ea typeface="Calibri"/>
              <a:cs typeface="Calibri"/>
              <a:sym typeface="Calibri"/>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{{MTTR_O}}</a:t>
            </a:r>
            <a:endParaRPr sz="2100" b="0" i="0" u="none" strike="noStrike" cap="none">
              <a:solidFill>
                <a:srgbClr val="1155CC"/>
              </a:solidFill>
              <a:latin typeface="Calibri"/>
              <a:ea typeface="Calibri"/>
              <a:cs typeface="Calibri"/>
              <a:sym typeface="Calibri"/>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a:ea typeface="Calibri"/>
                <a:cs typeface="Calibri"/>
                <a:sym typeface="Calibri"/>
              </a:rPr>
              <a:t>Days</a:t>
            </a:r>
            <a:endParaRPr sz="1200" b="0" i="0" u="none" strike="noStrike" cap="none">
              <a:solidFill>
                <a:schemeClr val="dk1"/>
              </a:solidFill>
              <a:latin typeface="Calibri"/>
              <a:ea typeface="Calibri"/>
              <a:cs typeface="Calibri"/>
              <a:sym typeface="Calibri"/>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w="9525" cap="flat" cmpd="sng">
            <a:solidFill>
              <a:schemeClr val="accent1"/>
            </a:solidFill>
            <a:prstDash val="solid"/>
            <a:round/>
            <a:headEnd type="none" w="sm" len="sm"/>
            <a:tailEnd type="none" w="sm" len="sm"/>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chemeClr val="hlink"/>
                </a:solidFill>
                <a:latin typeface="Calibri"/>
                <a:ea typeface="Calibri"/>
                <a:cs typeface="Calibri"/>
                <a:sym typeface="Calibri"/>
                <a:hlinkClick r:id="rId12"/>
              </a:rPr>
              <a:t>Open Threats</a:t>
            </a:r>
            <a:r>
              <a:rPr lang="en" sz="1300" b="0" i="0" u="none" strike="noStrike" cap="none">
                <a:solidFill>
                  <a:srgbClr val="0254EC"/>
                </a:solidFill>
                <a:latin typeface="Calibri"/>
                <a:ea typeface="Calibri"/>
                <a:cs typeface="Calibri"/>
                <a:sym typeface="Calibri"/>
              </a:rPr>
              <a:t> ↗</a:t>
            </a:r>
            <a:endParaRPr sz="1300" b="0" i="0" u="none" strike="noStrike" cap="none">
              <a:solidFill>
                <a:srgbClr val="0254EC"/>
              </a:solidFill>
              <a:latin typeface="Calibri"/>
              <a:ea typeface="Calibri"/>
              <a:cs typeface="Calibri"/>
              <a:sym typeface="Calibri"/>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{{OT}}</a:t>
            </a:r>
            <a:endParaRPr sz="2100" b="0" i="0" u="none" strike="noStrike" cap="none">
              <a:solidFill>
                <a:srgbClr val="1155CC"/>
              </a:solidFill>
              <a:latin typeface="Calibri"/>
              <a:ea typeface="Calibri"/>
              <a:cs typeface="Calibri"/>
              <a:sym typeface="Calibri"/>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a:ea typeface="Calibri"/>
                <a:cs typeface="Calibri"/>
                <a:sym typeface="Calibri"/>
              </a:rPr>
              <a:t>Resolved Threats: {{RT}}</a:t>
            </a:r>
            <a:br>
              <a:rPr lang="en" sz="1200" b="0" i="0" u="none" strike="noStrike" cap="none">
                <a:solidFill>
                  <a:schemeClr val="dk1"/>
                </a:solidFill>
                <a:latin typeface="Calibri"/>
                <a:ea typeface="Calibri"/>
                <a:cs typeface="Calibri"/>
                <a:sym typeface="Calibri"/>
              </a:rPr>
            </a:br>
            <a:r>
              <a:rPr lang="en" sz="1200" b="0" i="0" u="none" strike="noStrike" cap="none">
                <a:solidFill>
                  <a:schemeClr val="dk1"/>
                </a:solidFill>
                <a:latin typeface="Calibri"/>
                <a:ea typeface="Calibri"/>
                <a:cs typeface="Calibri"/>
                <a:sym typeface="Calibri"/>
              </a:rPr>
              <a:t>Past 90 Days</a:t>
            </a:r>
            <a:endParaRPr sz="1200" b="0" i="0" u="none" strike="noStrike" cap="none">
              <a:solidFill>
                <a:schemeClr val="dk1"/>
              </a:solidFill>
              <a:latin typeface="Calibri"/>
              <a:ea typeface="Calibri"/>
              <a:cs typeface="Calibri"/>
              <a:sym typeface="Calibri"/>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a:ea typeface="Calibri"/>
                <a:cs typeface="Calibri"/>
                <a:sym typeface="Calibri"/>
              </a:rPr>
              <a:t>Industry: {{SS_I}}</a:t>
            </a:r>
            <a:endParaRPr sz="800" b="0" i="0" u="none" strike="noStrike" cap="none">
              <a:solidFill>
                <a:schemeClr val="dk1"/>
              </a:solidFill>
              <a:latin typeface="Calibri"/>
              <a:ea typeface="Calibri"/>
              <a:cs typeface="Calibri"/>
              <a:sym typeface="Calibri"/>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w="9525" cap="flat" cmpd="sng">
            <a:solidFill>
              <a:schemeClr val="accent1"/>
            </a:solidFill>
            <a:prstDash val="solid"/>
            <a:round/>
            <a:headEnd type="none" w="sm" len="sm"/>
            <a:tailEnd type="none" w="sm" len="sm"/>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a:ea typeface="Calibri"/>
                <a:cs typeface="Calibri"/>
                <a:sym typeface="Calibri"/>
              </a:rPr>
              <a:t>{{AVG_AGEC}}</a:t>
            </a:r>
            <a:r>
              <a:rPr lang="en" sz="1200" b="1" i="0" u="none" strike="noStrike" cap="none">
                <a:solidFill>
                  <a:schemeClr val="dk1"/>
                </a:solidFill>
                <a:latin typeface="Calibri"/>
                <a:ea typeface="Calibri"/>
                <a:cs typeface="Calibri"/>
                <a:sym typeface="Calibri"/>
              </a:rPr>
              <a:t> </a:t>
            </a:r>
            <a:br>
              <a:rPr lang="en" sz="1200" b="1" i="0" u="none" strike="noStrike" cap="none">
                <a:solidFill>
                  <a:schemeClr val="dk1"/>
                </a:solidFill>
                <a:latin typeface="Calibri"/>
                <a:ea typeface="Calibri"/>
                <a:cs typeface="Calibri"/>
                <a:sym typeface="Calibri"/>
              </a:rPr>
            </a:br>
            <a:r>
              <a:rPr lang="en" sz="1300" b="1" i="0" u="none" strike="noStrike" cap="none">
                <a:solidFill>
                  <a:schemeClr val="dk1"/>
                </a:solidFill>
                <a:latin typeface="Calibri"/>
                <a:ea typeface="Calibri"/>
                <a:cs typeface="Calibri"/>
                <a:sym typeface="Calibri"/>
              </a:rPr>
              <a:t>Days</a:t>
            </a:r>
            <a:endParaRPr sz="1101" b="1" i="0" u="none" strike="noStrike" cap="none">
              <a:solidFill>
                <a:srgbClr val="1155CC"/>
              </a:solidFill>
              <a:latin typeface="Calibri"/>
              <a:ea typeface="Calibri"/>
              <a:cs typeface="Calibri"/>
              <a:sym typeface="Calibri"/>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a:ea typeface="Calibri"/>
                <a:cs typeface="Calibri"/>
                <a:sym typeface="Calibri"/>
              </a:rPr>
              <a:t>{{AVG_AGEH}} </a:t>
            </a:r>
            <a:br>
              <a:rPr lang="en" sz="1212" b="1" i="0" u="none" strike="noStrike" cap="none">
                <a:solidFill>
                  <a:schemeClr val="dk1"/>
                </a:solidFill>
                <a:latin typeface="Calibri"/>
                <a:ea typeface="Calibri"/>
                <a:cs typeface="Calibri"/>
                <a:sym typeface="Calibri"/>
              </a:rPr>
            </a:br>
            <a:r>
              <a:rPr lang="en" sz="1324" b="1" i="0" u="none" strike="noStrike" cap="none">
                <a:solidFill>
                  <a:schemeClr val="dk1"/>
                </a:solidFill>
                <a:latin typeface="Calibri"/>
                <a:ea typeface="Calibri"/>
                <a:cs typeface="Calibri"/>
                <a:sym typeface="Calibri"/>
              </a:rPr>
              <a:t>Days</a:t>
            </a:r>
            <a:endParaRPr sz="1101" b="1" i="0" u="none" strike="noStrike" cap="none">
              <a:solidFill>
                <a:srgbClr val="1155CC"/>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Security Risk Snapshot</a:t>
            </a:r>
            <a:endParaRPr sz="2420">
              <a:latin typeface="Calibri"/>
              <a:ea typeface="Calibri"/>
              <a:cs typeface="Calibri"/>
              <a:sym typeface="Calibri"/>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w="9525" cap="flat" cmpd="sng">
            <a:solidFill>
              <a:schemeClr val="accent1"/>
            </a:solidFill>
            <a:prstDash val="solid"/>
            <a:round/>
            <a:headEnd type="none" w="sm" len="sm"/>
            <a:tailEnd type="none" w="sm" len="sm"/>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a:ea typeface="Calibri"/>
                <a:cs typeface="Calibri"/>
                <a:sym typeface="Calibri"/>
              </a:rPr>
              <a:t>External Exposure</a:t>
            </a:r>
            <a:endParaRPr sz="1600" b="0" i="0" u="none" strike="noStrike" cap="none">
              <a:solidFill>
                <a:schemeClr val="dk1"/>
              </a:solidFill>
              <a:latin typeface="Calibri"/>
              <a:ea typeface="Calibri"/>
              <a:cs typeface="Calibri"/>
              <a:sym typeface="Calibri"/>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a:ea typeface="Calibri"/>
                <a:cs typeface="Calibri"/>
                <a:sym typeface="Calibri"/>
              </a:rPr>
              <a:t>HTTP Application Endpoints  {{AE_HTTP}}</a:t>
            </a:r>
            <a:endParaRPr sz="1000" b="0" i="0" u="none" strike="noStrike" cap="none">
              <a:solidFill>
                <a:srgbClr val="1155CC"/>
              </a:solidFill>
              <a:latin typeface="Calibri"/>
              <a:ea typeface="Calibri"/>
              <a:cs typeface="Calibri"/>
              <a:sym typeface="Calibri"/>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a:ea typeface="Calibri"/>
                <a:cs typeface="Calibri"/>
                <a:sym typeface="Calibri"/>
              </a:rPr>
              <a:t>Non-HTTP Application Endpoints  {{AE_NHTTP}}</a:t>
            </a:r>
            <a:endParaRPr sz="1000" b="0" i="0" u="none" strike="noStrike" cap="none">
              <a:solidFill>
                <a:srgbClr val="1155CC"/>
              </a:solidFill>
              <a:latin typeface="Calibri"/>
              <a:ea typeface="Calibri"/>
              <a:cs typeface="Calibri"/>
              <a:sym typeface="Calibri"/>
            </a:endParaRPr>
          </a:p>
        </p:txBody>
      </p:sp>
      <p:sp>
        <p:nvSpPr>
          <p:cNvPr id="722" name="Google Shape;722;p59"/>
          <p:cNvSpPr txBox="1"/>
          <p:nvPr/>
        </p:nvSpPr>
        <p:spPr>
          <a:xfrm>
            <a:off x="3083442" y="1130944"/>
            <a:ext cx="2183325"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Estimated # of Additional Workloads to Scan via Advanced ASM</a:t>
            </a:r>
            <a:endParaRPr sz="1000" b="0" i="0" u="none" strike="noStrike" cap="none">
              <a:solidFill>
                <a:schemeClr val="dk1"/>
              </a:solidFill>
              <a:latin typeface="Calibri"/>
              <a:ea typeface="Calibri"/>
              <a:cs typeface="Calibri"/>
              <a:sym typeface="Calibri"/>
            </a:endParaRPr>
          </a:p>
        </p:txBody>
      </p:sp>
      <p:sp>
        <p:nvSpPr>
          <p:cNvPr id="723" name="Google Shape;723;p59"/>
          <p:cNvSpPr txBox="1"/>
          <p:nvPr/>
        </p:nvSpPr>
        <p:spPr>
          <a:xfrm>
            <a:off x="5446564" y="1141854"/>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  </a:t>
            </a:r>
            <a:r>
              <a:rPr lang="en" sz="1300" b="0" i="0" u="none" strike="noStrike" cap="none">
                <a:solidFill>
                  <a:srgbClr val="333333"/>
                </a:solidFill>
                <a:latin typeface="Calibri"/>
                <a:ea typeface="Calibri"/>
                <a:cs typeface="Calibri"/>
                <a:sym typeface="Calibri"/>
              </a:rPr>
              <a:t>{{AE_TOT}} Workloads</a:t>
            </a:r>
            <a:endParaRPr sz="1400" b="0" i="0" u="none" strike="noStrike" cap="none">
              <a:solidFill>
                <a:schemeClr val="dk1"/>
              </a:solidFill>
              <a:latin typeface="Calibri"/>
              <a:ea typeface="Calibri"/>
              <a:cs typeface="Calibri"/>
              <a:sym typeface="Calibri"/>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23544" cy="950976"/>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4424" y="4118017"/>
            <a:ext cx="923544" cy="950976"/>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4424"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a:solidFill>
                  <a:srgbClr val="0254EC"/>
                </a:solidFill>
                <a:latin typeface="Calibri"/>
                <a:ea typeface="Calibri"/>
                <a:cs typeface="Calibri"/>
                <a:sym typeface="Calibri"/>
              </a:rPr>
              <a:t>Green Agent</a:t>
            </a:r>
            <a:endParaRPr sz="700" b="1" i="0" u="none" strike="noStrike" cap="none">
              <a:solidFill>
                <a:srgbClr val="000000"/>
              </a:solidFill>
              <a:latin typeface="Calibri"/>
              <a:ea typeface="Calibri"/>
              <a:cs typeface="Calibri"/>
              <a:sym typeface="Calibri"/>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492"/>
              <a:buFont typeface="DM Sans"/>
              <a:buNone/>
            </a:pPr>
            <a:r>
              <a:rPr lang="en" sz="800" b="0" i="0" u="none" strike="noStrike" cap="none">
                <a:solidFill>
                  <a:srgbClr val="000000"/>
                </a:solidFill>
                <a:latin typeface="Calibri"/>
                <a:ea typeface="Calibri"/>
                <a:cs typeface="Calibri"/>
                <a:sym typeface="Calibri"/>
              </a:rPr>
              <a:t>Enabled</a:t>
            </a:r>
            <a:br>
              <a:rPr lang="en" sz="800" b="0" i="0" u="none" strike="noStrike" cap="none">
                <a:solidFill>
                  <a:srgbClr val="000000"/>
                </a:solidFill>
                <a:latin typeface="Calibri"/>
                <a:ea typeface="Calibri"/>
                <a:cs typeface="Calibri"/>
                <a:sym typeface="Calibri"/>
              </a:rPr>
            </a:br>
            <a:r>
              <a:rPr lang="en" sz="800" b="0" i="0" u="none" strike="noStrike" cap="none">
                <a:solidFill>
                  <a:srgbClr val="000000"/>
                </a:solidFill>
                <a:latin typeface="Calibri"/>
                <a:ea typeface="Calibri"/>
                <a:cs typeface="Calibri"/>
                <a:sym typeface="Calibri"/>
              </a:rPr>
              <a:t>{{F_GA}}</a:t>
            </a:r>
            <a:endParaRPr sz="800" b="0" i="0" u="none" strike="noStrike" cap="none">
              <a:solidFill>
                <a:srgbClr val="000000"/>
              </a:solidFill>
              <a:latin typeface="Calibri"/>
              <a:ea typeface="Calibri"/>
              <a:cs typeface="Calibri"/>
              <a:sym typeface="Calibri"/>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Preventive Security</a:t>
            </a:r>
            <a:endParaRPr sz="900" b="1" i="0" u="none" strike="noStrike" cap="none">
              <a:solidFill>
                <a:srgbClr val="000000"/>
              </a:solidFill>
              <a:latin typeface="Calibri"/>
              <a:ea typeface="Calibri"/>
              <a:cs typeface="Calibri"/>
              <a:sym typeface="Calibri"/>
            </a:endParaRPr>
          </a:p>
        </p:txBody>
      </p:sp>
      <p:sp>
        <p:nvSpPr>
          <p:cNvPr id="730" name="Google Shape;730;p59"/>
          <p:cNvSpPr/>
          <p:nvPr/>
        </p:nvSpPr>
        <p:spPr>
          <a:xfrm>
            <a:off x="7719100" y="2144544"/>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a:ea typeface="Calibri"/>
                <a:cs typeface="Calibri"/>
                <a:sym typeface="Calibri"/>
              </a:rPr>
              <a:t>Build securely and </a:t>
            </a:r>
            <a:br>
              <a:rPr lang="en" sz="726" b="0" i="0" u="none" strike="noStrike" cap="none">
                <a:solidFill>
                  <a:srgbClr val="001741"/>
                </a:solidFill>
                <a:latin typeface="Calibri"/>
                <a:ea typeface="Calibri"/>
                <a:cs typeface="Calibri"/>
                <a:sym typeface="Calibri"/>
              </a:rPr>
            </a:br>
            <a:r>
              <a:rPr lang="en" sz="726" b="0" i="0" u="none" strike="noStrike" cap="none">
                <a:solidFill>
                  <a:srgbClr val="001741"/>
                </a:solidFill>
                <a:latin typeface="Calibri"/>
                <a:ea typeface="Calibri"/>
                <a:cs typeface="Calibri"/>
                <a:sym typeface="Calibri"/>
              </a:rPr>
              <a:t>remediate at the source</a:t>
            </a:r>
            <a:endParaRPr sz="621" b="0" i="0" u="none" strike="noStrike" cap="none">
              <a:solidFill>
                <a:srgbClr val="000000"/>
              </a:solidFill>
              <a:latin typeface="Calibri"/>
              <a:ea typeface="Calibri"/>
              <a:cs typeface="Calibri"/>
              <a:sym typeface="Calibri"/>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Reactive Security</a:t>
            </a:r>
            <a:endParaRPr sz="900" b="1" i="0" u="none" strike="noStrike" cap="none">
              <a:solidFill>
                <a:srgbClr val="000000"/>
              </a:solidFill>
              <a:latin typeface="Calibri"/>
              <a:ea typeface="Calibri"/>
              <a:cs typeface="Calibri"/>
              <a:sym typeface="Calibri"/>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a:ea typeface="Calibri"/>
                <a:cs typeface="Calibri"/>
                <a:sym typeface="Calibri"/>
              </a:rPr>
              <a:t>Investigate and triage high-fidelity threats</a:t>
            </a:r>
            <a:endParaRPr sz="621" b="0" i="0" u="none" strike="noStrike" cap="none">
              <a:solidFill>
                <a:srgbClr val="000000"/>
              </a:solidFill>
              <a:latin typeface="Calibri"/>
              <a:ea typeface="Calibri"/>
              <a:cs typeface="Calibri"/>
              <a:sym typeface="Calibri"/>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Proactive Security</a:t>
            </a:r>
            <a:endParaRPr sz="900" b="1" i="0" u="none" strike="noStrike" cap="none">
              <a:solidFill>
                <a:srgbClr val="000000"/>
              </a:solidFill>
              <a:latin typeface="Calibri"/>
              <a:ea typeface="Calibri"/>
              <a:cs typeface="Calibri"/>
              <a:sym typeface="Calibri"/>
            </a:endParaRPr>
          </a:p>
        </p:txBody>
      </p:sp>
      <p:sp>
        <p:nvSpPr>
          <p:cNvPr id="734" name="Google Shape;734;p59"/>
          <p:cNvSpPr/>
          <p:nvPr/>
        </p:nvSpPr>
        <p:spPr>
          <a:xfrm>
            <a:off x="7661455" y="656976"/>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a:ea typeface="Calibri"/>
                <a:cs typeface="Calibri"/>
                <a:sym typeface="Calibri"/>
              </a:rPr>
              <a:t>Identify high-risk issues before they </a:t>
            </a:r>
            <a:br>
              <a:rPr lang="en" sz="726" b="0" i="0" u="none" strike="noStrike" cap="none">
                <a:solidFill>
                  <a:srgbClr val="001741"/>
                </a:solidFill>
                <a:latin typeface="Calibri"/>
                <a:ea typeface="Calibri"/>
                <a:cs typeface="Calibri"/>
                <a:sym typeface="Calibri"/>
              </a:rPr>
            </a:br>
            <a:r>
              <a:rPr lang="en" sz="726" b="0" i="0" u="none" strike="noStrike" cap="none">
                <a:solidFill>
                  <a:srgbClr val="001741"/>
                </a:solidFill>
                <a:latin typeface="Calibri"/>
                <a:ea typeface="Calibri"/>
                <a:cs typeface="Calibri"/>
                <a:sym typeface="Calibri"/>
              </a:rPr>
              <a:t>can be exploited</a:t>
            </a:r>
            <a:endParaRPr sz="621" b="0" i="0" u="none" strike="noStrike" cap="none">
              <a:solidFill>
                <a:srgbClr val="000000"/>
              </a:solidFill>
              <a:latin typeface="Calibri"/>
              <a:ea typeface="Calibri"/>
              <a:cs typeface="Calibri"/>
              <a:sym typeface="Calibri"/>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a:ea typeface="Calibri"/>
                <a:cs typeface="Calibri"/>
                <a:sym typeface="Calibri"/>
              </a:rPr>
              <a:t>Blue Agent</a:t>
            </a:r>
            <a:endParaRPr sz="626" b="1" i="0" u="none" strike="noStrike" cap="none">
              <a:solidFill>
                <a:srgbClr val="000000"/>
              </a:solidFill>
              <a:latin typeface="Calibri"/>
              <a:ea typeface="Calibri"/>
              <a:cs typeface="Calibri"/>
              <a:sym typeface="Calibri"/>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800" b="0" i="0" u="none" strike="noStrike" cap="none">
                <a:solidFill>
                  <a:srgbClr val="000000"/>
                </a:solidFill>
                <a:latin typeface="Calibri"/>
                <a:ea typeface="Calibri"/>
                <a:cs typeface="Calibri"/>
                <a:sym typeface="Calibri"/>
              </a:rPr>
              <a:t>Enabled</a:t>
            </a:r>
            <a:br>
              <a:rPr lang="en" sz="800" b="0" i="0" u="none" strike="noStrike" cap="none">
                <a:solidFill>
                  <a:srgbClr val="000000"/>
                </a:solidFill>
                <a:latin typeface="Calibri"/>
                <a:ea typeface="Calibri"/>
                <a:cs typeface="Calibri"/>
                <a:sym typeface="Calibri"/>
              </a:rPr>
            </a:br>
            <a:r>
              <a:rPr lang="en" sz="800" b="0" i="0" u="none" strike="noStrike" cap="none">
                <a:solidFill>
                  <a:srgbClr val="000000"/>
                </a:solidFill>
                <a:latin typeface="Calibri"/>
                <a:ea typeface="Calibri"/>
                <a:cs typeface="Calibri"/>
                <a:sym typeface="Calibri"/>
              </a:rPr>
              <a:t>{{F_BA}}</a:t>
            </a:r>
            <a:br>
              <a:rPr lang="en" sz="800" b="0" i="0" u="none" strike="noStrike" cap="none">
                <a:solidFill>
                  <a:srgbClr val="000000"/>
                </a:solidFill>
                <a:latin typeface="Calibri"/>
                <a:ea typeface="Calibri"/>
                <a:cs typeface="Calibri"/>
                <a:sym typeface="Calibri"/>
              </a:rPr>
            </a:br>
            <a:endParaRPr sz="800" b="0" i="0" u="none" strike="noStrike" cap="none">
              <a:solidFill>
                <a:srgbClr val="000000"/>
              </a:solidFill>
              <a:latin typeface="Calibri"/>
              <a:ea typeface="Calibri"/>
              <a:cs typeface="Calibri"/>
              <a:sym typeface="Calibri"/>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a:solidFill>
                  <a:srgbClr val="0254EC"/>
                </a:solidFill>
                <a:latin typeface="Calibri"/>
                <a:ea typeface="Calibri"/>
                <a:cs typeface="Calibri"/>
                <a:sym typeface="Calibri"/>
              </a:rPr>
              <a:t>Red Agent</a:t>
            </a:r>
            <a:endParaRPr sz="700" b="1" i="0" u="none" strike="noStrike" cap="none">
              <a:solidFill>
                <a:srgbClr val="000000"/>
              </a:solidFill>
              <a:latin typeface="Calibri"/>
              <a:ea typeface="Calibri"/>
              <a:cs typeface="Calibri"/>
              <a:sym typeface="Calibri"/>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508"/>
              <a:buFont typeface="DM Sans"/>
              <a:buNone/>
            </a:pPr>
            <a:r>
              <a:rPr lang="en" sz="821" b="0" i="0" u="none" strike="noStrike" cap="none">
                <a:solidFill>
                  <a:srgbClr val="000000"/>
                </a:solidFill>
                <a:latin typeface="Calibri"/>
                <a:ea typeface="Calibri"/>
                <a:cs typeface="Calibri"/>
                <a:sym typeface="Calibri"/>
              </a:rPr>
              <a:t>Enabled</a:t>
            </a:r>
            <a:br>
              <a:rPr lang="en" sz="821" b="0" i="0" u="none" strike="noStrike" cap="none">
                <a:solidFill>
                  <a:srgbClr val="000000"/>
                </a:solidFill>
                <a:latin typeface="Calibri"/>
                <a:ea typeface="Calibri"/>
                <a:cs typeface="Calibri"/>
                <a:sym typeface="Calibri"/>
              </a:rPr>
            </a:br>
            <a:r>
              <a:rPr lang="en" sz="821" b="0" i="0" u="none" strike="noStrike" cap="none">
                <a:solidFill>
                  <a:srgbClr val="000000"/>
                </a:solidFill>
                <a:latin typeface="Calibri"/>
                <a:ea typeface="Calibri"/>
                <a:cs typeface="Calibri"/>
                <a:sym typeface="Calibri"/>
              </a:rPr>
              <a:t>{{F_RA}}</a:t>
            </a:r>
            <a:br>
              <a:rPr lang="en" sz="821" b="0" i="0" u="none" strike="noStrike" cap="none">
                <a:solidFill>
                  <a:srgbClr val="000000"/>
                </a:solidFill>
                <a:latin typeface="Calibri"/>
                <a:ea typeface="Calibri"/>
                <a:cs typeface="Calibri"/>
                <a:sym typeface="Calibri"/>
              </a:rPr>
            </a:br>
            <a:endParaRPr sz="821" b="0" i="0" u="none" strike="noStrike" cap="none">
              <a:solidFill>
                <a:srgbClr val="000000"/>
              </a:solidFill>
              <a:latin typeface="Calibri"/>
              <a:ea typeface="Calibri"/>
              <a:cs typeface="Calibri"/>
              <a:sym typeface="Calibri"/>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w="9525" cap="flat" cmpd="sng">
            <a:solidFill>
              <a:schemeClr val="accent1"/>
            </a:solidFill>
            <a:prstDash val="solid"/>
            <a:round/>
            <a:headEnd type="none" w="sm" len="sm"/>
            <a:tailEnd type="none" w="sm" len="sm"/>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chemeClr val="hlink"/>
                </a:solidFill>
                <a:latin typeface="Calibri"/>
                <a:ea typeface="Calibri"/>
                <a:cs typeface="Calibri"/>
                <a:sym typeface="Calibri"/>
                <a:hlinkClick r:id="rId7"/>
              </a:rPr>
              <a:t>Top 3 Wiz Critical Risk Issues by Count</a:t>
            </a:r>
            <a:r>
              <a:rPr lang="en" sz="15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8"/>
              </a:rPr>
              <a:t>↗</a:t>
            </a:r>
            <a:endParaRPr sz="1500" b="0" i="0" u="none" strike="noStrike" cap="none">
              <a:solidFill>
                <a:srgbClr val="0254EC"/>
              </a:solidFill>
              <a:latin typeface="Calibri"/>
              <a:ea typeface="Calibri"/>
              <a:cs typeface="Calibri"/>
              <a:sym typeface="Calibri"/>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{{CI_CONTROL_1}}</a:t>
            </a:r>
            <a:endParaRPr sz="900" b="0" i="0" u="sng" strike="noStrike" cap="none">
              <a:solidFill>
                <a:srgbClr val="0254EC"/>
              </a:solidFill>
              <a:highlight>
                <a:srgbClr val="F9FAFB"/>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a:ea typeface="Calibri"/>
                <a:cs typeface="Calibri"/>
                <a:sym typeface="Calibri"/>
              </a:rPr>
              <a:t>CRITICAL</a:t>
            </a:r>
            <a:endParaRPr sz="800" b="0" i="0" u="none" strike="noStrike" cap="none">
              <a:solidFill>
                <a:srgbClr val="991B1B"/>
              </a:solidFill>
              <a:highlight>
                <a:srgbClr val="FEE2E2"/>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{{CI_CONTROL_2}}</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991B1B"/>
                </a:solidFill>
                <a:highlight>
                  <a:srgbClr val="FEE2E2"/>
                </a:highlight>
                <a:latin typeface="Calibri"/>
                <a:ea typeface="Calibri"/>
                <a:cs typeface="Calibri"/>
                <a:sym typeface="Calibri"/>
              </a:rPr>
              <a:t>CRITICAL</a:t>
            </a:r>
            <a:endParaRPr sz="800" b="0" i="0" u="none" strike="noStrike" cap="none">
              <a:solidFill>
                <a:srgbClr val="991B1B"/>
              </a:solidFill>
              <a:highlight>
                <a:srgbClr val="FEE2E2"/>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{{CI_CONTROL_3}}</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991B1B"/>
                </a:solidFill>
                <a:highlight>
                  <a:srgbClr val="FEE2E2"/>
                </a:highlight>
                <a:latin typeface="Calibri"/>
                <a:ea typeface="Calibri"/>
                <a:cs typeface="Calibri"/>
                <a:sym typeface="Calibri"/>
              </a:rPr>
              <a:t>CRITICAL</a:t>
            </a:r>
            <a:endParaRPr sz="800" b="0" i="0" u="none" strike="noStrike" cap="none">
              <a:solidFill>
                <a:srgbClr val="991B1B"/>
              </a:solidFill>
              <a:highlight>
                <a:srgbClr val="FEE2E2"/>
              </a:highlight>
              <a:latin typeface="Calibri"/>
              <a:ea typeface="Calibri"/>
              <a:cs typeface="Calibri"/>
              <a:sym typeface="Calibri"/>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a:ea typeface="Calibri"/>
              <a:cs typeface="Calibri"/>
              <a:sym typeface="Calibri"/>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w="9525" cap="flat" cmpd="sng">
            <a:solidFill>
              <a:schemeClr val="accent1"/>
            </a:solidFill>
            <a:prstDash val="solid"/>
            <a:round/>
            <a:headEnd type="none" w="sm" len="sm"/>
            <a:tailEnd type="none" w="sm" len="sm"/>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chemeClr val="hlink"/>
                </a:solidFill>
                <a:latin typeface="Calibri"/>
                <a:ea typeface="Calibri"/>
                <a:cs typeface="Calibri"/>
                <a:sym typeface="Calibri"/>
                <a:hlinkClick r:id="rId9"/>
              </a:rPr>
              <a:t>Top 3 Wiz High Risk Issues by Count</a:t>
            </a:r>
            <a:r>
              <a:rPr lang="en" sz="15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8"/>
              </a:rPr>
              <a:t>↗</a:t>
            </a:r>
            <a:endParaRPr sz="1700" b="0" i="0" u="none" strike="noStrike" cap="none">
              <a:solidFill>
                <a:srgbClr val="0254EC"/>
              </a:solidFill>
              <a:latin typeface="Calibri"/>
              <a:ea typeface="Calibri"/>
              <a:cs typeface="Calibri"/>
              <a:sym typeface="Calibri"/>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{{HI_CBC_1}}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{{HI_CBC_2}}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{{HI_CBC_3}} Issues</a:t>
            </a:r>
            <a:endParaRPr sz="900" b="0" i="0" u="none" strike="noStrike" cap="none">
              <a:solidFill>
                <a:schemeClr val="dk1"/>
              </a:solidFill>
              <a:latin typeface="Calibri"/>
              <a:ea typeface="Calibri"/>
              <a:cs typeface="Calibri"/>
              <a:sym typeface="Calibri"/>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{{CI_CBC_1}}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{{CI_CBC_2}}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{{CI_CBC_3}} Issues</a:t>
            </a:r>
            <a:endParaRPr sz="900" b="0" i="0" u="none" strike="noStrike" cap="none">
              <a:solidFill>
                <a:schemeClr val="dk1"/>
              </a:solidFill>
              <a:latin typeface="Calibri"/>
              <a:ea typeface="Calibri"/>
              <a:cs typeface="Calibri"/>
              <a:sym typeface="Calibri"/>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{{HI_CONTROL_1}}</a:t>
            </a:r>
            <a:endParaRPr sz="900" b="0" i="0" u="sng" strike="noStrike" cap="none">
              <a:solidFill>
                <a:srgbClr val="0254EC"/>
              </a:solidFill>
              <a:highlight>
                <a:srgbClr val="F9FAFB"/>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D97706"/>
                </a:solidFill>
                <a:highlight>
                  <a:srgbClr val="F9CB9C"/>
                </a:highlight>
                <a:latin typeface="Calibri"/>
                <a:ea typeface="Calibri"/>
                <a:cs typeface="Calibri"/>
                <a:sym typeface="Calibri"/>
              </a:rPr>
              <a:t>HIGH</a:t>
            </a:r>
            <a:endParaRPr sz="800" b="0" i="0" u="none" strike="noStrike" cap="none">
              <a:solidFill>
                <a:srgbClr val="D97706"/>
              </a:solidFill>
              <a:highlight>
                <a:srgbClr val="F9CB9C"/>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{{HI_CONTROL_2}}</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D97706"/>
                </a:solidFill>
                <a:highlight>
                  <a:srgbClr val="F9CB9C"/>
                </a:highlight>
                <a:latin typeface="Calibri"/>
                <a:ea typeface="Calibri"/>
                <a:cs typeface="Calibri"/>
                <a:sym typeface="Calibri"/>
              </a:rPr>
              <a:t>HIGH</a:t>
            </a:r>
            <a:endParaRPr sz="800" b="0" i="0" u="none" strike="noStrike" cap="none">
              <a:solidFill>
                <a:srgbClr val="991B1B"/>
              </a:solidFill>
              <a:highlight>
                <a:srgbClr val="FEE2E2"/>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{{HI_CONTROL_3}}</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D97706"/>
                </a:solidFill>
                <a:highlight>
                  <a:srgbClr val="F9CB9C"/>
                </a:highlight>
                <a:latin typeface="Calibri"/>
                <a:ea typeface="Calibri"/>
                <a:cs typeface="Calibri"/>
                <a:sym typeface="Calibri"/>
              </a:rPr>
              <a:t>HIGH</a:t>
            </a:r>
            <a:endParaRPr sz="800" b="0" i="0" u="none" strike="noStrike" cap="none">
              <a:solidFill>
                <a:srgbClr val="991B1B"/>
              </a:solidFill>
              <a:highlight>
                <a:srgbClr val="FEE2E2"/>
              </a:highlight>
              <a:latin typeface="Calibri"/>
              <a:ea typeface="Calibri"/>
              <a:cs typeface="Calibri"/>
              <a:sym typeface="Calibri"/>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92"/>
        <p:cNvGrpSpPr/>
        <p:nvPr/>
      </p:nvGrpSpPr>
      <p:grpSpPr>
        <a:xfrm>
          <a:off x="0" y="0"/>
          <a:ext cx="0" cy="0"/>
          <a:chOff x="0" y="0"/>
          <a:chExt cx="0" cy="0"/>
        </a:xfrm>
      </p:grpSpPr>
      <p:pic>
        <p:nvPicPr>
          <p:cNvPr id="1393" name="Google Shape;1393;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4" name="Google Shape;1394;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5" name="Google Shape;1395;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6" name="Google Shape;1396;p68"/>
          <p:cNvSpPr txBox="1"/>
          <p:nvPr/>
        </p:nvSpPr>
        <p:spPr>
          <a:xfrm>
            <a:off x="325228" y="3203849"/>
            <a:ext cx="2641800" cy="1684123"/>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How do you determine what to work on first?</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indent="-95250">
              <a:lnSpc>
                <a:spcPct val="112000"/>
              </a:lnSpc>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How are you alerted on Critical Issues, when they arise?</a:t>
            </a:r>
          </a:p>
          <a:p>
            <a:pPr marL="285750" marR="0" lvl="0" indent="-95250" algn="l" rtl="0">
              <a:lnSpc>
                <a:spcPct val="112000"/>
              </a:lnSpc>
              <a:spcBef>
                <a:spcPts val="0"/>
              </a:spcBef>
              <a:spcAft>
                <a:spcPts val="0"/>
              </a:spcAft>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Do</a:t>
            </a:r>
            <a:r>
              <a:rPr lang="en" sz="900"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 you have any custom Graph Controls which are adding to your counts? Are they still relevant?</a:t>
            </a:r>
          </a:p>
          <a:p>
            <a:pPr marL="285750" indent="-95250">
              <a:lnSpc>
                <a:spcPct val="112000"/>
              </a:lnSpc>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Are you utilizing the Project Business Impact definitions to help identify and prioritize high business impact resources?</a:t>
            </a:r>
            <a:b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b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397" name="Google Shape;1397;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8" name="Google Shape;1398;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9" name="Google Shape;1399;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400" name="Google Shape;1400;p68"/>
          <p:cNvSpPr txBox="1"/>
          <p:nvPr/>
        </p:nvSpPr>
        <p:spPr>
          <a:xfrm>
            <a:off x="3219405" y="3203849"/>
            <a:ext cx="2599800" cy="1591433"/>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Grouping filters or queries to identify the “low hanging fruit” Issues (i.e. resources exhibiting the same Issue)</a:t>
            </a:r>
          </a:p>
          <a:p>
            <a:pPr marL="285750" marR="0" lvl="0" indent="-95250" algn="l" rtl="0">
              <a:lnSpc>
                <a:spcPct val="112000"/>
              </a:lnSpc>
              <a:spcBef>
                <a:spcPts val="0"/>
              </a:spcBef>
              <a:spcAft>
                <a:spcPts val="0"/>
              </a:spcAft>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Are you using Posture Policies to identify and group high-profile threat vulnerabilities?</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401" name="Google Shape;1401;p68"/>
          <p:cNvSpPr txBox="1"/>
          <p:nvPr/>
        </p:nvSpPr>
        <p:spPr>
          <a:xfrm>
            <a:off x="6097826"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Utilize Green Agent for automated investigation and remediation context</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Utilize Advanced ASM to validate which external exposures are truly exploitable</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Utilize Red Agent to actively probe your web apps and APIS to proactively identify high-impact exposures</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402" name="Google Shape;1402;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Using Wiz Tools to Remediate</a:t>
            </a:r>
            <a:b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More Efficiently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403" name="Google Shape;1403;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Improve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Security Posture &amp; Risk Reduction</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404" name="Google Shape;1404;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5" name="Google Shape;1405;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6" name="Google Shape;1406;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7" name="Google Shape;1407;p68"/>
          <p:cNvSpPr txBox="1"/>
          <p:nvPr/>
        </p:nvSpPr>
        <p:spPr>
          <a:xfrm>
            <a:off x="482675" y="262714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Prioritize Investigation by</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Severity &amp; Criticality</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408" name="Google Shape;1408;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Prioritize Remediation by</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Greatest Impact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a:ea typeface="Calibri"/>
                <a:cs typeface="Calibri"/>
                <a:sym typeface="Calibri"/>
              </a:rPr>
              <a:t>Develop Securely</a:t>
            </a:r>
            <a:endParaRPr sz="2700" b="0" i="0" u="none" strike="noStrike" cap="none" dirty="0">
              <a:solidFill>
                <a:schemeClr val="lt1"/>
              </a:solidFill>
              <a:latin typeface="Calibri"/>
              <a:ea typeface="Calibri"/>
              <a:cs typeface="Calibri"/>
              <a:sym typeface="Calibri"/>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Secure Development Snapshot</a:t>
            </a:r>
            <a:endParaRPr sz="2420">
              <a:latin typeface="Calibri"/>
              <a:ea typeface="Calibri"/>
              <a:cs typeface="Calibri"/>
              <a:sym typeface="Calibri"/>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3"/>
              </a:rPr>
              <a:t>Kubernetes Clusters </a:t>
            </a:r>
            <a:r>
              <a:rPr lang="en" sz="1300" b="0" i="0" u="none" strike="noStrike" cap="none">
                <a:solidFill>
                  <a:schemeClr val="hlink"/>
                </a:solidFill>
                <a:uFill>
                  <a:noFill/>
                </a:uFill>
                <a:latin typeface="Calibri"/>
                <a:ea typeface="Calibri"/>
                <a:cs typeface="Calibri"/>
                <a:sym typeface="Calibri"/>
                <a:hlinkClick r:id="rId3"/>
              </a:rPr>
              <a:t>↗</a:t>
            </a:r>
            <a:r>
              <a:rPr lang="en" sz="1300" b="0" i="0" u="sng" strike="noStrike" cap="none">
                <a:solidFill>
                  <a:schemeClr val="hlink"/>
                </a:solidFill>
                <a:latin typeface="Calibri"/>
                <a:ea typeface="Calibri"/>
                <a:cs typeface="Calibri"/>
                <a:sym typeface="Calibri"/>
                <a:hlinkClick r:id="rId3"/>
              </a:rPr>
              <a:t> </a:t>
            </a:r>
            <a:endParaRPr sz="1100" b="0" i="0" u="none" strike="noStrike" cap="none">
              <a:solidFill>
                <a:srgbClr val="0254EC"/>
              </a:solidFill>
              <a:latin typeface="Calibri"/>
              <a:ea typeface="Calibri"/>
              <a:cs typeface="Calibri"/>
              <a:sym typeface="Calibri"/>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{{K8S_1}}</a:t>
            </a:r>
            <a:endParaRPr sz="900" b="0" i="0" u="none" strike="noStrike" cap="none">
              <a:solidFill>
                <a:srgbClr val="333333"/>
              </a:solidFill>
              <a:latin typeface="Calibri"/>
              <a:ea typeface="Calibri"/>
              <a:cs typeface="Calibri"/>
              <a:sym typeface="Calibri"/>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{{K8C_1}}</a:t>
            </a:r>
            <a:endParaRPr sz="900" b="1" i="0" u="none" strike="noStrike" cap="none">
              <a:solidFill>
                <a:srgbClr val="333333"/>
              </a:solidFill>
              <a:latin typeface="Calibri"/>
              <a:ea typeface="Calibri"/>
              <a:cs typeface="Calibri"/>
              <a:sym typeface="Calibri"/>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{{K8S_2}}</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{{K8C_2}}</a:t>
            </a:r>
            <a:endParaRPr sz="900" b="1" i="0" u="none" strike="noStrike" cap="none">
              <a:solidFill>
                <a:srgbClr val="333333"/>
              </a:solidFill>
              <a:latin typeface="Calibri"/>
              <a:ea typeface="Calibri"/>
              <a:cs typeface="Calibri"/>
              <a:sym typeface="Calibri"/>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{{K8S_3}}</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{{K8C_3}}</a:t>
            </a:r>
            <a:endParaRPr sz="900" b="1" i="0" u="none" strike="noStrike" cap="none">
              <a:solidFill>
                <a:srgbClr val="333333"/>
              </a:solidFill>
              <a:latin typeface="Calibri"/>
              <a:ea typeface="Calibri"/>
              <a:cs typeface="Calibri"/>
              <a:sym typeface="Calibri"/>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{{K8S_4}}</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{{K8C_4}}</a:t>
            </a:r>
            <a:endParaRPr sz="900" b="1" i="0" u="none" strike="noStrike" cap="none">
              <a:solidFill>
                <a:srgbClr val="333333"/>
              </a:solidFill>
              <a:latin typeface="Calibri"/>
              <a:ea typeface="Calibri"/>
              <a:cs typeface="Calibri"/>
              <a:sym typeface="Calibri"/>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{{K8S_5}}</a:t>
            </a:r>
            <a:endParaRPr sz="9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{{K8C_5}}</a:t>
            </a:r>
            <a:endParaRPr sz="900" b="1" i="0" u="none" strike="noStrike" cap="none">
              <a:solidFill>
                <a:srgbClr val="333333"/>
              </a:solidFill>
              <a:latin typeface="Calibri"/>
              <a:ea typeface="Calibri"/>
              <a:cs typeface="Calibri"/>
              <a:sym typeface="Calibri"/>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Total {{K8C_TOT}}</a:t>
            </a:r>
            <a:endParaRPr sz="1100" b="0" i="0" u="none" strike="noStrike" cap="none">
              <a:solidFill>
                <a:srgbClr val="333333"/>
              </a:solidFill>
              <a:latin typeface="Calibri"/>
              <a:ea typeface="Calibri"/>
              <a:cs typeface="Calibri"/>
              <a:sym typeface="Calibri"/>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4"/>
              </a:rPr>
              <a:t>Wiz Connector Deployed</a:t>
            </a:r>
            <a:endParaRPr sz="900" b="0" i="0" u="none" strike="noStrike" cap="none">
              <a:solidFill>
                <a:srgbClr val="0254EC"/>
              </a:solidFill>
              <a:latin typeface="Calibri"/>
              <a:ea typeface="Calibri"/>
              <a:cs typeface="Calibri"/>
              <a:sym typeface="Calibri"/>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{{KC_WC}}</a:t>
            </a:r>
            <a:endParaRPr sz="1000" b="1" i="0" u="none" strike="noStrike" cap="none">
              <a:solidFill>
                <a:srgbClr val="333333"/>
              </a:solidFill>
              <a:latin typeface="Calibri"/>
              <a:ea typeface="Calibri"/>
              <a:cs typeface="Calibri"/>
              <a:sym typeface="Calibri"/>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5"/>
              </a:rPr>
              <a:t>Admission Controller</a:t>
            </a:r>
            <a:endParaRPr sz="900" b="0" i="0" u="none" strike="noStrike" cap="none">
              <a:solidFill>
                <a:srgbClr val="0254EC"/>
              </a:solidFill>
              <a:latin typeface="Calibri"/>
              <a:ea typeface="Calibri"/>
              <a:cs typeface="Calibri"/>
              <a:sym typeface="Calibri"/>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{{KC_AC}}</a:t>
            </a:r>
            <a:endParaRPr sz="1000" b="1" i="0" u="none" strike="noStrike" cap="none">
              <a:solidFill>
                <a:srgbClr val="333333"/>
              </a:solidFill>
              <a:latin typeface="Calibri"/>
              <a:ea typeface="Calibri"/>
              <a:cs typeface="Calibri"/>
              <a:sym typeface="Calibri"/>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Cloud (Workload/K8s)</a:t>
            </a:r>
            <a:endParaRPr sz="900" b="0" i="0" u="none" strike="noStrike" cap="none">
              <a:solidFill>
                <a:srgbClr val="333333"/>
              </a:solidFill>
              <a:latin typeface="Calibri"/>
              <a:ea typeface="Calibri"/>
              <a:cs typeface="Calibri"/>
              <a:sym typeface="Calibri"/>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{{CL_CLD}}</a:t>
            </a:r>
            <a:endParaRPr sz="900" b="1" i="0" u="none" strike="noStrike" cap="none">
              <a:solidFill>
                <a:srgbClr val="333333"/>
              </a:solidFill>
              <a:latin typeface="Calibri"/>
              <a:ea typeface="Calibri"/>
              <a:cs typeface="Calibri"/>
              <a:sym typeface="Calibri"/>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Store (Registry Scans)</a:t>
            </a:r>
            <a:endParaRPr sz="900" b="0" i="0" u="none" strike="noStrike" cap="none">
              <a:solidFill>
                <a:srgbClr val="333333"/>
              </a:solidFill>
              <a:latin typeface="Calibri"/>
              <a:ea typeface="Calibri"/>
              <a:cs typeface="Calibri"/>
              <a:sym typeface="Calibri"/>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{{CL_STR}}</a:t>
            </a:r>
            <a:endParaRPr sz="900" b="1" i="0" u="none" strike="noStrike" cap="none">
              <a:solidFill>
                <a:srgbClr val="333333"/>
              </a:solidFill>
              <a:latin typeface="Calibri"/>
              <a:ea typeface="Calibri"/>
              <a:cs typeface="Calibri"/>
              <a:sym typeface="Calibri"/>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Runtime (Sensor)</a:t>
            </a:r>
            <a:endParaRPr sz="900" b="0" i="0" u="none" strike="noStrike" cap="none">
              <a:solidFill>
                <a:srgbClr val="333333"/>
              </a:solidFill>
              <a:latin typeface="Calibri"/>
              <a:ea typeface="Calibri"/>
              <a:cs typeface="Calibri"/>
              <a:sym typeface="Calibri"/>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{{CL_RT}}</a:t>
            </a:r>
            <a:endParaRPr sz="900" b="1" i="0" u="none" strike="noStrike" cap="none">
              <a:solidFill>
                <a:srgbClr val="333333"/>
              </a:solidFill>
              <a:latin typeface="Calibri"/>
              <a:ea typeface="Calibri"/>
              <a:cs typeface="Calibri"/>
              <a:sym typeface="Calibri"/>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Code (Wiz Code)</a:t>
            </a:r>
            <a:endParaRPr sz="900" b="0" i="0" u="none" strike="noStrike" cap="none">
              <a:solidFill>
                <a:srgbClr val="333333"/>
              </a:solidFill>
              <a:latin typeface="Calibri"/>
              <a:ea typeface="Calibri"/>
              <a:cs typeface="Calibri"/>
              <a:sym typeface="Calibri"/>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{{CL_CODE}}</a:t>
            </a:r>
            <a:endParaRPr sz="900" b="1" i="0" u="none" strike="noStrike" cap="none">
              <a:solidFill>
                <a:srgbClr val="333333"/>
              </a:solidFill>
              <a:latin typeface="Calibri"/>
              <a:ea typeface="Calibri"/>
              <a:cs typeface="Calibri"/>
              <a:sym typeface="Calibri"/>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Build (Wiz CLI + Tagged Images)</a:t>
            </a:r>
            <a:endParaRPr sz="900" b="0" i="0" u="none" strike="noStrike" cap="none">
              <a:solidFill>
                <a:srgbClr val="333333"/>
              </a:solidFill>
              <a:latin typeface="Calibri"/>
              <a:ea typeface="Calibri"/>
              <a:cs typeface="Calibri"/>
              <a:sym typeface="Calibri"/>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{{CL_BLD}}</a:t>
            </a:r>
            <a:endParaRPr sz="900" b="1" i="0" u="none" strike="noStrike" cap="none">
              <a:solidFill>
                <a:srgbClr val="333333"/>
              </a:solidFill>
              <a:latin typeface="Calibri"/>
              <a:ea typeface="Calibri"/>
              <a:cs typeface="Calibri"/>
              <a:sym typeface="Calibri"/>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Deploy (Admission Controller)</a:t>
            </a:r>
            <a:endParaRPr sz="900" b="0" i="0" u="none" strike="noStrike" cap="none">
              <a:solidFill>
                <a:srgbClr val="333333"/>
              </a:solidFill>
              <a:latin typeface="Calibri"/>
              <a:ea typeface="Calibri"/>
              <a:cs typeface="Calibri"/>
              <a:sym typeface="Calibri"/>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{{CL_DEP}}</a:t>
            </a:r>
            <a:endParaRPr sz="900" b="1" i="0" u="none" strike="noStrike" cap="none">
              <a:solidFill>
                <a:srgbClr val="333333"/>
              </a:solidFill>
              <a:latin typeface="Calibri"/>
              <a:ea typeface="Calibri"/>
              <a:cs typeface="Calibri"/>
              <a:sym typeface="Calibri"/>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Total Images {{TI}}</a:t>
            </a:r>
            <a:endParaRPr sz="1100" b="0" i="0" u="none" strike="noStrike" cap="none">
              <a:solidFill>
                <a:srgbClr val="333333"/>
              </a:solidFill>
              <a:latin typeface="Calibri"/>
              <a:ea typeface="Calibri"/>
              <a:cs typeface="Calibri"/>
              <a:sym typeface="Calibri"/>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Kubernetes Coverage</a:t>
            </a:r>
            <a:endParaRPr sz="1100" b="0" i="0" u="none" strike="noStrike" cap="none">
              <a:solidFill>
                <a:srgbClr val="333333"/>
              </a:solidFill>
              <a:latin typeface="Calibri"/>
              <a:ea typeface="Calibri"/>
              <a:cs typeface="Calibri"/>
              <a:sym typeface="Calibri"/>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Gaps &amp; Exposure</a:t>
            </a:r>
            <a:endParaRPr sz="1100" b="0" i="0" u="none" strike="noStrike" cap="none">
              <a:solidFill>
                <a:srgbClr val="333333"/>
              </a:solidFill>
              <a:latin typeface="Calibri"/>
              <a:ea typeface="Calibri"/>
              <a:cs typeface="Calibri"/>
              <a:sym typeface="Calibri"/>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6"/>
              </a:rPr>
              <a:t>Container Images Lifecycle </a:t>
            </a:r>
            <a:r>
              <a:rPr lang="en" sz="1300" b="0" i="0" u="none" strike="noStrike" cap="none">
                <a:solidFill>
                  <a:schemeClr val="hlink"/>
                </a:solidFill>
                <a:uFill>
                  <a:noFill/>
                </a:uFill>
                <a:latin typeface="Calibri"/>
                <a:ea typeface="Calibri"/>
                <a:cs typeface="Calibri"/>
                <a:sym typeface="Calibri"/>
                <a:hlinkClick r:id="rId6"/>
              </a:rPr>
              <a:t>↗</a:t>
            </a:r>
            <a:r>
              <a:rPr lang="en" sz="1100" b="0" i="0" u="none" strike="noStrike" cap="none">
                <a:solidFill>
                  <a:schemeClr val="hlink"/>
                </a:solidFill>
                <a:uFill>
                  <a:noFill/>
                </a:uFill>
                <a:latin typeface="Calibri"/>
                <a:ea typeface="Calibri"/>
                <a:cs typeface="Calibri"/>
                <a:sym typeface="Calibri"/>
                <a:hlinkClick r:id="rId6"/>
              </a:rPr>
              <a:t> </a:t>
            </a:r>
            <a:endParaRPr sz="1100" b="0" i="0" u="none" strike="noStrike" cap="none">
              <a:solidFill>
                <a:srgbClr val="0254EC"/>
              </a:solidFill>
              <a:latin typeface="Calibri"/>
              <a:ea typeface="Calibri"/>
              <a:cs typeface="Calibri"/>
              <a:sym typeface="Calibri"/>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Total Registries  {{R_TOT}}</a:t>
            </a:r>
            <a:endParaRPr sz="1000" b="0" i="0" u="none" strike="noStrike" cap="none">
              <a:solidFill>
                <a:srgbClr val="333333"/>
              </a:solidFill>
              <a:latin typeface="Calibri"/>
              <a:ea typeface="Calibri"/>
              <a:cs typeface="Calibri"/>
              <a:sym typeface="Calibri"/>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{{R_2}}</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{{RC_2}}</a:t>
            </a:r>
            <a:endParaRPr sz="900" b="0" i="0" u="none" strike="noStrike" cap="none">
              <a:solidFill>
                <a:srgbClr val="333333"/>
              </a:solidFill>
              <a:latin typeface="Calibri"/>
              <a:ea typeface="Calibri"/>
              <a:cs typeface="Calibri"/>
              <a:sym typeface="Calibri"/>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{{R_3}}</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{{RC_3}}</a:t>
            </a:r>
            <a:endParaRPr sz="900" b="0" i="0" u="none" strike="noStrike" cap="none">
              <a:solidFill>
                <a:srgbClr val="333333"/>
              </a:solidFill>
              <a:latin typeface="Calibri"/>
              <a:ea typeface="Calibri"/>
              <a:cs typeface="Calibri"/>
              <a:sym typeface="Calibri"/>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{{R_4}}</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{{RC_4}}</a:t>
            </a:r>
            <a:endParaRPr sz="900" b="0" i="0" u="none" strike="noStrike" cap="none">
              <a:solidFill>
                <a:srgbClr val="333333"/>
              </a:solidFill>
              <a:latin typeface="Calibri"/>
              <a:ea typeface="Calibri"/>
              <a:cs typeface="Calibri"/>
              <a:sym typeface="Calibri"/>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{{R_5}}</a:t>
            </a:r>
            <a:endParaRPr sz="900" b="0" i="0" u="none" strike="noStrike" cap="none">
              <a:solidFill>
                <a:srgbClr val="333333"/>
              </a:solidFill>
              <a:latin typeface="Calibri"/>
              <a:ea typeface="Calibri"/>
              <a:cs typeface="Calibri"/>
              <a:sym typeface="Calibri"/>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{{RC_5}}</a:t>
            </a:r>
            <a:endParaRPr sz="900" b="0" i="0" u="none" strike="noStrike" cap="none">
              <a:solidFill>
                <a:srgbClr val="333333"/>
              </a:solidFill>
              <a:latin typeface="Calibri"/>
              <a:ea typeface="Calibri"/>
              <a:cs typeface="Calibri"/>
              <a:sym typeface="Calibri"/>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{{R_6}}</a:t>
            </a:r>
            <a:endParaRPr sz="900" b="0" i="0" u="none" strike="noStrike" cap="none">
              <a:solidFill>
                <a:srgbClr val="333333"/>
              </a:solidFill>
              <a:latin typeface="Calibri"/>
              <a:ea typeface="Calibri"/>
              <a:cs typeface="Calibri"/>
              <a:sym typeface="Calibri"/>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{{RC_6}}</a:t>
            </a:r>
            <a:endParaRPr sz="900" b="0" i="0" u="none" strike="noStrike" cap="none">
              <a:solidFill>
                <a:srgbClr val="333333"/>
              </a:solidFill>
              <a:latin typeface="Calibri"/>
              <a:ea typeface="Calibri"/>
              <a:cs typeface="Calibri"/>
              <a:sym typeface="Calibri"/>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7"/>
              </a:rPr>
              <a:t>Container Registries </a:t>
            </a:r>
            <a:r>
              <a:rPr lang="en" sz="1300" b="0" i="0" u="none" strike="noStrike" cap="none">
                <a:solidFill>
                  <a:schemeClr val="hlink"/>
                </a:solidFill>
                <a:uFill>
                  <a:noFill/>
                </a:uFill>
                <a:latin typeface="Calibri"/>
                <a:ea typeface="Calibri"/>
                <a:cs typeface="Calibri"/>
                <a:sym typeface="Calibri"/>
                <a:hlinkClick r:id="rId7"/>
              </a:rPr>
              <a:t>↗</a:t>
            </a:r>
            <a:endParaRPr sz="1100" b="0" i="0" u="none" strike="noStrike" cap="none">
              <a:solidFill>
                <a:srgbClr val="0254EC"/>
              </a:solidFill>
              <a:latin typeface="Calibri"/>
              <a:ea typeface="Calibri"/>
              <a:cs typeface="Calibri"/>
              <a:sym typeface="Calibri"/>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{{R_1}}</a:t>
            </a:r>
            <a:endParaRPr sz="900" b="0" i="0" u="none" strike="noStrike" cap="none">
              <a:solidFill>
                <a:srgbClr val="333333"/>
              </a:solidFill>
              <a:latin typeface="Calibri"/>
              <a:ea typeface="Calibri"/>
              <a:cs typeface="Calibri"/>
              <a:sym typeface="Calibri"/>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{{RC_1}}</a:t>
            </a:r>
            <a:endParaRPr sz="900" b="0" i="0" u="none" strike="noStrike" cap="none">
              <a:solidFill>
                <a:srgbClr val="333333"/>
              </a:solidFill>
              <a:latin typeface="Calibri"/>
              <a:ea typeface="Calibri"/>
              <a:cs typeface="Calibri"/>
              <a:sym typeface="Calibri"/>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Do you have visibility into </a:t>
            </a:r>
            <a:r>
              <a:rPr lang="en" sz="900" b="0" i="1" u="none" strike="noStrike" cap="none">
                <a:solidFill>
                  <a:srgbClr val="333333"/>
                </a:solidFill>
                <a:latin typeface="Calibri"/>
                <a:ea typeface="Calibri"/>
                <a:cs typeface="Calibri"/>
                <a:sym typeface="Calibri"/>
              </a:rPr>
              <a:t>all </a:t>
            </a:r>
            <a:br>
              <a:rPr lang="en" sz="900" b="0" i="1" u="none" strike="noStrike" cap="none">
                <a:solidFill>
                  <a:srgbClr val="333333"/>
                </a:solidFill>
                <a:latin typeface="Calibri"/>
                <a:ea typeface="Calibri"/>
                <a:cs typeface="Calibri"/>
                <a:sym typeface="Calibri"/>
              </a:rPr>
            </a:br>
            <a:r>
              <a:rPr lang="en" sz="900" b="0" i="0" u="none" strike="noStrike" cap="none">
                <a:solidFill>
                  <a:srgbClr val="333333"/>
                </a:solidFill>
                <a:latin typeface="Calibri"/>
                <a:ea typeface="Calibri"/>
                <a:cs typeface="Calibri"/>
                <a:sym typeface="Calibri"/>
              </a:rPr>
              <a:t>of your Registries?</a:t>
            </a:r>
            <a:br>
              <a:rPr lang="en" sz="900" b="0" i="0" u="none" strike="noStrike" cap="none">
                <a:solidFill>
                  <a:srgbClr val="333333"/>
                </a:solidFill>
                <a:latin typeface="Calibri"/>
                <a:ea typeface="Calibri"/>
                <a:cs typeface="Calibri"/>
                <a:sym typeface="Calibri"/>
              </a:rPr>
            </a:br>
            <a:r>
              <a:rPr lang="en" sz="900" b="0" i="0" u="none" strike="noStrike" cap="none">
                <a:solidFill>
                  <a:srgbClr val="333333"/>
                </a:solidFill>
                <a:latin typeface="Calibri"/>
                <a:ea typeface="Calibri"/>
                <a:cs typeface="Calibri"/>
                <a:sym typeface="Calibri"/>
              </a:rPr>
              <a:t>jFrog, Sonatype Nexus, etc. </a:t>
            </a:r>
            <a:endParaRPr sz="900" b="0" i="0" u="none" strike="noStrike" cap="none">
              <a:solidFill>
                <a:srgbClr val="333333"/>
              </a:solidFill>
              <a:latin typeface="Calibri"/>
              <a:ea typeface="Calibri"/>
              <a:cs typeface="Calibri"/>
              <a:sym typeface="Calibri"/>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Other</a:t>
            </a:r>
            <a:endParaRPr sz="9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{{K8C_OTH}}</a:t>
            </a:r>
            <a:endParaRPr sz="900" b="1" i="0" u="none" strike="noStrike" cap="none">
              <a:solidFill>
                <a:srgbClr val="333333"/>
              </a:solidFill>
              <a:latin typeface="Calibri"/>
              <a:ea typeface="Calibri"/>
              <a:cs typeface="Calibri"/>
              <a:sym typeface="Calibri"/>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8"/>
              </a:rPr>
              <a:t>K8S Audit Logs Onboarded</a:t>
            </a:r>
            <a:endParaRPr sz="900" b="0" i="0" u="none" strike="noStrike" cap="none">
              <a:solidFill>
                <a:srgbClr val="0254EC"/>
              </a:solidFill>
              <a:latin typeface="Calibri"/>
              <a:ea typeface="Calibri"/>
              <a:cs typeface="Calibri"/>
              <a:sym typeface="Calibri"/>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9"/>
              </a:rPr>
              <a:t>Sensor Active (Runtime)</a:t>
            </a:r>
            <a:endParaRPr sz="900" b="0" i="0" u="none" strike="noStrike" cap="none">
              <a:solidFill>
                <a:srgbClr val="0254EC"/>
              </a:solidFill>
              <a:latin typeface="Calibri"/>
              <a:ea typeface="Calibri"/>
              <a:cs typeface="Calibri"/>
              <a:sym typeface="Calibri"/>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{{KC_SE}}</a:t>
            </a:r>
            <a:endParaRPr sz="1000" b="1" i="0" u="none" strike="noStrike" cap="none">
              <a:solidFill>
                <a:srgbClr val="333333"/>
              </a:solidFill>
              <a:latin typeface="Calibri"/>
              <a:ea typeface="Calibri"/>
              <a:cs typeface="Calibri"/>
              <a:sym typeface="Calibri"/>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{{KC_CLI}}</a:t>
            </a:r>
            <a:endParaRPr sz="1000" b="1" i="0" u="none" strike="noStrike" cap="none">
              <a:solidFill>
                <a:srgbClr val="333333"/>
              </a:solidFill>
              <a:latin typeface="Calibri"/>
              <a:ea typeface="Calibri"/>
              <a:cs typeface="Calibri"/>
              <a:sym typeface="Calibri"/>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0"/>
              </a:rPr>
              <a:t>Internet-Accessible</a:t>
            </a:r>
            <a:endParaRPr sz="900" b="0" i="0" u="none" strike="noStrike" cap="none">
              <a:solidFill>
                <a:srgbClr val="0254EC"/>
              </a:solidFill>
              <a:latin typeface="Calibri"/>
              <a:ea typeface="Calibri"/>
              <a:cs typeface="Calibri"/>
              <a:sym typeface="Calibri"/>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{{KG_IA}}</a:t>
            </a:r>
            <a:endParaRPr sz="1000" b="1" i="0" u="none" strike="noStrike" cap="none">
              <a:solidFill>
                <a:srgbClr val="333333"/>
              </a:solidFill>
              <a:latin typeface="Calibri"/>
              <a:ea typeface="Calibri"/>
              <a:cs typeface="Calibri"/>
              <a:sym typeface="Calibri"/>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1"/>
              </a:rPr>
              <a:t>No Wiz Connector Deployed</a:t>
            </a:r>
            <a:endParaRPr sz="900" b="0" i="0" u="none" strike="noStrike" cap="none">
              <a:solidFill>
                <a:srgbClr val="0254EC"/>
              </a:solidFill>
              <a:latin typeface="Calibri"/>
              <a:ea typeface="Calibri"/>
              <a:cs typeface="Calibri"/>
              <a:sym typeface="Calibri"/>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{{KG_NC}}</a:t>
            </a:r>
            <a:endParaRPr sz="1000" b="1" i="0" u="none" strike="noStrike" cap="none">
              <a:solidFill>
                <a:srgbClr val="333333"/>
              </a:solidFill>
              <a:latin typeface="Calibri"/>
              <a:ea typeface="Calibri"/>
              <a:cs typeface="Calibri"/>
              <a:sym typeface="Calibri"/>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2"/>
              </a:rPr>
              <a:t>No K8S Audit Logs</a:t>
            </a:r>
            <a:endParaRPr sz="900" b="0" i="0" u="none" strike="noStrike" cap="none">
              <a:solidFill>
                <a:srgbClr val="0254EC"/>
              </a:solidFill>
              <a:latin typeface="Calibri"/>
              <a:ea typeface="Calibri"/>
              <a:cs typeface="Calibri"/>
              <a:sym typeface="Calibri"/>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3"/>
              </a:rPr>
              <a:t>No Runtime Sensor</a:t>
            </a:r>
            <a:endParaRPr sz="900" b="0" i="0" u="none" strike="noStrike" cap="none">
              <a:solidFill>
                <a:srgbClr val="0254EC"/>
              </a:solidFill>
              <a:latin typeface="Calibri"/>
              <a:ea typeface="Calibri"/>
              <a:cs typeface="Calibri"/>
              <a:sym typeface="Calibri"/>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{{KG_NA}}</a:t>
            </a:r>
            <a:endParaRPr sz="1000" b="1" i="0" u="none" strike="noStrike" cap="none">
              <a:solidFill>
                <a:srgbClr val="333333"/>
              </a:solidFill>
              <a:latin typeface="Calibri"/>
              <a:ea typeface="Calibri"/>
              <a:cs typeface="Calibri"/>
              <a:sym typeface="Calibri"/>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{{KG_NS}}</a:t>
            </a:r>
            <a:endParaRPr sz="1000" b="1" i="0" u="none" strike="noStrike" cap="none">
              <a:solidFill>
                <a:srgbClr val="333333"/>
              </a:solidFill>
              <a:latin typeface="Calibri"/>
              <a:ea typeface="Calibri"/>
              <a:cs typeface="Calibri"/>
              <a:sym typeface="Calibri"/>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Do you have </a:t>
            </a:r>
            <a:r>
              <a:rPr lang="en" sz="1100" b="0" i="1" u="none" strike="noStrike" cap="none">
                <a:solidFill>
                  <a:srgbClr val="333333"/>
                </a:solidFill>
                <a:latin typeface="Calibri"/>
                <a:ea typeface="Calibri"/>
                <a:cs typeface="Calibri"/>
                <a:sym typeface="Calibri"/>
              </a:rPr>
              <a:t>full</a:t>
            </a:r>
            <a:r>
              <a:rPr lang="en" sz="1100" b="0" i="0" u="none" strike="noStrike" cap="none">
                <a:solidFill>
                  <a:srgbClr val="333333"/>
                </a:solidFill>
                <a:latin typeface="Calibri"/>
                <a:ea typeface="Calibri"/>
                <a:cs typeface="Calibri"/>
                <a:sym typeface="Calibri"/>
              </a:rPr>
              <a:t> visibility?</a:t>
            </a:r>
            <a:endParaRPr sz="1100" b="0" i="0" u="none" strike="noStrike" cap="none">
              <a:solidFill>
                <a:srgbClr val="333333"/>
              </a:solidFill>
              <a:latin typeface="Calibri"/>
              <a:ea typeface="Calibri"/>
              <a:cs typeface="Calibri"/>
              <a:sym typeface="Calibri"/>
            </a:endParaRPr>
          </a:p>
        </p:txBody>
      </p:sp>
      <p:pic>
        <p:nvPicPr>
          <p:cNvPr id="830" name="Google Shape;830;p61"/>
          <p:cNvPicPr preferRelativeResize="0"/>
          <p:nvPr/>
        </p:nvPicPr>
        <p:blipFill rotWithShape="1">
          <a:blip r:embed="rId14">
            <a:alphaModFix/>
          </a:blip>
          <a:srcRect/>
          <a:stretch/>
        </p:blipFill>
        <p:spPr>
          <a:xfrm>
            <a:off x="3550644" y="2777812"/>
            <a:ext cx="2785632" cy="527016"/>
          </a:xfrm>
          <a:prstGeom prst="rect">
            <a:avLst/>
          </a:prstGeom>
          <a:noFill/>
          <a:ln w="9525" cap="flat" cmpd="sng">
            <a:solidFill>
              <a:schemeClr val="accent1"/>
            </a:solidFill>
            <a:prstDash val="solid"/>
            <a:round/>
            <a:headEnd type="none" w="sm" len="sm"/>
            <a:tailEnd type="none" w="sm" len="sm"/>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a:ea typeface="Calibri"/>
                <a:cs typeface="Calibri"/>
                <a:sym typeface="Calibri"/>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a:ea typeface="Calibri"/>
              <a:cs typeface="Calibri"/>
              <a:sym typeface="Calibri"/>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a:ea typeface="Calibri"/>
              <a:cs typeface="Calibri"/>
              <a:sym typeface="Calibri"/>
            </a:endParaRPr>
          </a:p>
          <a:p>
            <a:pPr marL="0" marR="0" lvl="0" indent="0" algn="ctr" rtl="0">
              <a:lnSpc>
                <a:spcPct val="100000"/>
              </a:lnSpc>
              <a:spcBef>
                <a:spcPts val="0"/>
              </a:spcBef>
              <a:spcAft>
                <a:spcPts val="0"/>
              </a:spcAft>
              <a:buClr>
                <a:srgbClr val="1F2937"/>
              </a:buClr>
              <a:buSzPts val="800"/>
              <a:buFont typeface="Arial"/>
              <a:buNone/>
            </a:pPr>
            <a:r>
              <a:rPr lang="en" sz="800" b="0" i="0" u="none" strike="noStrike" cap="none">
                <a:solidFill>
                  <a:srgbClr val="222222"/>
                </a:solidFill>
                <a:latin typeface="Calibri"/>
                <a:ea typeface="Calibri"/>
                <a:cs typeface="Calibri"/>
                <a:sym typeface="Calibri"/>
              </a:rPr>
              <a:t>Are you tagging your Images? Correlate the Docker image to the CI phase, gain further insights, and potentially improve your CI/CD pipeline conduct</a:t>
            </a:r>
            <a:endParaRPr sz="800" b="0" i="0" u="none" strike="noStrike" cap="none">
              <a:solidFill>
                <a:srgbClr val="222222"/>
              </a:solidFill>
              <a:latin typeface="Calibri"/>
              <a:ea typeface="Calibri"/>
              <a:cs typeface="Calibri"/>
              <a:sym typeface="Calibri"/>
            </a:endParaRPr>
          </a:p>
        </p:txBody>
      </p:sp>
      <p:sp>
        <p:nvSpPr>
          <p:cNvPr id="832" name="Google Shape;832;p61"/>
          <p:cNvSpPr txBox="1"/>
          <p:nvPr/>
        </p:nvSpPr>
        <p:spPr>
          <a:xfrm>
            <a:off x="5372947"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{{CL_CLD}}</a:t>
            </a:r>
            <a:endParaRPr sz="900" b="1" i="0" u="none" strike="noStrike" cap="none">
              <a:solidFill>
                <a:srgbClr val="333333"/>
              </a:solidFill>
              <a:latin typeface="Calibri"/>
              <a:ea typeface="Calibri"/>
              <a:cs typeface="Calibri"/>
              <a:sym typeface="Calibri"/>
            </a:endParaRPr>
          </a:p>
        </p:txBody>
      </p:sp>
      <p:sp>
        <p:nvSpPr>
          <p:cNvPr id="833" name="Google Shape;833;p61"/>
          <p:cNvSpPr txBox="1"/>
          <p:nvPr/>
        </p:nvSpPr>
        <p:spPr>
          <a:xfrm>
            <a:off x="5845145"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{{CL_RT}}</a:t>
            </a:r>
            <a:endParaRPr sz="900" b="1" i="0" u="none" strike="noStrike" cap="none">
              <a:solidFill>
                <a:srgbClr val="333333"/>
              </a:solidFill>
              <a:latin typeface="Calibri"/>
              <a:ea typeface="Calibri"/>
              <a:cs typeface="Calibri"/>
              <a:sym typeface="Calibri"/>
            </a:endParaRPr>
          </a:p>
        </p:txBody>
      </p:sp>
      <p:sp>
        <p:nvSpPr>
          <p:cNvPr id="834" name="Google Shape;834;p61"/>
          <p:cNvSpPr txBox="1"/>
          <p:nvPr/>
        </p:nvSpPr>
        <p:spPr>
          <a:xfrm>
            <a:off x="4900748"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{{CL_DEP}}</a:t>
            </a:r>
            <a:endParaRPr sz="900" b="1" i="0" u="none" strike="noStrike" cap="none">
              <a:solidFill>
                <a:srgbClr val="333333"/>
              </a:solidFill>
              <a:latin typeface="Calibri"/>
              <a:ea typeface="Calibri"/>
              <a:cs typeface="Calibri"/>
              <a:sym typeface="Calibri"/>
            </a:endParaRPr>
          </a:p>
        </p:txBody>
      </p:sp>
      <p:sp>
        <p:nvSpPr>
          <p:cNvPr id="835" name="Google Shape;835;p61"/>
          <p:cNvSpPr txBox="1"/>
          <p:nvPr/>
        </p:nvSpPr>
        <p:spPr>
          <a:xfrm>
            <a:off x="3956352"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{{CL_BLD}}</a:t>
            </a:r>
            <a:endParaRPr sz="900" b="1" i="0" u="none" strike="noStrike" cap="none">
              <a:solidFill>
                <a:srgbClr val="333333"/>
              </a:solidFill>
              <a:latin typeface="Calibri"/>
              <a:ea typeface="Calibri"/>
              <a:cs typeface="Calibri"/>
              <a:sym typeface="Calibri"/>
            </a:endParaRPr>
          </a:p>
        </p:txBody>
      </p:sp>
      <p:sp>
        <p:nvSpPr>
          <p:cNvPr id="836" name="Google Shape;836;p61"/>
          <p:cNvSpPr txBox="1"/>
          <p:nvPr/>
        </p:nvSpPr>
        <p:spPr>
          <a:xfrm>
            <a:off x="4428550"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{{CL_STR}}</a:t>
            </a:r>
            <a:endParaRPr sz="900" b="1" i="0" u="none" strike="noStrike" cap="none">
              <a:solidFill>
                <a:srgbClr val="333333"/>
              </a:solidFill>
              <a:latin typeface="Calibri"/>
              <a:ea typeface="Calibri"/>
              <a:cs typeface="Calibri"/>
              <a:sym typeface="Calibri"/>
            </a:endParaRPr>
          </a:p>
        </p:txBody>
      </p:sp>
      <p:sp>
        <p:nvSpPr>
          <p:cNvPr id="837" name="Google Shape;837;p61"/>
          <p:cNvSpPr txBox="1"/>
          <p:nvPr/>
        </p:nvSpPr>
        <p:spPr>
          <a:xfrm>
            <a:off x="3484154"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{{CL_CODE}}</a:t>
            </a:r>
            <a:endParaRPr sz="900" b="1" i="0" u="none" strike="noStrike" cap="none">
              <a:solidFill>
                <a:srgbClr val="333333"/>
              </a:solidFill>
              <a:latin typeface="Calibri"/>
              <a:ea typeface="Calibri"/>
              <a:cs typeface="Calibri"/>
              <a:sym typeface="Calibri"/>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{{R_CON}}</a:t>
            </a:r>
            <a:endParaRPr sz="900" b="0" i="0" u="none" strike="noStrike" cap="none">
              <a:solidFill>
                <a:srgbClr val="333333"/>
              </a:solidFill>
              <a:latin typeface="Calibri"/>
              <a:ea typeface="Calibri"/>
              <a:cs typeface="Calibri"/>
              <a:sym typeface="Calibri"/>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{{R_AUT}}</a:t>
            </a:r>
            <a:endParaRPr sz="900" b="0" i="0" u="none" strike="noStrike" cap="none">
              <a:solidFill>
                <a:srgbClr val="333333"/>
              </a:solidFill>
              <a:latin typeface="Calibri"/>
              <a:ea typeface="Calibri"/>
              <a:cs typeface="Calibri"/>
              <a:sym typeface="Calibri"/>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5"/>
              </a:rPr>
              <a:t>Connector</a:t>
            </a:r>
            <a:endParaRPr sz="900" b="0" i="0" u="none" strike="noStrike" cap="none">
              <a:solidFill>
                <a:srgbClr val="0254EC"/>
              </a:solidFill>
              <a:latin typeface="Calibri"/>
              <a:ea typeface="Calibri"/>
              <a:cs typeface="Calibri"/>
              <a:sym typeface="Calibri"/>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6"/>
              </a:rPr>
              <a:t>Global</a:t>
            </a:r>
            <a:endParaRPr sz="900" b="0" i="0" u="none" strike="noStrike" cap="none">
              <a:solidFill>
                <a:srgbClr val="0254EC"/>
              </a:solidFill>
              <a:latin typeface="Calibri"/>
              <a:ea typeface="Calibri"/>
              <a:cs typeface="Calibri"/>
              <a:sym typeface="Calibri"/>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7"/>
              </a:rPr>
              <a:t>Custom</a:t>
            </a:r>
            <a:endParaRPr sz="900" b="0" i="0" u="none" strike="noStrike" cap="none">
              <a:solidFill>
                <a:srgbClr val="0254EC"/>
              </a:solidFill>
              <a:latin typeface="Calibri"/>
              <a:ea typeface="Calibri"/>
              <a:cs typeface="Calibri"/>
              <a:sym typeface="Calibri"/>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{{R_CUS}}</a:t>
            </a:r>
            <a:endParaRPr sz="900" b="0" i="0" u="none" strike="noStrike" cap="none">
              <a:solidFill>
                <a:srgbClr val="333333"/>
              </a:solidFill>
              <a:latin typeface="Calibri"/>
              <a:ea typeface="Calibri"/>
              <a:cs typeface="Calibri"/>
              <a:sym typeface="Calibri"/>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a:ea typeface="Calibri"/>
                <a:cs typeface="Calibri"/>
                <a:sym typeface="Calibri"/>
              </a:rPr>
              <a:t>Scanning Config Type</a:t>
            </a:r>
            <a:endParaRPr sz="1200" b="0" i="0" u="none" strike="noStrike" cap="none">
              <a:solidFill>
                <a:srgbClr val="333333"/>
              </a:solidFill>
              <a:latin typeface="Calibri"/>
              <a:ea typeface="Calibri"/>
              <a:cs typeface="Calibri"/>
              <a:sym typeface="Calibri"/>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pic>
        <p:nvPicPr>
          <p:cNvPr id="1414" name="Google Shape;1414;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5" name="Google Shape;1415;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6" name="Google Shape;1416;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7" name="Google Shape;1417;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Kubernetes Connector Rollout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418" name="Google Shape;1418;p69"/>
          <p:cNvSpPr txBox="1"/>
          <p:nvPr/>
        </p:nvSpPr>
        <p:spPr>
          <a:xfrm>
            <a:off x="343146"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Cluster architectures more effectively in Wiz.</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Allows Wiz to assess K8S clusters directly via the Kubernetes API, to identify risks associated with K8S specific identities, secretes, configs, etc.</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419" name="Google Shape;1419;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0" name="Google Shape;1420;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WizOS &amp; Image Tagging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421" name="Google Shape;1421;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2" name="Google Shape;1422;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3" name="Google Shape;1423;p69"/>
          <p:cNvSpPr txBox="1"/>
          <p:nvPr/>
        </p:nvSpPr>
        <p:spPr>
          <a:xfrm>
            <a:off x="6132378" y="3066795"/>
            <a:ext cx="2575800" cy="15006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Scan your repos for vulnerabilities, SAST flaws, IaC misconfigurations, secrets and Malware</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Allow Developers to scan their code at the IDE</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Scan PRs and (optionally) block merges that introduce risk </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Trace every risk back to its origin. Catch risks at the source, before they ship.</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424" name="Google Shape;1424;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Full Code-to-Cloud Context </a:t>
            </a:r>
            <a:b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Wiz Code POV</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425" name="Google Shape;1425;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6" name="Google Shape;1426;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Mature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for Developing Securely Improvements</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427" name="Google Shape;1427;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8" name="Google Shape;1428;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9" name="Google Shape;1429;p69"/>
          <p:cNvSpPr txBox="1"/>
          <p:nvPr/>
        </p:nvSpPr>
        <p:spPr>
          <a:xfrm>
            <a:off x="3262836"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Build on a clean image base with WizOS. Hardened, minimal, near-zero-CVE base images.</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Allows Enforce quality with proper image tagging via Wiz CLI. Stamps each image by digest, giving full code-to-cloud traceability.</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a:ea typeface="Calibri"/>
                <a:cs typeface="Calibri"/>
                <a:sym typeface="Calibri"/>
              </a:rPr>
              <a:t>Best Practice Review</a:t>
            </a:r>
            <a:endParaRPr sz="2700" b="0" i="0" u="none" strike="noStrike" cap="none" dirty="0">
              <a:solidFill>
                <a:schemeClr val="lt1"/>
              </a:solidFill>
              <a:latin typeface="Calibri"/>
              <a:ea typeface="Calibri"/>
              <a:cs typeface="Calibri"/>
              <a:sym typeface="Calibri"/>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2" name="Google Shape;922;p63"/>
          <p:cNvSpPr/>
          <p:nvPr/>
        </p:nvSpPr>
        <p:spPr>
          <a:xfrm>
            <a:off x="239233" y="868680"/>
            <a:ext cx="4224479"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3" name="Google Shape;923;p63"/>
          <p:cNvSpPr/>
          <p:nvPr/>
        </p:nvSpPr>
        <p:spPr>
          <a:xfrm>
            <a:off x="243488" y="868680"/>
            <a:ext cx="9334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676033" y="868680"/>
            <a:ext cx="4224479"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8" name="Google Shape;958;p63"/>
          <p:cNvSpPr/>
          <p:nvPr/>
        </p:nvSpPr>
        <p:spPr>
          <a:xfrm>
            <a:off x="4678332" y="868680"/>
            <a:ext cx="9144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8" name="Google Shape;1008;p63"/>
          <p:cNvSpPr/>
          <p:nvPr/>
        </p:nvSpPr>
        <p:spPr>
          <a:xfrm>
            <a:off x="239233" y="867612"/>
            <a:ext cx="4224479" cy="414676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09" name="Google Shape;1009;p63"/>
          <p:cNvSpPr/>
          <p:nvPr/>
        </p:nvSpPr>
        <p:spPr>
          <a:xfrm>
            <a:off x="4676033" y="867086"/>
            <a:ext cx="4224479" cy="41940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4"/>
        <p:cNvGrpSpPr/>
        <p:nvPr/>
      </p:nvGrpSpPr>
      <p:grpSpPr>
        <a:xfrm>
          <a:off x="0" y="0"/>
          <a:ext cx="0" cy="0"/>
          <a:chOff x="0" y="0"/>
          <a:chExt cx="0" cy="0"/>
        </a:xfrm>
      </p:grpSpPr>
      <p:pic>
        <p:nvPicPr>
          <p:cNvPr id="1015" name="Google Shape;1015;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6" name="Google Shape;1016;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17" name="Google Shape;1017;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18" name="Google Shape;1018;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19" name="Google Shape;1019;p64"/>
          <p:cNvSpPr/>
          <p:nvPr/>
        </p:nvSpPr>
        <p:spPr>
          <a:xfrm>
            <a:off x="239233" y="868680"/>
            <a:ext cx="4224479"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0" name="Google Shape;1020;p64"/>
          <p:cNvSpPr/>
          <p:nvPr/>
        </p:nvSpPr>
        <p:spPr>
          <a:xfrm>
            <a:off x="243492" y="868680"/>
            <a:ext cx="93336"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2" name="Google Shape;1022;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6" name="Google Shape;1026;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27" name="Google Shape;1027;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8" name="Google Shape;1028;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0" name="Google Shape;1030;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31" name="Google Shape;1031;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2" name="Google Shape;1032;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4" name="Google Shape;1034;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35" name="Google Shape;1035;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6" name="Google Shape;1036;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8" name="Google Shape;1038;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39" name="Google Shape;1039;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40" name="Google Shape;1040;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2" name="Google Shape;1042;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43" name="Google Shape;1043;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4" name="Google Shape;1044;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6" name="Google Shape;1046;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47" name="Google Shape;1047;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8" name="Google Shape;1048;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1" name="Google Shape;1051;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52" name="Google Shape;1052;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3" name="Google Shape;1053;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6" name="Google Shape;1056;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57" name="Google Shape;1057;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8" name="Google Shape;1058;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1" name="Google Shape;1061;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62" name="Google Shape;1062;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3" name="Google Shape;1063;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5" name="Google Shape;1065;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66" name="Google Shape;1066;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7" name="Google Shape;1067;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9" name="Google Shape;1069;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70" name="Google Shape;1070;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1" name="Google Shape;1071;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3" name="Google Shape;1073;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74" name="Google Shape;1074;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5" name="Google Shape;1075;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7" name="Google Shape;1077;p64"/>
          <p:cNvSpPr/>
          <p:nvPr/>
        </p:nvSpPr>
        <p:spPr>
          <a:xfrm>
            <a:off x="4671607" y="799572"/>
            <a:ext cx="4224479"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8" name="Google Shape;1078;p64"/>
          <p:cNvSpPr/>
          <p:nvPr/>
        </p:nvSpPr>
        <p:spPr>
          <a:xfrm flipH="1">
            <a:off x="4672397" y="799572"/>
            <a:ext cx="92559"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937760" y="77874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0" name="Google Shape;1080;p64"/>
          <p:cNvSpPr/>
          <p:nvPr/>
        </p:nvSpPr>
        <p:spPr>
          <a:xfrm>
            <a:off x="4800600" y="1132096"/>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4892040" y="1132096"/>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6916585" y="1132096"/>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7869988" y="1132096"/>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4" name="Google Shape;1084;p64"/>
          <p:cNvSpPr/>
          <p:nvPr/>
        </p:nvSpPr>
        <p:spPr>
          <a:xfrm>
            <a:off x="4800600" y="133326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85" name="Google Shape;1085;p64"/>
          <p:cNvCxnSpPr/>
          <p:nvPr/>
        </p:nvCxnSpPr>
        <p:spPr>
          <a:xfrm>
            <a:off x="4800600" y="1521418"/>
            <a:ext cx="3977700" cy="0"/>
          </a:xfrm>
          <a:prstGeom prst="straightConnector1">
            <a:avLst/>
          </a:prstGeom>
          <a:noFill/>
          <a:ln w="9525" cap="flat" cmpd="sng">
            <a:solidFill>
              <a:srgbClr val="888888"/>
            </a:solidFill>
            <a:prstDash val="solid"/>
            <a:round/>
            <a:headEnd type="none" w="sm" len="sm"/>
            <a:tailEnd type="none" w="sm" len="sm"/>
          </a:ln>
        </p:spPr>
      </p:cxnSp>
      <p:sp>
        <p:nvSpPr>
          <p:cNvPr id="1086" name="Google Shape;1086;p64"/>
          <p:cNvSpPr/>
          <p:nvPr/>
        </p:nvSpPr>
        <p:spPr>
          <a:xfrm>
            <a:off x="4892040" y="133326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6883223" y="133326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{{DSS_ON}}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8" name="Google Shape;1088;p64"/>
          <p:cNvSpPr/>
          <p:nvPr/>
        </p:nvSpPr>
        <p:spPr>
          <a:xfrm>
            <a:off x="4800600" y="152141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89" name="Google Shape;1089;p64"/>
          <p:cNvCxnSpPr/>
          <p:nvPr/>
        </p:nvCxnSpPr>
        <p:spPr>
          <a:xfrm>
            <a:off x="4800600" y="1773843"/>
            <a:ext cx="3977700" cy="0"/>
          </a:xfrm>
          <a:prstGeom prst="straightConnector1">
            <a:avLst/>
          </a:prstGeom>
          <a:noFill/>
          <a:ln w="9525" cap="flat" cmpd="sng">
            <a:solidFill>
              <a:srgbClr val="888888"/>
            </a:solidFill>
            <a:prstDash val="solid"/>
            <a:round/>
            <a:headEnd type="none" w="sm" len="sm"/>
            <a:tailEnd type="none" w="sm" len="sm"/>
          </a:ln>
        </p:spPr>
      </p:cxnSp>
      <p:sp>
        <p:nvSpPr>
          <p:cNvPr id="1090" name="Google Shape;1090;p64"/>
          <p:cNvSpPr/>
          <p:nvPr/>
        </p:nvSpPr>
        <p:spPr>
          <a:xfrm>
            <a:off x="4892044" y="1523856"/>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6883221" y="1523417"/>
            <a:ext cx="1091197"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{{DSS_BUCK}}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7864530" y="1527427"/>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3" name="Google Shape;1093;p64"/>
          <p:cNvSpPr/>
          <p:nvPr/>
        </p:nvSpPr>
        <p:spPr>
          <a:xfrm>
            <a:off x="4800600" y="17951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94" name="Google Shape;1094;p64"/>
          <p:cNvCxnSpPr/>
          <p:nvPr/>
        </p:nvCxnSpPr>
        <p:spPr>
          <a:xfrm>
            <a:off x="4800600" y="1983260"/>
            <a:ext cx="3977700" cy="0"/>
          </a:xfrm>
          <a:prstGeom prst="straightConnector1">
            <a:avLst/>
          </a:prstGeom>
          <a:noFill/>
          <a:ln w="9525" cap="flat" cmpd="sng">
            <a:solidFill>
              <a:srgbClr val="888888"/>
            </a:solidFill>
            <a:prstDash val="solid"/>
            <a:round/>
            <a:headEnd type="none" w="sm" len="sm"/>
            <a:tailEnd type="none" w="sm" len="sm"/>
          </a:ln>
        </p:spPr>
      </p:cxnSp>
      <p:sp>
        <p:nvSpPr>
          <p:cNvPr id="1095" name="Google Shape;1095;p64"/>
          <p:cNvSpPr/>
          <p:nvPr/>
        </p:nvSpPr>
        <p:spPr>
          <a:xfrm>
            <a:off x="4892040" y="17939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6883223" y="17951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7" name="Google Shape;1097;p64"/>
          <p:cNvSpPr/>
          <p:nvPr/>
        </p:nvSpPr>
        <p:spPr>
          <a:xfrm>
            <a:off x="4800600" y="19832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98" name="Google Shape;1098;p64"/>
          <p:cNvCxnSpPr/>
          <p:nvPr/>
        </p:nvCxnSpPr>
        <p:spPr>
          <a:xfrm>
            <a:off x="4800600" y="2171414"/>
            <a:ext cx="3977700" cy="0"/>
          </a:xfrm>
          <a:prstGeom prst="straightConnector1">
            <a:avLst/>
          </a:prstGeom>
          <a:noFill/>
          <a:ln w="9525" cap="flat" cmpd="sng">
            <a:solidFill>
              <a:srgbClr val="888888"/>
            </a:solidFill>
            <a:prstDash val="solid"/>
            <a:round/>
            <a:headEnd type="none" w="sm" len="sm"/>
            <a:tailEnd type="none" w="sm" len="sm"/>
          </a:ln>
        </p:spPr>
      </p:cxnSp>
      <p:sp>
        <p:nvSpPr>
          <p:cNvPr id="1099" name="Google Shape;1099;p64"/>
          <p:cNvSpPr/>
          <p:nvPr/>
        </p:nvSpPr>
        <p:spPr>
          <a:xfrm>
            <a:off x="4892040" y="19845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6883223" y="19832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1" name="Google Shape;1101;p64"/>
          <p:cNvSpPr/>
          <p:nvPr/>
        </p:nvSpPr>
        <p:spPr>
          <a:xfrm>
            <a:off x="4800600" y="255347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02" name="Google Shape;1102;p64"/>
          <p:cNvCxnSpPr/>
          <p:nvPr/>
        </p:nvCxnSpPr>
        <p:spPr>
          <a:xfrm>
            <a:off x="4800600" y="2741624"/>
            <a:ext cx="3977700" cy="0"/>
          </a:xfrm>
          <a:prstGeom prst="straightConnector1">
            <a:avLst/>
          </a:prstGeom>
          <a:noFill/>
          <a:ln w="9525" cap="flat" cmpd="sng">
            <a:solidFill>
              <a:srgbClr val="888888"/>
            </a:solidFill>
            <a:prstDash val="solid"/>
            <a:round/>
            <a:headEnd type="none" w="sm" len="sm"/>
            <a:tailEnd type="none" w="sm" len="sm"/>
          </a:ln>
        </p:spPr>
      </p:cxnSp>
      <p:sp>
        <p:nvSpPr>
          <p:cNvPr id="1103" name="Google Shape;1103;p64"/>
          <p:cNvSpPr/>
          <p:nvPr/>
        </p:nvSpPr>
        <p:spPr>
          <a:xfrm>
            <a:off x="4892040" y="25563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6883223" y="255347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5" name="Google Shape;1105;p64"/>
          <p:cNvSpPr/>
          <p:nvPr/>
        </p:nvSpPr>
        <p:spPr>
          <a:xfrm>
            <a:off x="7864530" y="2578982"/>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6" name="Google Shape;1106;p64"/>
          <p:cNvSpPr/>
          <p:nvPr/>
        </p:nvSpPr>
        <p:spPr>
          <a:xfrm>
            <a:off x="4800600" y="2741624"/>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07" name="Google Shape;1107;p64"/>
          <p:cNvCxnSpPr/>
          <p:nvPr/>
        </p:nvCxnSpPr>
        <p:spPr>
          <a:xfrm>
            <a:off x="4800600" y="2929777"/>
            <a:ext cx="3977700" cy="0"/>
          </a:xfrm>
          <a:prstGeom prst="straightConnector1">
            <a:avLst/>
          </a:prstGeom>
          <a:noFill/>
          <a:ln w="9525" cap="flat" cmpd="sng">
            <a:solidFill>
              <a:srgbClr val="888888"/>
            </a:solidFill>
            <a:prstDash val="solid"/>
            <a:round/>
            <a:headEnd type="none" w="sm" len="sm"/>
            <a:tailEnd type="none" w="sm" len="sm"/>
          </a:ln>
        </p:spPr>
      </p:cxnSp>
      <p:sp>
        <p:nvSpPr>
          <p:cNvPr id="1108" name="Google Shape;1108;p64"/>
          <p:cNvSpPr/>
          <p:nvPr/>
        </p:nvSpPr>
        <p:spPr>
          <a:xfrm>
            <a:off x="4892040" y="27469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6883223" y="274162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0" name="Google Shape;1110;p64"/>
          <p:cNvSpPr/>
          <p:nvPr/>
        </p:nvSpPr>
        <p:spPr>
          <a:xfrm>
            <a:off x="4800600" y="292977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11" name="Google Shape;1111;p64"/>
          <p:cNvCxnSpPr/>
          <p:nvPr/>
        </p:nvCxnSpPr>
        <p:spPr>
          <a:xfrm>
            <a:off x="4800600" y="3117931"/>
            <a:ext cx="3977700" cy="0"/>
          </a:xfrm>
          <a:prstGeom prst="straightConnector1">
            <a:avLst/>
          </a:prstGeom>
          <a:noFill/>
          <a:ln w="9525" cap="flat" cmpd="sng">
            <a:solidFill>
              <a:srgbClr val="888888"/>
            </a:solidFill>
            <a:prstDash val="solid"/>
            <a:round/>
            <a:headEnd type="none" w="sm" len="sm"/>
            <a:tailEnd type="none" w="sm" len="sm"/>
          </a:ln>
        </p:spPr>
      </p:cxnSp>
      <p:sp>
        <p:nvSpPr>
          <p:cNvPr id="1112" name="Google Shape;1112;p64"/>
          <p:cNvSpPr/>
          <p:nvPr/>
        </p:nvSpPr>
        <p:spPr>
          <a:xfrm>
            <a:off x="4892040" y="29375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6883223" y="292977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4" name="Google Shape;1114;p64"/>
          <p:cNvSpPr/>
          <p:nvPr/>
        </p:nvSpPr>
        <p:spPr>
          <a:xfrm>
            <a:off x="4800600" y="311793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15" name="Google Shape;1115;p64"/>
          <p:cNvCxnSpPr/>
          <p:nvPr/>
        </p:nvCxnSpPr>
        <p:spPr>
          <a:xfrm>
            <a:off x="4800600" y="3306084"/>
            <a:ext cx="3977700" cy="0"/>
          </a:xfrm>
          <a:prstGeom prst="straightConnector1">
            <a:avLst/>
          </a:prstGeom>
          <a:noFill/>
          <a:ln w="9525" cap="flat" cmpd="sng">
            <a:solidFill>
              <a:srgbClr val="888888"/>
            </a:solidFill>
            <a:prstDash val="solid"/>
            <a:round/>
            <a:headEnd type="none" w="sm" len="sm"/>
            <a:tailEnd type="none" w="sm" len="sm"/>
          </a:ln>
        </p:spPr>
      </p:cxnSp>
      <p:sp>
        <p:nvSpPr>
          <p:cNvPr id="1116" name="Google Shape;1116;p64"/>
          <p:cNvSpPr/>
          <p:nvPr/>
        </p:nvSpPr>
        <p:spPr>
          <a:xfrm>
            <a:off x="4892040" y="31280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6883223" y="311793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8" name="Google Shape;1118;p64"/>
          <p:cNvSpPr/>
          <p:nvPr/>
        </p:nvSpPr>
        <p:spPr>
          <a:xfrm>
            <a:off x="4800600" y="330608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19" name="Google Shape;1119;p64"/>
          <p:cNvCxnSpPr/>
          <p:nvPr/>
        </p:nvCxnSpPr>
        <p:spPr>
          <a:xfrm>
            <a:off x="4800600" y="3494238"/>
            <a:ext cx="3977700" cy="0"/>
          </a:xfrm>
          <a:prstGeom prst="straightConnector1">
            <a:avLst/>
          </a:prstGeom>
          <a:noFill/>
          <a:ln w="9525" cap="flat" cmpd="sng">
            <a:solidFill>
              <a:srgbClr val="888888"/>
            </a:solidFill>
            <a:prstDash val="solid"/>
            <a:round/>
            <a:headEnd type="none" w="sm" len="sm"/>
            <a:tailEnd type="none" w="sm" len="sm"/>
          </a:ln>
        </p:spPr>
      </p:cxnSp>
      <p:sp>
        <p:nvSpPr>
          <p:cNvPr id="1120" name="Google Shape;1120;p64"/>
          <p:cNvSpPr/>
          <p:nvPr/>
        </p:nvSpPr>
        <p:spPr>
          <a:xfrm>
            <a:off x="4892040" y="33186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6883223" y="330608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2" name="Google Shape;1122;p64"/>
          <p:cNvSpPr/>
          <p:nvPr/>
        </p:nvSpPr>
        <p:spPr>
          <a:xfrm>
            <a:off x="4800600" y="349423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23" name="Google Shape;1123;p64"/>
          <p:cNvCxnSpPr/>
          <p:nvPr/>
        </p:nvCxnSpPr>
        <p:spPr>
          <a:xfrm>
            <a:off x="4800600" y="3682392"/>
            <a:ext cx="3977700" cy="0"/>
          </a:xfrm>
          <a:prstGeom prst="straightConnector1">
            <a:avLst/>
          </a:prstGeom>
          <a:noFill/>
          <a:ln w="9525" cap="flat" cmpd="sng">
            <a:solidFill>
              <a:srgbClr val="888888"/>
            </a:solidFill>
            <a:prstDash val="solid"/>
            <a:round/>
            <a:headEnd type="none" w="sm" len="sm"/>
            <a:tailEnd type="none" w="sm" len="sm"/>
          </a:ln>
        </p:spPr>
      </p:cxnSp>
      <p:sp>
        <p:nvSpPr>
          <p:cNvPr id="1124" name="Google Shape;1124;p64"/>
          <p:cNvSpPr/>
          <p:nvPr/>
        </p:nvSpPr>
        <p:spPr>
          <a:xfrm>
            <a:off x="4892040" y="35092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6883223" y="349423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6" name="Google Shape;1126;p64"/>
          <p:cNvSpPr/>
          <p:nvPr/>
        </p:nvSpPr>
        <p:spPr>
          <a:xfrm>
            <a:off x="4800600" y="36823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27" name="Google Shape;1127;p64"/>
          <p:cNvCxnSpPr/>
          <p:nvPr/>
        </p:nvCxnSpPr>
        <p:spPr>
          <a:xfrm>
            <a:off x="4800600" y="3870545"/>
            <a:ext cx="3977700" cy="0"/>
          </a:xfrm>
          <a:prstGeom prst="straightConnector1">
            <a:avLst/>
          </a:prstGeom>
          <a:noFill/>
          <a:ln w="9525" cap="flat" cmpd="sng">
            <a:solidFill>
              <a:srgbClr val="888888"/>
            </a:solidFill>
            <a:prstDash val="solid"/>
            <a:round/>
            <a:headEnd type="none" w="sm" len="sm"/>
            <a:tailEnd type="none" w="sm" len="sm"/>
          </a:ln>
        </p:spPr>
      </p:cxnSp>
      <p:sp>
        <p:nvSpPr>
          <p:cNvPr id="1128" name="Google Shape;1128;p64"/>
          <p:cNvSpPr/>
          <p:nvPr/>
        </p:nvSpPr>
        <p:spPr>
          <a:xfrm>
            <a:off x="4892040" y="36998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6883223" y="36823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0" name="Google Shape;1130;p64"/>
          <p:cNvSpPr/>
          <p:nvPr/>
        </p:nvSpPr>
        <p:spPr>
          <a:xfrm>
            <a:off x="4800600" y="387054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31" name="Google Shape;1131;p64"/>
          <p:cNvCxnSpPr/>
          <p:nvPr/>
        </p:nvCxnSpPr>
        <p:spPr>
          <a:xfrm>
            <a:off x="4800600" y="4058699"/>
            <a:ext cx="3977700" cy="0"/>
          </a:xfrm>
          <a:prstGeom prst="straightConnector1">
            <a:avLst/>
          </a:prstGeom>
          <a:noFill/>
          <a:ln w="9525" cap="flat" cmpd="sng">
            <a:solidFill>
              <a:srgbClr val="888888"/>
            </a:solidFill>
            <a:prstDash val="solid"/>
            <a:round/>
            <a:headEnd type="none" w="sm" len="sm"/>
            <a:tailEnd type="none" w="sm" len="sm"/>
          </a:ln>
        </p:spPr>
      </p:cxnSp>
      <p:sp>
        <p:nvSpPr>
          <p:cNvPr id="1132" name="Google Shape;1132;p64"/>
          <p:cNvSpPr/>
          <p:nvPr/>
        </p:nvSpPr>
        <p:spPr>
          <a:xfrm>
            <a:off x="4892040" y="389046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6883223" y="387054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4" name="Google Shape;1134;p64"/>
          <p:cNvSpPr/>
          <p:nvPr/>
        </p:nvSpPr>
        <p:spPr>
          <a:xfrm>
            <a:off x="4800600" y="405869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35" name="Google Shape;1135;p64"/>
          <p:cNvCxnSpPr/>
          <p:nvPr/>
        </p:nvCxnSpPr>
        <p:spPr>
          <a:xfrm>
            <a:off x="4800600" y="4246852"/>
            <a:ext cx="3977700" cy="0"/>
          </a:xfrm>
          <a:prstGeom prst="straightConnector1">
            <a:avLst/>
          </a:prstGeom>
          <a:noFill/>
          <a:ln w="9525" cap="flat" cmpd="sng">
            <a:solidFill>
              <a:srgbClr val="888888"/>
            </a:solidFill>
            <a:prstDash val="solid"/>
            <a:round/>
            <a:headEnd type="none" w="sm" len="sm"/>
            <a:tailEnd type="none" w="sm" len="sm"/>
          </a:ln>
        </p:spPr>
      </p:cxnSp>
      <p:sp>
        <p:nvSpPr>
          <p:cNvPr id="1136" name="Google Shape;1136;p64"/>
          <p:cNvSpPr/>
          <p:nvPr/>
        </p:nvSpPr>
        <p:spPr>
          <a:xfrm>
            <a:off x="4892040" y="40810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6883223" y="405869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8" name="Google Shape;1138;p64"/>
          <p:cNvSpPr/>
          <p:nvPr/>
        </p:nvSpPr>
        <p:spPr>
          <a:xfrm>
            <a:off x="4800600" y="424685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39" name="Google Shape;1139;p64"/>
          <p:cNvCxnSpPr/>
          <p:nvPr/>
        </p:nvCxnSpPr>
        <p:spPr>
          <a:xfrm>
            <a:off x="4800600" y="4435006"/>
            <a:ext cx="3977700" cy="0"/>
          </a:xfrm>
          <a:prstGeom prst="straightConnector1">
            <a:avLst/>
          </a:prstGeom>
          <a:noFill/>
          <a:ln w="9525" cap="flat" cmpd="sng">
            <a:solidFill>
              <a:srgbClr val="888888"/>
            </a:solidFill>
            <a:prstDash val="solid"/>
            <a:round/>
            <a:headEnd type="none" w="sm" len="sm"/>
            <a:tailEnd type="none" w="sm" len="sm"/>
          </a:ln>
        </p:spPr>
      </p:cxnSp>
      <p:sp>
        <p:nvSpPr>
          <p:cNvPr id="1140" name="Google Shape;1140;p64"/>
          <p:cNvSpPr/>
          <p:nvPr/>
        </p:nvSpPr>
        <p:spPr>
          <a:xfrm>
            <a:off x="4892040" y="42716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6883223" y="424685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2" name="Google Shape;1142;p64"/>
          <p:cNvSpPr/>
          <p:nvPr/>
        </p:nvSpPr>
        <p:spPr>
          <a:xfrm>
            <a:off x="4816611" y="4449251"/>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43" name="Google Shape;1143;p64"/>
          <p:cNvCxnSpPr/>
          <p:nvPr/>
        </p:nvCxnSpPr>
        <p:spPr>
          <a:xfrm>
            <a:off x="4816611" y="4637405"/>
            <a:ext cx="3977700" cy="0"/>
          </a:xfrm>
          <a:prstGeom prst="straightConnector1">
            <a:avLst/>
          </a:prstGeom>
          <a:noFill/>
          <a:ln w="9525" cap="flat" cmpd="sng">
            <a:solidFill>
              <a:srgbClr val="888888"/>
            </a:solidFill>
            <a:prstDash val="solid"/>
            <a:round/>
            <a:headEnd type="none" w="sm" len="sm"/>
            <a:tailEnd type="none" w="sm" len="sm"/>
          </a:ln>
        </p:spPr>
      </p:cxnSp>
      <p:sp>
        <p:nvSpPr>
          <p:cNvPr id="1144" name="Google Shape;1144;p64"/>
          <p:cNvSpPr/>
          <p:nvPr/>
        </p:nvSpPr>
        <p:spPr>
          <a:xfrm>
            <a:off x="4908051" y="44622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5" name="Google Shape;1145;p64"/>
          <p:cNvSpPr/>
          <p:nvPr/>
        </p:nvSpPr>
        <p:spPr>
          <a:xfrm>
            <a:off x="6899234" y="444925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6" name="Google Shape;1146;p64"/>
          <p:cNvSpPr/>
          <p:nvPr/>
        </p:nvSpPr>
        <p:spPr>
          <a:xfrm>
            <a:off x="4816611" y="463740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4908051" y="46528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8" name="Google Shape;1148;p64"/>
          <p:cNvSpPr/>
          <p:nvPr/>
        </p:nvSpPr>
        <p:spPr>
          <a:xfrm>
            <a:off x="6899234" y="463740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9" name="Google Shape;1149;p64"/>
          <p:cNvSpPr/>
          <p:nvPr/>
        </p:nvSpPr>
        <p:spPr>
          <a:xfrm>
            <a:off x="4816865" y="484341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4908305" y="484341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1" name="Google Shape;1151;p64"/>
          <p:cNvSpPr/>
          <p:nvPr/>
        </p:nvSpPr>
        <p:spPr>
          <a:xfrm>
            <a:off x="6899488" y="484341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1" name="Google Shape;1161;p64"/>
          <p:cNvSpPr txBox="1"/>
          <p:nvPr/>
        </p:nvSpPr>
        <p:spPr>
          <a:xfrm>
            <a:off x="7864530" y="13389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2" name="Google Shape;1162;p64"/>
          <p:cNvSpPr txBox="1"/>
          <p:nvPr/>
        </p:nvSpPr>
        <p:spPr>
          <a:xfrm>
            <a:off x="7864530" y="181999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3" name="Google Shape;1163;p64"/>
          <p:cNvSpPr txBox="1"/>
          <p:nvPr/>
        </p:nvSpPr>
        <p:spPr>
          <a:xfrm>
            <a:off x="7864530" y="200845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4" name="Google Shape;1164;p64"/>
          <p:cNvSpPr txBox="1"/>
          <p:nvPr/>
        </p:nvSpPr>
        <p:spPr>
          <a:xfrm>
            <a:off x="7864530" y="2767448"/>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5" name="Google Shape;1165;p64"/>
          <p:cNvSpPr txBox="1"/>
          <p:nvPr/>
        </p:nvSpPr>
        <p:spPr>
          <a:xfrm>
            <a:off x="7854823" y="2955915"/>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6" name="Google Shape;1166;p64"/>
          <p:cNvSpPr txBox="1"/>
          <p:nvPr/>
        </p:nvSpPr>
        <p:spPr>
          <a:xfrm>
            <a:off x="7854823" y="3144382"/>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7" name="Google Shape;1167;p64"/>
          <p:cNvSpPr txBox="1"/>
          <p:nvPr/>
        </p:nvSpPr>
        <p:spPr>
          <a:xfrm>
            <a:off x="7864530" y="33328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8" name="Google Shape;1168;p64"/>
          <p:cNvSpPr txBox="1"/>
          <p:nvPr/>
        </p:nvSpPr>
        <p:spPr>
          <a:xfrm>
            <a:off x="7864530" y="3521315"/>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9" name="Google Shape;1169;p64"/>
          <p:cNvSpPr txBox="1"/>
          <p:nvPr/>
        </p:nvSpPr>
        <p:spPr>
          <a:xfrm>
            <a:off x="7864530" y="370978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0" name="Google Shape;1170;p64"/>
          <p:cNvSpPr txBox="1"/>
          <p:nvPr/>
        </p:nvSpPr>
        <p:spPr>
          <a:xfrm>
            <a:off x="7864530" y="38982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1" name="Google Shape;1171;p64"/>
          <p:cNvSpPr txBox="1"/>
          <p:nvPr/>
        </p:nvSpPr>
        <p:spPr>
          <a:xfrm>
            <a:off x="7864530" y="4086716"/>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2" name="Google Shape;1172;p64"/>
          <p:cNvSpPr txBox="1"/>
          <p:nvPr/>
        </p:nvSpPr>
        <p:spPr>
          <a:xfrm>
            <a:off x="7864530" y="427518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3" name="Google Shape;1173;p64"/>
          <p:cNvSpPr txBox="1"/>
          <p:nvPr/>
        </p:nvSpPr>
        <p:spPr>
          <a:xfrm>
            <a:off x="7880542" y="44778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4" name="Google Shape;1174;p64"/>
          <p:cNvSpPr txBox="1"/>
          <p:nvPr/>
        </p:nvSpPr>
        <p:spPr>
          <a:xfrm>
            <a:off x="7880542" y="46663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5" name="Google Shape;1175;p64"/>
          <p:cNvSpPr txBox="1"/>
          <p:nvPr/>
        </p:nvSpPr>
        <p:spPr>
          <a:xfrm>
            <a:off x="7880549" y="4830150"/>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22458"/>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18130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85" name="Google Shape;1185;p64"/>
          <p:cNvCxnSpPr/>
          <p:nvPr/>
        </p:nvCxnSpPr>
        <p:spPr>
          <a:xfrm>
            <a:off x="4805920" y="2369463"/>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1751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888543" y="218130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36946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89" name="Google Shape;1189;p64"/>
          <p:cNvCxnSpPr/>
          <p:nvPr/>
        </p:nvCxnSpPr>
        <p:spPr>
          <a:xfrm>
            <a:off x="4805920" y="2563319"/>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3657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888543" y="236946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061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3" name="Google Shape;1193;p64"/>
          <p:cNvSpPr txBox="1"/>
          <p:nvPr/>
        </p:nvSpPr>
        <p:spPr>
          <a:xfrm>
            <a:off x="7869851" y="23946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94" name="Google Shape;1194;p64"/>
          <p:cNvCxnSpPr/>
          <p:nvPr/>
        </p:nvCxnSpPr>
        <p:spPr>
          <a:xfrm>
            <a:off x="4816611" y="4831261"/>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1" name="Google Shape;1201;p64"/>
          <p:cNvSpPr/>
          <p:nvPr/>
        </p:nvSpPr>
        <p:spPr>
          <a:xfrm>
            <a:off x="239233" y="867612"/>
            <a:ext cx="4224479" cy="414676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2" name="Google Shape;1202;p64"/>
          <p:cNvSpPr/>
          <p:nvPr/>
        </p:nvSpPr>
        <p:spPr>
          <a:xfrm>
            <a:off x="4671608" y="795592"/>
            <a:ext cx="4224479" cy="4277976"/>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7"/>
        <p:cNvGrpSpPr/>
        <p:nvPr/>
      </p:nvGrpSpPr>
      <p:grpSpPr>
        <a:xfrm>
          <a:off x="0" y="0"/>
          <a:ext cx="0" cy="0"/>
          <a:chOff x="0" y="0"/>
          <a:chExt cx="0" cy="0"/>
        </a:xfrm>
      </p:grpSpPr>
      <p:sp>
        <p:nvSpPr>
          <p:cNvPr id="1208" name="Google Shape;1208;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09" name="Google Shape;1209;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a:ea typeface="Calibri"/>
                <a:cs typeface="Calibri"/>
                <a:sym typeface="Calibri"/>
              </a:rPr>
              <a:t>Potential Technology Overlap</a:t>
            </a:r>
            <a:endParaRPr sz="2000" b="0" i="0" u="none" strike="noStrike" cap="none">
              <a:solidFill>
                <a:schemeClr val="dk2"/>
              </a:solidFill>
              <a:latin typeface="Calibri"/>
              <a:ea typeface="Calibri"/>
              <a:cs typeface="Calibri"/>
              <a:sym typeface="Calibri"/>
            </a:endParaRPr>
          </a:p>
        </p:txBody>
      </p:sp>
      <p:sp>
        <p:nvSpPr>
          <p:cNvPr id="1210" name="Google Shape;1210;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95959"/>
                </a:solidFill>
                <a:latin typeface="Calibri"/>
                <a:ea typeface="Calibri"/>
                <a:cs typeface="Calibri"/>
                <a:sym typeface="Calibri"/>
              </a:rPr>
              <a:t>Third-party principals detected in your cloud environments, grouped by functional overlap with Wiz platform capabilities.</a:t>
            </a:r>
            <a:endParaRPr sz="1100" b="0" i="0" u="none" strike="noStrike" cap="none">
              <a:solidFill>
                <a:srgbClr val="595959"/>
              </a:solidFill>
              <a:latin typeface="Calibri"/>
              <a:ea typeface="Calibri"/>
              <a:cs typeface="Calibri"/>
              <a:sym typeface="Calibri"/>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a:solidFill>
                <a:srgbClr val="595959"/>
              </a:solidFill>
              <a:latin typeface="Calibri"/>
              <a:ea typeface="Calibri"/>
              <a:cs typeface="Calibri"/>
              <a:sym typeface="Calibri"/>
            </a:endParaRPr>
          </a:p>
        </p:txBody>
      </p:sp>
      <p:sp>
        <p:nvSpPr>
          <p:cNvPr id="1211" name="Google Shape;1211;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2" name="Google Shape;1212;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3" name="Google Shape;1213;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a:ea typeface="Calibri"/>
                <a:cs typeface="Calibri"/>
                <a:sym typeface="Calibri"/>
                <a:hlinkClick r:id="rId3"/>
              </a:rPr>
              <a:t>CLOUD SECURITY PLATFORM </a:t>
            </a:r>
            <a:r>
              <a:rPr lang="en" sz="1400" b="1" i="0" u="none" strike="noStrike" cap="none">
                <a:solidFill>
                  <a:schemeClr val="hlink"/>
                </a:solidFill>
                <a:uFill>
                  <a:noFill/>
                </a:uFill>
                <a:latin typeface="Calibri"/>
                <a:ea typeface="Calibri"/>
                <a:cs typeface="Calibri"/>
                <a:sym typeface="Calibri"/>
                <a:hlinkClick r:id="rId3"/>
              </a:rPr>
              <a:t>↗</a:t>
            </a:r>
            <a:br>
              <a:rPr lang="en" sz="1100" b="1" i="0" u="none" strike="noStrike" cap="none">
                <a:solidFill>
                  <a:srgbClr val="D97706"/>
                </a:solidFill>
                <a:latin typeface="Calibri"/>
                <a:ea typeface="Calibri"/>
                <a:cs typeface="Calibri"/>
                <a:sym typeface="Calibri"/>
              </a:rPr>
            </a:br>
            <a:r>
              <a:rPr lang="en" sz="1100" b="0" i="0" u="none" strike="noStrike" cap="none">
                <a:solidFill>
                  <a:srgbClr val="CC4125"/>
                </a:solidFill>
                <a:latin typeface="Calibri"/>
                <a:ea typeface="Calibri"/>
                <a:cs typeface="Calibri"/>
                <a:sym typeface="Calibri"/>
              </a:rPr>
              <a:t>Potential Overlap with Wiz CNAPP, CSPM, CIEM, DSPM</a:t>
            </a:r>
            <a:br>
              <a:rPr lang="en" sz="1100" b="1" i="0" u="none" strike="noStrike" cap="none">
                <a:solidFill>
                  <a:srgbClr val="D97706"/>
                </a:solidFill>
                <a:latin typeface="Calibri"/>
                <a:ea typeface="Calibri"/>
                <a:cs typeface="Calibri"/>
                <a:sym typeface="Calibri"/>
              </a:rPr>
            </a:br>
            <a:endParaRPr sz="1100" b="0" i="0" u="none" strike="noStrike" cap="none">
              <a:solidFill>
                <a:schemeClr val="dk1"/>
              </a:solidFill>
              <a:latin typeface="Calibri"/>
              <a:ea typeface="Calibri"/>
              <a:cs typeface="Calibri"/>
              <a:sym typeface="Calibri"/>
            </a:endParaRPr>
          </a:p>
        </p:txBody>
      </p:sp>
      <p:sp>
        <p:nvSpPr>
          <p:cNvPr id="1214" name="Google Shape;1214;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5" name="Google Shape;1215;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Technology</a:t>
            </a:r>
            <a:endParaRPr sz="1000" b="0" i="0" u="none" strike="noStrike" cap="none">
              <a:solidFill>
                <a:schemeClr val="dk1"/>
              </a:solidFill>
              <a:latin typeface="Calibri"/>
              <a:ea typeface="Calibri"/>
              <a:cs typeface="Calibri"/>
              <a:sym typeface="Calibri"/>
            </a:endParaRPr>
          </a:p>
        </p:txBody>
      </p:sp>
      <p:sp>
        <p:nvSpPr>
          <p:cNvPr id="1216" name="Google Shape;1216;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 of SAs</a:t>
            </a:r>
            <a:endParaRPr sz="1000" b="0" i="0" u="none" strike="noStrike" cap="none">
              <a:solidFill>
                <a:schemeClr val="dk1"/>
              </a:solidFill>
              <a:latin typeface="Calibri"/>
              <a:ea typeface="Calibri"/>
              <a:cs typeface="Calibri"/>
              <a:sym typeface="Calibri"/>
            </a:endParaRPr>
          </a:p>
        </p:txBody>
      </p:sp>
      <p:sp>
        <p:nvSpPr>
          <p:cNvPr id="1217" name="Google Shape;1217;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First / Last Created</a:t>
            </a:r>
            <a:endParaRPr sz="1000" b="0" i="0" u="none" strike="noStrike" cap="none">
              <a:solidFill>
                <a:schemeClr val="dk1"/>
              </a:solidFill>
              <a:latin typeface="Calibri"/>
              <a:ea typeface="Calibri"/>
              <a:cs typeface="Calibri"/>
              <a:sym typeface="Calibri"/>
            </a:endParaRPr>
          </a:p>
        </p:txBody>
      </p:sp>
      <p:sp>
        <p:nvSpPr>
          <p:cNvPr id="1218" name="Google Shape;1218;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19" name="Google Shape;1219;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20" name="Google Shape;1220;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{{PI_T1_1}}</a:t>
            </a:r>
            <a:endParaRPr sz="800" b="0" i="0" u="none" strike="noStrike" cap="none">
              <a:solidFill>
                <a:schemeClr val="dk1"/>
              </a:solidFill>
              <a:latin typeface="Calibri"/>
              <a:ea typeface="Calibri"/>
              <a:cs typeface="Calibri"/>
              <a:sym typeface="Calibri"/>
            </a:endParaRPr>
          </a:p>
        </p:txBody>
      </p:sp>
      <p:sp>
        <p:nvSpPr>
          <p:cNvPr id="1221" name="Google Shape;1221;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{{PI_T1_1_SA}}</a:t>
            </a:r>
            <a:endParaRPr sz="700" b="0" i="0" u="none" strike="noStrike" cap="none">
              <a:solidFill>
                <a:schemeClr val="dk1"/>
              </a:solidFill>
              <a:latin typeface="Calibri"/>
              <a:ea typeface="Calibri"/>
              <a:cs typeface="Calibri"/>
              <a:sym typeface="Calibri"/>
            </a:endParaRPr>
          </a:p>
        </p:txBody>
      </p:sp>
      <p:sp>
        <p:nvSpPr>
          <p:cNvPr id="1222" name="Google Shape;1222;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23" name="Google Shape;1223;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4" name="Google Shape;1224;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{{PI_T1_2}}</a:t>
            </a:r>
            <a:endParaRPr sz="800" b="0" i="0" u="none" strike="noStrike" cap="none">
              <a:solidFill>
                <a:schemeClr val="dk1"/>
              </a:solidFill>
              <a:latin typeface="Calibri"/>
              <a:ea typeface="Calibri"/>
              <a:cs typeface="Calibri"/>
              <a:sym typeface="Calibri"/>
            </a:endParaRPr>
          </a:p>
        </p:txBody>
      </p:sp>
      <p:sp>
        <p:nvSpPr>
          <p:cNvPr id="1225" name="Google Shape;1225;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26" name="Google Shape;1226;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7" name="Google Shape;1227;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{{PI_T1_3}}</a:t>
            </a:r>
            <a:endParaRPr sz="800" b="0" i="0" u="none" strike="noStrike" cap="none">
              <a:solidFill>
                <a:schemeClr val="dk1"/>
              </a:solidFill>
              <a:latin typeface="Calibri"/>
              <a:ea typeface="Calibri"/>
              <a:cs typeface="Calibri"/>
              <a:sym typeface="Calibri"/>
            </a:endParaRPr>
          </a:p>
        </p:txBody>
      </p:sp>
      <p:sp>
        <p:nvSpPr>
          <p:cNvPr id="1228" name="Google Shape;1228;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29" name="Google Shape;1229;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30" name="Google Shape;1230;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{{PI_T1_4}}</a:t>
            </a:r>
            <a:endParaRPr sz="800" b="0" i="0" u="none" strike="noStrike" cap="none">
              <a:solidFill>
                <a:schemeClr val="dk1"/>
              </a:solidFill>
              <a:latin typeface="Calibri"/>
              <a:ea typeface="Calibri"/>
              <a:cs typeface="Calibri"/>
              <a:sym typeface="Calibri"/>
            </a:endParaRPr>
          </a:p>
        </p:txBody>
      </p:sp>
      <p:sp>
        <p:nvSpPr>
          <p:cNvPr id="1231" name="Google Shape;1231;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32" name="Google Shape;1232;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3" name="Google Shape;1233;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{{PI_T1_5}}</a:t>
            </a:r>
            <a:endParaRPr sz="800" b="0" i="0" u="none" strike="noStrike" cap="none">
              <a:solidFill>
                <a:schemeClr val="dk1"/>
              </a:solidFill>
              <a:latin typeface="Calibri"/>
              <a:ea typeface="Calibri"/>
              <a:cs typeface="Calibri"/>
              <a:sym typeface="Calibri"/>
            </a:endParaRPr>
          </a:p>
        </p:txBody>
      </p:sp>
      <p:cxnSp>
        <p:nvCxnSpPr>
          <p:cNvPr id="1234" name="Google Shape;1234;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6" name="Google Shape;1236;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7" name="Google Shape;1237;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8" name="Google Shape;1238;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a:ea typeface="Calibri"/>
              <a:cs typeface="Calibri"/>
              <a:sym typeface="Calibri"/>
            </a:endParaRPr>
          </a:p>
        </p:txBody>
      </p:sp>
      <p:sp>
        <p:nvSpPr>
          <p:cNvPr id="1239" name="Google Shape;1239;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40" name="Google Shape;1240;p65"/>
          <p:cNvSpPr/>
          <p:nvPr/>
        </p:nvSpPr>
        <p:spPr>
          <a:xfrm>
            <a:off x="4849007" y="31682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a:ea typeface="Calibri"/>
                <a:cs typeface="Calibri"/>
                <a:sym typeface="Calibri"/>
                <a:hlinkClick r:id="rId4"/>
              </a:rPr>
              <a:t>RUNTIME / WORKLOAD PROTECTION </a:t>
            </a:r>
            <a:r>
              <a:rPr lang="en" sz="1400" b="1" i="0" u="none" strike="noStrike" cap="none">
                <a:solidFill>
                  <a:schemeClr val="hlink"/>
                </a:solidFill>
                <a:uFill>
                  <a:noFill/>
                </a:uFill>
                <a:latin typeface="Calibri"/>
                <a:ea typeface="Calibri"/>
                <a:cs typeface="Calibri"/>
                <a:sym typeface="Calibri"/>
                <a:hlinkClick r:id="rId4"/>
              </a:rPr>
              <a:t>↗</a:t>
            </a:r>
            <a:br>
              <a:rPr lang="en" sz="1100" b="1" i="0" u="none" strike="noStrike" cap="none">
                <a:solidFill>
                  <a:srgbClr val="595959"/>
                </a:solidFill>
                <a:latin typeface="Calibri"/>
                <a:ea typeface="Calibri"/>
                <a:cs typeface="Calibri"/>
                <a:sym typeface="Calibri"/>
              </a:rPr>
            </a:br>
            <a:r>
              <a:rPr lang="en" sz="1100" b="0" i="0" u="none" strike="noStrike" cap="none">
                <a:solidFill>
                  <a:srgbClr val="595959"/>
                </a:solidFill>
                <a:latin typeface="Calibri"/>
                <a:ea typeface="Calibri"/>
                <a:cs typeface="Calibri"/>
                <a:sym typeface="Calibri"/>
              </a:rPr>
              <a:t>Potential Overlap with Wiz Sensor, Defend, CWPP,, TDR</a:t>
            </a:r>
            <a:br>
              <a:rPr lang="en" sz="1100" b="1" i="0" u="none" strike="noStrike" cap="none">
                <a:solidFill>
                  <a:srgbClr val="D97706"/>
                </a:solidFill>
                <a:latin typeface="Calibri"/>
                <a:ea typeface="Calibri"/>
                <a:cs typeface="Calibri"/>
                <a:sym typeface="Calibri"/>
              </a:rPr>
            </a:br>
            <a:endParaRPr sz="1100" b="0" i="0" u="none" strike="noStrike" cap="none">
              <a:solidFill>
                <a:schemeClr val="dk1"/>
              </a:solidFill>
              <a:latin typeface="Calibri"/>
              <a:ea typeface="Calibri"/>
              <a:cs typeface="Calibri"/>
              <a:sym typeface="Calibri"/>
            </a:endParaRPr>
          </a:p>
        </p:txBody>
      </p:sp>
      <p:sp>
        <p:nvSpPr>
          <p:cNvPr id="1241" name="Google Shape;1241;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42" name="Google Shape;1242;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43" name="Google Shape;1243;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a:ea typeface="Calibri"/>
                <a:cs typeface="Calibri"/>
                <a:sym typeface="Calibri"/>
                <a:hlinkClick r:id="rId5"/>
              </a:rPr>
              <a:t>CODE SECURITY </a:t>
            </a:r>
            <a:r>
              <a:rPr lang="en" sz="1400" b="1" i="0" u="none" strike="noStrike" cap="none">
                <a:solidFill>
                  <a:schemeClr val="hlink"/>
                </a:solidFill>
                <a:uFill>
                  <a:noFill/>
                </a:uFill>
                <a:latin typeface="Calibri"/>
                <a:ea typeface="Calibri"/>
                <a:cs typeface="Calibri"/>
                <a:sym typeface="Calibri"/>
                <a:hlinkClick r:id="rId5"/>
              </a:rPr>
              <a:t>↗</a:t>
            </a:r>
            <a:br>
              <a:rPr lang="en" sz="1100" b="1" i="0" u="none" strike="noStrike" cap="none">
                <a:solidFill>
                  <a:srgbClr val="0B5394"/>
                </a:solidFill>
                <a:latin typeface="Calibri"/>
                <a:ea typeface="Calibri"/>
                <a:cs typeface="Calibri"/>
                <a:sym typeface="Calibri"/>
              </a:rPr>
            </a:br>
            <a:r>
              <a:rPr lang="en" sz="1100" b="0" i="0" u="none" strike="noStrike" cap="none">
                <a:solidFill>
                  <a:srgbClr val="0B5394"/>
                </a:solidFill>
                <a:latin typeface="Calibri"/>
                <a:ea typeface="Calibri"/>
                <a:cs typeface="Calibri"/>
                <a:sym typeface="Calibri"/>
              </a:rPr>
              <a:t>Potential Overlap with Wiz Code, SAST, SCA, Wiz CLI</a:t>
            </a:r>
            <a:br>
              <a:rPr lang="en" sz="1100" b="1" i="0" u="none" strike="noStrike" cap="none">
                <a:solidFill>
                  <a:srgbClr val="D97706"/>
                </a:solidFill>
                <a:latin typeface="Calibri"/>
                <a:ea typeface="Calibri"/>
                <a:cs typeface="Calibri"/>
                <a:sym typeface="Calibri"/>
              </a:rPr>
            </a:br>
            <a:endParaRPr sz="1100" b="0" i="0" u="none" strike="noStrike" cap="none">
              <a:solidFill>
                <a:schemeClr val="dk1"/>
              </a:solidFill>
              <a:latin typeface="Calibri"/>
              <a:ea typeface="Calibri"/>
              <a:cs typeface="Calibri"/>
              <a:sym typeface="Calibri"/>
            </a:endParaRPr>
          </a:p>
        </p:txBody>
      </p:sp>
      <p:sp>
        <p:nvSpPr>
          <p:cNvPr id="1244" name="Google Shape;1244;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{{PI_T1_2_SA}}</a:t>
            </a:r>
            <a:endParaRPr sz="700" b="0" i="0" u="none" strike="noStrike" cap="none">
              <a:solidFill>
                <a:schemeClr val="dk1"/>
              </a:solidFill>
              <a:latin typeface="Calibri"/>
              <a:ea typeface="Calibri"/>
              <a:cs typeface="Calibri"/>
              <a:sym typeface="Calibri"/>
            </a:endParaRPr>
          </a:p>
        </p:txBody>
      </p:sp>
      <p:sp>
        <p:nvSpPr>
          <p:cNvPr id="1245" name="Google Shape;1245;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{{PI_T1_3_SA}}</a:t>
            </a:r>
            <a:endParaRPr sz="700" b="0" i="0" u="none" strike="noStrike" cap="none">
              <a:solidFill>
                <a:schemeClr val="dk1"/>
              </a:solidFill>
              <a:latin typeface="Calibri"/>
              <a:ea typeface="Calibri"/>
              <a:cs typeface="Calibri"/>
              <a:sym typeface="Calibri"/>
            </a:endParaRPr>
          </a:p>
        </p:txBody>
      </p:sp>
      <p:sp>
        <p:nvSpPr>
          <p:cNvPr id="1246" name="Google Shape;1246;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{{PI_T1_4_SA}}</a:t>
            </a:r>
            <a:endParaRPr sz="700" b="0" i="0" u="none" strike="noStrike" cap="none">
              <a:solidFill>
                <a:schemeClr val="dk1"/>
              </a:solidFill>
              <a:latin typeface="Calibri"/>
              <a:ea typeface="Calibri"/>
              <a:cs typeface="Calibri"/>
              <a:sym typeface="Calibri"/>
            </a:endParaRPr>
          </a:p>
        </p:txBody>
      </p:sp>
      <p:sp>
        <p:nvSpPr>
          <p:cNvPr id="1247" name="Google Shape;1247;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{{PI_T1_5_SA}}</a:t>
            </a:r>
            <a:endParaRPr sz="700" b="0" i="0" u="none" strike="noStrike" cap="none">
              <a:solidFill>
                <a:schemeClr val="dk1"/>
              </a:solidFill>
              <a:latin typeface="Calibri"/>
              <a:ea typeface="Calibri"/>
              <a:cs typeface="Calibri"/>
              <a:sym typeface="Calibri"/>
            </a:endParaRPr>
          </a:p>
        </p:txBody>
      </p:sp>
      <p:sp>
        <p:nvSpPr>
          <p:cNvPr id="1248" name="Google Shape;1248;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{{PI_T1_1_FA}} / {{PI_T1_1_LA}}</a:t>
            </a:r>
            <a:endParaRPr sz="800" b="0" i="0" u="none" strike="noStrike" cap="none">
              <a:solidFill>
                <a:schemeClr val="dk1"/>
              </a:solidFill>
              <a:latin typeface="Calibri"/>
              <a:ea typeface="Calibri"/>
              <a:cs typeface="Calibri"/>
              <a:sym typeface="Calibri"/>
            </a:endParaRPr>
          </a:p>
        </p:txBody>
      </p:sp>
      <p:sp>
        <p:nvSpPr>
          <p:cNvPr id="1249" name="Google Shape;1249;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{{PI_T1_2_FA}} / {{PI_T1_2_LA}}</a:t>
            </a:r>
            <a:endParaRPr sz="800" b="0" i="0" u="none" strike="noStrike" cap="none">
              <a:solidFill>
                <a:schemeClr val="dk1"/>
              </a:solidFill>
              <a:latin typeface="Calibri"/>
              <a:ea typeface="Calibri"/>
              <a:cs typeface="Calibri"/>
              <a:sym typeface="Calibri"/>
            </a:endParaRPr>
          </a:p>
        </p:txBody>
      </p:sp>
      <p:sp>
        <p:nvSpPr>
          <p:cNvPr id="1250" name="Google Shape;1250;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{{PI_T1_3_FA}} / {{PI_T1_3_LA}}</a:t>
            </a:r>
            <a:endParaRPr sz="800" b="0" i="0" u="none" strike="noStrike" cap="none">
              <a:solidFill>
                <a:schemeClr val="dk1"/>
              </a:solidFill>
              <a:latin typeface="Calibri"/>
              <a:ea typeface="Calibri"/>
              <a:cs typeface="Calibri"/>
              <a:sym typeface="Calibri"/>
            </a:endParaRPr>
          </a:p>
        </p:txBody>
      </p:sp>
      <p:sp>
        <p:nvSpPr>
          <p:cNvPr id="1251" name="Google Shape;1251;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{{PI_T1_4_FA}} / {{PI_T1_4_LA}}</a:t>
            </a:r>
            <a:endParaRPr sz="800" b="0" i="0" u="none" strike="noStrike" cap="none">
              <a:solidFill>
                <a:schemeClr val="dk1"/>
              </a:solidFill>
              <a:latin typeface="Calibri"/>
              <a:ea typeface="Calibri"/>
              <a:cs typeface="Calibri"/>
              <a:sym typeface="Calibri"/>
            </a:endParaRPr>
          </a:p>
        </p:txBody>
      </p:sp>
      <p:sp>
        <p:nvSpPr>
          <p:cNvPr id="1252" name="Google Shape;1252;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{{PI_T1_5_FA}} / {{PI_T1_5_LA}}</a:t>
            </a:r>
            <a:endParaRPr sz="800" b="0" i="0" u="none" strike="noStrike" cap="none">
              <a:solidFill>
                <a:schemeClr val="dk1"/>
              </a:solidFill>
              <a:latin typeface="Calibri"/>
              <a:ea typeface="Calibri"/>
              <a:cs typeface="Calibri"/>
              <a:sym typeface="Calibri"/>
            </a:endParaRPr>
          </a:p>
        </p:txBody>
      </p:sp>
      <p:sp>
        <p:nvSpPr>
          <p:cNvPr id="1253" name="Google Shape;1253;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54" name="Google Shape;1254;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Technology</a:t>
            </a:r>
            <a:endParaRPr sz="1000" b="0" i="0" u="none" strike="noStrike" cap="none">
              <a:solidFill>
                <a:schemeClr val="dk1"/>
              </a:solidFill>
              <a:latin typeface="Calibri"/>
              <a:ea typeface="Calibri"/>
              <a:cs typeface="Calibri"/>
              <a:sym typeface="Calibri"/>
            </a:endParaRPr>
          </a:p>
        </p:txBody>
      </p:sp>
      <p:sp>
        <p:nvSpPr>
          <p:cNvPr id="1255" name="Google Shape;1255;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 of SAs</a:t>
            </a:r>
            <a:endParaRPr sz="1000" b="0" i="0" u="none" strike="noStrike" cap="none">
              <a:solidFill>
                <a:schemeClr val="dk1"/>
              </a:solidFill>
              <a:latin typeface="Calibri"/>
              <a:ea typeface="Calibri"/>
              <a:cs typeface="Calibri"/>
              <a:sym typeface="Calibri"/>
            </a:endParaRPr>
          </a:p>
        </p:txBody>
      </p:sp>
      <p:sp>
        <p:nvSpPr>
          <p:cNvPr id="1256" name="Google Shape;1256;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First / Last Created</a:t>
            </a:r>
            <a:endParaRPr sz="1000" b="0" i="0" u="none" strike="noStrike" cap="none">
              <a:solidFill>
                <a:schemeClr val="dk1"/>
              </a:solidFill>
              <a:latin typeface="Calibri"/>
              <a:ea typeface="Calibri"/>
              <a:cs typeface="Calibri"/>
              <a:sym typeface="Calibri"/>
            </a:endParaRPr>
          </a:p>
        </p:txBody>
      </p:sp>
      <p:sp>
        <p:nvSpPr>
          <p:cNvPr id="1257" name="Google Shape;1257;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58" name="Google Shape;1258;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9" name="Google Shape;1259;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{{PI_T2_1}}</a:t>
            </a:r>
            <a:endParaRPr sz="800" b="0" i="0" u="none" strike="noStrike" cap="none">
              <a:solidFill>
                <a:schemeClr val="dk1"/>
              </a:solidFill>
              <a:latin typeface="Calibri"/>
              <a:ea typeface="Calibri"/>
              <a:cs typeface="Calibri"/>
              <a:sym typeface="Calibri"/>
            </a:endParaRPr>
          </a:p>
        </p:txBody>
      </p:sp>
      <p:sp>
        <p:nvSpPr>
          <p:cNvPr id="1260" name="Google Shape;1260;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{{PI_T2_1_SA}}</a:t>
            </a:r>
            <a:endParaRPr sz="700" b="0" i="0" u="none" strike="noStrike" cap="none">
              <a:solidFill>
                <a:schemeClr val="dk1"/>
              </a:solidFill>
              <a:latin typeface="Calibri"/>
              <a:ea typeface="Calibri"/>
              <a:cs typeface="Calibri"/>
              <a:sym typeface="Calibri"/>
            </a:endParaRPr>
          </a:p>
        </p:txBody>
      </p:sp>
      <p:sp>
        <p:nvSpPr>
          <p:cNvPr id="1261" name="Google Shape;1261;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62" name="Google Shape;1262;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3" name="Google Shape;1263;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{{PI_T2_2}}</a:t>
            </a:r>
            <a:endParaRPr sz="800" b="0" i="0" u="none" strike="noStrike" cap="none">
              <a:solidFill>
                <a:schemeClr val="dk1"/>
              </a:solidFill>
              <a:latin typeface="Calibri"/>
              <a:ea typeface="Calibri"/>
              <a:cs typeface="Calibri"/>
              <a:sym typeface="Calibri"/>
            </a:endParaRPr>
          </a:p>
        </p:txBody>
      </p:sp>
      <p:sp>
        <p:nvSpPr>
          <p:cNvPr id="1264" name="Google Shape;1264;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65" name="Google Shape;1265;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6" name="Google Shape;1266;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{{PI_T2_3}}</a:t>
            </a:r>
            <a:endParaRPr sz="800" b="0" i="0" u="none" strike="noStrike" cap="none">
              <a:solidFill>
                <a:schemeClr val="dk1"/>
              </a:solidFill>
              <a:latin typeface="Calibri"/>
              <a:ea typeface="Calibri"/>
              <a:cs typeface="Calibri"/>
              <a:sym typeface="Calibri"/>
            </a:endParaRPr>
          </a:p>
        </p:txBody>
      </p:sp>
      <p:sp>
        <p:nvSpPr>
          <p:cNvPr id="1267" name="Google Shape;1267;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68" name="Google Shape;1268;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9" name="Google Shape;1269;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{{PI_T2_4}}</a:t>
            </a:r>
            <a:endParaRPr sz="800" b="0" i="0" u="none" strike="noStrike" cap="none">
              <a:solidFill>
                <a:schemeClr val="dk1"/>
              </a:solidFill>
              <a:latin typeface="Calibri"/>
              <a:ea typeface="Calibri"/>
              <a:cs typeface="Calibri"/>
              <a:sym typeface="Calibri"/>
            </a:endParaRPr>
          </a:p>
        </p:txBody>
      </p:sp>
      <p:sp>
        <p:nvSpPr>
          <p:cNvPr id="1270" name="Google Shape;1270;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71" name="Google Shape;1271;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{{PI_T2_5}}</a:t>
            </a:r>
            <a:endParaRPr sz="800" b="0" i="0" u="none" strike="noStrike" cap="none">
              <a:solidFill>
                <a:schemeClr val="dk1"/>
              </a:solidFill>
              <a:latin typeface="Calibri"/>
              <a:ea typeface="Calibri"/>
              <a:cs typeface="Calibri"/>
              <a:sym typeface="Calibri"/>
            </a:endParaRPr>
          </a:p>
        </p:txBody>
      </p:sp>
      <p:cxnSp>
        <p:nvCxnSpPr>
          <p:cNvPr id="1272" name="Google Shape;1272;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4" name="Google Shape;1274;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5" name="Google Shape;1275;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6" name="Google Shape;1276;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{{PI_T2_2_SA}}</a:t>
            </a:r>
            <a:endParaRPr sz="700" b="0" i="0" u="none" strike="noStrike" cap="none">
              <a:solidFill>
                <a:schemeClr val="dk1"/>
              </a:solidFill>
              <a:latin typeface="Calibri"/>
              <a:ea typeface="Calibri"/>
              <a:cs typeface="Calibri"/>
              <a:sym typeface="Calibri"/>
            </a:endParaRPr>
          </a:p>
        </p:txBody>
      </p:sp>
      <p:sp>
        <p:nvSpPr>
          <p:cNvPr id="1277" name="Google Shape;1277;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{{PI_T2_3_SA}}</a:t>
            </a:r>
            <a:endParaRPr sz="700" b="0" i="0" u="none" strike="noStrike" cap="none">
              <a:solidFill>
                <a:schemeClr val="dk1"/>
              </a:solidFill>
              <a:latin typeface="Calibri"/>
              <a:ea typeface="Calibri"/>
              <a:cs typeface="Calibri"/>
              <a:sym typeface="Calibri"/>
            </a:endParaRPr>
          </a:p>
        </p:txBody>
      </p:sp>
      <p:sp>
        <p:nvSpPr>
          <p:cNvPr id="1278" name="Google Shape;1278;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{{PI_T2_4_SA}}</a:t>
            </a:r>
            <a:endParaRPr sz="700" b="0" i="0" u="none" strike="noStrike" cap="none">
              <a:solidFill>
                <a:schemeClr val="dk1"/>
              </a:solidFill>
              <a:latin typeface="Calibri"/>
              <a:ea typeface="Calibri"/>
              <a:cs typeface="Calibri"/>
              <a:sym typeface="Calibri"/>
            </a:endParaRPr>
          </a:p>
        </p:txBody>
      </p:sp>
      <p:sp>
        <p:nvSpPr>
          <p:cNvPr id="1279" name="Google Shape;1279;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{{PI_T2_5_SA}}</a:t>
            </a:r>
            <a:endParaRPr sz="700" b="0" i="0" u="none" strike="noStrike" cap="none">
              <a:solidFill>
                <a:schemeClr val="dk1"/>
              </a:solidFill>
              <a:latin typeface="Calibri"/>
              <a:ea typeface="Calibri"/>
              <a:cs typeface="Calibri"/>
              <a:sym typeface="Calibri"/>
            </a:endParaRPr>
          </a:p>
        </p:txBody>
      </p:sp>
      <p:sp>
        <p:nvSpPr>
          <p:cNvPr id="1280" name="Google Shape;1280;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{{PI_T2_1_FA}} / {{PI_T2_1_LA}}</a:t>
            </a:r>
            <a:endParaRPr sz="800" b="0" i="0" u="none" strike="noStrike" cap="none">
              <a:solidFill>
                <a:schemeClr val="dk1"/>
              </a:solidFill>
              <a:latin typeface="Calibri"/>
              <a:ea typeface="Calibri"/>
              <a:cs typeface="Calibri"/>
              <a:sym typeface="Calibri"/>
            </a:endParaRPr>
          </a:p>
        </p:txBody>
      </p:sp>
      <p:sp>
        <p:nvSpPr>
          <p:cNvPr id="1281" name="Google Shape;1281;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{{PI_T2_2_FA}} / {{PI_T2_2_LA}}</a:t>
            </a:r>
            <a:endParaRPr sz="800" b="0" i="0" u="none" strike="noStrike" cap="none">
              <a:solidFill>
                <a:schemeClr val="dk1"/>
              </a:solidFill>
              <a:latin typeface="Calibri"/>
              <a:ea typeface="Calibri"/>
              <a:cs typeface="Calibri"/>
              <a:sym typeface="Calibri"/>
            </a:endParaRPr>
          </a:p>
        </p:txBody>
      </p:sp>
      <p:sp>
        <p:nvSpPr>
          <p:cNvPr id="1282" name="Google Shape;1282;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{{PI_T2_3_FA}} / {{PI_T2_3_LA}}</a:t>
            </a:r>
            <a:endParaRPr sz="800" b="0" i="0" u="none" strike="noStrike" cap="none">
              <a:solidFill>
                <a:schemeClr val="dk1"/>
              </a:solidFill>
              <a:latin typeface="Calibri"/>
              <a:ea typeface="Calibri"/>
              <a:cs typeface="Calibri"/>
              <a:sym typeface="Calibri"/>
            </a:endParaRPr>
          </a:p>
        </p:txBody>
      </p:sp>
      <p:sp>
        <p:nvSpPr>
          <p:cNvPr id="1283" name="Google Shape;1283;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{{PI_T2_4_FA}} / {{PI_T2_4_LA}}</a:t>
            </a:r>
            <a:endParaRPr sz="800" b="0" i="0" u="none" strike="noStrike" cap="none">
              <a:solidFill>
                <a:schemeClr val="dk1"/>
              </a:solidFill>
              <a:latin typeface="Calibri"/>
              <a:ea typeface="Calibri"/>
              <a:cs typeface="Calibri"/>
              <a:sym typeface="Calibri"/>
            </a:endParaRPr>
          </a:p>
        </p:txBody>
      </p:sp>
      <p:sp>
        <p:nvSpPr>
          <p:cNvPr id="1284" name="Google Shape;1284;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{{PI_T2_5_FA}} / {{PI_T2_5_LA}}</a:t>
            </a:r>
            <a:endParaRPr sz="800" b="0" i="0" u="none" strike="noStrike" cap="none">
              <a:solidFill>
                <a:schemeClr val="dk1"/>
              </a:solidFill>
              <a:latin typeface="Calibri"/>
              <a:ea typeface="Calibri"/>
              <a:cs typeface="Calibri"/>
              <a:sym typeface="Calibri"/>
            </a:endParaRPr>
          </a:p>
        </p:txBody>
      </p:sp>
      <p:sp>
        <p:nvSpPr>
          <p:cNvPr id="1285" name="Google Shape;1285;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86" name="Google Shape;1286;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Technology</a:t>
            </a:r>
            <a:endParaRPr sz="1000" b="0" i="0" u="none" strike="noStrike" cap="none">
              <a:solidFill>
                <a:schemeClr val="dk1"/>
              </a:solidFill>
              <a:latin typeface="Calibri"/>
              <a:ea typeface="Calibri"/>
              <a:cs typeface="Calibri"/>
              <a:sym typeface="Calibri"/>
            </a:endParaRPr>
          </a:p>
        </p:txBody>
      </p:sp>
      <p:sp>
        <p:nvSpPr>
          <p:cNvPr id="1287" name="Google Shape;1287;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 of SAs</a:t>
            </a:r>
            <a:endParaRPr sz="1000" b="0" i="0" u="none" strike="noStrike" cap="none">
              <a:solidFill>
                <a:schemeClr val="dk1"/>
              </a:solidFill>
              <a:latin typeface="Calibri"/>
              <a:ea typeface="Calibri"/>
              <a:cs typeface="Calibri"/>
              <a:sym typeface="Calibri"/>
            </a:endParaRPr>
          </a:p>
        </p:txBody>
      </p:sp>
      <p:sp>
        <p:nvSpPr>
          <p:cNvPr id="1288" name="Google Shape;1288;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First / Last Created</a:t>
            </a:r>
            <a:endParaRPr sz="1000" b="0" i="0" u="none" strike="noStrike" cap="none">
              <a:solidFill>
                <a:schemeClr val="dk1"/>
              </a:solidFill>
              <a:latin typeface="Calibri"/>
              <a:ea typeface="Calibri"/>
              <a:cs typeface="Calibri"/>
              <a:sym typeface="Calibri"/>
            </a:endParaRPr>
          </a:p>
        </p:txBody>
      </p:sp>
      <p:sp>
        <p:nvSpPr>
          <p:cNvPr id="1289" name="Google Shape;1289;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90" name="Google Shape;1290;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91" name="Google Shape;1291;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{{PI_T3_1}}</a:t>
            </a:r>
            <a:endParaRPr sz="800" b="0" i="0" u="none" strike="noStrike" cap="none">
              <a:solidFill>
                <a:schemeClr val="dk1"/>
              </a:solidFill>
              <a:latin typeface="Calibri"/>
              <a:ea typeface="Calibri"/>
              <a:cs typeface="Calibri"/>
              <a:sym typeface="Calibri"/>
            </a:endParaRPr>
          </a:p>
        </p:txBody>
      </p:sp>
      <p:sp>
        <p:nvSpPr>
          <p:cNvPr id="1292" name="Google Shape;1292;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{{PI_T3_1_SA}}</a:t>
            </a:r>
            <a:endParaRPr sz="700" b="0" i="0" u="none" strike="noStrike" cap="none">
              <a:solidFill>
                <a:schemeClr val="dk1"/>
              </a:solidFill>
              <a:latin typeface="Calibri"/>
              <a:ea typeface="Calibri"/>
              <a:cs typeface="Calibri"/>
              <a:sym typeface="Calibri"/>
            </a:endParaRPr>
          </a:p>
        </p:txBody>
      </p:sp>
      <p:sp>
        <p:nvSpPr>
          <p:cNvPr id="1293" name="Google Shape;1293;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94" name="Google Shape;1294;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5" name="Google Shape;1295;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{{PI_T3_2}}</a:t>
            </a:r>
            <a:endParaRPr sz="800" b="0" i="0" u="none" strike="noStrike" cap="none">
              <a:solidFill>
                <a:schemeClr val="dk1"/>
              </a:solidFill>
              <a:latin typeface="Calibri"/>
              <a:ea typeface="Calibri"/>
              <a:cs typeface="Calibri"/>
              <a:sym typeface="Calibri"/>
            </a:endParaRPr>
          </a:p>
        </p:txBody>
      </p:sp>
      <p:sp>
        <p:nvSpPr>
          <p:cNvPr id="1296" name="Google Shape;1296;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97" name="Google Shape;1297;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8" name="Google Shape;1298;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{{PI_T3_3}}</a:t>
            </a:r>
            <a:endParaRPr sz="800" b="0" i="0" u="none" strike="noStrike" cap="none">
              <a:solidFill>
                <a:schemeClr val="dk1"/>
              </a:solidFill>
              <a:latin typeface="Calibri"/>
              <a:ea typeface="Calibri"/>
              <a:cs typeface="Calibri"/>
              <a:sym typeface="Calibri"/>
            </a:endParaRPr>
          </a:p>
        </p:txBody>
      </p:sp>
      <p:sp>
        <p:nvSpPr>
          <p:cNvPr id="1299" name="Google Shape;1299;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00" name="Google Shape;1300;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301" name="Google Shape;1301;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{{PI_T3_4}}</a:t>
            </a:r>
            <a:endParaRPr sz="800" b="0" i="0" u="none" strike="noStrike" cap="none">
              <a:solidFill>
                <a:schemeClr val="dk1"/>
              </a:solidFill>
              <a:latin typeface="Calibri"/>
              <a:ea typeface="Calibri"/>
              <a:cs typeface="Calibri"/>
              <a:sym typeface="Calibri"/>
            </a:endParaRPr>
          </a:p>
        </p:txBody>
      </p:sp>
      <p:sp>
        <p:nvSpPr>
          <p:cNvPr id="1302" name="Google Shape;1302;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303" name="Google Shape;1303;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{{PI_T3_5}}</a:t>
            </a:r>
            <a:endParaRPr sz="800" b="0" i="0" u="none" strike="noStrike" cap="none">
              <a:solidFill>
                <a:schemeClr val="dk1"/>
              </a:solidFill>
              <a:latin typeface="Calibri"/>
              <a:ea typeface="Calibri"/>
              <a:cs typeface="Calibri"/>
              <a:sym typeface="Calibri"/>
            </a:endParaRPr>
          </a:p>
        </p:txBody>
      </p:sp>
      <p:cxnSp>
        <p:nvCxnSpPr>
          <p:cNvPr id="1304" name="Google Shape;1304;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6" name="Google Shape;1306;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7" name="Google Shape;1307;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8" name="Google Shape;1308;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{{PI_T3_2_SA}}</a:t>
            </a:r>
            <a:endParaRPr sz="700" b="0" i="0" u="none" strike="noStrike" cap="none">
              <a:solidFill>
                <a:schemeClr val="dk1"/>
              </a:solidFill>
              <a:latin typeface="Calibri"/>
              <a:ea typeface="Calibri"/>
              <a:cs typeface="Calibri"/>
              <a:sym typeface="Calibri"/>
            </a:endParaRPr>
          </a:p>
        </p:txBody>
      </p:sp>
      <p:sp>
        <p:nvSpPr>
          <p:cNvPr id="1309" name="Google Shape;1309;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{{PI_T3_3_SA}}</a:t>
            </a:r>
            <a:endParaRPr sz="700" b="0" i="0" u="none" strike="noStrike" cap="none">
              <a:solidFill>
                <a:schemeClr val="dk1"/>
              </a:solidFill>
              <a:latin typeface="Calibri"/>
              <a:ea typeface="Calibri"/>
              <a:cs typeface="Calibri"/>
              <a:sym typeface="Calibri"/>
            </a:endParaRPr>
          </a:p>
        </p:txBody>
      </p:sp>
      <p:sp>
        <p:nvSpPr>
          <p:cNvPr id="1310" name="Google Shape;1310;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{{PI_T3_4_SA}}</a:t>
            </a:r>
            <a:endParaRPr sz="700" b="0" i="0" u="none" strike="noStrike" cap="none">
              <a:solidFill>
                <a:schemeClr val="dk1"/>
              </a:solidFill>
              <a:latin typeface="Calibri"/>
              <a:ea typeface="Calibri"/>
              <a:cs typeface="Calibri"/>
              <a:sym typeface="Calibri"/>
            </a:endParaRPr>
          </a:p>
        </p:txBody>
      </p:sp>
      <p:sp>
        <p:nvSpPr>
          <p:cNvPr id="1311" name="Google Shape;1311;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{{PI_T3_5_SA}}</a:t>
            </a:r>
            <a:endParaRPr sz="700" b="0" i="0" u="none" strike="noStrike" cap="none">
              <a:solidFill>
                <a:schemeClr val="dk1"/>
              </a:solidFill>
              <a:latin typeface="Calibri"/>
              <a:ea typeface="Calibri"/>
              <a:cs typeface="Calibri"/>
              <a:sym typeface="Calibri"/>
            </a:endParaRPr>
          </a:p>
        </p:txBody>
      </p:sp>
      <p:sp>
        <p:nvSpPr>
          <p:cNvPr id="1312" name="Google Shape;1312;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{{PI_T3_1_FA}} / {{PI_T3_1_LA}}</a:t>
            </a:r>
            <a:endParaRPr sz="800" b="0" i="0" u="none" strike="noStrike" cap="none">
              <a:solidFill>
                <a:schemeClr val="dk1"/>
              </a:solidFill>
              <a:latin typeface="Calibri"/>
              <a:ea typeface="Calibri"/>
              <a:cs typeface="Calibri"/>
              <a:sym typeface="Calibri"/>
            </a:endParaRPr>
          </a:p>
        </p:txBody>
      </p:sp>
      <p:sp>
        <p:nvSpPr>
          <p:cNvPr id="1313" name="Google Shape;1313;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{{PI_T3_2_FA}} / {{PI_T3_2_LA}}</a:t>
            </a:r>
            <a:endParaRPr sz="800" b="0" i="0" u="none" strike="noStrike" cap="none">
              <a:solidFill>
                <a:schemeClr val="dk1"/>
              </a:solidFill>
              <a:latin typeface="Calibri"/>
              <a:ea typeface="Calibri"/>
              <a:cs typeface="Calibri"/>
              <a:sym typeface="Calibri"/>
            </a:endParaRPr>
          </a:p>
        </p:txBody>
      </p:sp>
      <p:sp>
        <p:nvSpPr>
          <p:cNvPr id="1314" name="Google Shape;1314;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{{PI_T3_3_FA}} / {{PI_T3_3_LA}}</a:t>
            </a:r>
            <a:endParaRPr sz="800" b="0" i="0" u="none" strike="noStrike" cap="none">
              <a:solidFill>
                <a:schemeClr val="dk1"/>
              </a:solidFill>
              <a:latin typeface="Calibri"/>
              <a:ea typeface="Calibri"/>
              <a:cs typeface="Calibri"/>
              <a:sym typeface="Calibri"/>
            </a:endParaRPr>
          </a:p>
        </p:txBody>
      </p:sp>
      <p:sp>
        <p:nvSpPr>
          <p:cNvPr id="1315" name="Google Shape;1315;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{{PI_T3_4_FA}} / {{PI_T3_4_LA}}</a:t>
            </a:r>
            <a:endParaRPr sz="800" b="0" i="0" u="none" strike="noStrike" cap="none">
              <a:solidFill>
                <a:schemeClr val="dk1"/>
              </a:solidFill>
              <a:latin typeface="Calibri"/>
              <a:ea typeface="Calibri"/>
              <a:cs typeface="Calibri"/>
              <a:sym typeface="Calibri"/>
            </a:endParaRPr>
          </a:p>
        </p:txBody>
      </p:sp>
      <p:sp>
        <p:nvSpPr>
          <p:cNvPr id="1316" name="Google Shape;1316;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{{PI_T3_5_FA}} / {{PI_T3_5_LA}}</a:t>
            </a:r>
            <a:endParaRPr sz="800" b="0" i="0" u="none" strike="noStrike" cap="none">
              <a:solidFill>
                <a:schemeClr val="dk1"/>
              </a:solidFill>
              <a:latin typeface="Calibri"/>
              <a:ea typeface="Calibri"/>
              <a:cs typeface="Calibri"/>
              <a:sym typeface="Calibri"/>
            </a:endParaRPr>
          </a:p>
        </p:txBody>
      </p:sp>
      <p:sp>
        <p:nvSpPr>
          <p:cNvPr id="1317" name="Google Shape;1317;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18" name="Google Shape;1318;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9" name="Google Shape;1319;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{{PI_T1_6}}</a:t>
            </a:r>
            <a:endParaRPr sz="800" b="0" i="0" u="none" strike="noStrike" cap="none">
              <a:solidFill>
                <a:schemeClr val="dk1"/>
              </a:solidFill>
              <a:latin typeface="Calibri"/>
              <a:ea typeface="Calibri"/>
              <a:cs typeface="Calibri"/>
              <a:sym typeface="Calibri"/>
            </a:endParaRPr>
          </a:p>
        </p:txBody>
      </p:sp>
      <p:cxnSp>
        <p:nvCxnSpPr>
          <p:cNvPr id="1320" name="Google Shape;1320;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21" name="Google Shape;1321;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{{PI_T1_6_SA}}</a:t>
            </a:r>
            <a:endParaRPr sz="700" b="0" i="0" u="none" strike="noStrike" cap="none">
              <a:solidFill>
                <a:schemeClr val="dk1"/>
              </a:solidFill>
              <a:latin typeface="Calibri"/>
              <a:ea typeface="Calibri"/>
              <a:cs typeface="Calibri"/>
              <a:sym typeface="Calibri"/>
            </a:endParaRPr>
          </a:p>
        </p:txBody>
      </p:sp>
      <p:sp>
        <p:nvSpPr>
          <p:cNvPr id="1322" name="Google Shape;1322;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{{PI_T1_6_FA}} / {{PI_T1_6_LA}}</a:t>
            </a:r>
            <a:endParaRPr sz="800" b="0" i="0" u="none" strike="noStrike" cap="none">
              <a:solidFill>
                <a:schemeClr val="dk1"/>
              </a:solidFill>
              <a:latin typeface="Calibri"/>
              <a:ea typeface="Calibri"/>
              <a:cs typeface="Calibri"/>
              <a:sym typeface="Calibri"/>
            </a:endParaRPr>
          </a:p>
        </p:txBody>
      </p:sp>
      <p:sp>
        <p:nvSpPr>
          <p:cNvPr id="1323" name="Google Shape;1323;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24" name="Google Shape;1324;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5" name="Google Shape;1325;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{{PI_T1_7}}</a:t>
            </a:r>
            <a:endParaRPr sz="800" b="0" i="0" u="none" strike="noStrike" cap="none">
              <a:solidFill>
                <a:schemeClr val="dk1"/>
              </a:solidFill>
              <a:latin typeface="Calibri"/>
              <a:ea typeface="Calibri"/>
              <a:cs typeface="Calibri"/>
              <a:sym typeface="Calibri"/>
            </a:endParaRPr>
          </a:p>
        </p:txBody>
      </p:sp>
      <p:cxnSp>
        <p:nvCxnSpPr>
          <p:cNvPr id="1326" name="Google Shape;1326;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7" name="Google Shape;1327;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{{PI_T1_7_SA}}</a:t>
            </a:r>
            <a:endParaRPr sz="700" b="0" i="0" u="none" strike="noStrike" cap="none">
              <a:solidFill>
                <a:schemeClr val="dk1"/>
              </a:solidFill>
              <a:latin typeface="Calibri"/>
              <a:ea typeface="Calibri"/>
              <a:cs typeface="Calibri"/>
              <a:sym typeface="Calibri"/>
            </a:endParaRPr>
          </a:p>
        </p:txBody>
      </p:sp>
      <p:sp>
        <p:nvSpPr>
          <p:cNvPr id="1328" name="Google Shape;1328;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{{PI_T1_7_FA}} / {{PI_T1_7_LA}}</a:t>
            </a:r>
            <a:endParaRPr sz="800" b="0" i="0" u="none" strike="noStrike" cap="none">
              <a:solidFill>
                <a:schemeClr val="dk1"/>
              </a:solidFill>
              <a:latin typeface="Calibri"/>
              <a:ea typeface="Calibri"/>
              <a:cs typeface="Calibri"/>
              <a:sym typeface="Calibri"/>
            </a:endParaRPr>
          </a:p>
        </p:txBody>
      </p:sp>
      <p:sp>
        <p:nvSpPr>
          <p:cNvPr id="1329" name="Google Shape;1329;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30" name="Google Shape;1330;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31" name="Google Shape;1331;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{{PI_T1_8}}</a:t>
            </a:r>
            <a:endParaRPr sz="800" b="0" i="0" u="none" strike="noStrike" cap="none">
              <a:solidFill>
                <a:schemeClr val="dk1"/>
              </a:solidFill>
              <a:latin typeface="Calibri"/>
              <a:ea typeface="Calibri"/>
              <a:cs typeface="Calibri"/>
              <a:sym typeface="Calibri"/>
            </a:endParaRPr>
          </a:p>
        </p:txBody>
      </p:sp>
      <p:cxnSp>
        <p:nvCxnSpPr>
          <p:cNvPr id="1332" name="Google Shape;1332;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3" name="Google Shape;1333;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{{PI_T1_8_SA}}</a:t>
            </a:r>
            <a:endParaRPr sz="700" b="0" i="0" u="none" strike="noStrike" cap="none">
              <a:solidFill>
                <a:schemeClr val="dk1"/>
              </a:solidFill>
              <a:latin typeface="Calibri"/>
              <a:ea typeface="Calibri"/>
              <a:cs typeface="Calibri"/>
              <a:sym typeface="Calibri"/>
            </a:endParaRPr>
          </a:p>
        </p:txBody>
      </p:sp>
      <p:sp>
        <p:nvSpPr>
          <p:cNvPr id="1334" name="Google Shape;1334;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{{PI_T1_8_FA}} / {{PI_T1_8_LA}}</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759</TotalTime>
  <Words>5111</Words>
  <Application>Microsoft Office PowerPoint</Application>
  <PresentationFormat>On-screen Show (16:9)</PresentationFormat>
  <Paragraphs>796</Paragraphs>
  <Slides>23</Slides>
  <Notes>23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23</vt:i4>
      </vt:variant>
    </vt:vector>
  </HeadingPairs>
  <TitlesOfParts>
    <vt:vector size="30" baseType="lpstr">
      <vt:lpstr>Calibri</vt:lpstr>
      <vt:lpstr>DM Sans</vt:lpstr>
      <vt:lpstr>Arial</vt:lpstr>
      <vt:lpstr>Poppins Light</vt:lpstr>
      <vt:lpstr>DM Sans Medium</vt:lpstr>
      <vt:lpstr>Simple Light</vt:lpstr>
      <vt:lpstr>Content Slides</vt:lpstr>
      <vt:lpstr>PowerPoint Presentation</vt:lpstr>
      <vt:lpstr>Wiz Adoption &amp; Democratization Maturity Model </vt:lpstr>
      <vt:lpstr>Cloud and AI Visibility Snapshot</vt:lpstr>
      <vt:lpstr>Top Three Focus Areas to Improve Cloud Visibility &amp; Coverage</vt:lpstr>
      <vt:lpstr>Wiz Adoption &amp; Usage Snapshot</vt:lpstr>
      <vt:lpstr>Wiz System Health &amp; Scans Snapshot</vt:lpstr>
      <vt:lpstr>Democratization Snapshot</vt:lpstr>
      <vt:lpstr>Top Three Focus Areas to Mature for Democratization Improvements</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Top Three Focus Areas to Improve Security Posture &amp; Risk Reduction</vt:lpstr>
      <vt:lpstr>PowerPoint Presentation</vt:lpstr>
      <vt:lpstr>Secure Development Snapshot</vt:lpstr>
      <vt:lpstr>Top Three Focus Areas to Mature for Developing Securely Improvements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Wiz Health Assessment</dc:creator>
  <cp:lastModifiedBy>Wiz Health Assessment</cp:lastModifiedBy>
  <cp:revision>14</cp:revision>
  <dcterms:modified xsi:type="dcterms:W3CDTF">2026-09-04T17:25:52Z</dcterms:modified>
</cp:coreProperties>
</file>