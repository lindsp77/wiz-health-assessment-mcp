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2" r:id="rId1"/>
    <p:sldMasterId id="2147483693" r:id="rId2"/>
  </p:sldMasterIdLst>
  <p:notesMasterIdLst>
    <p:notesMasterId r:id="rId26"/>
  </p:notesMasterIdLst>
  <p:sldIdLst>
    <p:sldId id="256" r:id="rId3"/>
    <p:sldId id="257" r:id="rId4"/>
    <p:sldId id="258" r:id="rId5"/>
    <p:sldId id="275" r:id="rId6"/>
    <p:sldId id="259" r:id="rId7"/>
    <p:sldId id="260" r:id="rId8"/>
    <p:sldId id="261" r:id="rId9"/>
    <p:sldId id="276" r:id="rId10"/>
    <p:sldId id="262" r:id="rId11"/>
    <p:sldId id="263" r:id="rId12"/>
    <p:sldId id="264" r:id="rId13"/>
    <p:sldId id="265" r:id="rId14"/>
    <p:sldId id="266" r:id="rId15"/>
    <p:sldId id="267" r:id="rId16"/>
    <p:sldId id="268" r:id="rId17"/>
    <p:sldId id="277" r:id="rId18"/>
    <p:sldId id="269" r:id="rId19"/>
    <p:sldId id="270" r:id="rId20"/>
    <p:sldId id="278" r:id="rId21"/>
    <p:sldId id="271" r:id="rId22"/>
    <p:sldId id="272" r:id="rId23"/>
    <p:sldId id="273" r:id="rId24"/>
    <p:sldId id="274" r:id="rId25"/>
  </p:sldIdLst>
  <p:sldSz cx="9144000" cy="5143500" type="screen16x9"/>
  <p:notesSz cx="6858000" cy="9144000"/>
  <p:embeddedFontLst>
    <p:embeddedFont>
      <p:font typeface="DM Sans" pitchFamily="2" charset="0"/>
      <p:regular r:id="rId27"/>
      <p:bold r:id="rId28"/>
      <p:italic r:id="rId29"/>
      <p:boldItalic r:id="rId30"/>
    </p:embeddedFont>
    <p:embeddedFont>
      <p:font typeface="DM Sans Medium" pitchFamily="2" charset="0"/>
      <p:regular r:id="rId31"/>
      <p:italic r:id="rId32"/>
    </p:embeddedFont>
    <p:embeddedFont>
      <p:font typeface="Poppins Light" panose="00000400000000000000" pitchFamily="2" charset="0"/>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300"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notesMaster" Target="notesMasters/notesMaster1.xml"/><Relationship Id="rId39" Type="http://schemas.openxmlformats.org/officeDocument/2006/relationships/theme" Target="theme/theme1.xml"/><Relationship Id="rId21" Type="http://schemas.openxmlformats.org/officeDocument/2006/relationships/slide" Target="slides/slide19.xml"/><Relationship Id="rId34" Type="http://schemas.openxmlformats.org/officeDocument/2006/relationships/font" Target="fonts/font8.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font" Target="fonts/font7.fntdata"/><Relationship Id="rId38"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6.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font" Target="fonts/font2.fntdata"/><Relationship Id="rId36" Type="http://schemas.openxmlformats.org/officeDocument/2006/relationships/font" Target="fonts/font10.fntdata"/><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5.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font" Target="fonts/font9.fntdata"/><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4" name="Google Shape;234;p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235" name="Google Shape;235;p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44" name="Google Shape;244;p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marR="381000" lvl="0" indent="-228600" algn="l" rtl="0">
              <a:lnSpc>
                <a:spcPct val="115000"/>
              </a:lnSpc>
              <a:spcBef>
                <a:spcPts val="1200"/>
              </a:spcBef>
              <a:spcAft>
                <a:spcPts val="0"/>
              </a:spcAft>
              <a:buClr>
                <a:schemeClr val="dk1"/>
              </a:buClr>
              <a:buSzPts val="1100"/>
              <a:buNone/>
            </a:pPr>
            <a:endParaRPr>
              <a:solidFill>
                <a:schemeClr val="dk1"/>
              </a:solidFill>
            </a:endParaRPr>
          </a:p>
        </p:txBody>
      </p:sp>
      <p:sp>
        <p:nvSpPr>
          <p:cNvPr id="245" name="Google Shape;245;p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7" name="Google Shape;287;p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28600" algn="l" rtl="0">
              <a:lnSpc>
                <a:spcPct val="100000"/>
              </a:lnSpc>
              <a:spcBef>
                <a:spcPts val="0"/>
              </a:spcBef>
              <a:spcAft>
                <a:spcPts val="0"/>
              </a:spcAft>
              <a:buClr>
                <a:schemeClr val="dk1"/>
              </a:buClr>
              <a:buSzPts val="1100"/>
              <a:buNone/>
            </a:pPr>
            <a:endParaRPr>
              <a:solidFill>
                <a:schemeClr val="dk1"/>
              </a:solidFill>
            </a:endParaRPr>
          </a:p>
        </p:txBody>
      </p:sp>
      <p:sp>
        <p:nvSpPr>
          <p:cNvPr id="288" name="Google Shape;288;p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5"/>
        <p:cNvGrpSpPr/>
        <p:nvPr/>
      </p:nvGrpSpPr>
      <p:grpSpPr>
        <a:xfrm>
          <a:off x="0" y="0"/>
          <a:ext cx="0" cy="0"/>
          <a:chOff x="0" y="0"/>
          <a:chExt cx="0" cy="0"/>
        </a:xfrm>
      </p:grpSpPr>
      <p:sp>
        <p:nvSpPr>
          <p:cNvPr id="1336" name="Google Shape;1336;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37" name="Google Shape;1337;p2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28600" algn="l" rtl="0">
              <a:lnSpc>
                <a:spcPct val="100000"/>
              </a:lnSpc>
              <a:spcBef>
                <a:spcPts val="0"/>
              </a:spcBef>
              <a:spcAft>
                <a:spcPts val="0"/>
              </a:spcAft>
              <a:buClr>
                <a:schemeClr val="dk1"/>
              </a:buClr>
              <a:buSzPts val="1100"/>
              <a:buNone/>
            </a:pPr>
            <a:endParaRPr/>
          </a:p>
        </p:txBody>
      </p:sp>
      <p:sp>
        <p:nvSpPr>
          <p:cNvPr id="1338" name="Google Shape;1338;p2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4</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85" name="Google Shape;385;p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28600" algn="l" rtl="0">
              <a:lnSpc>
                <a:spcPct val="100000"/>
              </a:lnSpc>
              <a:spcBef>
                <a:spcPts val="0"/>
              </a:spcBef>
              <a:spcAft>
                <a:spcPts val="0"/>
              </a:spcAft>
              <a:buClr>
                <a:schemeClr val="dk1"/>
              </a:buClr>
              <a:buSzPts val="1100"/>
              <a:buNone/>
            </a:pPr>
            <a:endParaRPr>
              <a:solidFill>
                <a:schemeClr val="dk1"/>
              </a:solidFill>
            </a:endParaRPr>
          </a:p>
        </p:txBody>
      </p:sp>
      <p:sp>
        <p:nvSpPr>
          <p:cNvPr id="386" name="Google Shape;386;p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5</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3" name="Google Shape;433;p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28600" algn="l" rtl="0">
              <a:lnSpc>
                <a:spcPct val="100000"/>
              </a:lnSpc>
              <a:spcBef>
                <a:spcPts val="0"/>
              </a:spcBef>
              <a:spcAft>
                <a:spcPts val="0"/>
              </a:spcAft>
              <a:buClr>
                <a:schemeClr val="dk1"/>
              </a:buClr>
              <a:buSzPts val="1100"/>
              <a:buNone/>
            </a:pPr>
            <a:endParaRPr>
              <a:solidFill>
                <a:schemeClr val="dk1"/>
              </a:solidFill>
            </a:endParaRPr>
          </a:p>
        </p:txBody>
      </p:sp>
      <p:sp>
        <p:nvSpPr>
          <p:cNvPr id="434" name="Google Shape;434;p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6</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6"/>
        <p:cNvGrpSpPr/>
        <p:nvPr/>
      </p:nvGrpSpPr>
      <p:grpSpPr>
        <a:xfrm>
          <a:off x="0" y="0"/>
          <a:ext cx="0" cy="0"/>
          <a:chOff x="0" y="0"/>
          <a:chExt cx="0" cy="0"/>
        </a:xfrm>
      </p:grpSpPr>
      <p:sp>
        <p:nvSpPr>
          <p:cNvPr id="497" name="Google Shape;497;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8" name="Google Shape;498;p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499" name="Google Shape;499;p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7</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6"/>
        <p:cNvGrpSpPr/>
        <p:nvPr/>
      </p:nvGrpSpPr>
      <p:grpSpPr>
        <a:xfrm>
          <a:off x="0" y="0"/>
          <a:ext cx="0" cy="0"/>
          <a:chOff x="0" y="0"/>
          <a:chExt cx="0" cy="0"/>
        </a:xfrm>
      </p:grpSpPr>
      <p:sp>
        <p:nvSpPr>
          <p:cNvPr id="1357" name="Google Shape;1357;p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58" name="Google Shape;1358;p2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0" algn="l" rtl="0">
              <a:lnSpc>
                <a:spcPct val="100000"/>
              </a:lnSpc>
              <a:spcBef>
                <a:spcPts val="0"/>
              </a:spcBef>
              <a:spcAft>
                <a:spcPts val="0"/>
              </a:spcAft>
              <a:buSzPts val="1100"/>
              <a:buNone/>
            </a:pPr>
            <a:endParaRPr/>
          </a:p>
        </p:txBody>
      </p:sp>
      <p:sp>
        <p:nvSpPr>
          <p:cNvPr id="1359" name="Google Shape;1359;p2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8</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7" name="Google Shape;587;p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28600" algn="l" rtl="0">
              <a:lnSpc>
                <a:spcPct val="100000"/>
              </a:lnSpc>
              <a:spcBef>
                <a:spcPts val="0"/>
              </a:spcBef>
              <a:spcAft>
                <a:spcPts val="0"/>
              </a:spcAft>
              <a:buClr>
                <a:schemeClr val="dk1"/>
              </a:buClr>
              <a:buSzPts val="1100"/>
              <a:buNone/>
            </a:pPr>
            <a:endParaRPr>
              <a:solidFill>
                <a:schemeClr val="dk1"/>
              </a:solidFill>
            </a:endParaRPr>
          </a:p>
        </p:txBody>
      </p:sp>
      <p:sp>
        <p:nvSpPr>
          <p:cNvPr id="588" name="Google Shape;588;p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9" name="Google Shape;599;p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28600" algn="l" rtl="0">
              <a:lnSpc>
                <a:spcPct val="100000"/>
              </a:lnSpc>
              <a:spcBef>
                <a:spcPts val="0"/>
              </a:spcBef>
              <a:spcAft>
                <a:spcPts val="0"/>
              </a:spcAft>
              <a:buClr>
                <a:schemeClr val="dk1"/>
              </a:buClr>
              <a:buSzPts val="1100"/>
              <a:buNone/>
            </a:pPr>
            <a:endParaRPr>
              <a:solidFill>
                <a:schemeClr val="dk1"/>
              </a:solidFill>
            </a:endParaRPr>
          </a:p>
        </p:txBody>
      </p:sp>
      <p:sp>
        <p:nvSpPr>
          <p:cNvPr id="600" name="Google Shape;600;p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10</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2" name="Google Shape;612;p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28600" algn="l" rtl="0">
              <a:lnSpc>
                <a:spcPct val="100000"/>
              </a:lnSpc>
              <a:spcBef>
                <a:spcPts val="0"/>
              </a:spcBef>
              <a:spcAft>
                <a:spcPts val="0"/>
              </a:spcAft>
              <a:buClr>
                <a:schemeClr val="dk1"/>
              </a:buClr>
              <a:buSzPts val="1100"/>
              <a:buNone/>
            </a:pPr>
            <a:endParaRPr>
              <a:solidFill>
                <a:schemeClr val="dk1"/>
              </a:solidFill>
            </a:endParaRPr>
          </a:p>
        </p:txBody>
      </p:sp>
      <p:sp>
        <p:nvSpPr>
          <p:cNvPr id="613" name="Google Shape;613;p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0"/>
        <p:cNvGrpSpPr/>
        <p:nvPr/>
      </p:nvGrpSpPr>
      <p:grpSpPr>
        <a:xfrm>
          <a:off x="0" y="0"/>
          <a:ext cx="0" cy="0"/>
          <a:chOff x="0" y="0"/>
          <a:chExt cx="0" cy="0"/>
        </a:xfrm>
      </p:grpSpPr>
      <p:sp>
        <p:nvSpPr>
          <p:cNvPr id="621" name="Google Shape;621;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2" name="Google Shape;622;p1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623" name="Google Shape;623;p1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9"/>
        <p:cNvGrpSpPr/>
        <p:nvPr/>
      </p:nvGrpSpPr>
      <p:grpSpPr>
        <a:xfrm>
          <a:off x="0" y="0"/>
          <a:ext cx="0" cy="0"/>
          <a:chOff x="0" y="0"/>
          <a:chExt cx="0" cy="0"/>
        </a:xfrm>
      </p:grpSpPr>
      <p:sp>
        <p:nvSpPr>
          <p:cNvPr id="630" name="Google Shape;630;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1" name="Google Shape;631;p1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28600" algn="l" rtl="0">
              <a:lnSpc>
                <a:spcPct val="100000"/>
              </a:lnSpc>
              <a:spcBef>
                <a:spcPts val="0"/>
              </a:spcBef>
              <a:spcAft>
                <a:spcPts val="0"/>
              </a:spcAft>
              <a:buClr>
                <a:schemeClr val="dk1"/>
              </a:buClr>
              <a:buSzPts val="1100"/>
              <a:buNone/>
            </a:pPr>
            <a:endParaRPr/>
          </a:p>
        </p:txBody>
      </p:sp>
      <p:sp>
        <p:nvSpPr>
          <p:cNvPr id="632" name="Google Shape;632;p1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1" name="Google Shape;671;p1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None/>
            </a:pPr>
            <a:endParaRPr sz="1200">
              <a:solidFill>
                <a:schemeClr val="dk1"/>
              </a:solidFill>
            </a:endParaRPr>
          </a:p>
        </p:txBody>
      </p:sp>
      <p:sp>
        <p:nvSpPr>
          <p:cNvPr id="672" name="Google Shape;672;p1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14</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2"/>
        <p:cNvGrpSpPr/>
        <p:nvPr/>
      </p:nvGrpSpPr>
      <p:grpSpPr>
        <a:xfrm>
          <a:off x="0" y="0"/>
          <a:ext cx="0" cy="0"/>
          <a:chOff x="0" y="0"/>
          <a:chExt cx="0" cy="0"/>
        </a:xfrm>
      </p:grpSpPr>
      <p:sp>
        <p:nvSpPr>
          <p:cNvPr id="713" name="Google Shape;713;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4" name="Google Shape;714;p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None/>
            </a:pPr>
            <a:endParaRPr sz="1200">
              <a:solidFill>
                <a:schemeClr val="dk1"/>
              </a:solidFill>
            </a:endParaRPr>
          </a:p>
        </p:txBody>
      </p:sp>
      <p:sp>
        <p:nvSpPr>
          <p:cNvPr id="715" name="Google Shape;715;p1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15</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8"/>
        <p:cNvGrpSpPr/>
        <p:nvPr/>
      </p:nvGrpSpPr>
      <p:grpSpPr>
        <a:xfrm>
          <a:off x="0" y="0"/>
          <a:ext cx="0" cy="0"/>
          <a:chOff x="0" y="0"/>
          <a:chExt cx="0" cy="0"/>
        </a:xfrm>
      </p:grpSpPr>
      <p:sp>
        <p:nvSpPr>
          <p:cNvPr id="1389" name="Google Shape;1389;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90" name="Google Shape;1390;p2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228600" algn="l" rtl="0">
              <a:lnSpc>
                <a:spcPct val="100000"/>
              </a:lnSpc>
              <a:spcBef>
                <a:spcPts val="0"/>
              </a:spcBef>
              <a:spcAft>
                <a:spcPts val="0"/>
              </a:spcAft>
              <a:buClr>
                <a:schemeClr val="dk1"/>
              </a:buClr>
              <a:buSzPts val="1100"/>
              <a:buNone/>
            </a:pPr>
            <a:endParaRPr/>
          </a:p>
        </p:txBody>
      </p:sp>
      <p:sp>
        <p:nvSpPr>
          <p:cNvPr id="1391" name="Google Shape;1391;p2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16</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7"/>
        <p:cNvGrpSpPr/>
        <p:nvPr/>
      </p:nvGrpSpPr>
      <p:grpSpPr>
        <a:xfrm>
          <a:off x="0" y="0"/>
          <a:ext cx="0" cy="0"/>
          <a:chOff x="0" y="0"/>
          <a:chExt cx="0" cy="0"/>
        </a:xfrm>
      </p:grpSpPr>
      <p:sp>
        <p:nvSpPr>
          <p:cNvPr id="748" name="Google Shape;748;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9" name="Google Shape;749;p1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750" name="Google Shape;750;p1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17</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1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76200" algn="l" rtl="0">
              <a:lnSpc>
                <a:spcPct val="138083"/>
              </a:lnSpc>
              <a:spcBef>
                <a:spcPts val="0"/>
              </a:spcBef>
              <a:spcAft>
                <a:spcPts val="0"/>
              </a:spcAft>
              <a:buClr>
                <a:schemeClr val="dk1"/>
              </a:buClr>
              <a:buSzPts val="1200"/>
              <a:buNone/>
            </a:pPr>
            <a:endParaRPr sz="1200">
              <a:solidFill>
                <a:schemeClr val="dk1"/>
              </a:solidFill>
            </a:endParaRPr>
          </a:p>
        </p:txBody>
      </p:sp>
      <p:sp>
        <p:nvSpPr>
          <p:cNvPr id="759" name="Google Shape;759;p1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18</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9"/>
        <p:cNvGrpSpPr/>
        <p:nvPr/>
      </p:nvGrpSpPr>
      <p:grpSpPr>
        <a:xfrm>
          <a:off x="0" y="0"/>
          <a:ext cx="0" cy="0"/>
          <a:chOff x="0" y="0"/>
          <a:chExt cx="0" cy="0"/>
        </a:xfrm>
      </p:grpSpPr>
      <p:sp>
        <p:nvSpPr>
          <p:cNvPr id="1410" name="Google Shape;1410;p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11" name="Google Shape;1411;p2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412" name="Google Shape;1412;p2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19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6"/>
        <p:cNvGrpSpPr/>
        <p:nvPr/>
      </p:nvGrpSpPr>
      <p:grpSpPr>
        <a:xfrm>
          <a:off x="0" y="0"/>
          <a:ext cx="0" cy="0"/>
          <a:chOff x="0" y="0"/>
          <a:chExt cx="0" cy="0"/>
        </a:xfrm>
      </p:grpSpPr>
      <p:sp>
        <p:nvSpPr>
          <p:cNvPr id="847" name="Google Shape;847;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48" name="Google Shape;848;p1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solidFill>
                <a:schemeClr val="dk1"/>
              </a:solidFill>
            </a:endParaRPr>
          </a:p>
        </p:txBody>
      </p:sp>
      <p:sp>
        <p:nvSpPr>
          <p:cNvPr id="849" name="Google Shape;849;p1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20</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5"/>
        <p:cNvGrpSpPr/>
        <p:nvPr/>
      </p:nvGrpSpPr>
      <p:grpSpPr>
        <a:xfrm>
          <a:off x="0" y="0"/>
          <a:ext cx="0" cy="0"/>
          <a:chOff x="0" y="0"/>
          <a:chExt cx="0" cy="0"/>
        </a:xfrm>
      </p:grpSpPr>
      <p:sp>
        <p:nvSpPr>
          <p:cNvPr id="856" name="Google Shape;856;p17: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57" name="Google Shape;857;p17: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858" name="Google Shape;858;p17: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21</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0"/>
        <p:cNvGrpSpPr/>
        <p:nvPr/>
      </p:nvGrpSpPr>
      <p:grpSpPr>
        <a:xfrm>
          <a:off x="0" y="0"/>
          <a:ext cx="0" cy="0"/>
          <a:chOff x="0" y="0"/>
          <a:chExt cx="0" cy="0"/>
        </a:xfrm>
      </p:grpSpPr>
      <p:sp>
        <p:nvSpPr>
          <p:cNvPr id="1011" name="Google Shape;1011;p18: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12" name="Google Shape;1012;p18: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013" name="Google Shape;1013;p18: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22</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3"/>
        <p:cNvGrpSpPr/>
        <p:nvPr/>
      </p:nvGrpSpPr>
      <p:grpSpPr>
        <a:xfrm>
          <a:off x="0" y="0"/>
          <a:ext cx="0" cy="0"/>
          <a:chOff x="0" y="0"/>
          <a:chExt cx="0" cy="0"/>
        </a:xfrm>
      </p:grpSpPr>
      <p:sp>
        <p:nvSpPr>
          <p:cNvPr id="1204" name="Google Shape;1204;p19:notes"/>
          <p:cNvSpPr>
            <a:spLocks noGrp="1" noRot="1" noChangeAspect="1"/>
          </p:cNvSpPr>
          <p:nvPr>
            <p:ph type="sldImg" idx="2"/>
          </p:nvPr>
        </p:nvSpPr>
        <p:spPr>
          <a:xfrm>
            <a:off x="1828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05" name="Google Shape;1205;p19: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100"/>
              <a:buNone/>
            </a:pPr>
            <a:endParaRPr/>
          </a:p>
        </p:txBody>
      </p:sp>
      <p:sp>
        <p:nvSpPr>
          <p:cNvPr id="1206" name="Google Shape;1206;p19: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 sz="1400" b="0" i="0" u="none" strike="noStrike" cap="none">
                <a:solidFill>
                  <a:srgbClr val="000000"/>
                </a:solidFill>
                <a:latin typeface="Arial"/>
                <a:ea typeface="Arial"/>
                <a:cs typeface="Arial"/>
                <a:sym typeface="Arial"/>
              </a:rPr>
              <a:t>23</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6.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7.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1.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Master" Target="../slideMasters/slideMaster2.xml"/><Relationship Id="rId4" Type="http://schemas.openxmlformats.org/officeDocument/2006/relationships/image" Target="../media/image12.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24.pn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Opening_Blank">
  <p:cSld name="Opening_Blank">
    <p:bg>
      <p:bgPr>
        <a:solidFill>
          <a:srgbClr val="0254EC"/>
        </a:solidFill>
        <a:effectLst/>
      </p:bgPr>
    </p:bg>
    <p:spTree>
      <p:nvGrpSpPr>
        <p:cNvPr id="1" name="Shape 9"/>
        <p:cNvGrpSpPr/>
        <p:nvPr/>
      </p:nvGrpSpPr>
      <p:grpSpPr>
        <a:xfrm>
          <a:off x="0" y="0"/>
          <a:ext cx="0" cy="0"/>
          <a:chOff x="0" y="0"/>
          <a:chExt cx="0" cy="0"/>
        </a:xfrm>
      </p:grpSpPr>
      <p:pic>
        <p:nvPicPr>
          <p:cNvPr id="10" name="Google Shape;10;p2" title="bg_blue.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23 1">
  <p:cSld name="ONE_COLUMN_TEXT_1">
    <p:spTree>
      <p:nvGrpSpPr>
        <p:cNvPr id="1" name="Shape 11"/>
        <p:cNvGrpSpPr/>
        <p:nvPr/>
      </p:nvGrpSpPr>
      <p:grpSpPr>
        <a:xfrm>
          <a:off x="0" y="0"/>
          <a:ext cx="0" cy="0"/>
          <a:chOff x="0" y="0"/>
          <a:chExt cx="0" cy="0"/>
        </a:xfrm>
      </p:grpSpPr>
      <p:pic>
        <p:nvPicPr>
          <p:cNvPr id="12" name="Google Shape;12;p3" title="bg6.png"/>
          <p:cNvPicPr preferRelativeResize="0"/>
          <p:nvPr/>
        </p:nvPicPr>
        <p:blipFill rotWithShape="1">
          <a:blip r:embed="rId2">
            <a:alphaModFix/>
          </a:blip>
          <a:srcRect/>
          <a:stretch/>
        </p:blipFill>
        <p:spPr>
          <a:xfrm>
            <a:off x="0" y="10"/>
            <a:ext cx="9144003" cy="5143490"/>
          </a:xfrm>
          <a:prstGeom prst="rect">
            <a:avLst/>
          </a:prstGeom>
          <a:noFill/>
          <a:ln>
            <a:noFill/>
          </a:ln>
        </p:spPr>
      </p:pic>
      <p:sp>
        <p:nvSpPr>
          <p:cNvPr id="13" name="Google Shape;13;p3"/>
          <p:cNvSpPr/>
          <p:nvPr/>
        </p:nvSpPr>
        <p:spPr>
          <a:xfrm>
            <a:off x="0" y="2500300"/>
            <a:ext cx="9158700" cy="2665200"/>
          </a:xfrm>
          <a:prstGeom prst="rect">
            <a:avLst/>
          </a:prstGeom>
          <a:gradFill>
            <a:gsLst>
              <a:gs pos="0">
                <a:schemeClr val="lt1"/>
              </a:gs>
              <a:gs pos="100000">
                <a:srgbClr val="FFFFFF">
                  <a:alpha val="0"/>
                </a:srgbClr>
              </a:gs>
            </a:gsLst>
            <a:lin ang="16200038" scaled="0"/>
          </a:gra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123">
  <p:cSld name="ONE_COLUMN_TEXT">
    <p:spTree>
      <p:nvGrpSpPr>
        <p:cNvPr id="1" name="Shape 14"/>
        <p:cNvGrpSpPr/>
        <p:nvPr/>
      </p:nvGrpSpPr>
      <p:grpSpPr>
        <a:xfrm>
          <a:off x="0" y="0"/>
          <a:ext cx="0" cy="0"/>
          <a:chOff x="0" y="0"/>
          <a:chExt cx="0" cy="0"/>
        </a:xfrm>
      </p:grpSpPr>
      <p:pic>
        <p:nvPicPr>
          <p:cNvPr id="15" name="Google Shape;15;p4" title="bg6.png"/>
          <p:cNvPicPr preferRelativeResize="0"/>
          <p:nvPr/>
        </p:nvPicPr>
        <p:blipFill rotWithShape="1">
          <a:blip r:embed="rId2">
            <a:alphaModFix/>
          </a:blip>
          <a:srcRect/>
          <a:stretch/>
        </p:blipFill>
        <p:spPr>
          <a:xfrm>
            <a:off x="0" y="10"/>
            <a:ext cx="9144003" cy="514349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6"/>
        <p:cNvGrpSpPr/>
        <p:nvPr/>
      </p:nvGrpSpPr>
      <p:grpSpPr>
        <a:xfrm>
          <a:off x="0" y="0"/>
          <a:ext cx="0" cy="0"/>
          <a:chOff x="0" y="0"/>
          <a:chExt cx="0" cy="0"/>
        </a:xfrm>
      </p:grpSpPr>
      <p:pic>
        <p:nvPicPr>
          <p:cNvPr id="17" name="Google Shape;17;p5" title="bg2.png"/>
          <p:cNvPicPr preferRelativeResize="0"/>
          <p:nvPr/>
        </p:nvPicPr>
        <p:blipFill rotWithShape="1">
          <a:blip r:embed="rId2">
            <a:alphaModFix/>
          </a:blip>
          <a:srcRect/>
          <a:stretch/>
        </p:blipFill>
        <p:spPr>
          <a:xfrm>
            <a:off x="0" y="10"/>
            <a:ext cx="9143997" cy="514349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8"/>
        <p:cNvGrpSpPr/>
        <p:nvPr/>
      </p:nvGrpSpPr>
      <p:grpSpPr>
        <a:xfrm>
          <a:off x="0" y="0"/>
          <a:ext cx="0" cy="0"/>
          <a:chOff x="0" y="0"/>
          <a:chExt cx="0" cy="0"/>
        </a:xfrm>
      </p:grpSpPr>
      <p:pic>
        <p:nvPicPr>
          <p:cNvPr id="19" name="Google Shape;19;p6" title="bg_blue2.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
        <p:cNvGrpSpPr/>
        <p:nvPr/>
      </p:nvGrpSpPr>
      <p:grpSpPr>
        <a:xfrm>
          <a:off x="0" y="0"/>
          <a:ext cx="0" cy="0"/>
          <a:chOff x="0" y="0"/>
          <a:chExt cx="0" cy="0"/>
        </a:xfrm>
      </p:grpSpPr>
      <p:pic>
        <p:nvPicPr>
          <p:cNvPr id="21" name="Google Shape;21;p7" title="bg1.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2"/>
        <p:cNvGrpSpPr/>
        <p:nvPr/>
      </p:nvGrpSpPr>
      <p:grpSpPr>
        <a:xfrm>
          <a:off x="0" y="0"/>
          <a:ext cx="0" cy="0"/>
          <a:chOff x="0" y="0"/>
          <a:chExt cx="0" cy="0"/>
        </a:xfrm>
      </p:grpSpPr>
      <p:pic>
        <p:nvPicPr>
          <p:cNvPr id="23" name="Google Shape;23;p8" title="bg3.png"/>
          <p:cNvPicPr preferRelativeResize="0"/>
          <p:nvPr/>
        </p:nvPicPr>
        <p:blipFill rotWithShape="1">
          <a:blip r:embed="rId2">
            <a:alphaModFix/>
          </a:blip>
          <a:srcRect/>
          <a:stretch/>
        </p:blipFill>
        <p:spPr>
          <a:xfrm>
            <a:off x="0" y="10"/>
            <a:ext cx="9143997" cy="514349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pic>
        <p:nvPicPr>
          <p:cNvPr id="25" name="Google Shape;25;p9" title="bg4.png"/>
          <p:cNvPicPr preferRelativeResize="0"/>
          <p:nvPr/>
        </p:nvPicPr>
        <p:blipFill rotWithShape="1">
          <a:blip r:embed="rId2">
            <a:alphaModFix/>
          </a:blip>
          <a:srcRect/>
          <a:stretch/>
        </p:blipFill>
        <p:spPr>
          <a:xfrm>
            <a:off x="0" y="-5"/>
            <a:ext cx="9144000" cy="514350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6"/>
        <p:cNvGrpSpPr/>
        <p:nvPr/>
      </p:nvGrpSpPr>
      <p:grpSpPr>
        <a:xfrm>
          <a:off x="0" y="0"/>
          <a:ext cx="0" cy="0"/>
          <a:chOff x="0" y="0"/>
          <a:chExt cx="0" cy="0"/>
        </a:xfrm>
      </p:grpSpPr>
      <p:pic>
        <p:nvPicPr>
          <p:cNvPr id="27" name="Google Shape;27;p10" title="bg5.png"/>
          <p:cNvPicPr preferRelativeResize="0"/>
          <p:nvPr/>
        </p:nvPicPr>
        <p:blipFill rotWithShape="1">
          <a:blip r:embed="rId2">
            <a:alphaModFix/>
          </a:blip>
          <a:srcRect/>
          <a:stretch/>
        </p:blipFill>
        <p:spPr>
          <a:xfrm>
            <a:off x="0" y="-10"/>
            <a:ext cx="9144003" cy="5214936"/>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8"/>
        <p:cNvGrpSpPr/>
        <p:nvPr/>
      </p:nvGrpSpPr>
      <p:grpSpPr>
        <a:xfrm>
          <a:off x="0" y="0"/>
          <a:ext cx="0" cy="0"/>
          <a:chOff x="0" y="0"/>
          <a:chExt cx="0" cy="0"/>
        </a:xfrm>
      </p:grpSpPr>
      <p:sp>
        <p:nvSpPr>
          <p:cNvPr id="29" name="Google Shape;29;p11"/>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0" name="Google Shape;30;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1"/>
        <p:cNvGrpSpPr/>
        <p:nvPr/>
      </p:nvGrpSpPr>
      <p:grpSpPr>
        <a:xfrm>
          <a:off x="0" y="0"/>
          <a:ext cx="0" cy="0"/>
          <a:chOff x="0" y="0"/>
          <a:chExt cx="0" cy="0"/>
        </a:xfrm>
      </p:grpSpPr>
      <p:sp>
        <p:nvSpPr>
          <p:cNvPr id="32" name="Google Shape;32;p1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3" name="Google Shape;33;p12"/>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4" name="Google Shape;34;p12"/>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5" name="Google Shape;35;p12"/>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36" name="Google Shape;36;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7"/>
        <p:cNvGrpSpPr/>
        <p:nvPr/>
      </p:nvGrpSpPr>
      <p:grpSpPr>
        <a:xfrm>
          <a:off x="0" y="0"/>
          <a:ext cx="0" cy="0"/>
          <a:chOff x="0" y="0"/>
          <a:chExt cx="0" cy="0"/>
        </a:xfrm>
      </p:grpSpPr>
      <p:sp>
        <p:nvSpPr>
          <p:cNvPr id="38" name="Google Shape;38;p13"/>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39" name="Google Shape;39;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0"/>
        <p:cNvGrpSpPr/>
        <p:nvPr/>
      </p:nvGrpSpPr>
      <p:grpSpPr>
        <a:xfrm>
          <a:off x="0" y="0"/>
          <a:ext cx="0" cy="0"/>
          <a:chOff x="0" y="0"/>
          <a:chExt cx="0" cy="0"/>
        </a:xfrm>
      </p:grpSpPr>
      <p:sp>
        <p:nvSpPr>
          <p:cNvPr id="41" name="Google Shape;41;p14"/>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2" name="Google Shape;42;p14"/>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3" name="Google Shape;43;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
        <p:nvSpPr>
          <p:cNvPr id="45" name="Google Shape;45;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ai">
  <p:cSld name="ONE_COLUMN_TEXT_1_1">
    <p:spTree>
      <p:nvGrpSpPr>
        <p:cNvPr id="1" name="Shape 46"/>
        <p:cNvGrpSpPr/>
        <p:nvPr/>
      </p:nvGrpSpPr>
      <p:grpSpPr>
        <a:xfrm>
          <a:off x="0" y="0"/>
          <a:ext cx="0" cy="0"/>
          <a:chOff x="0" y="0"/>
          <a:chExt cx="0" cy="0"/>
        </a:xfrm>
      </p:grpSpPr>
      <p:pic>
        <p:nvPicPr>
          <p:cNvPr id="47" name="Google Shape;47;p16" title="bg7.png"/>
          <p:cNvPicPr preferRelativeResize="0"/>
          <p:nvPr/>
        </p:nvPicPr>
        <p:blipFill rotWithShape="1">
          <a:blip r:embed="rId2">
            <a:alphaModFix/>
          </a:blip>
          <a:srcRect/>
          <a:stretch/>
        </p:blipFill>
        <p:spPr>
          <a:xfrm>
            <a:off x="0" y="10"/>
            <a:ext cx="9144003" cy="514349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53"/>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B_Title and Content (2/3) Light">
  <p:cSld name="Title and Content (2/3) Light">
    <p:spTree>
      <p:nvGrpSpPr>
        <p:cNvPr id="1" name="Shape 54"/>
        <p:cNvGrpSpPr/>
        <p:nvPr/>
      </p:nvGrpSpPr>
      <p:grpSpPr>
        <a:xfrm>
          <a:off x="0" y="0"/>
          <a:ext cx="0" cy="0"/>
          <a:chOff x="0" y="0"/>
          <a:chExt cx="0" cy="0"/>
        </a:xfrm>
      </p:grpSpPr>
      <p:sp>
        <p:nvSpPr>
          <p:cNvPr id="55" name="Google Shape;55;p19"/>
          <p:cNvSpPr/>
          <p:nvPr/>
        </p:nvSpPr>
        <p:spPr>
          <a:xfrm>
            <a:off x="-4188" y="0"/>
            <a:ext cx="30777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56" name="Google Shape;56;p19"/>
          <p:cNvSpPr txBox="1">
            <a:spLocks noGrp="1"/>
          </p:cNvSpPr>
          <p:nvPr>
            <p:ph type="title"/>
          </p:nvPr>
        </p:nvSpPr>
        <p:spPr>
          <a:xfrm>
            <a:off x="420742" y="273844"/>
            <a:ext cx="22278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7" name="Google Shape;57;p19"/>
          <p:cNvSpPr txBox="1">
            <a:spLocks noGrp="1"/>
          </p:cNvSpPr>
          <p:nvPr>
            <p:ph type="body" idx="1"/>
          </p:nvPr>
        </p:nvSpPr>
        <p:spPr>
          <a:xfrm>
            <a:off x="420742" y="812524"/>
            <a:ext cx="22278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58" name="Google Shape;58;p19"/>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_Divider Slide">
  <p:cSld name="Divider Slide">
    <p:spTree>
      <p:nvGrpSpPr>
        <p:cNvPr id="1" name="Shape 59"/>
        <p:cNvGrpSpPr/>
        <p:nvPr/>
      </p:nvGrpSpPr>
      <p:grpSpPr>
        <a:xfrm>
          <a:off x="0" y="0"/>
          <a:ext cx="0" cy="0"/>
          <a:chOff x="0" y="0"/>
          <a:chExt cx="0" cy="0"/>
        </a:xfrm>
      </p:grpSpPr>
      <p:pic>
        <p:nvPicPr>
          <p:cNvPr id="60" name="Google Shape;60;p20"/>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61" name="Google Shape;61;p20"/>
          <p:cNvSpPr txBox="1">
            <a:spLocks noGrp="1"/>
          </p:cNvSpPr>
          <p:nvPr>
            <p:ph type="title"/>
          </p:nvPr>
        </p:nvSpPr>
        <p:spPr>
          <a:xfrm>
            <a:off x="420742" y="1645445"/>
            <a:ext cx="8302500" cy="367200"/>
          </a:xfrm>
          <a:prstGeom prst="rect">
            <a:avLst/>
          </a:prstGeom>
          <a:noFill/>
          <a:ln>
            <a:noFill/>
          </a:ln>
        </p:spPr>
        <p:txBody>
          <a:bodyPr spcFirstLastPara="1" wrap="square" lIns="68575" tIns="34275" rIns="68575" bIns="34275" anchor="ctr" anchorCtr="0">
            <a:noAutofit/>
          </a:bodyPr>
          <a:lstStyle>
            <a:lvl1pPr lvl="0" algn="ctr">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pic>
        <p:nvPicPr>
          <p:cNvPr id="62" name="Google Shape;62;p20"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White background_Plain">
  <p:cSld name="White background_Plain">
    <p:spTree>
      <p:nvGrpSpPr>
        <p:cNvPr id="1" name="Shape 63"/>
        <p:cNvGrpSpPr/>
        <p:nvPr/>
      </p:nvGrpSpPr>
      <p:grpSpPr>
        <a:xfrm>
          <a:off x="0" y="0"/>
          <a:ext cx="0" cy="0"/>
          <a:chOff x="0" y="0"/>
          <a:chExt cx="0" cy="0"/>
        </a:xfrm>
      </p:grpSpPr>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A_Title Slide + Name">
  <p:cSld name="Title Slide + Name">
    <p:bg>
      <p:bgPr>
        <a:solidFill>
          <a:schemeClr val="dk2"/>
        </a:solidFill>
        <a:effectLst/>
      </p:bgPr>
    </p:bg>
    <p:spTree>
      <p:nvGrpSpPr>
        <p:cNvPr id="1" name="Shape 64"/>
        <p:cNvGrpSpPr/>
        <p:nvPr/>
      </p:nvGrpSpPr>
      <p:grpSpPr>
        <a:xfrm>
          <a:off x="0" y="0"/>
          <a:ext cx="0" cy="0"/>
          <a:chOff x="0" y="0"/>
          <a:chExt cx="0" cy="0"/>
        </a:xfrm>
      </p:grpSpPr>
      <p:sp>
        <p:nvSpPr>
          <p:cNvPr id="65" name="Google Shape;65;p22"/>
          <p:cNvSpPr txBox="1">
            <a:spLocks noGrp="1"/>
          </p:cNvSpPr>
          <p:nvPr>
            <p:ph type="ctrTitle"/>
          </p:nvPr>
        </p:nvSpPr>
        <p:spPr>
          <a:xfrm>
            <a:off x="716304" y="1261139"/>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Clr>
                <a:schemeClr val="lt1"/>
              </a:buClr>
              <a:buSzPts val="1100"/>
              <a:buNone/>
              <a:defRPr>
                <a:solidFill>
                  <a:schemeClr val="lt1"/>
                </a:solidFill>
              </a:defRPr>
            </a:lvl2pPr>
            <a:lvl3pPr lvl="2" algn="l">
              <a:lnSpc>
                <a:spcPct val="100000"/>
              </a:lnSpc>
              <a:spcBef>
                <a:spcPts val="0"/>
              </a:spcBef>
              <a:spcAft>
                <a:spcPts val="0"/>
              </a:spcAft>
              <a:buClr>
                <a:schemeClr val="lt1"/>
              </a:buClr>
              <a:buSzPts val="1100"/>
              <a:buNone/>
              <a:defRPr>
                <a:solidFill>
                  <a:schemeClr val="lt1"/>
                </a:solidFill>
              </a:defRPr>
            </a:lvl3pPr>
            <a:lvl4pPr lvl="3" algn="l">
              <a:lnSpc>
                <a:spcPct val="100000"/>
              </a:lnSpc>
              <a:spcBef>
                <a:spcPts val="0"/>
              </a:spcBef>
              <a:spcAft>
                <a:spcPts val="0"/>
              </a:spcAft>
              <a:buClr>
                <a:schemeClr val="lt1"/>
              </a:buClr>
              <a:buSzPts val="1100"/>
              <a:buNone/>
              <a:defRPr>
                <a:solidFill>
                  <a:schemeClr val="lt1"/>
                </a:solidFill>
              </a:defRPr>
            </a:lvl4pPr>
            <a:lvl5pPr lvl="4" algn="l">
              <a:lnSpc>
                <a:spcPct val="100000"/>
              </a:lnSpc>
              <a:spcBef>
                <a:spcPts val="0"/>
              </a:spcBef>
              <a:spcAft>
                <a:spcPts val="0"/>
              </a:spcAft>
              <a:buClr>
                <a:schemeClr val="lt1"/>
              </a:buClr>
              <a:buSzPts val="1100"/>
              <a:buNone/>
              <a:defRPr>
                <a:solidFill>
                  <a:schemeClr val="lt1"/>
                </a:solidFill>
              </a:defRPr>
            </a:lvl5pPr>
            <a:lvl6pPr lvl="5" algn="l">
              <a:lnSpc>
                <a:spcPct val="100000"/>
              </a:lnSpc>
              <a:spcBef>
                <a:spcPts val="0"/>
              </a:spcBef>
              <a:spcAft>
                <a:spcPts val="0"/>
              </a:spcAft>
              <a:buClr>
                <a:schemeClr val="lt1"/>
              </a:buClr>
              <a:buSzPts val="1100"/>
              <a:buNone/>
              <a:defRPr>
                <a:solidFill>
                  <a:schemeClr val="lt1"/>
                </a:solidFill>
              </a:defRPr>
            </a:lvl6pPr>
            <a:lvl7pPr lvl="6" algn="l">
              <a:lnSpc>
                <a:spcPct val="100000"/>
              </a:lnSpc>
              <a:spcBef>
                <a:spcPts val="0"/>
              </a:spcBef>
              <a:spcAft>
                <a:spcPts val="0"/>
              </a:spcAft>
              <a:buClr>
                <a:schemeClr val="lt1"/>
              </a:buClr>
              <a:buSzPts val="1100"/>
              <a:buNone/>
              <a:defRPr>
                <a:solidFill>
                  <a:schemeClr val="lt1"/>
                </a:solidFill>
              </a:defRPr>
            </a:lvl7pPr>
            <a:lvl8pPr lvl="7" algn="l">
              <a:lnSpc>
                <a:spcPct val="100000"/>
              </a:lnSpc>
              <a:spcBef>
                <a:spcPts val="0"/>
              </a:spcBef>
              <a:spcAft>
                <a:spcPts val="0"/>
              </a:spcAft>
              <a:buClr>
                <a:schemeClr val="lt1"/>
              </a:buClr>
              <a:buSzPts val="1100"/>
              <a:buNone/>
              <a:defRPr>
                <a:solidFill>
                  <a:schemeClr val="lt1"/>
                </a:solidFill>
              </a:defRPr>
            </a:lvl8pPr>
            <a:lvl9pPr lvl="8" algn="l">
              <a:lnSpc>
                <a:spcPct val="100000"/>
              </a:lnSpc>
              <a:spcBef>
                <a:spcPts val="0"/>
              </a:spcBef>
              <a:spcAft>
                <a:spcPts val="0"/>
              </a:spcAft>
              <a:buClr>
                <a:schemeClr val="lt1"/>
              </a:buClr>
              <a:buSzPts val="1100"/>
              <a:buNone/>
              <a:defRPr>
                <a:solidFill>
                  <a:schemeClr val="lt1"/>
                </a:solidFill>
              </a:defRPr>
            </a:lvl9pPr>
          </a:lstStyle>
          <a:p>
            <a:endParaRPr/>
          </a:p>
        </p:txBody>
      </p:sp>
      <p:sp>
        <p:nvSpPr>
          <p:cNvPr id="66" name="Google Shape;66;p22"/>
          <p:cNvSpPr txBox="1">
            <a:spLocks noGrp="1"/>
          </p:cNvSpPr>
          <p:nvPr>
            <p:ph type="subTitle" idx="1"/>
          </p:nvPr>
        </p:nvSpPr>
        <p:spPr>
          <a:xfrm>
            <a:off x="716304" y="232276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lt1"/>
              </a:buClr>
              <a:buSzPts val="1500"/>
              <a:buNone/>
              <a:defRPr sz="1500">
                <a:solidFill>
                  <a:schemeClr val="lt1"/>
                </a:solidFill>
              </a:defRPr>
            </a:lvl2pPr>
            <a:lvl3pPr lvl="2" algn="ctr">
              <a:lnSpc>
                <a:spcPct val="90000"/>
              </a:lnSpc>
              <a:spcBef>
                <a:spcPts val="400"/>
              </a:spcBef>
              <a:spcAft>
                <a:spcPts val="0"/>
              </a:spcAft>
              <a:buClr>
                <a:schemeClr val="lt1"/>
              </a:buClr>
              <a:buSzPts val="1400"/>
              <a:buNone/>
              <a:defRPr sz="1400">
                <a:solidFill>
                  <a:schemeClr val="lt1"/>
                </a:solidFill>
              </a:defRPr>
            </a:lvl3pPr>
            <a:lvl4pPr lvl="3" algn="ctr">
              <a:lnSpc>
                <a:spcPct val="90000"/>
              </a:lnSpc>
              <a:spcBef>
                <a:spcPts val="400"/>
              </a:spcBef>
              <a:spcAft>
                <a:spcPts val="0"/>
              </a:spcAft>
              <a:buClr>
                <a:schemeClr val="lt1"/>
              </a:buClr>
              <a:buSzPts val="1200"/>
              <a:buNone/>
              <a:defRPr sz="1200">
                <a:solidFill>
                  <a:schemeClr val="lt1"/>
                </a:solidFill>
              </a:defRPr>
            </a:lvl4pPr>
            <a:lvl5pPr lvl="4" algn="ctr">
              <a:lnSpc>
                <a:spcPct val="90000"/>
              </a:lnSpc>
              <a:spcBef>
                <a:spcPts val="400"/>
              </a:spcBef>
              <a:spcAft>
                <a:spcPts val="0"/>
              </a:spcAft>
              <a:buClr>
                <a:schemeClr val="lt1"/>
              </a:buClr>
              <a:buSzPts val="1200"/>
              <a:buNone/>
              <a:defRPr sz="1200">
                <a:solidFill>
                  <a:schemeClr val="lt1"/>
                </a:solidFill>
              </a:defRPr>
            </a:lvl5pPr>
            <a:lvl6pPr lvl="5" algn="ctr">
              <a:lnSpc>
                <a:spcPct val="90000"/>
              </a:lnSpc>
              <a:spcBef>
                <a:spcPts val="400"/>
              </a:spcBef>
              <a:spcAft>
                <a:spcPts val="0"/>
              </a:spcAft>
              <a:buClr>
                <a:schemeClr val="lt1"/>
              </a:buClr>
              <a:buSzPts val="1200"/>
              <a:buNone/>
              <a:defRPr sz="1200">
                <a:solidFill>
                  <a:schemeClr val="lt1"/>
                </a:solidFill>
              </a:defRPr>
            </a:lvl6pPr>
            <a:lvl7pPr lvl="6" algn="ctr">
              <a:lnSpc>
                <a:spcPct val="90000"/>
              </a:lnSpc>
              <a:spcBef>
                <a:spcPts val="400"/>
              </a:spcBef>
              <a:spcAft>
                <a:spcPts val="0"/>
              </a:spcAft>
              <a:buClr>
                <a:schemeClr val="lt1"/>
              </a:buClr>
              <a:buSzPts val="1200"/>
              <a:buNone/>
              <a:defRPr sz="1200">
                <a:solidFill>
                  <a:schemeClr val="lt1"/>
                </a:solidFill>
              </a:defRPr>
            </a:lvl7pPr>
            <a:lvl8pPr lvl="7" algn="ctr">
              <a:lnSpc>
                <a:spcPct val="90000"/>
              </a:lnSpc>
              <a:spcBef>
                <a:spcPts val="400"/>
              </a:spcBef>
              <a:spcAft>
                <a:spcPts val="0"/>
              </a:spcAft>
              <a:buClr>
                <a:schemeClr val="lt1"/>
              </a:buClr>
              <a:buSzPts val="1200"/>
              <a:buNone/>
              <a:defRPr sz="1200">
                <a:solidFill>
                  <a:schemeClr val="lt1"/>
                </a:solidFill>
              </a:defRPr>
            </a:lvl8pPr>
            <a:lvl9pPr lvl="8" algn="ctr">
              <a:lnSpc>
                <a:spcPct val="90000"/>
              </a:lnSpc>
              <a:spcBef>
                <a:spcPts val="400"/>
              </a:spcBef>
              <a:spcAft>
                <a:spcPts val="0"/>
              </a:spcAft>
              <a:buClr>
                <a:schemeClr val="lt1"/>
              </a:buClr>
              <a:buSzPts val="1200"/>
              <a:buNone/>
              <a:defRPr sz="1200">
                <a:solidFill>
                  <a:schemeClr val="lt1"/>
                </a:solidFill>
              </a:defRPr>
            </a:lvl9pPr>
          </a:lstStyle>
          <a:p>
            <a:endParaRPr/>
          </a:p>
        </p:txBody>
      </p:sp>
      <p:pic>
        <p:nvPicPr>
          <p:cNvPr id="67" name="Google Shape;67;p22"/>
          <p:cNvPicPr preferRelativeResize="0"/>
          <p:nvPr/>
        </p:nvPicPr>
        <p:blipFill rotWithShape="1">
          <a:blip r:embed="rId2">
            <a:alphaModFix/>
          </a:blip>
          <a:srcRect/>
          <a:stretch/>
        </p:blipFill>
        <p:spPr>
          <a:xfrm>
            <a:off x="716304" y="564606"/>
            <a:ext cx="639881" cy="306710"/>
          </a:xfrm>
          <a:prstGeom prst="rect">
            <a:avLst/>
          </a:prstGeom>
          <a:noFill/>
          <a:ln>
            <a:noFill/>
          </a:ln>
        </p:spPr>
      </p:pic>
      <p:pic>
        <p:nvPicPr>
          <p:cNvPr id="68" name="Google Shape;68;p22"/>
          <p:cNvPicPr preferRelativeResize="0"/>
          <p:nvPr/>
        </p:nvPicPr>
        <p:blipFill rotWithShape="1">
          <a:blip r:embed="rId3">
            <a:alphaModFix/>
          </a:blip>
          <a:srcRect/>
          <a:stretch/>
        </p:blipFill>
        <p:spPr>
          <a:xfrm>
            <a:off x="5693291" y="1210831"/>
            <a:ext cx="2822062" cy="2877556"/>
          </a:xfrm>
          <a:prstGeom prst="rect">
            <a:avLst/>
          </a:prstGeom>
          <a:noFill/>
          <a:ln>
            <a:noFill/>
          </a:ln>
        </p:spPr>
      </p:pic>
      <p:sp>
        <p:nvSpPr>
          <p:cNvPr id="69" name="Google Shape;69;p22"/>
          <p:cNvSpPr>
            <a:spLocks noGrp="1"/>
          </p:cNvSpPr>
          <p:nvPr>
            <p:ph type="pic" idx="2"/>
          </p:nvPr>
        </p:nvSpPr>
        <p:spPr>
          <a:xfrm>
            <a:off x="716304" y="3312109"/>
            <a:ext cx="714600" cy="714600"/>
          </a:xfrm>
          <a:prstGeom prst="ellipse">
            <a:avLst/>
          </a:prstGeom>
          <a:noFill/>
          <a:ln w="12700" cap="flat" cmpd="sng">
            <a:solidFill>
              <a:schemeClr val="lt1"/>
            </a:solidFill>
            <a:prstDash val="solid"/>
            <a:round/>
            <a:headEnd type="none" w="sm" len="sm"/>
            <a:tailEnd type="none" w="sm" len="sm"/>
          </a:ln>
        </p:spPr>
      </p:sp>
      <p:sp>
        <p:nvSpPr>
          <p:cNvPr id="70" name="Google Shape;70;p22"/>
          <p:cNvSpPr txBox="1">
            <a:spLocks noGrp="1"/>
          </p:cNvSpPr>
          <p:nvPr>
            <p:ph type="body" idx="3"/>
          </p:nvPr>
        </p:nvSpPr>
        <p:spPr>
          <a:xfrm>
            <a:off x="1531868" y="3442481"/>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lt1"/>
              </a:buClr>
              <a:buSzPts val="1400"/>
              <a:buNone/>
              <a:defRPr sz="1400">
                <a:solidFill>
                  <a:schemeClr val="lt1"/>
                </a:solidFill>
              </a:defRPr>
            </a:lvl1pPr>
            <a:lvl2pPr marL="914400" lvl="1" indent="-228600" algn="l">
              <a:lnSpc>
                <a:spcPct val="90000"/>
              </a:lnSpc>
              <a:spcBef>
                <a:spcPts val="400"/>
              </a:spcBef>
              <a:spcAft>
                <a:spcPts val="0"/>
              </a:spcAft>
              <a:buClr>
                <a:schemeClr val="lt1"/>
              </a:buClr>
              <a:buSzPts val="1400"/>
              <a:buNone/>
              <a:defRPr>
                <a:solidFill>
                  <a:schemeClr val="lt1"/>
                </a:solidFill>
              </a:defRPr>
            </a:lvl2pPr>
            <a:lvl3pPr marL="1371600" lvl="2" indent="-317500" algn="l">
              <a:lnSpc>
                <a:spcPct val="90000"/>
              </a:lnSpc>
              <a:spcBef>
                <a:spcPts val="400"/>
              </a:spcBef>
              <a:spcAft>
                <a:spcPts val="0"/>
              </a:spcAft>
              <a:buClr>
                <a:schemeClr val="lt1"/>
              </a:buClr>
              <a:buSzPts val="1400"/>
              <a:buChar char="•"/>
              <a:defRPr>
                <a:solidFill>
                  <a:schemeClr val="lt1"/>
                </a:solidFill>
              </a:defRPr>
            </a:lvl3pPr>
            <a:lvl4pPr marL="1828800" lvl="3" indent="-317500" algn="l">
              <a:lnSpc>
                <a:spcPct val="90000"/>
              </a:lnSpc>
              <a:spcBef>
                <a:spcPts val="400"/>
              </a:spcBef>
              <a:spcAft>
                <a:spcPts val="0"/>
              </a:spcAft>
              <a:buClr>
                <a:schemeClr val="lt1"/>
              </a:buClr>
              <a:buSzPts val="1400"/>
              <a:buChar char="•"/>
              <a:defRPr>
                <a:solidFill>
                  <a:schemeClr val="lt1"/>
                </a:solidFill>
              </a:defRPr>
            </a:lvl4pPr>
            <a:lvl5pPr marL="2286000" lvl="4" indent="-317500" algn="l">
              <a:lnSpc>
                <a:spcPct val="90000"/>
              </a:lnSpc>
              <a:spcBef>
                <a:spcPts val="400"/>
              </a:spcBef>
              <a:spcAft>
                <a:spcPts val="0"/>
              </a:spcAft>
              <a:buClr>
                <a:schemeClr val="lt1"/>
              </a:buClr>
              <a:buSzPts val="14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
        <p:nvSpPr>
          <p:cNvPr id="71" name="Google Shape;71;p22"/>
          <p:cNvSpPr txBox="1">
            <a:spLocks noGrp="1"/>
          </p:cNvSpPr>
          <p:nvPr>
            <p:ph type="body" idx="4"/>
          </p:nvPr>
        </p:nvSpPr>
        <p:spPr>
          <a:xfrm>
            <a:off x="1531868" y="3657984"/>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lt1"/>
              </a:buClr>
              <a:buSzPts val="1100"/>
              <a:buNone/>
              <a:defRPr sz="1100">
                <a:solidFill>
                  <a:schemeClr val="lt1"/>
                </a:solidFill>
              </a:defRPr>
            </a:lvl1pPr>
            <a:lvl2pPr marL="914400" lvl="1" indent="-228600" algn="l">
              <a:lnSpc>
                <a:spcPct val="90000"/>
              </a:lnSpc>
              <a:spcBef>
                <a:spcPts val="400"/>
              </a:spcBef>
              <a:spcAft>
                <a:spcPts val="0"/>
              </a:spcAft>
              <a:buClr>
                <a:schemeClr val="lt1"/>
              </a:buClr>
              <a:buSzPts val="1400"/>
              <a:buNone/>
              <a:defRPr>
                <a:solidFill>
                  <a:schemeClr val="lt1"/>
                </a:solidFill>
              </a:defRPr>
            </a:lvl2pPr>
            <a:lvl3pPr marL="1371600" lvl="2" indent="-317500" algn="l">
              <a:lnSpc>
                <a:spcPct val="90000"/>
              </a:lnSpc>
              <a:spcBef>
                <a:spcPts val="400"/>
              </a:spcBef>
              <a:spcAft>
                <a:spcPts val="0"/>
              </a:spcAft>
              <a:buClr>
                <a:schemeClr val="lt1"/>
              </a:buClr>
              <a:buSzPts val="1400"/>
              <a:buChar char="•"/>
              <a:defRPr>
                <a:solidFill>
                  <a:schemeClr val="lt1"/>
                </a:solidFill>
              </a:defRPr>
            </a:lvl3pPr>
            <a:lvl4pPr marL="1828800" lvl="3" indent="-317500" algn="l">
              <a:lnSpc>
                <a:spcPct val="90000"/>
              </a:lnSpc>
              <a:spcBef>
                <a:spcPts val="400"/>
              </a:spcBef>
              <a:spcAft>
                <a:spcPts val="0"/>
              </a:spcAft>
              <a:buClr>
                <a:schemeClr val="lt1"/>
              </a:buClr>
              <a:buSzPts val="1400"/>
              <a:buChar char="•"/>
              <a:defRPr>
                <a:solidFill>
                  <a:schemeClr val="lt1"/>
                </a:solidFill>
              </a:defRPr>
            </a:lvl4pPr>
            <a:lvl5pPr marL="2286000" lvl="4" indent="-317500" algn="l">
              <a:lnSpc>
                <a:spcPct val="90000"/>
              </a:lnSpc>
              <a:spcBef>
                <a:spcPts val="400"/>
              </a:spcBef>
              <a:spcAft>
                <a:spcPts val="0"/>
              </a:spcAft>
              <a:buClr>
                <a:schemeClr val="lt1"/>
              </a:buClr>
              <a:buSzPts val="14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A_Title Slide 1">
  <p:cSld name="Title Slide 1">
    <p:bg>
      <p:bgPr>
        <a:solidFill>
          <a:schemeClr val="dk2"/>
        </a:solidFill>
        <a:effectLst/>
      </p:bgPr>
    </p:bg>
    <p:spTree>
      <p:nvGrpSpPr>
        <p:cNvPr id="1" name="Shape 72"/>
        <p:cNvGrpSpPr/>
        <p:nvPr/>
      </p:nvGrpSpPr>
      <p:grpSpPr>
        <a:xfrm>
          <a:off x="0" y="0"/>
          <a:ext cx="0" cy="0"/>
          <a:chOff x="0" y="0"/>
          <a:chExt cx="0" cy="0"/>
        </a:xfrm>
      </p:grpSpPr>
      <p:sp>
        <p:nvSpPr>
          <p:cNvPr id="73" name="Google Shape;73;p23"/>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Clr>
                <a:schemeClr val="lt1"/>
              </a:buClr>
              <a:buSzPts val="1100"/>
              <a:buNone/>
              <a:defRPr>
                <a:solidFill>
                  <a:schemeClr val="lt1"/>
                </a:solidFill>
              </a:defRPr>
            </a:lvl2pPr>
            <a:lvl3pPr lvl="2" algn="l">
              <a:lnSpc>
                <a:spcPct val="100000"/>
              </a:lnSpc>
              <a:spcBef>
                <a:spcPts val="0"/>
              </a:spcBef>
              <a:spcAft>
                <a:spcPts val="0"/>
              </a:spcAft>
              <a:buClr>
                <a:schemeClr val="lt1"/>
              </a:buClr>
              <a:buSzPts val="1100"/>
              <a:buNone/>
              <a:defRPr>
                <a:solidFill>
                  <a:schemeClr val="lt1"/>
                </a:solidFill>
              </a:defRPr>
            </a:lvl3pPr>
            <a:lvl4pPr lvl="3" algn="l">
              <a:lnSpc>
                <a:spcPct val="100000"/>
              </a:lnSpc>
              <a:spcBef>
                <a:spcPts val="0"/>
              </a:spcBef>
              <a:spcAft>
                <a:spcPts val="0"/>
              </a:spcAft>
              <a:buClr>
                <a:schemeClr val="lt1"/>
              </a:buClr>
              <a:buSzPts val="1100"/>
              <a:buNone/>
              <a:defRPr>
                <a:solidFill>
                  <a:schemeClr val="lt1"/>
                </a:solidFill>
              </a:defRPr>
            </a:lvl4pPr>
            <a:lvl5pPr lvl="4" algn="l">
              <a:lnSpc>
                <a:spcPct val="100000"/>
              </a:lnSpc>
              <a:spcBef>
                <a:spcPts val="0"/>
              </a:spcBef>
              <a:spcAft>
                <a:spcPts val="0"/>
              </a:spcAft>
              <a:buClr>
                <a:schemeClr val="lt1"/>
              </a:buClr>
              <a:buSzPts val="1100"/>
              <a:buNone/>
              <a:defRPr>
                <a:solidFill>
                  <a:schemeClr val="lt1"/>
                </a:solidFill>
              </a:defRPr>
            </a:lvl5pPr>
            <a:lvl6pPr lvl="5" algn="l">
              <a:lnSpc>
                <a:spcPct val="100000"/>
              </a:lnSpc>
              <a:spcBef>
                <a:spcPts val="0"/>
              </a:spcBef>
              <a:spcAft>
                <a:spcPts val="0"/>
              </a:spcAft>
              <a:buClr>
                <a:schemeClr val="lt1"/>
              </a:buClr>
              <a:buSzPts val="1100"/>
              <a:buNone/>
              <a:defRPr>
                <a:solidFill>
                  <a:schemeClr val="lt1"/>
                </a:solidFill>
              </a:defRPr>
            </a:lvl6pPr>
            <a:lvl7pPr lvl="6" algn="l">
              <a:lnSpc>
                <a:spcPct val="100000"/>
              </a:lnSpc>
              <a:spcBef>
                <a:spcPts val="0"/>
              </a:spcBef>
              <a:spcAft>
                <a:spcPts val="0"/>
              </a:spcAft>
              <a:buClr>
                <a:schemeClr val="lt1"/>
              </a:buClr>
              <a:buSzPts val="1100"/>
              <a:buNone/>
              <a:defRPr>
                <a:solidFill>
                  <a:schemeClr val="lt1"/>
                </a:solidFill>
              </a:defRPr>
            </a:lvl7pPr>
            <a:lvl8pPr lvl="7" algn="l">
              <a:lnSpc>
                <a:spcPct val="100000"/>
              </a:lnSpc>
              <a:spcBef>
                <a:spcPts val="0"/>
              </a:spcBef>
              <a:spcAft>
                <a:spcPts val="0"/>
              </a:spcAft>
              <a:buClr>
                <a:schemeClr val="lt1"/>
              </a:buClr>
              <a:buSzPts val="1100"/>
              <a:buNone/>
              <a:defRPr>
                <a:solidFill>
                  <a:schemeClr val="lt1"/>
                </a:solidFill>
              </a:defRPr>
            </a:lvl8pPr>
            <a:lvl9pPr lvl="8" algn="l">
              <a:lnSpc>
                <a:spcPct val="100000"/>
              </a:lnSpc>
              <a:spcBef>
                <a:spcPts val="0"/>
              </a:spcBef>
              <a:spcAft>
                <a:spcPts val="0"/>
              </a:spcAft>
              <a:buClr>
                <a:schemeClr val="lt1"/>
              </a:buClr>
              <a:buSzPts val="1100"/>
              <a:buNone/>
              <a:defRPr>
                <a:solidFill>
                  <a:schemeClr val="lt1"/>
                </a:solidFill>
              </a:defRPr>
            </a:lvl9pPr>
          </a:lstStyle>
          <a:p>
            <a:endParaRPr/>
          </a:p>
        </p:txBody>
      </p:sp>
      <p:sp>
        <p:nvSpPr>
          <p:cNvPr id="74" name="Google Shape;74;p23"/>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lt1"/>
              </a:buClr>
              <a:buSzPts val="1500"/>
              <a:buNone/>
              <a:defRPr sz="1500">
                <a:solidFill>
                  <a:schemeClr val="lt1"/>
                </a:solidFill>
              </a:defRPr>
            </a:lvl2pPr>
            <a:lvl3pPr lvl="2" algn="ctr">
              <a:lnSpc>
                <a:spcPct val="90000"/>
              </a:lnSpc>
              <a:spcBef>
                <a:spcPts val="400"/>
              </a:spcBef>
              <a:spcAft>
                <a:spcPts val="0"/>
              </a:spcAft>
              <a:buClr>
                <a:schemeClr val="lt1"/>
              </a:buClr>
              <a:buSzPts val="1400"/>
              <a:buNone/>
              <a:defRPr sz="1400">
                <a:solidFill>
                  <a:schemeClr val="lt1"/>
                </a:solidFill>
              </a:defRPr>
            </a:lvl3pPr>
            <a:lvl4pPr lvl="3" algn="ctr">
              <a:lnSpc>
                <a:spcPct val="90000"/>
              </a:lnSpc>
              <a:spcBef>
                <a:spcPts val="400"/>
              </a:spcBef>
              <a:spcAft>
                <a:spcPts val="0"/>
              </a:spcAft>
              <a:buClr>
                <a:schemeClr val="lt1"/>
              </a:buClr>
              <a:buSzPts val="1200"/>
              <a:buNone/>
              <a:defRPr sz="1200">
                <a:solidFill>
                  <a:schemeClr val="lt1"/>
                </a:solidFill>
              </a:defRPr>
            </a:lvl4pPr>
            <a:lvl5pPr lvl="4" algn="ctr">
              <a:lnSpc>
                <a:spcPct val="90000"/>
              </a:lnSpc>
              <a:spcBef>
                <a:spcPts val="400"/>
              </a:spcBef>
              <a:spcAft>
                <a:spcPts val="0"/>
              </a:spcAft>
              <a:buClr>
                <a:schemeClr val="lt1"/>
              </a:buClr>
              <a:buSzPts val="1200"/>
              <a:buNone/>
              <a:defRPr sz="1200">
                <a:solidFill>
                  <a:schemeClr val="lt1"/>
                </a:solidFill>
              </a:defRPr>
            </a:lvl5pPr>
            <a:lvl6pPr lvl="5" algn="ctr">
              <a:lnSpc>
                <a:spcPct val="90000"/>
              </a:lnSpc>
              <a:spcBef>
                <a:spcPts val="400"/>
              </a:spcBef>
              <a:spcAft>
                <a:spcPts val="0"/>
              </a:spcAft>
              <a:buClr>
                <a:schemeClr val="lt1"/>
              </a:buClr>
              <a:buSzPts val="1200"/>
              <a:buNone/>
              <a:defRPr sz="1200">
                <a:solidFill>
                  <a:schemeClr val="lt1"/>
                </a:solidFill>
              </a:defRPr>
            </a:lvl6pPr>
            <a:lvl7pPr lvl="6" algn="ctr">
              <a:lnSpc>
                <a:spcPct val="90000"/>
              </a:lnSpc>
              <a:spcBef>
                <a:spcPts val="400"/>
              </a:spcBef>
              <a:spcAft>
                <a:spcPts val="0"/>
              </a:spcAft>
              <a:buClr>
                <a:schemeClr val="lt1"/>
              </a:buClr>
              <a:buSzPts val="1200"/>
              <a:buNone/>
              <a:defRPr sz="1200">
                <a:solidFill>
                  <a:schemeClr val="lt1"/>
                </a:solidFill>
              </a:defRPr>
            </a:lvl7pPr>
            <a:lvl8pPr lvl="7" algn="ctr">
              <a:lnSpc>
                <a:spcPct val="90000"/>
              </a:lnSpc>
              <a:spcBef>
                <a:spcPts val="400"/>
              </a:spcBef>
              <a:spcAft>
                <a:spcPts val="0"/>
              </a:spcAft>
              <a:buClr>
                <a:schemeClr val="lt1"/>
              </a:buClr>
              <a:buSzPts val="1200"/>
              <a:buNone/>
              <a:defRPr sz="1200">
                <a:solidFill>
                  <a:schemeClr val="lt1"/>
                </a:solidFill>
              </a:defRPr>
            </a:lvl8pPr>
            <a:lvl9pPr lvl="8" algn="ctr">
              <a:lnSpc>
                <a:spcPct val="90000"/>
              </a:lnSpc>
              <a:spcBef>
                <a:spcPts val="400"/>
              </a:spcBef>
              <a:spcAft>
                <a:spcPts val="0"/>
              </a:spcAft>
              <a:buClr>
                <a:schemeClr val="lt1"/>
              </a:buClr>
              <a:buSzPts val="1200"/>
              <a:buNone/>
              <a:defRPr sz="1200">
                <a:solidFill>
                  <a:schemeClr val="lt1"/>
                </a:solidFill>
              </a:defRPr>
            </a:lvl9pPr>
          </a:lstStyle>
          <a:p>
            <a:endParaRPr/>
          </a:p>
        </p:txBody>
      </p:sp>
      <p:pic>
        <p:nvPicPr>
          <p:cNvPr id="75" name="Google Shape;75;p23"/>
          <p:cNvPicPr preferRelativeResize="0"/>
          <p:nvPr/>
        </p:nvPicPr>
        <p:blipFill rotWithShape="1">
          <a:blip r:embed="rId2">
            <a:alphaModFix/>
          </a:blip>
          <a:srcRect/>
          <a:stretch/>
        </p:blipFill>
        <p:spPr>
          <a:xfrm>
            <a:off x="716304" y="564606"/>
            <a:ext cx="639881" cy="306710"/>
          </a:xfrm>
          <a:prstGeom prst="rect">
            <a:avLst/>
          </a:prstGeom>
          <a:noFill/>
          <a:ln>
            <a:noFill/>
          </a:ln>
        </p:spPr>
      </p:pic>
      <p:pic>
        <p:nvPicPr>
          <p:cNvPr id="76" name="Google Shape;76;p23"/>
          <p:cNvPicPr preferRelativeResize="0"/>
          <p:nvPr/>
        </p:nvPicPr>
        <p:blipFill rotWithShape="1">
          <a:blip r:embed="rId3">
            <a:alphaModFix/>
          </a:blip>
          <a:srcRect/>
          <a:stretch/>
        </p:blipFill>
        <p:spPr>
          <a:xfrm>
            <a:off x="5693291" y="1210831"/>
            <a:ext cx="2822062" cy="2877556"/>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A_Title Slide 2">
  <p:cSld name="Title Slide 2">
    <p:spTree>
      <p:nvGrpSpPr>
        <p:cNvPr id="1" name="Shape 77"/>
        <p:cNvGrpSpPr/>
        <p:nvPr/>
      </p:nvGrpSpPr>
      <p:grpSpPr>
        <a:xfrm>
          <a:off x="0" y="0"/>
          <a:ext cx="0" cy="0"/>
          <a:chOff x="0" y="0"/>
          <a:chExt cx="0" cy="0"/>
        </a:xfrm>
      </p:grpSpPr>
      <p:pic>
        <p:nvPicPr>
          <p:cNvPr id="78" name="Google Shape;78;p24"/>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79" name="Google Shape;79;p24"/>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0" name="Google Shape;80;p24"/>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81" name="Google Shape;81;p24"/>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A_Title Slide 3">
  <p:cSld name="1_Title Slide 2">
    <p:spTree>
      <p:nvGrpSpPr>
        <p:cNvPr id="1" name="Shape 82"/>
        <p:cNvGrpSpPr/>
        <p:nvPr/>
      </p:nvGrpSpPr>
      <p:grpSpPr>
        <a:xfrm>
          <a:off x="0" y="0"/>
          <a:ext cx="0" cy="0"/>
          <a:chOff x="0" y="0"/>
          <a:chExt cx="0" cy="0"/>
        </a:xfrm>
      </p:grpSpPr>
      <p:pic>
        <p:nvPicPr>
          <p:cNvPr id="83" name="Google Shape;83;p25"/>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84" name="Google Shape;84;p25"/>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85" name="Google Shape;85;p25"/>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86" name="Google Shape;86;p25"/>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A_Title Slide 4">
  <p:cSld name="2_Title Slide 2">
    <p:spTree>
      <p:nvGrpSpPr>
        <p:cNvPr id="1" name="Shape 87"/>
        <p:cNvGrpSpPr/>
        <p:nvPr/>
      </p:nvGrpSpPr>
      <p:grpSpPr>
        <a:xfrm>
          <a:off x="0" y="0"/>
          <a:ext cx="0" cy="0"/>
          <a:chOff x="0" y="0"/>
          <a:chExt cx="0" cy="0"/>
        </a:xfrm>
      </p:grpSpPr>
      <p:pic>
        <p:nvPicPr>
          <p:cNvPr id="88" name="Google Shape;88;p26"/>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89" name="Google Shape;89;p26"/>
          <p:cNvSpPr txBox="1">
            <a:spLocks noGrp="1"/>
          </p:cNvSpPr>
          <p:nvPr>
            <p:ph type="ctrTitle"/>
          </p:nvPr>
        </p:nvSpPr>
        <p:spPr>
          <a:xfrm>
            <a:off x="716304" y="1721858"/>
            <a:ext cx="4166100" cy="10359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0" name="Google Shape;90;p26"/>
          <p:cNvSpPr txBox="1">
            <a:spLocks noGrp="1"/>
          </p:cNvSpPr>
          <p:nvPr>
            <p:ph type="subTitle" idx="1"/>
          </p:nvPr>
        </p:nvSpPr>
        <p:spPr>
          <a:xfrm>
            <a:off x="716304" y="2783485"/>
            <a:ext cx="4166100" cy="714600"/>
          </a:xfrm>
          <a:prstGeom prst="rect">
            <a:avLst/>
          </a:prstGeom>
          <a:noFill/>
          <a:ln>
            <a:noFill/>
          </a:ln>
        </p:spPr>
        <p:txBody>
          <a:bodyPr spcFirstLastPara="1" wrap="square" lIns="68575" tIns="34275" rIns="68575" bIns="34275" anchor="t" anchorCtr="0">
            <a:normAutofit/>
          </a:bodyPr>
          <a:lstStyle>
            <a:lvl1pPr lvl="0" algn="l">
              <a:lnSpc>
                <a:spcPct val="90000"/>
              </a:lnSpc>
              <a:spcBef>
                <a:spcPts val="800"/>
              </a:spcBef>
              <a:spcAft>
                <a:spcPts val="0"/>
              </a:spcAft>
              <a:buClr>
                <a:schemeClr val="lt1"/>
              </a:buClr>
              <a:buSzPts val="1500"/>
              <a:buNone/>
              <a:defRPr sz="1500">
                <a:solidFill>
                  <a:schemeClr val="lt1"/>
                </a:solidFill>
              </a:defRPr>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pic>
        <p:nvPicPr>
          <p:cNvPr id="91" name="Google Shape;91;p26"/>
          <p:cNvPicPr preferRelativeResize="0"/>
          <p:nvPr/>
        </p:nvPicPr>
        <p:blipFill rotWithShape="1">
          <a:blip r:embed="rId3">
            <a:alphaModFix/>
          </a:blip>
          <a:srcRect/>
          <a:stretch/>
        </p:blipFill>
        <p:spPr>
          <a:xfrm>
            <a:off x="716304" y="564606"/>
            <a:ext cx="639881" cy="30671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_Title and Content (3/2) Blue">
  <p:cSld name="Title and Content (3/2) Blue">
    <p:bg>
      <p:bgPr>
        <a:blipFill>
          <a:blip r:embed="rId2">
            <a:alphaModFix/>
          </a:blip>
          <a:stretch>
            <a:fillRect/>
          </a:stretch>
        </a:blipFill>
        <a:effectLst/>
      </p:bgPr>
    </p:bg>
    <p:spTree>
      <p:nvGrpSpPr>
        <p:cNvPr id="1" name="Shape 92"/>
        <p:cNvGrpSpPr/>
        <p:nvPr/>
      </p:nvGrpSpPr>
      <p:grpSpPr>
        <a:xfrm>
          <a:off x="0" y="0"/>
          <a:ext cx="0" cy="0"/>
          <a:chOff x="0" y="0"/>
          <a:chExt cx="0" cy="0"/>
        </a:xfrm>
      </p:grpSpPr>
      <p:sp>
        <p:nvSpPr>
          <p:cNvPr id="93" name="Google Shape;93;p27"/>
          <p:cNvSpPr/>
          <p:nvPr/>
        </p:nvSpPr>
        <p:spPr>
          <a:xfrm>
            <a:off x="6066275" y="0"/>
            <a:ext cx="30777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94" name="Google Shape;94;p27"/>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95" name="Google Shape;95;p27"/>
          <p:cNvSpPr txBox="1">
            <a:spLocks noGrp="1"/>
          </p:cNvSpPr>
          <p:nvPr>
            <p:ph type="title"/>
          </p:nvPr>
        </p:nvSpPr>
        <p:spPr>
          <a:xfrm>
            <a:off x="420742" y="273844"/>
            <a:ext cx="52800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96" name="Google Shape;96;p27"/>
          <p:cNvSpPr txBox="1">
            <a:spLocks noGrp="1"/>
          </p:cNvSpPr>
          <p:nvPr>
            <p:ph type="body" idx="1"/>
          </p:nvPr>
        </p:nvSpPr>
        <p:spPr>
          <a:xfrm>
            <a:off x="420742" y="812524"/>
            <a:ext cx="52752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97" name="Google Shape;97;p27"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extLst>
    <p:ext uri="{DCECCB84-F9BA-43D5-87BE-67443E8EF086}">
      <p15:sldGuideLst xmlns:p15="http://schemas.microsoft.com/office/powerpoint/2012/main">
        <p15:guide id="1" pos="4918">
          <p15:clr>
            <a:srgbClr val="E46962"/>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_Title and Content" type="obj">
  <p:cSld name="OBJECT">
    <p:spTree>
      <p:nvGrpSpPr>
        <p:cNvPr id="1" name="Shape 98"/>
        <p:cNvGrpSpPr/>
        <p:nvPr/>
      </p:nvGrpSpPr>
      <p:grpSpPr>
        <a:xfrm>
          <a:off x="0" y="0"/>
          <a:ext cx="0" cy="0"/>
          <a:chOff x="0" y="0"/>
          <a:chExt cx="0" cy="0"/>
        </a:xfrm>
      </p:grpSpPr>
      <p:sp>
        <p:nvSpPr>
          <p:cNvPr id="99" name="Google Shape;99;p28"/>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0" name="Google Shape;100;p28"/>
          <p:cNvSpPr txBox="1">
            <a:spLocks noGrp="1"/>
          </p:cNvSpPr>
          <p:nvPr>
            <p:ph type="body" idx="1"/>
          </p:nvPr>
        </p:nvSpPr>
        <p:spPr>
          <a:xfrm>
            <a:off x="420743" y="812524"/>
            <a:ext cx="83025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_Title and Content (1/2) Light">
  <p:cSld name="Title and Content (1/2) Light">
    <p:spTree>
      <p:nvGrpSpPr>
        <p:cNvPr id="1" name="Shape 101"/>
        <p:cNvGrpSpPr/>
        <p:nvPr/>
      </p:nvGrpSpPr>
      <p:grpSpPr>
        <a:xfrm>
          <a:off x="0" y="0"/>
          <a:ext cx="0" cy="0"/>
          <a:chOff x="0" y="0"/>
          <a:chExt cx="0" cy="0"/>
        </a:xfrm>
      </p:grpSpPr>
      <p:sp>
        <p:nvSpPr>
          <p:cNvPr id="102" name="Google Shape;102;p29"/>
          <p:cNvSpPr/>
          <p:nvPr/>
        </p:nvSpPr>
        <p:spPr>
          <a:xfrm>
            <a:off x="4572000" y="0"/>
            <a:ext cx="45720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03" name="Google Shape;103;p29"/>
          <p:cNvSpPr txBox="1">
            <a:spLocks noGrp="1"/>
          </p:cNvSpPr>
          <p:nvPr>
            <p:ph type="title"/>
          </p:nvPr>
        </p:nvSpPr>
        <p:spPr>
          <a:xfrm>
            <a:off x="420742" y="273844"/>
            <a:ext cx="38496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04" name="Google Shape;104;p29"/>
          <p:cNvSpPr txBox="1">
            <a:spLocks noGrp="1"/>
          </p:cNvSpPr>
          <p:nvPr>
            <p:ph type="body" idx="1"/>
          </p:nvPr>
        </p:nvSpPr>
        <p:spPr>
          <a:xfrm>
            <a:off x="420742" y="812524"/>
            <a:ext cx="38496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05" name="Google Shape;105;p29"/>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106" name="Google Shape;106;p29"/>
          <p:cNvPicPr preferRelativeResize="0"/>
          <p:nvPr/>
        </p:nvPicPr>
        <p:blipFill rotWithShape="1">
          <a:blip r:embed="rId2">
            <a:alphaModFix/>
          </a:blip>
          <a:srcRect/>
          <a:stretch/>
        </p:blipFill>
        <p:spPr>
          <a:xfrm>
            <a:off x="8412332" y="4829647"/>
            <a:ext cx="310926" cy="149074"/>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_Title and Content (1/2) Blue">
  <p:cSld name="Title and Content (1/2) Blue">
    <p:spTree>
      <p:nvGrpSpPr>
        <p:cNvPr id="1" name="Shape 107"/>
        <p:cNvGrpSpPr/>
        <p:nvPr/>
      </p:nvGrpSpPr>
      <p:grpSpPr>
        <a:xfrm>
          <a:off x="0" y="0"/>
          <a:ext cx="0" cy="0"/>
          <a:chOff x="0" y="0"/>
          <a:chExt cx="0" cy="0"/>
        </a:xfrm>
      </p:grpSpPr>
      <p:sp>
        <p:nvSpPr>
          <p:cNvPr id="108" name="Google Shape;108;p30"/>
          <p:cNvSpPr/>
          <p:nvPr/>
        </p:nvSpPr>
        <p:spPr>
          <a:xfrm>
            <a:off x="4572000" y="0"/>
            <a:ext cx="45720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09" name="Google Shape;109;p30"/>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110" name="Google Shape;110;p30"/>
          <p:cNvSpPr txBox="1">
            <a:spLocks noGrp="1"/>
          </p:cNvSpPr>
          <p:nvPr>
            <p:ph type="title"/>
          </p:nvPr>
        </p:nvSpPr>
        <p:spPr>
          <a:xfrm>
            <a:off x="420742" y="273844"/>
            <a:ext cx="38496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1" name="Google Shape;111;p30"/>
          <p:cNvSpPr txBox="1">
            <a:spLocks noGrp="1"/>
          </p:cNvSpPr>
          <p:nvPr>
            <p:ph type="body" idx="1"/>
          </p:nvPr>
        </p:nvSpPr>
        <p:spPr>
          <a:xfrm>
            <a:off x="420742" y="812524"/>
            <a:ext cx="38496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112" name="Google Shape;112;p30"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_Title and Content (2/3) Blue">
  <p:cSld name="Title and Content (2/3) Blue">
    <p:spTree>
      <p:nvGrpSpPr>
        <p:cNvPr id="1" name="Shape 113"/>
        <p:cNvGrpSpPr/>
        <p:nvPr/>
      </p:nvGrpSpPr>
      <p:grpSpPr>
        <a:xfrm>
          <a:off x="0" y="0"/>
          <a:ext cx="0" cy="0"/>
          <a:chOff x="0" y="0"/>
          <a:chExt cx="0" cy="0"/>
        </a:xfrm>
      </p:grpSpPr>
      <p:sp>
        <p:nvSpPr>
          <p:cNvPr id="114" name="Google Shape;114;p31"/>
          <p:cNvSpPr/>
          <p:nvPr/>
        </p:nvSpPr>
        <p:spPr>
          <a:xfrm>
            <a:off x="-4188" y="0"/>
            <a:ext cx="3077700" cy="5143500"/>
          </a:xfrm>
          <a:prstGeom prst="rect">
            <a:avLst/>
          </a:prstGeom>
          <a:solidFill>
            <a:schemeClr val="dk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15" name="Google Shape;115;p31"/>
          <p:cNvSpPr txBox="1">
            <a:spLocks noGrp="1"/>
          </p:cNvSpPr>
          <p:nvPr>
            <p:ph type="title"/>
          </p:nvPr>
        </p:nvSpPr>
        <p:spPr>
          <a:xfrm>
            <a:off x="420742" y="273844"/>
            <a:ext cx="22278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lt1"/>
              </a:buClr>
              <a:buSzPts val="2000"/>
              <a:buFont typeface="DM Sans"/>
              <a:buNone/>
              <a:defRPr>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16" name="Google Shape;116;p31"/>
          <p:cNvSpPr txBox="1">
            <a:spLocks noGrp="1"/>
          </p:cNvSpPr>
          <p:nvPr>
            <p:ph type="body" idx="1"/>
          </p:nvPr>
        </p:nvSpPr>
        <p:spPr>
          <a:xfrm>
            <a:off x="420742" y="812524"/>
            <a:ext cx="2227800" cy="3820200"/>
          </a:xfrm>
          <a:prstGeom prst="rect">
            <a:avLst/>
          </a:prstGeom>
          <a:noFill/>
          <a:ln>
            <a:noFill/>
          </a:ln>
        </p:spPr>
        <p:txBody>
          <a:bodyPr spcFirstLastPara="1" wrap="square" lIns="68575" tIns="34275" rIns="68575" bIns="34275" anchor="t" anchorCtr="0">
            <a:normAutofit/>
          </a:bodyPr>
          <a:lstStyle>
            <a:lvl1pPr marL="457200" lvl="0" indent="-323850" algn="l">
              <a:lnSpc>
                <a:spcPct val="90000"/>
              </a:lnSpc>
              <a:spcBef>
                <a:spcPts val="800"/>
              </a:spcBef>
              <a:spcAft>
                <a:spcPts val="0"/>
              </a:spcAft>
              <a:buClr>
                <a:schemeClr val="lt1"/>
              </a:buClr>
              <a:buSzPts val="1500"/>
              <a:buChar char="•"/>
              <a:defRPr>
                <a:solidFill>
                  <a:schemeClr val="lt1"/>
                </a:solidFill>
              </a:defRPr>
            </a:lvl1pPr>
            <a:lvl2pPr marL="914400" lvl="1" indent="-317500" algn="l">
              <a:lnSpc>
                <a:spcPct val="90000"/>
              </a:lnSpc>
              <a:spcBef>
                <a:spcPts val="400"/>
              </a:spcBef>
              <a:spcAft>
                <a:spcPts val="0"/>
              </a:spcAft>
              <a:buClr>
                <a:schemeClr val="lt1"/>
              </a:buClr>
              <a:buSzPts val="1400"/>
              <a:buChar char="•"/>
              <a:defRPr>
                <a:solidFill>
                  <a:schemeClr val="lt1"/>
                </a:solidFill>
              </a:defRPr>
            </a:lvl2pPr>
            <a:lvl3pPr marL="1371600" lvl="2" indent="-304800" algn="l">
              <a:lnSpc>
                <a:spcPct val="90000"/>
              </a:lnSpc>
              <a:spcBef>
                <a:spcPts val="400"/>
              </a:spcBef>
              <a:spcAft>
                <a:spcPts val="0"/>
              </a:spcAft>
              <a:buClr>
                <a:schemeClr val="lt1"/>
              </a:buClr>
              <a:buSzPts val="1200"/>
              <a:buChar char="•"/>
              <a:defRPr>
                <a:solidFill>
                  <a:schemeClr val="lt1"/>
                </a:solidFill>
              </a:defRPr>
            </a:lvl3pPr>
            <a:lvl4pPr marL="1828800" lvl="3" indent="-298450" algn="l">
              <a:lnSpc>
                <a:spcPct val="90000"/>
              </a:lnSpc>
              <a:spcBef>
                <a:spcPts val="400"/>
              </a:spcBef>
              <a:spcAft>
                <a:spcPts val="0"/>
              </a:spcAft>
              <a:buClr>
                <a:schemeClr val="lt1"/>
              </a:buClr>
              <a:buSzPts val="1100"/>
              <a:buChar char="•"/>
              <a:defRPr>
                <a:solidFill>
                  <a:schemeClr val="lt1"/>
                </a:solidFill>
              </a:defRPr>
            </a:lvl4pPr>
            <a:lvl5pPr marL="2286000" lvl="4" indent="-298450" algn="l">
              <a:lnSpc>
                <a:spcPct val="90000"/>
              </a:lnSpc>
              <a:spcBef>
                <a:spcPts val="400"/>
              </a:spcBef>
              <a:spcAft>
                <a:spcPts val="0"/>
              </a:spcAft>
              <a:buClr>
                <a:schemeClr val="lt1"/>
              </a:buClr>
              <a:buSzPts val="1100"/>
              <a:buChar char="•"/>
              <a:defRPr>
                <a:solidFill>
                  <a:schemeClr val="lt1"/>
                </a:solidFill>
              </a:defRPr>
            </a:lvl5pPr>
            <a:lvl6pPr marL="2743200" lvl="5" indent="-317500" algn="l">
              <a:lnSpc>
                <a:spcPct val="90000"/>
              </a:lnSpc>
              <a:spcBef>
                <a:spcPts val="400"/>
              </a:spcBef>
              <a:spcAft>
                <a:spcPts val="0"/>
              </a:spcAft>
              <a:buClr>
                <a:schemeClr val="lt1"/>
              </a:buClr>
              <a:buSzPts val="1400"/>
              <a:buChar char="•"/>
              <a:defRPr>
                <a:solidFill>
                  <a:schemeClr val="lt1"/>
                </a:solidFill>
              </a:defRPr>
            </a:lvl6pPr>
            <a:lvl7pPr marL="3200400" lvl="6" indent="-317500" algn="l">
              <a:lnSpc>
                <a:spcPct val="90000"/>
              </a:lnSpc>
              <a:spcBef>
                <a:spcPts val="400"/>
              </a:spcBef>
              <a:spcAft>
                <a:spcPts val="0"/>
              </a:spcAft>
              <a:buClr>
                <a:schemeClr val="lt1"/>
              </a:buClr>
              <a:buSzPts val="1400"/>
              <a:buChar char="•"/>
              <a:defRPr>
                <a:solidFill>
                  <a:schemeClr val="lt1"/>
                </a:solidFill>
              </a:defRPr>
            </a:lvl7pPr>
            <a:lvl8pPr marL="3657600" lvl="7" indent="-317500" algn="l">
              <a:lnSpc>
                <a:spcPct val="90000"/>
              </a:lnSpc>
              <a:spcBef>
                <a:spcPts val="400"/>
              </a:spcBef>
              <a:spcAft>
                <a:spcPts val="0"/>
              </a:spcAft>
              <a:buClr>
                <a:schemeClr val="lt1"/>
              </a:buClr>
              <a:buSzPts val="1400"/>
              <a:buChar char="•"/>
              <a:defRPr>
                <a:solidFill>
                  <a:schemeClr val="lt1"/>
                </a:solidFill>
              </a:defRPr>
            </a:lvl8pPr>
            <a:lvl9pPr marL="4114800" lvl="8" indent="-317500" algn="l">
              <a:lnSpc>
                <a:spcPct val="90000"/>
              </a:lnSpc>
              <a:spcBef>
                <a:spcPts val="400"/>
              </a:spcBef>
              <a:spcAft>
                <a:spcPts val="0"/>
              </a:spcAft>
              <a:buClr>
                <a:schemeClr val="lt1"/>
              </a:buClr>
              <a:buSzPts val="1400"/>
              <a:buChar char="•"/>
              <a:defRPr>
                <a:solidFill>
                  <a:schemeClr val="lt1"/>
                </a:solidFill>
              </a:defRPr>
            </a:lvl9pPr>
          </a:lstStyle>
          <a:p>
            <a:endParaRPr/>
          </a:p>
        </p:txBody>
      </p:sp>
      <p:sp>
        <p:nvSpPr>
          <p:cNvPr id="117" name="Google Shape;117;p31"/>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118" name="Google Shape;118;p31"/>
          <p:cNvPicPr preferRelativeResize="0"/>
          <p:nvPr/>
        </p:nvPicPr>
        <p:blipFill rotWithShape="1">
          <a:blip r:embed="rId2">
            <a:alphaModFix/>
          </a:blip>
          <a:srcRect/>
          <a:stretch/>
        </p:blipFill>
        <p:spPr>
          <a:xfrm>
            <a:off x="420742" y="4829647"/>
            <a:ext cx="310926" cy="149074"/>
          </a:xfrm>
          <a:prstGeom prst="rect">
            <a:avLst/>
          </a:prstGeom>
          <a:noFill/>
          <a:ln>
            <a:noFill/>
          </a:ln>
        </p:spPr>
      </p:pic>
      <p:pic>
        <p:nvPicPr>
          <p:cNvPr id="119" name="Google Shape;119;p31"/>
          <p:cNvPicPr preferRelativeResize="0"/>
          <p:nvPr/>
        </p:nvPicPr>
        <p:blipFill rotWithShape="1">
          <a:blip r:embed="rId3">
            <a:alphaModFix/>
          </a:blip>
          <a:srcRect/>
          <a:stretch/>
        </p:blipFill>
        <p:spPr>
          <a:xfrm>
            <a:off x="4719311" y="3391372"/>
            <a:ext cx="313335" cy="151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_Title and Content (3/2) Light">
  <p:cSld name="Title and Content (3/2) Light">
    <p:spTree>
      <p:nvGrpSpPr>
        <p:cNvPr id="1" name="Shape 120"/>
        <p:cNvGrpSpPr/>
        <p:nvPr/>
      </p:nvGrpSpPr>
      <p:grpSpPr>
        <a:xfrm>
          <a:off x="0" y="0"/>
          <a:ext cx="0" cy="0"/>
          <a:chOff x="0" y="0"/>
          <a:chExt cx="0" cy="0"/>
        </a:xfrm>
      </p:grpSpPr>
      <p:sp>
        <p:nvSpPr>
          <p:cNvPr id="121" name="Google Shape;121;p32"/>
          <p:cNvSpPr/>
          <p:nvPr/>
        </p:nvSpPr>
        <p:spPr>
          <a:xfrm>
            <a:off x="6066275" y="0"/>
            <a:ext cx="3077700" cy="5143500"/>
          </a:xfrm>
          <a:prstGeom prst="rect">
            <a:avLst/>
          </a:prstGeom>
          <a:solidFill>
            <a:schemeClr val="lt2"/>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2" name="Google Shape;122;p32"/>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123" name="Google Shape;123;p32"/>
          <p:cNvSpPr txBox="1">
            <a:spLocks noGrp="1"/>
          </p:cNvSpPr>
          <p:nvPr>
            <p:ph type="title"/>
          </p:nvPr>
        </p:nvSpPr>
        <p:spPr>
          <a:xfrm>
            <a:off x="420742" y="273844"/>
            <a:ext cx="52800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24" name="Google Shape;124;p32"/>
          <p:cNvSpPr txBox="1">
            <a:spLocks noGrp="1"/>
          </p:cNvSpPr>
          <p:nvPr>
            <p:ph type="body" idx="1"/>
          </p:nvPr>
        </p:nvSpPr>
        <p:spPr>
          <a:xfrm>
            <a:off x="420742" y="812524"/>
            <a:ext cx="5275200" cy="38202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125" name="Google Shape;125;p32"/>
          <p:cNvPicPr preferRelativeResize="0"/>
          <p:nvPr/>
        </p:nvPicPr>
        <p:blipFill rotWithShape="1">
          <a:blip r:embed="rId2">
            <a:alphaModFix/>
          </a:blip>
          <a:srcRect/>
          <a:stretch/>
        </p:blipFill>
        <p:spPr>
          <a:xfrm>
            <a:off x="8412332" y="4829647"/>
            <a:ext cx="310926" cy="149074"/>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_Cards 1">
  <p:cSld name="Cards 1">
    <p:spTree>
      <p:nvGrpSpPr>
        <p:cNvPr id="1" name="Shape 126"/>
        <p:cNvGrpSpPr/>
        <p:nvPr/>
      </p:nvGrpSpPr>
      <p:grpSpPr>
        <a:xfrm>
          <a:off x="0" y="0"/>
          <a:ext cx="0" cy="0"/>
          <a:chOff x="0" y="0"/>
          <a:chExt cx="0" cy="0"/>
        </a:xfrm>
      </p:grpSpPr>
      <p:sp>
        <p:nvSpPr>
          <p:cNvPr id="127" name="Google Shape;127;p33"/>
          <p:cNvSpPr/>
          <p:nvPr/>
        </p:nvSpPr>
        <p:spPr>
          <a:xfrm>
            <a:off x="492931" y="813038"/>
            <a:ext cx="2406000" cy="3759000"/>
          </a:xfrm>
          <a:prstGeom prst="roundRect">
            <a:avLst>
              <a:gd name="adj" fmla="val 2226"/>
            </a:avLst>
          </a:prstGeom>
          <a:solidFill>
            <a:schemeClr val="lt1"/>
          </a:solidFill>
          <a:ln w="12700" cap="flat" cmpd="sng">
            <a:solidFill>
              <a:schemeClr val="dk2"/>
            </a:solidFill>
            <a:prstDash val="solid"/>
            <a:miter lim="8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8" name="Google Shape;128;p33"/>
          <p:cNvSpPr/>
          <p:nvPr/>
        </p:nvSpPr>
        <p:spPr>
          <a:xfrm>
            <a:off x="3378413" y="813038"/>
            <a:ext cx="2406000" cy="3759000"/>
          </a:xfrm>
          <a:prstGeom prst="roundRect">
            <a:avLst>
              <a:gd name="adj" fmla="val 2226"/>
            </a:avLst>
          </a:prstGeom>
          <a:solidFill>
            <a:schemeClr val="lt1"/>
          </a:solidFill>
          <a:ln w="12700" cap="flat" cmpd="sng">
            <a:solidFill>
              <a:schemeClr val="dk2"/>
            </a:solidFill>
            <a:prstDash val="solid"/>
            <a:miter lim="8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29" name="Google Shape;129;p33"/>
          <p:cNvSpPr/>
          <p:nvPr/>
        </p:nvSpPr>
        <p:spPr>
          <a:xfrm>
            <a:off x="6256421" y="813038"/>
            <a:ext cx="2406000" cy="3759000"/>
          </a:xfrm>
          <a:prstGeom prst="roundRect">
            <a:avLst>
              <a:gd name="adj" fmla="val 2226"/>
            </a:avLst>
          </a:prstGeom>
          <a:solidFill>
            <a:schemeClr val="lt1"/>
          </a:solidFill>
          <a:ln w="12700" cap="flat" cmpd="sng">
            <a:solidFill>
              <a:schemeClr val="dk2"/>
            </a:solidFill>
            <a:prstDash val="solid"/>
            <a:miter lim="8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30" name="Google Shape;130;p33"/>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31" name="Google Shape;131;p33"/>
          <p:cNvSpPr txBox="1">
            <a:spLocks noGrp="1"/>
          </p:cNvSpPr>
          <p:nvPr>
            <p:ph type="body" idx="1"/>
          </p:nvPr>
        </p:nvSpPr>
        <p:spPr>
          <a:xfrm>
            <a:off x="740774"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2" name="Google Shape;132;p33"/>
          <p:cNvSpPr txBox="1">
            <a:spLocks noGrp="1"/>
          </p:cNvSpPr>
          <p:nvPr>
            <p:ph type="body" idx="2"/>
          </p:nvPr>
        </p:nvSpPr>
        <p:spPr>
          <a:xfrm>
            <a:off x="667264"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3" name="Google Shape;133;p33"/>
          <p:cNvSpPr txBox="1">
            <a:spLocks noGrp="1"/>
          </p:cNvSpPr>
          <p:nvPr>
            <p:ph type="body" idx="3"/>
          </p:nvPr>
        </p:nvSpPr>
        <p:spPr>
          <a:xfrm>
            <a:off x="3625767"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4" name="Google Shape;134;p33"/>
          <p:cNvSpPr txBox="1">
            <a:spLocks noGrp="1"/>
          </p:cNvSpPr>
          <p:nvPr>
            <p:ph type="body" idx="4"/>
          </p:nvPr>
        </p:nvSpPr>
        <p:spPr>
          <a:xfrm>
            <a:off x="3552257"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5" name="Google Shape;135;p33"/>
          <p:cNvSpPr txBox="1">
            <a:spLocks noGrp="1"/>
          </p:cNvSpPr>
          <p:nvPr>
            <p:ph type="body" idx="5"/>
          </p:nvPr>
        </p:nvSpPr>
        <p:spPr>
          <a:xfrm>
            <a:off x="6503777" y="1537190"/>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36" name="Google Shape;136;p33"/>
          <p:cNvSpPr txBox="1">
            <a:spLocks noGrp="1"/>
          </p:cNvSpPr>
          <p:nvPr>
            <p:ph type="body" idx="6"/>
          </p:nvPr>
        </p:nvSpPr>
        <p:spPr>
          <a:xfrm>
            <a:off x="6430267" y="1982956"/>
            <a:ext cx="2057400" cy="241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37" name="Google Shape;137;p33"/>
          <p:cNvCxnSpPr/>
          <p:nvPr/>
        </p:nvCxnSpPr>
        <p:spPr>
          <a:xfrm>
            <a:off x="740774" y="1847088"/>
            <a:ext cx="1910400" cy="0"/>
          </a:xfrm>
          <a:prstGeom prst="straightConnector1">
            <a:avLst/>
          </a:prstGeom>
          <a:noFill/>
          <a:ln w="12700" cap="flat" cmpd="sng">
            <a:solidFill>
              <a:schemeClr val="dk2"/>
            </a:solidFill>
            <a:prstDash val="solid"/>
            <a:miter lim="80"/>
            <a:headEnd type="none" w="sm" len="sm"/>
            <a:tailEnd type="none" w="sm" len="sm"/>
          </a:ln>
        </p:spPr>
      </p:cxnSp>
      <p:cxnSp>
        <p:nvCxnSpPr>
          <p:cNvPr id="138" name="Google Shape;138;p33"/>
          <p:cNvCxnSpPr/>
          <p:nvPr/>
        </p:nvCxnSpPr>
        <p:spPr>
          <a:xfrm>
            <a:off x="3625767" y="1847088"/>
            <a:ext cx="1910400" cy="0"/>
          </a:xfrm>
          <a:prstGeom prst="straightConnector1">
            <a:avLst/>
          </a:prstGeom>
          <a:noFill/>
          <a:ln w="12700" cap="flat" cmpd="sng">
            <a:solidFill>
              <a:schemeClr val="dk2"/>
            </a:solidFill>
            <a:prstDash val="solid"/>
            <a:miter lim="80"/>
            <a:headEnd type="none" w="sm" len="sm"/>
            <a:tailEnd type="none" w="sm" len="sm"/>
          </a:ln>
        </p:spPr>
      </p:cxnSp>
      <p:cxnSp>
        <p:nvCxnSpPr>
          <p:cNvPr id="139" name="Google Shape;139;p33"/>
          <p:cNvCxnSpPr/>
          <p:nvPr/>
        </p:nvCxnSpPr>
        <p:spPr>
          <a:xfrm>
            <a:off x="6503777" y="1847088"/>
            <a:ext cx="1910400" cy="0"/>
          </a:xfrm>
          <a:prstGeom prst="straightConnector1">
            <a:avLst/>
          </a:prstGeom>
          <a:noFill/>
          <a:ln w="12700" cap="flat" cmpd="sng">
            <a:solidFill>
              <a:schemeClr val="dk2"/>
            </a:solidFill>
            <a:prstDash val="solid"/>
            <a:miter lim="80"/>
            <a:headEnd type="none" w="sm" len="sm"/>
            <a:tailEnd type="none" w="sm" len="sm"/>
          </a:ln>
        </p:spPr>
      </p:cxn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_Cards 2">
  <p:cSld name="Cards 2">
    <p:spTree>
      <p:nvGrpSpPr>
        <p:cNvPr id="1" name="Shape 140"/>
        <p:cNvGrpSpPr/>
        <p:nvPr/>
      </p:nvGrpSpPr>
      <p:grpSpPr>
        <a:xfrm>
          <a:off x="0" y="0"/>
          <a:ext cx="0" cy="0"/>
          <a:chOff x="0" y="0"/>
          <a:chExt cx="0" cy="0"/>
        </a:xfrm>
      </p:grpSpPr>
      <p:sp>
        <p:nvSpPr>
          <p:cNvPr id="141" name="Google Shape;141;p34"/>
          <p:cNvSpPr/>
          <p:nvPr/>
        </p:nvSpPr>
        <p:spPr>
          <a:xfrm>
            <a:off x="492931" y="2389174"/>
            <a:ext cx="2406000" cy="2182800"/>
          </a:xfrm>
          <a:prstGeom prst="roundRect">
            <a:avLst>
              <a:gd name="adj" fmla="val 2226"/>
            </a:avLst>
          </a:prstGeom>
          <a:solidFill>
            <a:schemeClr val="lt1"/>
          </a:solidFill>
          <a:ln w="12700" cap="flat" cmpd="sng">
            <a:solidFill>
              <a:schemeClr val="dk2"/>
            </a:solidFill>
            <a:prstDash val="solid"/>
            <a:miter lim="8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2" name="Google Shape;142;p34"/>
          <p:cNvSpPr/>
          <p:nvPr/>
        </p:nvSpPr>
        <p:spPr>
          <a:xfrm>
            <a:off x="3378413" y="2389174"/>
            <a:ext cx="2406000" cy="2182800"/>
          </a:xfrm>
          <a:prstGeom prst="roundRect">
            <a:avLst>
              <a:gd name="adj" fmla="val 2226"/>
            </a:avLst>
          </a:prstGeom>
          <a:solidFill>
            <a:schemeClr val="lt1"/>
          </a:solidFill>
          <a:ln w="12700" cap="flat" cmpd="sng">
            <a:solidFill>
              <a:schemeClr val="dk2"/>
            </a:solidFill>
            <a:prstDash val="solid"/>
            <a:miter lim="8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3" name="Google Shape;143;p34"/>
          <p:cNvSpPr/>
          <p:nvPr/>
        </p:nvSpPr>
        <p:spPr>
          <a:xfrm>
            <a:off x="6256421" y="2389174"/>
            <a:ext cx="2406000" cy="2182800"/>
          </a:xfrm>
          <a:prstGeom prst="roundRect">
            <a:avLst>
              <a:gd name="adj" fmla="val 2226"/>
            </a:avLst>
          </a:prstGeom>
          <a:solidFill>
            <a:schemeClr val="lt1"/>
          </a:solidFill>
          <a:ln w="12700" cap="flat" cmpd="sng">
            <a:solidFill>
              <a:schemeClr val="dk2"/>
            </a:solidFill>
            <a:prstDash val="solid"/>
            <a:miter lim="80"/>
            <a:headEnd type="none" w="sm" len="sm"/>
            <a:tailEnd type="none" w="sm" len="sm"/>
          </a:ln>
          <a:effectLst>
            <a:outerShdw dist="63500" dir="7800000" algn="ctr" rotWithShape="0">
              <a:schemeClr val="accent3"/>
            </a:outerShdw>
          </a:effectLst>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44" name="Google Shape;144;p34"/>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45" name="Google Shape;145;p34"/>
          <p:cNvSpPr txBox="1">
            <a:spLocks noGrp="1"/>
          </p:cNvSpPr>
          <p:nvPr>
            <p:ph type="body" idx="1"/>
          </p:nvPr>
        </p:nvSpPr>
        <p:spPr>
          <a:xfrm>
            <a:off x="740774"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6" name="Google Shape;146;p34"/>
          <p:cNvSpPr txBox="1">
            <a:spLocks noGrp="1"/>
          </p:cNvSpPr>
          <p:nvPr>
            <p:ph type="body" idx="2"/>
          </p:nvPr>
        </p:nvSpPr>
        <p:spPr>
          <a:xfrm>
            <a:off x="667264"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7" name="Google Shape;147;p34"/>
          <p:cNvSpPr txBox="1">
            <a:spLocks noGrp="1"/>
          </p:cNvSpPr>
          <p:nvPr>
            <p:ph type="body" idx="3"/>
          </p:nvPr>
        </p:nvSpPr>
        <p:spPr>
          <a:xfrm>
            <a:off x="3626255"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8" name="Google Shape;148;p34"/>
          <p:cNvSpPr txBox="1">
            <a:spLocks noGrp="1"/>
          </p:cNvSpPr>
          <p:nvPr>
            <p:ph type="body" idx="4"/>
          </p:nvPr>
        </p:nvSpPr>
        <p:spPr>
          <a:xfrm>
            <a:off x="3552745"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49" name="Google Shape;149;p34"/>
          <p:cNvSpPr txBox="1">
            <a:spLocks noGrp="1"/>
          </p:cNvSpPr>
          <p:nvPr>
            <p:ph type="body" idx="5"/>
          </p:nvPr>
        </p:nvSpPr>
        <p:spPr>
          <a:xfrm>
            <a:off x="6504263" y="3113325"/>
            <a:ext cx="1910400" cy="309900"/>
          </a:xfrm>
          <a:prstGeom prst="rect">
            <a:avLst/>
          </a:prstGeom>
          <a:noFill/>
          <a:ln>
            <a:noFill/>
          </a:ln>
        </p:spPr>
        <p:txBody>
          <a:bodyPr spcFirstLastPara="1" wrap="square" lIns="68575" tIns="34275" rIns="68575" bIns="34275" anchor="t" anchorCtr="0">
            <a:normAutofit/>
          </a:bodyPr>
          <a:lstStyle>
            <a:lvl1pPr marL="457200" lvl="0" indent="-228600" algn="ctr">
              <a:lnSpc>
                <a:spcPct val="90000"/>
              </a:lnSpc>
              <a:spcBef>
                <a:spcPts val="800"/>
              </a:spcBef>
              <a:spcAft>
                <a:spcPts val="0"/>
              </a:spcAft>
              <a:buClr>
                <a:schemeClr val="dk2"/>
              </a:buClr>
              <a:buSzPts val="1200"/>
              <a:buNone/>
              <a:defRPr sz="1200" b="0" i="0">
                <a:solidFill>
                  <a:schemeClr val="dk2"/>
                </a:solidFill>
                <a:latin typeface="DM Sans"/>
                <a:ea typeface="DM Sans"/>
                <a:cs typeface="DM Sans"/>
                <a:sym typeface="DM Sans"/>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50" name="Google Shape;150;p34"/>
          <p:cNvSpPr txBox="1">
            <a:spLocks noGrp="1"/>
          </p:cNvSpPr>
          <p:nvPr>
            <p:ph type="body" idx="6"/>
          </p:nvPr>
        </p:nvSpPr>
        <p:spPr>
          <a:xfrm>
            <a:off x="6430754" y="3559092"/>
            <a:ext cx="2057400" cy="8565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atin typeface="DM Sans"/>
                <a:ea typeface="DM Sans"/>
                <a:cs typeface="DM Sans"/>
                <a:sym typeface="DM Sans"/>
              </a:defRPr>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51" name="Google Shape;151;p34"/>
          <p:cNvSpPr txBox="1">
            <a:spLocks noGrp="1"/>
          </p:cNvSpPr>
          <p:nvPr>
            <p:ph type="body" idx="7"/>
          </p:nvPr>
        </p:nvSpPr>
        <p:spPr>
          <a:xfrm>
            <a:off x="420743" y="812524"/>
            <a:ext cx="8302500" cy="13815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52" name="Google Shape;152;p34"/>
          <p:cNvCxnSpPr/>
          <p:nvPr/>
        </p:nvCxnSpPr>
        <p:spPr>
          <a:xfrm>
            <a:off x="740774" y="3423224"/>
            <a:ext cx="1910400" cy="0"/>
          </a:xfrm>
          <a:prstGeom prst="straightConnector1">
            <a:avLst/>
          </a:prstGeom>
          <a:noFill/>
          <a:ln w="12700" cap="flat" cmpd="sng">
            <a:solidFill>
              <a:schemeClr val="dk2"/>
            </a:solidFill>
            <a:prstDash val="solid"/>
            <a:miter lim="80"/>
            <a:headEnd type="none" w="sm" len="sm"/>
            <a:tailEnd type="none" w="sm" len="sm"/>
          </a:ln>
        </p:spPr>
      </p:cxnSp>
      <p:cxnSp>
        <p:nvCxnSpPr>
          <p:cNvPr id="153" name="Google Shape;153;p34"/>
          <p:cNvCxnSpPr/>
          <p:nvPr/>
        </p:nvCxnSpPr>
        <p:spPr>
          <a:xfrm>
            <a:off x="3628353" y="3423224"/>
            <a:ext cx="1910400" cy="0"/>
          </a:xfrm>
          <a:prstGeom prst="straightConnector1">
            <a:avLst/>
          </a:prstGeom>
          <a:noFill/>
          <a:ln w="12700" cap="flat" cmpd="sng">
            <a:solidFill>
              <a:schemeClr val="dk2"/>
            </a:solidFill>
            <a:prstDash val="solid"/>
            <a:miter lim="80"/>
            <a:headEnd type="none" w="sm" len="sm"/>
            <a:tailEnd type="none" w="sm" len="sm"/>
          </a:ln>
        </p:spPr>
      </p:cxnSp>
      <p:cxnSp>
        <p:nvCxnSpPr>
          <p:cNvPr id="154" name="Google Shape;154;p34"/>
          <p:cNvCxnSpPr/>
          <p:nvPr/>
        </p:nvCxnSpPr>
        <p:spPr>
          <a:xfrm>
            <a:off x="6503777" y="3423224"/>
            <a:ext cx="1910400" cy="0"/>
          </a:xfrm>
          <a:prstGeom prst="straightConnector1">
            <a:avLst/>
          </a:prstGeom>
          <a:noFill/>
          <a:ln w="12700" cap="flat" cmpd="sng">
            <a:solidFill>
              <a:schemeClr val="dk2"/>
            </a:solidFill>
            <a:prstDash val="solid"/>
            <a:miter lim="80"/>
            <a:headEnd type="none" w="sm" len="sm"/>
            <a:tailEnd type="none" w="sm" len="sm"/>
          </a:ln>
        </p:spPr>
      </p:cxn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_Cards 3">
  <p:cSld name="Cards 3">
    <p:spTree>
      <p:nvGrpSpPr>
        <p:cNvPr id="1" name="Shape 155"/>
        <p:cNvGrpSpPr/>
        <p:nvPr/>
      </p:nvGrpSpPr>
      <p:grpSpPr>
        <a:xfrm>
          <a:off x="0" y="0"/>
          <a:ext cx="0" cy="0"/>
          <a:chOff x="0" y="0"/>
          <a:chExt cx="0" cy="0"/>
        </a:xfrm>
      </p:grpSpPr>
      <p:sp>
        <p:nvSpPr>
          <p:cNvPr id="156" name="Google Shape;156;p35"/>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57" name="Google Shape;157;p35"/>
          <p:cNvSpPr/>
          <p:nvPr/>
        </p:nvSpPr>
        <p:spPr>
          <a:xfrm>
            <a:off x="463013" y="1048888"/>
            <a:ext cx="1877100" cy="35706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58" name="Google Shape;158;p35"/>
          <p:cNvSpPr/>
          <p:nvPr/>
        </p:nvSpPr>
        <p:spPr>
          <a:xfrm>
            <a:off x="1031136" y="752468"/>
            <a:ext cx="740700" cy="740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59" name="Google Shape;159;p35"/>
          <p:cNvSpPr/>
          <p:nvPr/>
        </p:nvSpPr>
        <p:spPr>
          <a:xfrm>
            <a:off x="2596613" y="1048888"/>
            <a:ext cx="1877100" cy="35706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0" name="Google Shape;160;p35"/>
          <p:cNvSpPr/>
          <p:nvPr/>
        </p:nvSpPr>
        <p:spPr>
          <a:xfrm>
            <a:off x="3164736" y="752468"/>
            <a:ext cx="740700" cy="740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1" name="Google Shape;161;p35"/>
          <p:cNvSpPr/>
          <p:nvPr/>
        </p:nvSpPr>
        <p:spPr>
          <a:xfrm>
            <a:off x="4730213" y="1048888"/>
            <a:ext cx="1877100" cy="35706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2" name="Google Shape;162;p35"/>
          <p:cNvSpPr/>
          <p:nvPr/>
        </p:nvSpPr>
        <p:spPr>
          <a:xfrm>
            <a:off x="5298336" y="752468"/>
            <a:ext cx="740700" cy="740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3" name="Google Shape;163;p35"/>
          <p:cNvSpPr/>
          <p:nvPr/>
        </p:nvSpPr>
        <p:spPr>
          <a:xfrm>
            <a:off x="6863813" y="1048888"/>
            <a:ext cx="1877100" cy="35706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64" name="Google Shape;164;p35"/>
          <p:cNvSpPr/>
          <p:nvPr/>
        </p:nvSpPr>
        <p:spPr>
          <a:xfrm>
            <a:off x="7431936" y="752468"/>
            <a:ext cx="740700" cy="740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65" name="Google Shape;165;p35"/>
          <p:cNvSpPr txBox="1">
            <a:spLocks noGrp="1"/>
          </p:cNvSpPr>
          <p:nvPr>
            <p:ph type="body" idx="1"/>
          </p:nvPr>
        </p:nvSpPr>
        <p:spPr>
          <a:xfrm>
            <a:off x="5725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6" name="Google Shape;166;p35"/>
          <p:cNvSpPr txBox="1">
            <a:spLocks noGrp="1"/>
          </p:cNvSpPr>
          <p:nvPr>
            <p:ph type="body" idx="2"/>
          </p:nvPr>
        </p:nvSpPr>
        <p:spPr>
          <a:xfrm>
            <a:off x="2706160"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7" name="Google Shape;167;p35"/>
          <p:cNvSpPr txBox="1">
            <a:spLocks noGrp="1"/>
          </p:cNvSpPr>
          <p:nvPr>
            <p:ph type="body" idx="3"/>
          </p:nvPr>
        </p:nvSpPr>
        <p:spPr>
          <a:xfrm>
            <a:off x="48397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8" name="Google Shape;168;p35"/>
          <p:cNvSpPr txBox="1">
            <a:spLocks noGrp="1"/>
          </p:cNvSpPr>
          <p:nvPr>
            <p:ph type="body" idx="4"/>
          </p:nvPr>
        </p:nvSpPr>
        <p:spPr>
          <a:xfrm>
            <a:off x="6973361" y="2072245"/>
            <a:ext cx="1657800" cy="2390400"/>
          </a:xfrm>
          <a:prstGeom prst="rect">
            <a:avLst/>
          </a:prstGeom>
          <a:noFill/>
          <a:ln>
            <a:noFill/>
          </a:ln>
        </p:spPr>
        <p:txBody>
          <a:bodyPr spcFirstLastPara="1" wrap="square" lIns="68575" tIns="34275" rIns="68575" bIns="34275" anchor="t" anchorCtr="0">
            <a:noAutofit/>
          </a:bodyPr>
          <a:lstStyle>
            <a:lvl1pPr marL="457200" lvl="0" indent="-285750" algn="l">
              <a:lnSpc>
                <a:spcPct val="90000"/>
              </a:lnSpc>
              <a:spcBef>
                <a:spcPts val="800"/>
              </a:spcBef>
              <a:spcAft>
                <a:spcPts val="0"/>
              </a:spcAft>
              <a:buClr>
                <a:schemeClr val="dk1"/>
              </a:buClr>
              <a:buSzPts val="900"/>
              <a:buFont typeface="DM Sans"/>
              <a:buChar char="•"/>
              <a:defRPr sz="900"/>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69" name="Google Shape;169;p35"/>
          <p:cNvSpPr txBox="1">
            <a:spLocks noGrp="1"/>
          </p:cNvSpPr>
          <p:nvPr>
            <p:ph type="body" idx="5"/>
          </p:nvPr>
        </p:nvSpPr>
        <p:spPr>
          <a:xfrm>
            <a:off x="572561"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0" name="Google Shape;170;p35"/>
          <p:cNvSpPr txBox="1">
            <a:spLocks noGrp="1"/>
          </p:cNvSpPr>
          <p:nvPr>
            <p:ph type="body" idx="6"/>
          </p:nvPr>
        </p:nvSpPr>
        <p:spPr>
          <a:xfrm>
            <a:off x="27061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1" name="Google Shape;171;p35"/>
          <p:cNvSpPr txBox="1">
            <a:spLocks noGrp="1"/>
          </p:cNvSpPr>
          <p:nvPr>
            <p:ph type="body" idx="7"/>
          </p:nvPr>
        </p:nvSpPr>
        <p:spPr>
          <a:xfrm>
            <a:off x="48397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72" name="Google Shape;172;p35"/>
          <p:cNvSpPr txBox="1">
            <a:spLocks noGrp="1"/>
          </p:cNvSpPr>
          <p:nvPr>
            <p:ph type="body" idx="8"/>
          </p:nvPr>
        </p:nvSpPr>
        <p:spPr>
          <a:xfrm>
            <a:off x="6973360" y="1537189"/>
            <a:ext cx="1657800" cy="309900"/>
          </a:xfrm>
          <a:prstGeom prst="rect">
            <a:avLst/>
          </a:prstGeom>
          <a:noFill/>
          <a:ln>
            <a:noFill/>
          </a:ln>
        </p:spPr>
        <p:txBody>
          <a:bodyPr spcFirstLastPara="1" wrap="square" lIns="68575" tIns="34275" rIns="68575" bIns="34275" anchor="t" anchorCtr="0">
            <a:noAutofit/>
          </a:bodyPr>
          <a:lstStyle>
            <a:lvl1pPr marL="457200" lvl="0" indent="-228600" algn="ctr">
              <a:lnSpc>
                <a:spcPct val="90000"/>
              </a:lnSpc>
              <a:spcBef>
                <a:spcPts val="800"/>
              </a:spcBef>
              <a:spcAft>
                <a:spcPts val="0"/>
              </a:spcAft>
              <a:buClr>
                <a:schemeClr val="dk2"/>
              </a:buClr>
              <a:buSzPts val="1100"/>
              <a:buFont typeface="DM Sans"/>
              <a:buNone/>
              <a:defRPr sz="1100">
                <a:solidFill>
                  <a:schemeClr val="dk2"/>
                </a:solidFill>
              </a:defRPr>
            </a:lvl1pPr>
            <a:lvl2pPr marL="914400" lvl="1" indent="-285750" algn="l">
              <a:lnSpc>
                <a:spcPct val="90000"/>
              </a:lnSpc>
              <a:spcBef>
                <a:spcPts val="400"/>
              </a:spcBef>
              <a:spcAft>
                <a:spcPts val="0"/>
              </a:spcAft>
              <a:buClr>
                <a:schemeClr val="dk1"/>
              </a:buClr>
              <a:buSzPts val="900"/>
              <a:buFont typeface="DM Sans"/>
              <a:buChar char="•"/>
              <a:defRPr sz="900"/>
            </a:lvl2pPr>
            <a:lvl3pPr marL="1371600" lvl="2" indent="-285750" algn="l">
              <a:lnSpc>
                <a:spcPct val="90000"/>
              </a:lnSpc>
              <a:spcBef>
                <a:spcPts val="400"/>
              </a:spcBef>
              <a:spcAft>
                <a:spcPts val="0"/>
              </a:spcAft>
              <a:buClr>
                <a:schemeClr val="dk1"/>
              </a:buClr>
              <a:buSzPts val="900"/>
              <a:buFont typeface="DM Sans"/>
              <a:buChar char="•"/>
              <a:defRPr sz="900"/>
            </a:lvl3pPr>
            <a:lvl4pPr marL="1828800" lvl="3" indent="-285750" algn="l">
              <a:lnSpc>
                <a:spcPct val="90000"/>
              </a:lnSpc>
              <a:spcBef>
                <a:spcPts val="400"/>
              </a:spcBef>
              <a:spcAft>
                <a:spcPts val="0"/>
              </a:spcAft>
              <a:buClr>
                <a:schemeClr val="dk1"/>
              </a:buClr>
              <a:buSzPts val="900"/>
              <a:buFont typeface="DM Sans"/>
              <a:buChar char="•"/>
              <a:defRPr sz="900"/>
            </a:lvl4pPr>
            <a:lvl5pPr marL="2286000" lvl="4" indent="-285750" algn="l">
              <a:lnSpc>
                <a:spcPct val="90000"/>
              </a:lnSpc>
              <a:spcBef>
                <a:spcPts val="400"/>
              </a:spcBef>
              <a:spcAft>
                <a:spcPts val="0"/>
              </a:spcAft>
              <a:buClr>
                <a:schemeClr val="dk1"/>
              </a:buClr>
              <a:buSzPts val="900"/>
              <a:buFont typeface="DM Sans"/>
              <a:buChar char="•"/>
              <a:defRPr sz="9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cxnSp>
        <p:nvCxnSpPr>
          <p:cNvPr id="173" name="Google Shape;173;p35"/>
          <p:cNvCxnSpPr/>
          <p:nvPr/>
        </p:nvCxnSpPr>
        <p:spPr>
          <a:xfrm>
            <a:off x="633758" y="1940821"/>
            <a:ext cx="1535400" cy="0"/>
          </a:xfrm>
          <a:prstGeom prst="straightConnector1">
            <a:avLst/>
          </a:prstGeom>
          <a:noFill/>
          <a:ln w="12700" cap="flat" cmpd="sng">
            <a:solidFill>
              <a:schemeClr val="dk2"/>
            </a:solidFill>
            <a:prstDash val="solid"/>
            <a:miter lim="80"/>
            <a:headEnd type="none" w="sm" len="sm"/>
            <a:tailEnd type="none" w="sm" len="sm"/>
          </a:ln>
        </p:spPr>
      </p:cxnSp>
      <p:cxnSp>
        <p:nvCxnSpPr>
          <p:cNvPr id="174" name="Google Shape;174;p35"/>
          <p:cNvCxnSpPr/>
          <p:nvPr/>
        </p:nvCxnSpPr>
        <p:spPr>
          <a:xfrm>
            <a:off x="2767358" y="1940821"/>
            <a:ext cx="1535400" cy="0"/>
          </a:xfrm>
          <a:prstGeom prst="straightConnector1">
            <a:avLst/>
          </a:prstGeom>
          <a:noFill/>
          <a:ln w="12700" cap="flat" cmpd="sng">
            <a:solidFill>
              <a:schemeClr val="dk2"/>
            </a:solidFill>
            <a:prstDash val="solid"/>
            <a:miter lim="80"/>
            <a:headEnd type="none" w="sm" len="sm"/>
            <a:tailEnd type="none" w="sm" len="sm"/>
          </a:ln>
        </p:spPr>
      </p:cxnSp>
      <p:cxnSp>
        <p:nvCxnSpPr>
          <p:cNvPr id="175" name="Google Shape;175;p35"/>
          <p:cNvCxnSpPr/>
          <p:nvPr/>
        </p:nvCxnSpPr>
        <p:spPr>
          <a:xfrm>
            <a:off x="4900958" y="1940821"/>
            <a:ext cx="1535400" cy="0"/>
          </a:xfrm>
          <a:prstGeom prst="straightConnector1">
            <a:avLst/>
          </a:prstGeom>
          <a:noFill/>
          <a:ln w="12700" cap="flat" cmpd="sng">
            <a:solidFill>
              <a:schemeClr val="dk2"/>
            </a:solidFill>
            <a:prstDash val="solid"/>
            <a:miter lim="80"/>
            <a:headEnd type="none" w="sm" len="sm"/>
            <a:tailEnd type="none" w="sm" len="sm"/>
          </a:ln>
        </p:spPr>
      </p:cxnSp>
      <p:cxnSp>
        <p:nvCxnSpPr>
          <p:cNvPr id="176" name="Google Shape;176;p35"/>
          <p:cNvCxnSpPr/>
          <p:nvPr/>
        </p:nvCxnSpPr>
        <p:spPr>
          <a:xfrm>
            <a:off x="7034558" y="1940821"/>
            <a:ext cx="1535400" cy="0"/>
          </a:xfrm>
          <a:prstGeom prst="straightConnector1">
            <a:avLst/>
          </a:prstGeom>
          <a:noFill/>
          <a:ln w="12700" cap="flat" cmpd="sng">
            <a:solidFill>
              <a:schemeClr val="dk2"/>
            </a:solidFill>
            <a:prstDash val="solid"/>
            <a:miter lim="80"/>
            <a:headEnd type="none" w="sm" len="sm"/>
            <a:tailEnd type="none" w="sm" len="sm"/>
          </a:ln>
        </p:spPr>
      </p:cxn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B_Cards 4">
  <p:cSld name="Cards 4">
    <p:spTree>
      <p:nvGrpSpPr>
        <p:cNvPr id="1" name="Shape 177"/>
        <p:cNvGrpSpPr/>
        <p:nvPr/>
      </p:nvGrpSpPr>
      <p:grpSpPr>
        <a:xfrm>
          <a:off x="0" y="0"/>
          <a:ext cx="0" cy="0"/>
          <a:chOff x="0" y="0"/>
          <a:chExt cx="0" cy="0"/>
        </a:xfrm>
      </p:grpSpPr>
      <p:sp>
        <p:nvSpPr>
          <p:cNvPr id="178" name="Google Shape;178;p36"/>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79" name="Google Shape;179;p36"/>
          <p:cNvSpPr/>
          <p:nvPr/>
        </p:nvSpPr>
        <p:spPr>
          <a:xfrm>
            <a:off x="734137" y="1133993"/>
            <a:ext cx="3609300" cy="8544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0" name="Google Shape;180;p36"/>
          <p:cNvSpPr/>
          <p:nvPr/>
        </p:nvSpPr>
        <p:spPr>
          <a:xfrm>
            <a:off x="420743" y="1247774"/>
            <a:ext cx="626700" cy="626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1" name="Google Shape;181;p36"/>
          <p:cNvSpPr txBox="1">
            <a:spLocks noGrp="1"/>
          </p:cNvSpPr>
          <p:nvPr>
            <p:ph type="body" idx="1"/>
          </p:nvPr>
        </p:nvSpPr>
        <p:spPr>
          <a:xfrm>
            <a:off x="1190772" y="1247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2" name="Google Shape;182;p36"/>
          <p:cNvSpPr/>
          <p:nvPr/>
        </p:nvSpPr>
        <p:spPr>
          <a:xfrm>
            <a:off x="5115637" y="1133993"/>
            <a:ext cx="3609300" cy="8544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3" name="Google Shape;183;p36"/>
          <p:cNvSpPr/>
          <p:nvPr/>
        </p:nvSpPr>
        <p:spPr>
          <a:xfrm>
            <a:off x="4802243" y="1247774"/>
            <a:ext cx="626700" cy="626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4" name="Google Shape;184;p36"/>
          <p:cNvSpPr txBox="1">
            <a:spLocks noGrp="1"/>
          </p:cNvSpPr>
          <p:nvPr>
            <p:ph type="body" idx="2"/>
          </p:nvPr>
        </p:nvSpPr>
        <p:spPr>
          <a:xfrm>
            <a:off x="5572272" y="1247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5" name="Google Shape;185;p36"/>
          <p:cNvSpPr/>
          <p:nvPr/>
        </p:nvSpPr>
        <p:spPr>
          <a:xfrm>
            <a:off x="734137" y="2276993"/>
            <a:ext cx="3609300" cy="8544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6" name="Google Shape;186;p36"/>
          <p:cNvSpPr/>
          <p:nvPr/>
        </p:nvSpPr>
        <p:spPr>
          <a:xfrm>
            <a:off x="420743" y="2390774"/>
            <a:ext cx="626700" cy="626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87" name="Google Shape;187;p36"/>
          <p:cNvSpPr txBox="1">
            <a:spLocks noGrp="1"/>
          </p:cNvSpPr>
          <p:nvPr>
            <p:ph type="body" idx="3"/>
          </p:nvPr>
        </p:nvSpPr>
        <p:spPr>
          <a:xfrm>
            <a:off x="1190772" y="2390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8" name="Google Shape;188;p36"/>
          <p:cNvSpPr/>
          <p:nvPr/>
        </p:nvSpPr>
        <p:spPr>
          <a:xfrm>
            <a:off x="5115637" y="2276993"/>
            <a:ext cx="3609300" cy="8544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89" name="Google Shape;189;p36"/>
          <p:cNvSpPr/>
          <p:nvPr/>
        </p:nvSpPr>
        <p:spPr>
          <a:xfrm>
            <a:off x="4802243" y="2390774"/>
            <a:ext cx="626700" cy="626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0" name="Google Shape;190;p36"/>
          <p:cNvSpPr txBox="1">
            <a:spLocks noGrp="1"/>
          </p:cNvSpPr>
          <p:nvPr>
            <p:ph type="body" idx="4"/>
          </p:nvPr>
        </p:nvSpPr>
        <p:spPr>
          <a:xfrm>
            <a:off x="5572272" y="2390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1" name="Google Shape;191;p36"/>
          <p:cNvSpPr/>
          <p:nvPr/>
        </p:nvSpPr>
        <p:spPr>
          <a:xfrm>
            <a:off x="734137" y="3419993"/>
            <a:ext cx="3609300" cy="8544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92" name="Google Shape;192;p36"/>
          <p:cNvSpPr/>
          <p:nvPr/>
        </p:nvSpPr>
        <p:spPr>
          <a:xfrm>
            <a:off x="420743" y="3533774"/>
            <a:ext cx="626700" cy="626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3" name="Google Shape;193;p36"/>
          <p:cNvSpPr txBox="1">
            <a:spLocks noGrp="1"/>
          </p:cNvSpPr>
          <p:nvPr>
            <p:ph type="body" idx="5"/>
          </p:nvPr>
        </p:nvSpPr>
        <p:spPr>
          <a:xfrm>
            <a:off x="1190772" y="3533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4" name="Google Shape;194;p36"/>
          <p:cNvSpPr/>
          <p:nvPr/>
        </p:nvSpPr>
        <p:spPr>
          <a:xfrm>
            <a:off x="5115637" y="3419993"/>
            <a:ext cx="3609300" cy="854400"/>
          </a:xfrm>
          <a:prstGeom prst="roundRect">
            <a:avLst>
              <a:gd name="adj" fmla="val 5049"/>
            </a:avLst>
          </a:prstGeom>
          <a:solidFill>
            <a:schemeClr val="lt1"/>
          </a:solidFill>
          <a:ln w="12700" cap="flat" cmpd="sng">
            <a:solidFill>
              <a:srgbClr val="CBDAFF"/>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l" rtl="0">
              <a:lnSpc>
                <a:spcPct val="100000"/>
              </a:lnSpc>
              <a:spcBef>
                <a:spcPts val="0"/>
              </a:spcBef>
              <a:spcAft>
                <a:spcPts val="0"/>
              </a:spcAft>
              <a:buClr>
                <a:schemeClr val="lt1"/>
              </a:buClr>
              <a:buSzPts val="1400"/>
              <a:buFont typeface="DM Sans"/>
              <a:buNone/>
            </a:pPr>
            <a:endParaRPr sz="1400" b="0" i="0" u="none" strike="noStrike" cap="none">
              <a:solidFill>
                <a:srgbClr val="001142"/>
              </a:solidFill>
              <a:latin typeface="DM Sans"/>
              <a:ea typeface="DM Sans"/>
              <a:cs typeface="DM Sans"/>
              <a:sym typeface="DM Sans"/>
            </a:endParaRPr>
          </a:p>
        </p:txBody>
      </p:sp>
      <p:sp>
        <p:nvSpPr>
          <p:cNvPr id="195" name="Google Shape;195;p36"/>
          <p:cNvSpPr/>
          <p:nvPr/>
        </p:nvSpPr>
        <p:spPr>
          <a:xfrm>
            <a:off x="4802243" y="3533774"/>
            <a:ext cx="626700" cy="626700"/>
          </a:xfrm>
          <a:prstGeom prst="ellipse">
            <a:avLst/>
          </a:prstGeom>
          <a:solidFill>
            <a:schemeClr val="lt1"/>
          </a:solidFill>
          <a:ln w="12700" cap="flat" cmpd="sng">
            <a:solidFill>
              <a:srgbClr val="0254EC"/>
            </a:solidFill>
            <a:prstDash val="solid"/>
            <a:miter lim="80"/>
            <a:headEnd type="none" w="sm" len="sm"/>
            <a:tailEnd type="none" w="sm" len="sm"/>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DM Sans"/>
              <a:ea typeface="DM Sans"/>
              <a:cs typeface="DM Sans"/>
              <a:sym typeface="DM Sans"/>
            </a:endParaRPr>
          </a:p>
        </p:txBody>
      </p:sp>
      <p:sp>
        <p:nvSpPr>
          <p:cNvPr id="196" name="Google Shape;196;p36"/>
          <p:cNvSpPr txBox="1">
            <a:spLocks noGrp="1"/>
          </p:cNvSpPr>
          <p:nvPr>
            <p:ph type="body" idx="6"/>
          </p:nvPr>
        </p:nvSpPr>
        <p:spPr>
          <a:xfrm>
            <a:off x="5572272" y="3533774"/>
            <a:ext cx="3009300" cy="626700"/>
          </a:xfrm>
          <a:prstGeom prst="rect">
            <a:avLst/>
          </a:prstGeom>
          <a:noFill/>
          <a:ln>
            <a:noFill/>
          </a:ln>
        </p:spPr>
        <p:txBody>
          <a:bodyPr spcFirstLastPara="1" wrap="square" lIns="68575" tIns="34275" rIns="68575" bIns="34275" anchor="ctr"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304800" algn="l">
              <a:lnSpc>
                <a:spcPct val="90000"/>
              </a:lnSpc>
              <a:spcBef>
                <a:spcPts val="400"/>
              </a:spcBef>
              <a:spcAft>
                <a:spcPts val="0"/>
              </a:spcAft>
              <a:buClr>
                <a:schemeClr val="dk1"/>
              </a:buClr>
              <a:buSzPts val="1200"/>
              <a:buChar char="•"/>
              <a:defRPr sz="1200"/>
            </a:lvl2pPr>
            <a:lvl3pPr marL="1371600" lvl="2" indent="-304800" algn="l">
              <a:lnSpc>
                <a:spcPct val="90000"/>
              </a:lnSpc>
              <a:spcBef>
                <a:spcPts val="400"/>
              </a:spcBef>
              <a:spcAft>
                <a:spcPts val="0"/>
              </a:spcAft>
              <a:buClr>
                <a:schemeClr val="dk1"/>
              </a:buClr>
              <a:buSzPts val="1200"/>
              <a:buChar char="•"/>
              <a:defRPr sz="1200"/>
            </a:lvl3pPr>
            <a:lvl4pPr marL="1828800" lvl="3" indent="-304800" algn="l">
              <a:lnSpc>
                <a:spcPct val="90000"/>
              </a:lnSpc>
              <a:spcBef>
                <a:spcPts val="400"/>
              </a:spcBef>
              <a:spcAft>
                <a:spcPts val="0"/>
              </a:spcAft>
              <a:buClr>
                <a:schemeClr val="dk1"/>
              </a:buClr>
              <a:buSzPts val="1200"/>
              <a:buChar char="•"/>
              <a:defRPr sz="1200"/>
            </a:lvl4pPr>
            <a:lvl5pPr marL="2286000" lvl="4" indent="-304800" algn="l">
              <a:lnSpc>
                <a:spcPct val="90000"/>
              </a:lnSpc>
              <a:spcBef>
                <a:spcPts val="400"/>
              </a:spcBef>
              <a:spcAft>
                <a:spcPts val="0"/>
              </a:spcAft>
              <a:buClr>
                <a:schemeClr val="dk1"/>
              </a:buClr>
              <a:buSzPts val="1200"/>
              <a:buChar char="•"/>
              <a:defRPr sz="12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_Testimonials 1">
  <p:cSld name="Testimonials 1">
    <p:bg>
      <p:bgPr>
        <a:solidFill>
          <a:schemeClr val="lt2"/>
        </a:solidFill>
        <a:effectLst/>
      </p:bgPr>
    </p:bg>
    <p:spTree>
      <p:nvGrpSpPr>
        <p:cNvPr id="1" name="Shape 197"/>
        <p:cNvGrpSpPr/>
        <p:nvPr/>
      </p:nvGrpSpPr>
      <p:grpSpPr>
        <a:xfrm>
          <a:off x="0" y="0"/>
          <a:ext cx="0" cy="0"/>
          <a:chOff x="0" y="0"/>
          <a:chExt cx="0" cy="0"/>
        </a:xfrm>
      </p:grpSpPr>
      <p:sp>
        <p:nvSpPr>
          <p:cNvPr id="198" name="Google Shape;198;p37"/>
          <p:cNvSpPr txBox="1">
            <a:spLocks noGrp="1"/>
          </p:cNvSpPr>
          <p:nvPr>
            <p:ph type="title"/>
          </p:nvPr>
        </p:nvSpPr>
        <p:spPr>
          <a:xfrm>
            <a:off x="420743" y="439044"/>
            <a:ext cx="4151400" cy="367200"/>
          </a:xfrm>
          <a:prstGeom prst="rect">
            <a:avLst/>
          </a:prstGeom>
          <a:noFill/>
          <a:ln>
            <a:noFill/>
          </a:ln>
        </p:spPr>
        <p:txBody>
          <a:bodyPr spcFirstLastPara="1" wrap="square" lIns="68575" tIns="34275" rIns="68575" bIns="34275" anchor="ctr" anchorCtr="0">
            <a:noAutofit/>
          </a:bodyPr>
          <a:lstStyle>
            <a:lvl1pPr lvl="0" algn="l">
              <a:lnSpc>
                <a:spcPct val="90000"/>
              </a:lnSpc>
              <a:spcBef>
                <a:spcPts val="0"/>
              </a:spcBef>
              <a:spcAft>
                <a:spcPts val="0"/>
              </a:spcAft>
              <a:buClr>
                <a:schemeClr val="dk1"/>
              </a:buClr>
              <a:buSzPts val="1100"/>
              <a:buFont typeface="DM Sans"/>
              <a:buNone/>
              <a:defRPr sz="1100" b="1"/>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99" name="Google Shape;199;p37"/>
          <p:cNvSpPr txBox="1">
            <a:spLocks noGrp="1"/>
          </p:cNvSpPr>
          <p:nvPr>
            <p:ph type="body" idx="1"/>
          </p:nvPr>
        </p:nvSpPr>
        <p:spPr>
          <a:xfrm>
            <a:off x="420743" y="821019"/>
            <a:ext cx="4151400" cy="2194200"/>
          </a:xfrm>
          <a:prstGeom prst="rect">
            <a:avLst/>
          </a:prstGeom>
          <a:noFill/>
          <a:ln>
            <a:noFill/>
          </a:ln>
        </p:spPr>
        <p:txBody>
          <a:bodyPr spcFirstLastPara="1" wrap="square" lIns="68575" tIns="34275" rIns="68575" bIns="34275" anchor="t" anchorCtr="0">
            <a:normAutofit/>
          </a:bodyPr>
          <a:lstStyle>
            <a:lvl1pPr marL="457200" lvl="0" indent="-361950" algn="l">
              <a:lnSpc>
                <a:spcPct val="90000"/>
              </a:lnSpc>
              <a:spcBef>
                <a:spcPts val="800"/>
              </a:spcBef>
              <a:spcAft>
                <a:spcPts val="0"/>
              </a:spcAft>
              <a:buClr>
                <a:schemeClr val="dk1"/>
              </a:buClr>
              <a:buSzPts val="2100"/>
              <a:buChar char="•"/>
              <a:defRPr sz="2100"/>
            </a:lvl1pPr>
            <a:lvl2pPr marL="914400" lvl="1" indent="-342900" algn="l">
              <a:lnSpc>
                <a:spcPct val="90000"/>
              </a:lnSpc>
              <a:spcBef>
                <a:spcPts val="400"/>
              </a:spcBef>
              <a:spcAft>
                <a:spcPts val="0"/>
              </a:spcAft>
              <a:buClr>
                <a:schemeClr val="dk1"/>
              </a:buClr>
              <a:buSzPts val="1800"/>
              <a:buChar char="•"/>
              <a:defRPr sz="1800"/>
            </a:lvl2pPr>
            <a:lvl3pPr marL="1371600" lvl="2" indent="-323850" algn="l">
              <a:lnSpc>
                <a:spcPct val="90000"/>
              </a:lnSpc>
              <a:spcBef>
                <a:spcPts val="400"/>
              </a:spcBef>
              <a:spcAft>
                <a:spcPts val="0"/>
              </a:spcAft>
              <a:buClr>
                <a:schemeClr val="dk1"/>
              </a:buClr>
              <a:buSzPts val="1500"/>
              <a:buChar char="•"/>
              <a:defRPr sz="1500"/>
            </a:lvl3pPr>
            <a:lvl4pPr marL="1828800" lvl="3" indent="-317500" algn="l">
              <a:lnSpc>
                <a:spcPct val="90000"/>
              </a:lnSpc>
              <a:spcBef>
                <a:spcPts val="400"/>
              </a:spcBef>
              <a:spcAft>
                <a:spcPts val="0"/>
              </a:spcAft>
              <a:buClr>
                <a:schemeClr val="dk1"/>
              </a:buClr>
              <a:buSzPts val="1400"/>
              <a:buChar char="•"/>
              <a:defRPr sz="1400"/>
            </a:lvl4pPr>
            <a:lvl5pPr marL="2286000" lvl="4" indent="-317500" algn="l">
              <a:lnSpc>
                <a:spcPct val="90000"/>
              </a:lnSpc>
              <a:spcBef>
                <a:spcPts val="400"/>
              </a:spcBef>
              <a:spcAft>
                <a:spcPts val="0"/>
              </a:spcAft>
              <a:buClr>
                <a:schemeClr val="dk1"/>
              </a:buClr>
              <a:buSzPts val="1400"/>
              <a:buChar char="•"/>
              <a:defRPr sz="1400"/>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0" name="Google Shape;200;p37"/>
          <p:cNvSpPr>
            <a:spLocks noGrp="1"/>
          </p:cNvSpPr>
          <p:nvPr>
            <p:ph type="pic" idx="2"/>
          </p:nvPr>
        </p:nvSpPr>
        <p:spPr>
          <a:xfrm>
            <a:off x="520220" y="2791738"/>
            <a:ext cx="714600" cy="714600"/>
          </a:xfrm>
          <a:prstGeom prst="ellipse">
            <a:avLst/>
          </a:prstGeom>
          <a:noFill/>
          <a:ln w="12700" cap="flat" cmpd="sng">
            <a:solidFill>
              <a:schemeClr val="dk2"/>
            </a:solidFill>
            <a:prstDash val="solid"/>
            <a:round/>
            <a:headEnd type="none" w="sm" len="sm"/>
            <a:tailEnd type="none" w="sm" len="sm"/>
          </a:ln>
        </p:spPr>
      </p:sp>
      <p:sp>
        <p:nvSpPr>
          <p:cNvPr id="201" name="Google Shape;201;p37"/>
          <p:cNvSpPr txBox="1">
            <a:spLocks noGrp="1"/>
          </p:cNvSpPr>
          <p:nvPr>
            <p:ph type="body" idx="3"/>
          </p:nvPr>
        </p:nvSpPr>
        <p:spPr>
          <a:xfrm>
            <a:off x="1335785" y="2922110"/>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400"/>
              <a:buNone/>
              <a:defRPr sz="1400"/>
            </a:lvl1pPr>
            <a:lvl2pPr marL="914400" lvl="1" indent="-228600" algn="l">
              <a:lnSpc>
                <a:spcPct val="90000"/>
              </a:lnSpc>
              <a:spcBef>
                <a:spcPts val="400"/>
              </a:spcBef>
              <a:spcAft>
                <a:spcPts val="0"/>
              </a:spcAft>
              <a:buClr>
                <a:schemeClr val="dk1"/>
              </a:buClr>
              <a:buSzPts val="1400"/>
              <a:buNone/>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2" name="Google Shape;202;p37"/>
          <p:cNvSpPr txBox="1">
            <a:spLocks noGrp="1"/>
          </p:cNvSpPr>
          <p:nvPr>
            <p:ph type="body" idx="4"/>
          </p:nvPr>
        </p:nvSpPr>
        <p:spPr>
          <a:xfrm>
            <a:off x="1335785" y="3137613"/>
            <a:ext cx="3350400" cy="273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100"/>
              <a:buNone/>
              <a:defRPr sz="1100"/>
            </a:lvl1pPr>
            <a:lvl2pPr marL="914400" lvl="1" indent="-228600" algn="l">
              <a:lnSpc>
                <a:spcPct val="90000"/>
              </a:lnSpc>
              <a:spcBef>
                <a:spcPts val="400"/>
              </a:spcBef>
              <a:spcAft>
                <a:spcPts val="0"/>
              </a:spcAft>
              <a:buClr>
                <a:schemeClr val="dk1"/>
              </a:buClr>
              <a:buSzPts val="1400"/>
              <a:buNone/>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pic>
        <p:nvPicPr>
          <p:cNvPr id="203" name="Google Shape;203;p37" descr="A blue line on a black background  Description automatically generated"/>
          <p:cNvPicPr preferRelativeResize="0"/>
          <p:nvPr/>
        </p:nvPicPr>
        <p:blipFill rotWithShape="1">
          <a:blip r:embed="rId2">
            <a:alphaModFix/>
          </a:blip>
          <a:srcRect/>
          <a:stretch/>
        </p:blipFill>
        <p:spPr>
          <a:xfrm>
            <a:off x="7088382" y="3892490"/>
            <a:ext cx="2055618" cy="1282314"/>
          </a:xfrm>
          <a:prstGeom prst="rect">
            <a:avLst/>
          </a:prstGeom>
          <a:noFill/>
          <a:ln>
            <a:noFill/>
          </a:ln>
        </p:spPr>
      </p:pic>
      <p:pic>
        <p:nvPicPr>
          <p:cNvPr id="204" name="Google Shape;204;p37" descr="A blue line on a black background  Description automatically generated"/>
          <p:cNvPicPr preferRelativeResize="0"/>
          <p:nvPr/>
        </p:nvPicPr>
        <p:blipFill rotWithShape="1">
          <a:blip r:embed="rId3">
            <a:alphaModFix/>
          </a:blip>
          <a:srcRect/>
          <a:stretch/>
        </p:blipFill>
        <p:spPr>
          <a:xfrm rot="10800000">
            <a:off x="0" y="4025113"/>
            <a:ext cx="2669286" cy="1122440"/>
          </a:xfrm>
          <a:prstGeom prst="rect">
            <a:avLst/>
          </a:prstGeom>
          <a:noFill/>
          <a:ln>
            <a:noFill/>
          </a:ln>
        </p:spPr>
      </p:pic>
      <p:sp>
        <p:nvSpPr>
          <p:cNvPr id="205" name="Google Shape;205;p37"/>
          <p:cNvSpPr>
            <a:spLocks noGrp="1"/>
          </p:cNvSpPr>
          <p:nvPr>
            <p:ph type="pic" idx="5"/>
          </p:nvPr>
        </p:nvSpPr>
        <p:spPr>
          <a:xfrm>
            <a:off x="4803425" y="800100"/>
            <a:ext cx="3883500" cy="2171100"/>
          </a:xfrm>
          <a:prstGeom prst="roundRect">
            <a:avLst>
              <a:gd name="adj" fmla="val 4242"/>
            </a:avLst>
          </a:prstGeom>
          <a:noFill/>
          <a:ln>
            <a:noFill/>
          </a:ln>
          <a:effectLst>
            <a:outerShdw dist="66675" dir="7800000" algn="bl" rotWithShape="0">
              <a:schemeClr val="dk2"/>
            </a:outerShdw>
          </a:effectLst>
        </p:spPr>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C_Illustration 1">
  <p:cSld name="Illustration 1">
    <p:spTree>
      <p:nvGrpSpPr>
        <p:cNvPr id="1" name="Shape 206"/>
        <p:cNvGrpSpPr/>
        <p:nvPr/>
      </p:nvGrpSpPr>
      <p:grpSpPr>
        <a:xfrm>
          <a:off x="0" y="0"/>
          <a:ext cx="0" cy="0"/>
          <a:chOff x="0" y="0"/>
          <a:chExt cx="0" cy="0"/>
        </a:xfrm>
      </p:grpSpPr>
      <p:pic>
        <p:nvPicPr>
          <p:cNvPr id="207" name="Google Shape;207;p38"/>
          <p:cNvPicPr preferRelativeResize="0"/>
          <p:nvPr/>
        </p:nvPicPr>
        <p:blipFill rotWithShape="1">
          <a:blip r:embed="rId2">
            <a:alphaModFix/>
          </a:blip>
          <a:srcRect/>
          <a:stretch/>
        </p:blipFill>
        <p:spPr>
          <a:xfrm>
            <a:off x="0" y="0"/>
            <a:ext cx="9144000" cy="5143500"/>
          </a:xfrm>
          <a:prstGeom prst="rect">
            <a:avLst/>
          </a:prstGeom>
          <a:noFill/>
          <a:ln>
            <a:noFill/>
          </a:ln>
        </p:spPr>
      </p:pic>
      <p:pic>
        <p:nvPicPr>
          <p:cNvPr id="208" name="Google Shape;208;p38"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C_Plain White">
  <p:cSld name="Plain White">
    <p:spTree>
      <p:nvGrpSpPr>
        <p:cNvPr id="1" name="Shape 209"/>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B_Image/Graphic Drop Shadow Asset">
  <p:cSld name="Image/Graphic Drop Shadow Asset">
    <p:bg>
      <p:bgPr>
        <a:solidFill>
          <a:schemeClr val="lt1"/>
        </a:solidFill>
        <a:effectLst/>
      </p:bgPr>
    </p:bg>
    <p:spTree>
      <p:nvGrpSpPr>
        <p:cNvPr id="1" name="Shape 210"/>
        <p:cNvGrpSpPr/>
        <p:nvPr/>
      </p:nvGrpSpPr>
      <p:grpSpPr>
        <a:xfrm>
          <a:off x="0" y="0"/>
          <a:ext cx="0" cy="0"/>
          <a:chOff x="0" y="0"/>
          <a:chExt cx="0" cy="0"/>
        </a:xfrm>
      </p:grpSpPr>
      <p:sp>
        <p:nvSpPr>
          <p:cNvPr id="211" name="Google Shape;211;p40"/>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chemeClr val="lt2"/>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sp>
        <p:nvSpPr>
          <p:cNvPr id="212" name="Google Shape;212;p40"/>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3" name="Google Shape;213;p40"/>
          <p:cNvSpPr>
            <a:spLocks noGrp="1"/>
          </p:cNvSpPr>
          <p:nvPr>
            <p:ph type="pic" idx="2"/>
          </p:nvPr>
        </p:nvSpPr>
        <p:spPr>
          <a:xfrm>
            <a:off x="602200" y="880600"/>
            <a:ext cx="3904800" cy="2194200"/>
          </a:xfrm>
          <a:prstGeom prst="roundRect">
            <a:avLst>
              <a:gd name="adj" fmla="val 3229"/>
            </a:avLst>
          </a:prstGeom>
          <a:noFill/>
          <a:ln>
            <a:noFill/>
          </a:ln>
          <a:effectLst>
            <a:outerShdw dist="69226" dir="7800000" algn="ctr" rotWithShape="0">
              <a:schemeClr val="accent3"/>
            </a:outerShdw>
          </a:effectLst>
        </p:spPr>
      </p:sp>
      <p:sp>
        <p:nvSpPr>
          <p:cNvPr id="214" name="Google Shape;214;p40"/>
          <p:cNvSpPr>
            <a:spLocks noGrp="1"/>
          </p:cNvSpPr>
          <p:nvPr>
            <p:ph type="pic" idx="3"/>
          </p:nvPr>
        </p:nvSpPr>
        <p:spPr>
          <a:xfrm>
            <a:off x="4824700" y="880600"/>
            <a:ext cx="3898500" cy="2194200"/>
          </a:xfrm>
          <a:prstGeom prst="roundRect">
            <a:avLst>
              <a:gd name="adj" fmla="val 3874"/>
            </a:avLst>
          </a:prstGeom>
          <a:noFill/>
          <a:ln>
            <a:noFill/>
          </a:ln>
          <a:effectLst>
            <a:outerShdw dist="69226" dir="7800000" algn="ctr" rotWithShape="0">
              <a:schemeClr val="dk2"/>
            </a:outerShdw>
          </a:effectLst>
        </p:spPr>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C_Q&amp;A">
  <p:cSld name="Q&amp;A">
    <p:bg>
      <p:bgPr>
        <a:solidFill>
          <a:schemeClr val="dk2"/>
        </a:solidFill>
        <a:effectLst/>
      </p:bgPr>
    </p:bg>
    <p:spTree>
      <p:nvGrpSpPr>
        <p:cNvPr id="1" name="Shape 215"/>
        <p:cNvGrpSpPr/>
        <p:nvPr/>
      </p:nvGrpSpPr>
      <p:grpSpPr>
        <a:xfrm>
          <a:off x="0" y="0"/>
          <a:ext cx="0" cy="0"/>
          <a:chOff x="0" y="0"/>
          <a:chExt cx="0" cy="0"/>
        </a:xfrm>
      </p:grpSpPr>
      <p:pic>
        <p:nvPicPr>
          <p:cNvPr id="216" name="Google Shape;216;p41" descr="A black and white image of a person  Description automatically generated"/>
          <p:cNvPicPr preferRelativeResize="0"/>
          <p:nvPr/>
        </p:nvPicPr>
        <p:blipFill rotWithShape="1">
          <a:blip r:embed="rId2">
            <a:alphaModFix amt="60000"/>
          </a:blip>
          <a:srcRect/>
          <a:stretch/>
        </p:blipFill>
        <p:spPr>
          <a:xfrm rot="-900001">
            <a:off x="4096523" y="3086333"/>
            <a:ext cx="7191132" cy="2776325"/>
          </a:xfrm>
          <a:prstGeom prst="rect">
            <a:avLst/>
          </a:prstGeom>
          <a:noFill/>
          <a:ln>
            <a:noFill/>
          </a:ln>
        </p:spPr>
      </p:pic>
      <p:sp>
        <p:nvSpPr>
          <p:cNvPr id="217" name="Google Shape;217;p41"/>
          <p:cNvSpPr txBox="1">
            <a:spLocks noGrp="1"/>
          </p:cNvSpPr>
          <p:nvPr>
            <p:ph type="title"/>
          </p:nvPr>
        </p:nvSpPr>
        <p:spPr>
          <a:xfrm>
            <a:off x="420742" y="1645445"/>
            <a:ext cx="8302500" cy="367200"/>
          </a:xfrm>
          <a:prstGeom prst="rect">
            <a:avLst/>
          </a:prstGeom>
          <a:noFill/>
          <a:ln>
            <a:noFill/>
          </a:ln>
        </p:spPr>
        <p:txBody>
          <a:bodyPr spcFirstLastPara="1" wrap="square" lIns="68575" tIns="34275" rIns="68575" bIns="34275" anchor="ctr" anchorCtr="0">
            <a:noAutofit/>
          </a:bodyPr>
          <a:lstStyle>
            <a:lvl1pPr lvl="0" algn="ctr">
              <a:lnSpc>
                <a:spcPct val="90000"/>
              </a:lnSpc>
              <a:spcBef>
                <a:spcPts val="0"/>
              </a:spcBef>
              <a:spcAft>
                <a:spcPts val="0"/>
              </a:spcAft>
              <a:buClr>
                <a:schemeClr val="lt1"/>
              </a:buClr>
              <a:buSzPts val="3300"/>
              <a:buFont typeface="DM Sans"/>
              <a:buNone/>
              <a:defRPr sz="33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pic>
        <p:nvPicPr>
          <p:cNvPr id="218" name="Google Shape;218;p41"/>
          <p:cNvPicPr preferRelativeResize="0"/>
          <p:nvPr/>
        </p:nvPicPr>
        <p:blipFill rotWithShape="1">
          <a:blip r:embed="rId3">
            <a:alphaModFix/>
          </a:blip>
          <a:srcRect/>
          <a:stretch/>
        </p:blipFill>
        <p:spPr>
          <a:xfrm>
            <a:off x="6610333" y="3093755"/>
            <a:ext cx="2374527" cy="1795313"/>
          </a:xfrm>
          <a:prstGeom prst="rect">
            <a:avLst/>
          </a:prstGeom>
          <a:noFill/>
          <a:ln>
            <a:noFill/>
          </a:ln>
        </p:spPr>
      </p:pic>
      <p:pic>
        <p:nvPicPr>
          <p:cNvPr id="219" name="Google Shape;219;p41" title="Logo.png"/>
          <p:cNvPicPr preferRelativeResize="0"/>
          <p:nvPr/>
        </p:nvPicPr>
        <p:blipFill rotWithShape="1">
          <a:blip r:embed="rId4">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C_Demo">
  <p:cSld name="Demo">
    <p:bg>
      <p:bgPr>
        <a:solidFill>
          <a:schemeClr val="dk2"/>
        </a:solidFill>
        <a:effectLst/>
      </p:bgPr>
    </p:bg>
    <p:spTree>
      <p:nvGrpSpPr>
        <p:cNvPr id="1" name="Shape 220"/>
        <p:cNvGrpSpPr/>
        <p:nvPr/>
      </p:nvGrpSpPr>
      <p:grpSpPr>
        <a:xfrm>
          <a:off x="0" y="0"/>
          <a:ext cx="0" cy="0"/>
          <a:chOff x="0" y="0"/>
          <a:chExt cx="0" cy="0"/>
        </a:xfrm>
      </p:grpSpPr>
      <p:pic>
        <p:nvPicPr>
          <p:cNvPr id="221" name="Google Shape;221;p42"/>
          <p:cNvPicPr preferRelativeResize="0"/>
          <p:nvPr/>
        </p:nvPicPr>
        <p:blipFill rotWithShape="1">
          <a:blip r:embed="rId2">
            <a:alphaModFix/>
          </a:blip>
          <a:srcRect/>
          <a:stretch/>
        </p:blipFill>
        <p:spPr>
          <a:xfrm>
            <a:off x="0" y="2741"/>
            <a:ext cx="9139128" cy="5140760"/>
          </a:xfrm>
          <a:prstGeom prst="rect">
            <a:avLst/>
          </a:prstGeom>
          <a:noFill/>
          <a:ln>
            <a:noFill/>
          </a:ln>
        </p:spPr>
      </p:pic>
      <p:pic>
        <p:nvPicPr>
          <p:cNvPr id="222" name="Google Shape;222;p42" title="Logo.png"/>
          <p:cNvPicPr preferRelativeResize="0"/>
          <p:nvPr/>
        </p:nvPicPr>
        <p:blipFill rotWithShape="1">
          <a:blip r:embed="rId3">
            <a:alphaModFix/>
          </a:blip>
          <a:srcRect/>
          <a:stretch/>
        </p:blipFill>
        <p:spPr>
          <a:xfrm>
            <a:off x="8412313" y="4830850"/>
            <a:ext cx="309686" cy="1466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1"/>
                                        </p:tgtEl>
                                        <p:attrNameLst>
                                          <p:attrName>style.visibility</p:attrName>
                                        </p:attrNameLst>
                                      </p:cBhvr>
                                      <p:to>
                                        <p:strVal val="visible"/>
                                      </p:to>
                                    </p:set>
                                    <p:animEffect transition="in" filter="fade">
                                      <p:cBhvr>
                                        <p:cTn id="7" dur="5000"/>
                                        <p:tgtEl>
                                          <p:spTgt spid="2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C_Thank you">
  <p:cSld name="Thank you">
    <p:bg>
      <p:bgPr>
        <a:solidFill>
          <a:schemeClr val="dk2"/>
        </a:solidFill>
        <a:effectLst/>
      </p:bgPr>
    </p:bg>
    <p:spTree>
      <p:nvGrpSpPr>
        <p:cNvPr id="1" name="Shape 223"/>
        <p:cNvGrpSpPr/>
        <p:nvPr/>
      </p:nvGrpSpPr>
      <p:grpSpPr>
        <a:xfrm>
          <a:off x="0" y="0"/>
          <a:ext cx="0" cy="0"/>
          <a:chOff x="0" y="0"/>
          <a:chExt cx="0" cy="0"/>
        </a:xfrm>
      </p:grpSpPr>
      <p:pic>
        <p:nvPicPr>
          <p:cNvPr id="224" name="Google Shape;224;p43"/>
          <p:cNvPicPr preferRelativeResize="0"/>
          <p:nvPr/>
        </p:nvPicPr>
        <p:blipFill rotWithShape="1">
          <a:blip r:embed="rId2">
            <a:alphaModFix/>
          </a:blip>
          <a:src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24"/>
                                        </p:tgtEl>
                                        <p:attrNameLst>
                                          <p:attrName>style.visibility</p:attrName>
                                        </p:attrNameLst>
                                      </p:cBhvr>
                                      <p:to>
                                        <p:strVal val="visible"/>
                                      </p:to>
                                    </p:set>
                                    <p:animEffect transition="in" filter="fade">
                                      <p:cBhvr>
                                        <p:cTn id="7" dur="3029"/>
                                        <p:tgtEl>
                                          <p:spTgt spid="2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C_Plain Blue">
  <p:cSld name="Plain Blue">
    <p:bg>
      <p:bgPr>
        <a:solidFill>
          <a:schemeClr val="dk2"/>
        </a:solidFill>
        <a:effectLst/>
      </p:bgPr>
    </p:bg>
    <p:spTree>
      <p:nvGrpSpPr>
        <p:cNvPr id="1" name="Shape 225"/>
        <p:cNvGrpSpPr/>
        <p:nvPr/>
      </p:nvGrpSpPr>
      <p:grpSpPr>
        <a:xfrm>
          <a:off x="0" y="0"/>
          <a:ext cx="0" cy="0"/>
          <a:chOff x="0" y="0"/>
          <a:chExt cx="0" cy="0"/>
        </a:xfrm>
      </p:grpSpPr>
      <p:pic>
        <p:nvPicPr>
          <p:cNvPr id="226" name="Google Shape;226;p44" title="Logo.png"/>
          <p:cNvPicPr preferRelativeResize="0"/>
          <p:nvPr/>
        </p:nvPicPr>
        <p:blipFill rotWithShape="1">
          <a:blip r:embed="rId2">
            <a:alphaModFix/>
          </a:blip>
          <a:srcRect/>
          <a:stretch/>
        </p:blipFill>
        <p:spPr>
          <a:xfrm>
            <a:off x="8412313" y="4830850"/>
            <a:ext cx="309686" cy="146674"/>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27"/>
        <p:cNvGrpSpPr/>
        <p:nvPr/>
      </p:nvGrpSpPr>
      <p:grpSpPr>
        <a:xfrm>
          <a:off x="0" y="0"/>
          <a:ext cx="0" cy="0"/>
          <a:chOff x="0" y="0"/>
          <a:chExt cx="0" cy="0"/>
        </a:xfrm>
      </p:grpSpPr>
      <p:sp>
        <p:nvSpPr>
          <p:cNvPr id="228" name="Google Shape;228;p45"/>
          <p:cNvSpPr txBox="1">
            <a:spLocks noGrp="1"/>
          </p:cNvSpPr>
          <p:nvPr>
            <p:ph type="ctrTitle"/>
          </p:nvPr>
        </p:nvSpPr>
        <p:spPr>
          <a:xfrm>
            <a:off x="311708" y="744575"/>
            <a:ext cx="8520600" cy="20526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229" name="Google Shape;229;p45"/>
          <p:cNvSpPr txBox="1">
            <a:spLocks noGrp="1"/>
          </p:cNvSpPr>
          <p:nvPr>
            <p:ph type="subTitle" idx="1"/>
          </p:nvPr>
        </p:nvSpPr>
        <p:spPr>
          <a:xfrm>
            <a:off x="311700" y="2834125"/>
            <a:ext cx="8520600" cy="792600"/>
          </a:xfrm>
          <a:prstGeom prst="rect">
            <a:avLst/>
          </a:prstGeom>
          <a:noFill/>
          <a:ln>
            <a:noFill/>
          </a:ln>
        </p:spPr>
        <p:txBody>
          <a:bodyPr spcFirstLastPara="1" wrap="square" lIns="68575" tIns="34275" rIns="68575" bIns="34275" anchor="t" anchorCtr="0">
            <a:normAutofit/>
          </a:bodyPr>
          <a:lstStyle>
            <a:lvl1pPr lvl="0" algn="ctr">
              <a:lnSpc>
                <a:spcPct val="100000"/>
              </a:lnSpc>
              <a:spcBef>
                <a:spcPts val="800"/>
              </a:spcBef>
              <a:spcAft>
                <a:spcPts val="0"/>
              </a:spcAft>
              <a:buSzPts val="2800"/>
              <a:buNone/>
              <a:defRPr sz="2800"/>
            </a:lvl1pPr>
            <a:lvl2pPr lvl="1" algn="ctr">
              <a:lnSpc>
                <a:spcPct val="100000"/>
              </a:lnSpc>
              <a:spcBef>
                <a:spcPts val="400"/>
              </a:spcBef>
              <a:spcAft>
                <a:spcPts val="0"/>
              </a:spcAft>
              <a:buSzPts val="2800"/>
              <a:buNone/>
              <a:defRPr sz="2800"/>
            </a:lvl2pPr>
            <a:lvl3pPr lvl="2" algn="ctr">
              <a:lnSpc>
                <a:spcPct val="100000"/>
              </a:lnSpc>
              <a:spcBef>
                <a:spcPts val="400"/>
              </a:spcBef>
              <a:spcAft>
                <a:spcPts val="0"/>
              </a:spcAft>
              <a:buSzPts val="2800"/>
              <a:buNone/>
              <a:defRPr sz="2800"/>
            </a:lvl3pPr>
            <a:lvl4pPr lvl="3" algn="ctr">
              <a:lnSpc>
                <a:spcPct val="100000"/>
              </a:lnSpc>
              <a:spcBef>
                <a:spcPts val="400"/>
              </a:spcBef>
              <a:spcAft>
                <a:spcPts val="0"/>
              </a:spcAft>
              <a:buSzPts val="2800"/>
              <a:buNone/>
              <a:defRPr sz="2800"/>
            </a:lvl4pPr>
            <a:lvl5pPr lvl="4" algn="ctr">
              <a:lnSpc>
                <a:spcPct val="100000"/>
              </a:lnSpc>
              <a:spcBef>
                <a:spcPts val="400"/>
              </a:spcBef>
              <a:spcAft>
                <a:spcPts val="0"/>
              </a:spcAft>
              <a:buSzPts val="2800"/>
              <a:buNone/>
              <a:defRPr sz="2800"/>
            </a:lvl5pPr>
            <a:lvl6pPr lvl="5" algn="ctr">
              <a:lnSpc>
                <a:spcPct val="100000"/>
              </a:lnSpc>
              <a:spcBef>
                <a:spcPts val="400"/>
              </a:spcBef>
              <a:spcAft>
                <a:spcPts val="0"/>
              </a:spcAft>
              <a:buSzPts val="2800"/>
              <a:buNone/>
              <a:defRPr sz="2800"/>
            </a:lvl6pPr>
            <a:lvl7pPr lvl="6" algn="ctr">
              <a:lnSpc>
                <a:spcPct val="100000"/>
              </a:lnSpc>
              <a:spcBef>
                <a:spcPts val="400"/>
              </a:spcBef>
              <a:spcAft>
                <a:spcPts val="0"/>
              </a:spcAft>
              <a:buSzPts val="2800"/>
              <a:buNone/>
              <a:defRPr sz="2800"/>
            </a:lvl7pPr>
            <a:lvl8pPr lvl="7" algn="ctr">
              <a:lnSpc>
                <a:spcPct val="100000"/>
              </a:lnSpc>
              <a:spcBef>
                <a:spcPts val="400"/>
              </a:spcBef>
              <a:spcAft>
                <a:spcPts val="0"/>
              </a:spcAft>
              <a:buSzPts val="2800"/>
              <a:buNone/>
              <a:defRPr sz="2800"/>
            </a:lvl8pPr>
            <a:lvl9pPr lvl="8" algn="ctr">
              <a:lnSpc>
                <a:spcPct val="100000"/>
              </a:lnSpc>
              <a:spcBef>
                <a:spcPts val="400"/>
              </a:spcBef>
              <a:spcAft>
                <a:spcPts val="0"/>
              </a:spcAft>
              <a:buSzPts val="2800"/>
              <a:buNone/>
              <a:defRPr sz="2800"/>
            </a:lvl9pPr>
          </a:lstStyle>
          <a:p>
            <a:endParaRPr/>
          </a:p>
        </p:txBody>
      </p:sp>
      <p:sp>
        <p:nvSpPr>
          <p:cNvPr id="230" name="Google Shape;230;p4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marL="0" marR="0" lvl="0"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L="0" marR="0" lvl="1"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L="0" marR="0" lvl="2"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L="0" marR="0" lvl="3"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L="0" marR="0" lvl="4"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L="0" marR="0" lvl="5"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L="0" marR="0" lvl="6"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L="0" marR="0" lvl="7"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L="0" marR="0" lvl="8" indent="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3_Custom Layout">
  <p:cSld name="3_Custom Layout">
    <p:spTree>
      <p:nvGrpSpPr>
        <p:cNvPr id="1" name="Shape 231"/>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18" Type="http://schemas.openxmlformats.org/officeDocument/2006/relationships/slideLayout" Target="../slideLayouts/slideLayout33.xml"/><Relationship Id="rId26" Type="http://schemas.openxmlformats.org/officeDocument/2006/relationships/slideLayout" Target="../slideLayouts/slideLayout41.xml"/><Relationship Id="rId3" Type="http://schemas.openxmlformats.org/officeDocument/2006/relationships/slideLayout" Target="../slideLayouts/slideLayout18.xml"/><Relationship Id="rId21" Type="http://schemas.openxmlformats.org/officeDocument/2006/relationships/slideLayout" Target="../slideLayouts/slideLayout36.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slideLayout" Target="../slideLayouts/slideLayout32.xml"/><Relationship Id="rId25" Type="http://schemas.openxmlformats.org/officeDocument/2006/relationships/slideLayout" Target="../slideLayouts/slideLayout40.xml"/><Relationship Id="rId2" Type="http://schemas.openxmlformats.org/officeDocument/2006/relationships/slideLayout" Target="../slideLayouts/slideLayout17.xml"/><Relationship Id="rId16" Type="http://schemas.openxmlformats.org/officeDocument/2006/relationships/slideLayout" Target="../slideLayouts/slideLayout31.xml"/><Relationship Id="rId20" Type="http://schemas.openxmlformats.org/officeDocument/2006/relationships/slideLayout" Target="../slideLayouts/slideLayout35.xml"/><Relationship Id="rId29" Type="http://schemas.openxmlformats.org/officeDocument/2006/relationships/slideLayout" Target="../slideLayouts/slideLayout44.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24" Type="http://schemas.openxmlformats.org/officeDocument/2006/relationships/slideLayout" Target="../slideLayouts/slideLayout39.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23" Type="http://schemas.openxmlformats.org/officeDocument/2006/relationships/slideLayout" Target="../slideLayouts/slideLayout38.xml"/><Relationship Id="rId28" Type="http://schemas.openxmlformats.org/officeDocument/2006/relationships/slideLayout" Target="../slideLayouts/slideLayout43.xml"/><Relationship Id="rId10" Type="http://schemas.openxmlformats.org/officeDocument/2006/relationships/slideLayout" Target="../slideLayouts/slideLayout25.xml"/><Relationship Id="rId19" Type="http://schemas.openxmlformats.org/officeDocument/2006/relationships/slideLayout" Target="../slideLayouts/slideLayout34.xml"/><Relationship Id="rId31" Type="http://schemas.openxmlformats.org/officeDocument/2006/relationships/image" Target="../media/image10.png"/><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 Id="rId22" Type="http://schemas.openxmlformats.org/officeDocument/2006/relationships/slideLayout" Target="../slideLayouts/slideLayout37.xml"/><Relationship Id="rId27" Type="http://schemas.openxmlformats.org/officeDocument/2006/relationships/slideLayout" Target="../slideLayouts/slideLayout42.xml"/><Relationship Id="rId3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8"/>
        <p:cNvGrpSpPr/>
        <p:nvPr/>
      </p:nvGrpSpPr>
      <p:grpSpPr>
        <a:xfrm>
          <a:off x="0" y="0"/>
          <a:ext cx="0" cy="0"/>
          <a:chOff x="0" y="0"/>
          <a:chExt cx="0" cy="0"/>
        </a:xfrm>
      </p:grpSpPr>
      <p:sp>
        <p:nvSpPr>
          <p:cNvPr id="49" name="Google Shape;49;p17"/>
          <p:cNvSpPr txBox="1">
            <a:spLocks noGrp="1"/>
          </p:cNvSpPr>
          <p:nvPr>
            <p:ph type="title"/>
          </p:nvPr>
        </p:nvSpPr>
        <p:spPr>
          <a:xfrm>
            <a:off x="420743" y="273844"/>
            <a:ext cx="8302500" cy="367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2000"/>
              <a:buFont typeface="DM Sans"/>
              <a:buNone/>
              <a:defRPr sz="2000" b="0" i="0" u="none" strike="noStrike" cap="none">
                <a:solidFill>
                  <a:schemeClr val="dk1"/>
                </a:solidFill>
                <a:latin typeface="DM Sans"/>
                <a:ea typeface="DM Sans"/>
                <a:cs typeface="DM Sans"/>
                <a:sym typeface="DM Sans"/>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50" name="Google Shape;50;p17"/>
          <p:cNvSpPr txBox="1">
            <a:spLocks noGrp="1"/>
          </p:cNvSpPr>
          <p:nvPr>
            <p:ph type="body" idx="1"/>
          </p:nvPr>
        </p:nvSpPr>
        <p:spPr>
          <a:xfrm>
            <a:off x="420743" y="812524"/>
            <a:ext cx="8302500" cy="3820200"/>
          </a:xfrm>
          <a:prstGeom prst="rect">
            <a:avLst/>
          </a:prstGeom>
          <a:noFill/>
          <a:ln>
            <a:noFill/>
          </a:ln>
        </p:spPr>
        <p:txBody>
          <a:bodyPr spcFirstLastPara="1" wrap="square" lIns="68575" tIns="34275" rIns="68575" bIns="34275" anchor="t" anchorCtr="0">
            <a:normAutofit/>
          </a:bodyPr>
          <a:lstStyle>
            <a:lvl1pPr marL="457200" marR="0" lvl="0" indent="-311150" algn="l" rtl="0">
              <a:lnSpc>
                <a:spcPct val="90000"/>
              </a:lnSpc>
              <a:spcBef>
                <a:spcPts val="800"/>
              </a:spcBef>
              <a:spcAft>
                <a:spcPts val="0"/>
              </a:spcAft>
              <a:buClr>
                <a:schemeClr val="dk1"/>
              </a:buClr>
              <a:buSzPts val="1300"/>
              <a:buFont typeface="Arial"/>
              <a:buChar char="•"/>
              <a:defRPr sz="1300" b="0" i="0" u="none" strike="noStrike" cap="none">
                <a:solidFill>
                  <a:schemeClr val="dk1"/>
                </a:solidFill>
                <a:latin typeface="DM Sans"/>
                <a:ea typeface="DM Sans"/>
                <a:cs typeface="DM Sans"/>
                <a:sym typeface="DM Sans"/>
              </a:defRPr>
            </a:lvl1pPr>
            <a:lvl2pPr marL="914400" marR="0" lvl="1" indent="-304800" algn="l" rtl="0">
              <a:lnSpc>
                <a:spcPct val="90000"/>
              </a:lnSpc>
              <a:spcBef>
                <a:spcPts val="400"/>
              </a:spcBef>
              <a:spcAft>
                <a:spcPts val="0"/>
              </a:spcAft>
              <a:buClr>
                <a:schemeClr val="dk1"/>
              </a:buClr>
              <a:buSzPts val="1200"/>
              <a:buFont typeface="Arial"/>
              <a:buChar char="•"/>
              <a:defRPr sz="1200" b="0" i="0" u="none" strike="noStrike" cap="none">
                <a:solidFill>
                  <a:schemeClr val="dk1"/>
                </a:solidFill>
                <a:latin typeface="DM Sans"/>
                <a:ea typeface="DM Sans"/>
                <a:cs typeface="DM Sans"/>
                <a:sym typeface="DM Sans"/>
              </a:defRPr>
            </a:lvl2pPr>
            <a:lvl3pPr marL="1371600" marR="0" lvl="2" indent="-292100" algn="l" rtl="0">
              <a:lnSpc>
                <a:spcPct val="90000"/>
              </a:lnSpc>
              <a:spcBef>
                <a:spcPts val="400"/>
              </a:spcBef>
              <a:spcAft>
                <a:spcPts val="0"/>
              </a:spcAft>
              <a:buClr>
                <a:schemeClr val="dk1"/>
              </a:buClr>
              <a:buSzPts val="1000"/>
              <a:buFont typeface="Arial"/>
              <a:buChar char="•"/>
              <a:defRPr sz="1000" b="0" i="0" u="none" strike="noStrike" cap="none">
                <a:solidFill>
                  <a:schemeClr val="dk1"/>
                </a:solidFill>
                <a:latin typeface="DM Sans"/>
                <a:ea typeface="DM Sans"/>
                <a:cs typeface="DM Sans"/>
                <a:sym typeface="DM Sans"/>
              </a:defRPr>
            </a:lvl3pPr>
            <a:lvl4pPr marL="1828800" marR="0" lvl="3" indent="-285750" algn="l" rtl="0">
              <a:lnSpc>
                <a:spcPct val="90000"/>
              </a:lnSpc>
              <a:spcBef>
                <a:spcPts val="400"/>
              </a:spcBef>
              <a:spcAft>
                <a:spcPts val="0"/>
              </a:spcAft>
              <a:buClr>
                <a:schemeClr val="dk1"/>
              </a:buClr>
              <a:buSzPts val="900"/>
              <a:buFont typeface="Arial"/>
              <a:buChar char="•"/>
              <a:defRPr sz="900" b="0" i="0" u="none" strike="noStrike" cap="none">
                <a:solidFill>
                  <a:schemeClr val="dk1"/>
                </a:solidFill>
                <a:latin typeface="DM Sans"/>
                <a:ea typeface="DM Sans"/>
                <a:cs typeface="DM Sans"/>
                <a:sym typeface="DM Sans"/>
              </a:defRPr>
            </a:lvl4pPr>
            <a:lvl5pPr marL="2286000" marR="0" lvl="4" indent="-285750" algn="l" rtl="0">
              <a:lnSpc>
                <a:spcPct val="90000"/>
              </a:lnSpc>
              <a:spcBef>
                <a:spcPts val="400"/>
              </a:spcBef>
              <a:spcAft>
                <a:spcPts val="0"/>
              </a:spcAft>
              <a:buClr>
                <a:schemeClr val="dk1"/>
              </a:buClr>
              <a:buSzPts val="900"/>
              <a:buFont typeface="Arial"/>
              <a:buChar char="•"/>
              <a:defRPr sz="900" b="0" i="0" u="none" strike="noStrike" cap="none">
                <a:solidFill>
                  <a:schemeClr val="dk1"/>
                </a:solidFill>
                <a:latin typeface="DM Sans"/>
                <a:ea typeface="DM Sans"/>
                <a:cs typeface="DM Sans"/>
                <a:sym typeface="DM Sans"/>
              </a:defRPr>
            </a:lvl5pPr>
            <a:lvl6pPr marL="2743200" marR="0" lvl="5"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6pPr>
            <a:lvl7pPr marL="3200400" marR="0" lvl="6"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7pPr>
            <a:lvl8pPr marL="3657600" marR="0" lvl="7" indent="-273050" algn="l" rtl="0">
              <a:lnSpc>
                <a:spcPct val="90000"/>
              </a:lnSpc>
              <a:spcBef>
                <a:spcPts val="400"/>
              </a:spcBef>
              <a:spcAft>
                <a:spcPts val="0"/>
              </a:spcAft>
              <a:buClr>
                <a:schemeClr val="dk1"/>
              </a:buClr>
              <a:buSzPts val="700"/>
              <a:buFont typeface="Arial"/>
              <a:buChar char="•"/>
              <a:defRPr sz="700" b="0" i="0" u="none" strike="noStrike" cap="none">
                <a:solidFill>
                  <a:schemeClr val="dk1"/>
                </a:solidFill>
                <a:latin typeface="DM Sans"/>
                <a:ea typeface="DM Sans"/>
                <a:cs typeface="DM Sans"/>
                <a:sym typeface="DM Sans"/>
              </a:defRPr>
            </a:lvl8pPr>
            <a:lvl9pPr marL="4114800" marR="0" lvl="8" indent="-279400" algn="l" rtl="0">
              <a:lnSpc>
                <a:spcPct val="90000"/>
              </a:lnSpc>
              <a:spcBef>
                <a:spcPts val="400"/>
              </a:spcBef>
              <a:spcAft>
                <a:spcPts val="0"/>
              </a:spcAft>
              <a:buClr>
                <a:schemeClr val="dk1"/>
              </a:buClr>
              <a:buSzPts val="800"/>
              <a:buFont typeface="Arial"/>
              <a:buChar char="•"/>
              <a:defRPr sz="800" b="0" i="0" u="none" strike="noStrike" cap="none">
                <a:solidFill>
                  <a:schemeClr val="dk1"/>
                </a:solidFill>
                <a:latin typeface="DM Sans"/>
                <a:ea typeface="DM Sans"/>
                <a:cs typeface="DM Sans"/>
                <a:sym typeface="DM Sans"/>
              </a:defRPr>
            </a:lvl9pPr>
          </a:lstStyle>
          <a:p>
            <a:endParaRPr/>
          </a:p>
        </p:txBody>
      </p:sp>
      <p:sp>
        <p:nvSpPr>
          <p:cNvPr id="51" name="Google Shape;51;p17"/>
          <p:cNvSpPr/>
          <p:nvPr/>
        </p:nvSpPr>
        <p:spPr>
          <a:xfrm>
            <a:off x="0" y="0"/>
            <a:ext cx="9128855" cy="44653"/>
          </a:xfrm>
          <a:custGeom>
            <a:avLst/>
            <a:gdLst/>
            <a:ahLst/>
            <a:cxnLst/>
            <a:rect l="l" t="t" r="r" b="b"/>
            <a:pathLst>
              <a:path w="15876269" h="8930640" extrusionOk="0">
                <a:moveTo>
                  <a:pt x="15875897" y="0"/>
                </a:moveTo>
                <a:lnTo>
                  <a:pt x="0" y="0"/>
                </a:lnTo>
                <a:lnTo>
                  <a:pt x="0" y="8930192"/>
                </a:lnTo>
                <a:lnTo>
                  <a:pt x="15875897" y="8930192"/>
                </a:lnTo>
                <a:lnTo>
                  <a:pt x="15875897" y="0"/>
                </a:lnTo>
                <a:close/>
              </a:path>
            </a:pathLst>
          </a:custGeom>
          <a:solidFill>
            <a:srgbClr val="0058EB"/>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DM Sans"/>
              <a:ea typeface="DM Sans"/>
              <a:cs typeface="DM Sans"/>
              <a:sym typeface="DM Sans"/>
            </a:endParaRPr>
          </a:p>
        </p:txBody>
      </p:sp>
      <p:pic>
        <p:nvPicPr>
          <p:cNvPr id="52" name="Google Shape;52;p17"/>
          <p:cNvPicPr preferRelativeResize="0"/>
          <p:nvPr/>
        </p:nvPicPr>
        <p:blipFill rotWithShape="1">
          <a:blip r:embed="rId31">
            <a:alphaModFix/>
          </a:blip>
          <a:srcRect/>
          <a:stretch/>
        </p:blipFill>
        <p:spPr>
          <a:xfrm>
            <a:off x="8412332" y="4829647"/>
            <a:ext cx="310926" cy="149074"/>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679"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 id="2147483688" r:id="rId26"/>
    <p:sldLayoutId id="2147483689" r:id="rId27"/>
    <p:sldLayoutId id="2147483690" r:id="rId28"/>
    <p:sldLayoutId id="2147483691" r:id="rId2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2.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hyperlink" Target="https://app.wiz.io/inventory/unscanned-resources/unclassified" TargetMode="External"/><Relationship Id="rId3" Type="http://schemas.openxmlformats.org/officeDocument/2006/relationships/image" Target="../media/image35.png"/><Relationship Id="rId7" Type="http://schemas.openxmlformats.org/officeDocument/2006/relationships/image" Target="../media/image39.png"/><Relationship Id="rId12" Type="http://schemas.openxmlformats.org/officeDocument/2006/relationships/hyperlink" Target="https://app.wiz.io/settings/deployments#%7E%28type%7E%27ALL%29" TargetMode="External"/><Relationship Id="rId2" Type="http://schemas.openxmlformats.org/officeDocument/2006/relationships/notesSlide" Target="../notesSlides/notesSlide3.xml"/><Relationship Id="rId16" Type="http://schemas.openxmlformats.org/officeDocument/2006/relationships/hyperlink" Target="https://app.wiz.io/boards/ai-security" TargetMode="External"/><Relationship Id="rId1" Type="http://schemas.openxmlformats.org/officeDocument/2006/relationships/slideLayout" Target="../slideLayouts/slideLayout3.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5" Type="http://schemas.openxmlformats.org/officeDocument/2006/relationships/image" Target="../media/image44.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hyperlink" Target="https://app.wiz.io/explorer/cloud-events#%7E%28filters%7E%28timestampv2%7E%28dateRange%7E%28past%7E%28unit%7E%27month%7Eamount%7E1%29%29%29%29%7EgroupBy%7E%28%7E%27origin%29%29"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3.png"/></Relationships>
</file>

<file path=ppt/slides/_rels/slide5.xml.rels><?xml version="1.0" encoding="UTF-8" standalone="yes"?>
<Relationships xmlns="http://schemas.openxmlformats.org/package/2006/relationships"><Relationship Id="rId8" Type="http://schemas.openxmlformats.org/officeDocument/2006/relationships/hyperlink" Target="https://app.wiz.io/inventory/kubernetes-clusters" TargetMode="External"/><Relationship Id="rId13" Type="http://schemas.openxmlformats.org/officeDocument/2006/relationships/hyperlink" Target="https://app.wiz.io/inventory/unscanned-resources/unclassified" TargetMode="External"/><Relationship Id="rId3" Type="http://schemas.openxmlformats.org/officeDocument/2006/relationships/image" Target="../media/image35.png"/><Relationship Id="rId7" Type="http://schemas.openxmlformats.org/officeDocument/2006/relationships/image" Target="../media/image51.png"/><Relationship Id="rId12" Type="http://schemas.openxmlformats.org/officeDocument/2006/relationships/image" Target="../media/image52.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50.png"/><Relationship Id="rId11" Type="http://schemas.openxmlformats.org/officeDocument/2006/relationships/hyperlink" Target="https://app.wiz.io/inventory/containers/images" TargetMode="External"/><Relationship Id="rId5" Type="http://schemas.openxmlformats.org/officeDocument/2006/relationships/image" Target="../media/image49.png"/><Relationship Id="rId10" Type="http://schemas.openxmlformats.org/officeDocument/2006/relationships/hyperlink" Target="https://app.wiz.io/inventory/container-registries" TargetMode="External"/><Relationship Id="rId4" Type="http://schemas.openxmlformats.org/officeDocument/2006/relationships/image" Target="../media/image48.png"/><Relationship Id="rId9" Type="http://schemas.openxmlformats.org/officeDocument/2006/relationships/hyperlink" Target="https://app.wiz.io/findings/code-cicd-scans#%7E%28filters%7E%28timestamp%7E%28inTheLast%7E%28amount%7E30%7Eunit%7E%27days%29%29%7Eorigin%7E%28equals%7E%28%7E%27WIZ_CLI%29%29%7EcicdScanTrigger%7E%28equals%7E%28%7E%27USER_INITIATED%29%29%29%29" TargetMode="External"/><Relationship Id="rId14" Type="http://schemas.openxmlformats.org/officeDocument/2006/relationships/hyperlink" Target="https://app.wiz.io/policies/red-agent-modules" TargetMode="External"/></Relationships>
</file>

<file path=ppt/slides/_rels/slide6.xml.rels><?xml version="1.0" encoding="UTF-8" standalone="yes"?>
<Relationships xmlns="http://schemas.openxmlformats.org/package/2006/relationships"><Relationship Id="rId13" Type="http://schemas.openxmlformats.org/officeDocument/2006/relationships/hyperlink" Target="https://app.wiz.io/explorer/graph#%7E%28query%7E%28type%7E%28%7E%27DATABASE%7E%27DB_SERVER%29%7Eselect%7Etrue%7Erelationships%7E%28%7E%28type%7E%28%7E%28type%7E%27SCANNED%7Ereverse%7Etrue%29%29%7Ewith%7E%28type%7E%28%7E%27SECURITY_TOOL_SCAN%29%7Ewhere%7E%28name%7E%28CONTAINS%7E%28%7E%27data*20scan%29%29%29%7Eselect%7Etrue%29%29%7E%28type%7E%28%7E%28type%7E%27HAS_TECH%29%29%7Ewith%7E%28type%7E%28%7E%27TECHNOLOGY%29%7Eselect%7Etrue%7Ewhere%7E%28_externalID%7E%28NOT_EQUALS%7E%28%7E%276961%7E%273032%7E%279899%29%29%29%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DB_SERVER%7E%28%7E%27cloudPlatform%7E%27requiresSSL%7E%27hasBackups%7E%27backupRetentionDays%29%7ESECURITY_TOOL_SCAN%7E%28%7E%27status%7E%27analysisDate%7E%27lastSuccess%7E%27workloadAnalysisInfo_hasHighSeverityVulns%29%7ETECHNOLOGY%7E%28%7E%27deploymentModel%7E%27categories%7E%27storesData%7E%27stackLayer%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8" Type="http://schemas.openxmlformats.org/officeDocument/2006/relationships/hyperlink" Target="https://app.wiz.io/explorer/graph#%7E%28view%7E%27table%7Ecolumns%7E%28%7E%28%7E%270%7E16%29%7E%28%7E%271%7E16%29%7E%28%7E%272%7E16%29%7E%28%7E%273%7E16%29%7E%28%7E%273cloudPlatform%7E9%29%7E%28%7E%273status%7E9%29%7E%28%7E%273externalId%7E9%29%7E%28%7E%273name%7E9%29%29%7Eentity%7E%28%7E%29%7EgraphEntityCols%7E%28SECURITY_TOOL_SCAN%7E%28%7E%27status%7E%27analysisDate%7E%27lastSuccess%7E%27workloadAnalysisInfo_hasHighSeverityVulns%7E%27statusDetails%29%29%7Equery%7E%28type%7E%28%7E%27SECURITY_TOOL_SCAN%29%7Eselect%7Etrue%7Ewhere%7E%28dataSource_name%7E%28EQUALS%7E%28%7E%27Wiz*20Workload*20Scanner%29%29%7Estatus%7E%28EQUALS%7E%28%7E%27ScanStatusSuccess%29%29%29%29%29" TargetMode="External"/><Relationship Id="rId26" Type="http://schemas.openxmlformats.org/officeDocument/2006/relationships/hyperlink" Target="https://app.wiz.io/explorer/graph#%7E%28query%7E%28select%7Etrue%7Etype%7E%28%7E%27SECURITY_TOOL_SCAN%29%7Ewhere%7E%28scannedResourceType%7E%28EQUALS%7E%28%7E%27SecurityToolScanScannedResourceTypeNonOSDisk%29%29%7Ename%7E%28CONTAINS%7E%28%7E%27workload%29%29%29%29%29" TargetMode="External"/><Relationship Id="rId3" Type="http://schemas.openxmlformats.org/officeDocument/2006/relationships/image" Target="../media/image51.png"/><Relationship Id="rId21" Type="http://schemas.openxmlformats.org/officeDocument/2006/relationships/hyperlink" Target="https://app.wiz.io/settings/system-health#%7E%28filters%7E%28status%7E%28equals%7E%28%7E%27OPEN%29%29%7EdeploymentType%7E%28equals%7E%28%7E%27INTEGRATION%29%29%7Eseverity%7E%28equals%7E%28%7E%27CRITICAL%7E%27HIGH%29%29%29%29" TargetMode="External"/><Relationship Id="rId34" Type="http://schemas.openxmlformats.org/officeDocument/2006/relationships/hyperlink" Target="https://app.wiz.io/explorer/graph#%7E%28query%7E%28select%7Etrue%7Etype%7E%28%7E%27SECURITY_TOOL_SCAN%29%7Ewhere%7E%28scannedResourceType%7E%28EQUALS%7E%28%7E%27SecurityToolScanScannedResourceTypeVirtualMachineImage%29%29%7Ename%7E%28CONTAINS%7E%28%7E%27workload%29%29%7Estatus%7E%28EQUALS%7E%28%7E%27ScanStatusSkipped%29%29%29%29%29" TargetMode="External"/><Relationship Id="rId7" Type="http://schemas.openxmlformats.org/officeDocument/2006/relationships/hyperlink" Target="https://app.wiz.io/settings/system-health#%7E%28filters%7E%28status%7E%28equals%7E%28%7E%27RESOLVED%29%29%7Eseverity%7E%28equals%7E%28%7E%27HIGH%29%29%29%7EgroupBy%7E%27none%29" TargetMode="External"/><Relationship Id="rId12" Type="http://schemas.openxmlformats.org/officeDocument/2006/relationships/hyperlink" Target="https://app.wiz.io/explorer/graph#%7E%28query%7E%28type%7E%28%7E%27BUCK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7" Type="http://schemas.openxmlformats.org/officeDocument/2006/relationships/hyperlink" Target="https://app.wiz.io/explorer/graph#%7E%28query%7E%28type%7E%28%7E%27FILE_SYSTEM_SERVICE%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FILE_SYSTEM_SERVICE%7E%28%7E%27cloudPlatform%7E%27atRestEncryption%7E%27inTransitEncryption%7E%27accessibleFrom.internet%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5" Type="http://schemas.openxmlformats.org/officeDocument/2006/relationships/hyperlink" Target="https://app.wiz.io/settings/system-health#%7E%28filters%7E%28status%7E%28equals%7E%28%7E%27OPEN%29%29%7EdeploymentType%7E%28equals%7E%28%7E%27CLOUD_CONNECTOR%29%29%7Eseverity%7E%28equals%7E%28%7E%27CRITICAL%7E%27HIGH%29%29%29%29" TargetMode="External"/><Relationship Id="rId33" Type="http://schemas.openxmlformats.org/officeDocument/2006/relationships/hyperlink" Target="https://app.wiz.io/explorer/graph#%7E%28query%7E%28select%7Etrue%7Etype%7E%28%7E%27SECURITY_TOOL_SCAN%29%7Ewhere%7E%28scannedResourceType%7E%28EQUALS%7E%28%7E%27SecurityToolScanScannedResourceTypeVirtualMachineImage%29%29%7Ename%7E%28CONTAINS%7E%28%7E%27workload%29%29%7Estatus%7E%28EQUALS%7E%28%7E%27ScanStatusError%29%29%29%29%29" TargetMode="External"/><Relationship Id="rId2" Type="http://schemas.openxmlformats.org/officeDocument/2006/relationships/notesSlide" Target="../notesSlides/notesSlide6.xml"/><Relationship Id="rId16" Type="http://schemas.openxmlformats.org/officeDocument/2006/relationships/hyperlink" Target="https://app.wiz.io/explorer/graph#%7E%28query%7E%28type%7E%28%7E%27AI_DATASET%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AI_DATAS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0" Type="http://schemas.openxmlformats.org/officeDocument/2006/relationships/hyperlink" Target="https://app.wiz.io/settings/system-health#%7E%28filters%7E%28status%7E%28equals%7E%28%7E%27OPEN%29%29%7EdeploymentType%7E%28equals%7E%28%7E%27REGISTRY_CONNECTOR%29%29%7Eseverity%7E%28equals%7E%28%7E%27CRITICAL%7E%27HIGH%29%29%29%29" TargetMode="External"/><Relationship Id="rId29" Type="http://schemas.openxmlformats.org/officeDocument/2006/relationships/hyperlink" Target="https://app.wiz.io/explorer/graph#%7E%28query%7E%28select%7Etrue%7Etype%7E%28%7E%27SECURITY_TOOL_SCAN%29%7Ewhere%7E%28scannedResourceType%7E%28EQUALS%7E%28%7E%27SecurityToolScanScannedResourceTypeContainerImage%29%29%7Ename%7E%28CONTAINS%7E%28%7E%27workload%29%29%29%29%29" TargetMode="External"/><Relationship Id="rId1" Type="http://schemas.openxmlformats.org/officeDocument/2006/relationships/slideLayout" Target="../slideLayouts/slideLayout3.xml"/><Relationship Id="rId6" Type="http://schemas.openxmlformats.org/officeDocument/2006/relationships/hyperlink" Target="https://app.wiz.io/settings/system-health#%7E%28filters%7E%28status%7E%28equals%7E%28%7E%27RESOLVED%29%29%7Eseverity%7E%28equals%7E%28%7E%27CRITICAL%29%29%29%7EgroupBy%7E%27none%29" TargetMode="External"/><Relationship Id="rId11"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7Estatus%7E%28EQUALS%7E%28%7E%27ScanStatusSkipped%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4" Type="http://schemas.openxmlformats.org/officeDocument/2006/relationships/hyperlink" Target="https://app.wiz.io/settings/system-health#%7E%28filters%7E%28status%7E%28equals%7E%28%7E%27OPEN%29%29%7EdeploymentType%7E%28equals%7E%28%7E%27BROKER%29%29%7Eseverity%7E%28equals%7E%28%7E%27CRITICAL%7E%27HIGH%29%29%29%29" TargetMode="External"/><Relationship Id="rId32" Type="http://schemas.openxmlformats.org/officeDocument/2006/relationships/hyperlink" Target="https://app.wiz.io/explorer/graph#%7E%28query%7E%28select%7Etrue%7Etype%7E%28%7E%27SECURITY_TOOL_SCAN%29%7Ewhere%7E%28scannedResourceType%7E%28EQUALS%7E%28%7E%27SecurityToolScanScannedResourceTypeVirtualMachineImage%29%29%7Ename%7E%28CONTAINS%7E%28%7E%27workload%29%29%29%29%29" TargetMode="External"/><Relationship Id="rId5" Type="http://schemas.openxmlformats.org/officeDocument/2006/relationships/hyperlink" Target="https://app.wiz.io/settings/system-health#%7E%28filters%7E%28status%7E%28equals%7E%28%7E%27OPEN%29%29%7Eseverity%7E%28equals%7E%28%7E%27HIGH%29%29%29%7EgroupBy%7E%27none%29" TargetMode="External"/><Relationship Id="rId15" Type="http://schemas.openxmlformats.org/officeDocument/2006/relationships/hyperlink" Target="https://app.wiz.io/explorer/graph#%7E%28query%7E%28type%7E%28%7E%27DATABASE%7E%27DB_SERVER%29%7Eselect%7Etrue%7Erelationships%7E%28%7E%28type%7E%28%7E%28type%7E%27SCANNED%7Ereverse%7Etrue%29%29%7Ewith%7E%28type%7E%28%7E%27SECURITY_TOOL_SCAN%29%7Ewhere%7E%28name%7E%28CONTAINS%7E%28%7E%27data*20scan%29%29%29%7Eselect%7Etrue%29%29%7E%28type%7E%28%7E%28type%7E%27HAS_TECH%29%29%7Ewith%7E%28type%7E%28%7E%27TECHNOLOGY%29%7Eselect%7Etrue%7Ewhere%7E%28_externalID%7E%28EQUALS%7E%28%7E%273032%7E%279899%7E%276961%29%29%29%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DB_SERVER%7E%28%7E%27cloudPlatform%7E%27requiresSSL%7E%27hasBackups%7E%27backupRetentionDays%29%7ESECURITY_TOOL_SCAN%7E%28%7E%27status%7E%27analysisDate%7E%27lastSuccess%7E%27workloadAnalysisInfo_hasHighSeverityVulns%29%7ETECHNOLOGY%7E%28%7E%27deploymentModel%7E%27categories%7E%27storesData%7E%27stackLayer%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3" Type="http://schemas.openxmlformats.org/officeDocument/2006/relationships/hyperlink" Target="https://app.wiz.io/settings/system-health#%7E%28filters%7E%28status%7E%28equals%7E%28%7E%27OPEN%29%29%7EdeploymentType%7E%28equals%7E%28%7E%27VERSION_CONTROL_CONNECTOR%29%29%7Eseverity%7E%28equals%7E%28%7E%27CRITICAL%7E%27HIGH%29%29%29%29" TargetMode="External"/><Relationship Id="rId28" Type="http://schemas.openxmlformats.org/officeDocument/2006/relationships/hyperlink" Target="https://app.wiz.io/explorer/graph#%7E%28query%7E%28select%7Etrue%7Etype%7E%28%7E%27SECURITY_TOOL_SCAN%29%7Ewhere%7E%28scannedResourceType%7E%28EQUALS%7E%28%7E%27SecurityToolScanScannedResourceTypeNonOSDisk%29%29%7Ename%7E%28CONTAINS%7E%28%7E%27workload%29%29%7Estatus%7E%28EQUALS%7E%28%7E%27ScanStatusSkipped%29%29%29%29%29" TargetMode="External"/><Relationship Id="rId36" Type="http://schemas.openxmlformats.org/officeDocument/2006/relationships/hyperlink" Target="https://app.wiz.io/explorer/graph#%7E%28view%7E%27table%7Ecolumns%7E%28%7E%28%7E%270%7E16%29%7E%28%7E%271%7E16%29%7E%28%7E%272%7E16%29%7E%28%7E%273%7E16%29%7E%28%7E%273cloudPlatform%7E9%29%7E%28%7E%273status%7E9%29%7E%28%7E%273externalId%7E9%29%7E%28%7E%273name%7E9%29%29%7Eentity%7E%28%7E%29%7EgraphEntityCols%7E%28SECURITY_TOOL_SCAN%7E%28%7E%27status%7E%27analysisDate%7E%27lastSuccess%7E%27workloadAnalysisInfo_hasHighSeverityVulns%7E%27statusDetails%29%29%7Equery%7E%28type%7E%28%7E%27SECURITY_TOOL_SCAN%29%7Eselect%7Etrue%7Ewhere%7E%28dataSource_name%7E%28EQUALS%7E%28%7E%27Wiz*20Workload*20Scanner%29%29%7Estatus%7E%28EQUALS%7E%28%7E%27ScanStatusSkipped%29%29%29%29%29" TargetMode="External"/><Relationship Id="rId10" Type="http://schemas.openxmlformats.org/officeDocument/2006/relationships/hyperlink" Target="https://app.wiz.io/explorer/graph#%7E%28query%7E%28type%7E%28%7E%27DATABASE%7E%27AI_DATASET%7E%27DB_SERVER%7E%27VIRTUAL_DRIVE%7E%27FILE_SYSTEM_SERVICE%7E%27VOLUME%7E%27SERVERLESS%7E%27BUCKET%29%7Eselect%7Etrue%7Erelationships%7E%28%7E%28type%7E%28%7E%28type%7E%27SCANNED%7Ereverse%7Etrue%29%29%7Ewith%7E%28type%7E%28%7E%27SECURITY_TOOL_SCAN%29%7Ewhere%7E%28name%7E%28CONTAINS%7E%28%7E%27data*20scan%29%29%7Estatus%7E%28EQUALS%7E%28%7E%27ScanStatusError%29%29%29%7Eselect%7Etrue%29%29%29%29%7Eview%7E%27table%7Ecolumns%7E%28%7E%28%7E%270%7E16%29%7E%28%7E%271%7E16%29%7E%28%7E%272%7E16%29%7E%28%7E%273%7E16%29%7E%28%7E%273cloudPlatform%7E9%29%7E%28%7E%273status%7E9%29%7E%28%7E%273externalId%7E9%29%7E%28%7E%273name%7E9%29%29%7Eentity%7E%28%7E%29%7EgraphEntityCols%7E%28DATABASE%7E%28%7E%27cloudPlatform%7E%27status%7E%27externalId%7E%27nativeType%29%7EAI_DATASET%7E%28%7E%27cloudPlatform%7E%27status%7E%27externalId%7E%27nativeType%29%7EDB_SERVER%7E%28%7E%27cloudPlatform%7E%27requiresSSL%7E%27hasBackups%7E%27backupRetentionDays%29%7EVIRTUAL_DRIVE%7E%28%7E%29%7EFILE_SYSTEM_SERVICE%7E%28%7E%27cloudPlatform%7E%27atRestEncryption%7E%27inTransitEncryption%7E%27accessibleFrom.internet%29%7EVOLUME%7E%28%7E%27cloudPlatform%7E%27encrypted%7E%27status%7E%27sizeBytes%29%7ESERVERLESS%7E%28%7E%27cloudPlatform%7E%27runtime%7E%27accessibleFrom.internet%7E%27requiresAuth%29%7EBUCKET%7E%28%7E%27cloudPlatform%7E%27status%7E%27externalId%7E%27nativeTyp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19" Type="http://schemas.openxmlformats.org/officeDocument/2006/relationships/hyperlink" Target="https://app.wiz.io/settings/system-health#%7E%28filters%7E%28status%7E%28equals%7E%28%7E%27OPEN%29%29%7EdeploymentType%7E%28equals%7E%28%7E%27OUTPOST_CLUSTER%7E%27OUTPOST%29%29%7Eseverity%7E%28equals%7E%28%7E%27CRITICAL%7E%27HIGH%29%29%29%29" TargetMode="External"/><Relationship Id="rId31" Type="http://schemas.openxmlformats.org/officeDocument/2006/relationships/hyperlink" Target="https://app.wiz.io/explorer/graph#%7E%28query%7E%28select%7Etrue%7Etype%7E%28%7E%27SECURITY_TOOL_SCAN%29%7Ewhere%7E%28scannedResourceType%7E%28EQUALS%7E%28%7E%27SecurityToolScanScannedResourceTypeContainerImage%29%29%7Ename%7E%28CONTAINS%7E%28%7E%27workload%29%29%7Estatus%7E%28EQUALS%7E%28%7E%27ScanStatusSkipped%29%29%29%29%29" TargetMode="External"/><Relationship Id="rId4" Type="http://schemas.openxmlformats.org/officeDocument/2006/relationships/hyperlink" Target="https://app.wiz.io/settings/system-health#%7E%28filters%7E%28status%7E%28equals%7E%28%7E%27OPEN%29%29%7Eseverity%7E%28equals%7E%28%7E%27CRITICAL%29%29%29%7EgroupBy%7E%27none%29" TargetMode="External"/><Relationship Id="rId9" Type="http://schemas.openxmlformats.org/officeDocument/2006/relationships/hyperlink" Target="https://app.wiz.io/explorer/graph#%7E%28view%7E%27table%7Ecolumns%7E%28%7E%28%7E%270%7E16%29%7E%28%7E%271%7E16%29%7E%28%7E%272%7E16%29%7E%28%7E%273%7E16%29%7E%28%7E%273cloudPlatform%7E9%29%7E%28%7E%273status%7E9%29%7E%28%7E%273externalId%7E9%29%7E%28%7E%273name%7E9%29%29%7Eentity%7E%28%7E%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7Equery%7E%28type%7E%28%7E%27SECURITY_TOOL_SCAN%29%7Eselect%7Etrue%7Ewhere%7E%28dataSource_name%7E%28EQUALS%7E%28%7E%27Wiz*20Data*20Scanner%29%29%29%29%29" TargetMode="External"/><Relationship Id="rId14" Type="http://schemas.openxmlformats.org/officeDocument/2006/relationships/hyperlink" Target="https://app.wiz.io/explorer/graph#%7E%28query%7E%28type%7E%28%7E%27VIRTUAL_DRIVE%29%7Eselect%7Etrue%7Erelationships%7E%28%7E%28type%7E%28%7E%28type%7E%27SCANNED%7Ereverse%7Etrue%29%29%7Ewith%7E%28type%7E%28%7E%27SECURITY_TOOL_SCAN%29%7Ewhere%7E%28name%7E%28CONTAINS%7E%28%7E%27data*20scan%29%29%29%7Eselect%7Etrue%29%29%29%29%7Eview%7E%27table%7Ecolumns%7E%28%7E%28%7E%270%7E16%29%7E%28%7E%271%7E16%29%7E%28%7E%272%7E16%29%7E%28%7E%273%7E16%29%7E%28%7E%273cloudPlatform%7E9%29%7E%28%7E%273status%7E9%29%7E%28%7E%273externalId%7E9%29%7E%28%7E%273name%7E9%29%29%7Eentity%7E%28%7E%29%7EgraphEntityCols%7E%28VIRTUAL_DRIVE%7E%28%7E%29%7ESECURITY_TOOL_SCAN%7E%28%7E%27status%7E%27analysisDate%7E%27lastSuccess%7E%27workloadAnalysisInfo_hasHighSeverityVulns%29%29%7Ecols%7E%28%7E%28%7E%27c-r0%7E609%29%7E%28%7E%27c-r0-cloud-platform%7E195%29%7E%28%7E%27c-r0-status%7E81%29%7E%28%7E%27c-r0-external-id%7E300%29%7E%28%7E%27c-r0-native-type%7E275%29%7E%28%7E%27c-r1%7E609%29%7E%28%7E%27c-r1-status%7E92%29%7E%28%7E%27c-r1-analysis-date%7E100%29%7E%28%7E%27c-r1-last-success%7E141%29%7E%28%7E%27c-r1-workload-analysis-info-has-high-severity-vulns%7E228%29%29%29" TargetMode="External"/><Relationship Id="rId22" Type="http://schemas.openxmlformats.org/officeDocument/2006/relationships/hyperlink" Target="https://app.wiz.io/settings/system-health#%7E%28filters%7E%28status%7E%28equals%7E%28%7E%27OPEN%29%29%7EdeploymentType%7E%28equals%7E%28%7E%27KUBERNETES_CONNECTOR%29%29%7Eseverity%7E%28equals%7E%28%7E%27CRITICAL%7E%27HIGH%29%29%29%29" TargetMode="External"/><Relationship Id="rId27" Type="http://schemas.openxmlformats.org/officeDocument/2006/relationships/hyperlink" Target="https://app.wiz.io/explorer/graph#%7E%28query%7E%28select%7Etrue%7Etype%7E%28%7E%27SECURITY_TOOL_SCAN%29%7Ewhere%7E%28scannedResourceType%7E%28EQUALS%7E%28%7E%27SecurityToolScanScannedResourceTypeNonOSDisk%29%29%7Ename%7E%28CONTAINS%7E%28%7E%27workload%29%29%7Estatus%7E%28EQUALS%7E%28%7E%27ScanStatusError%29%29%29%29%29" TargetMode="External"/><Relationship Id="rId30" Type="http://schemas.openxmlformats.org/officeDocument/2006/relationships/hyperlink" Target="https://app.wiz.io/explorer/graph#%7E%28query%7E%28select%7Etrue%7Etype%7E%28%7E%27SECURITY_TOOL_SCAN%29%7Ewhere%7E%28scannedResourceType%7E%28EQUALS%7E%28%7E%27SecurityToolScanScannedResourceTypeContainerImage%29%29%7Ename%7E%28CONTAINS%7E%28%7E%27workload%29%29%7Estatus%7E%28EQUALS%7E%28%7E%27ScanStatusError%29%29%29%29%29" TargetMode="External"/><Relationship Id="rId35" Type="http://schemas.openxmlformats.org/officeDocument/2006/relationships/hyperlink" Target="https://app.wiz.io/explorer/graph#%7E%28view%7E%27table%7Ecolumns%7E%28%7E%28%7E%270%7E16%29%7E%28%7E%271%7E16%29%7E%28%7E%272%7E16%29%7E%28%7E%273%7E16%29%7E%28%7E%273cloudPlatform%7E9%29%7E%28%7E%273status%7E9%29%7E%28%7E%273externalId%7E9%29%7E%28%7E%273name%7E9%29%29%7Eentity%7E%28%7E%29%7EgraphEntityCols%7E%28SECURITY_TOOL_SCAN%7E%28%7E%27status%7E%27analysisDate%7E%27lastSuccess%7E%27workloadAnalysisInfo_hasHighSeverityVulns%7E%27statusDetails%29%29%7Equery%7E%28type%7E%28%7E%27SECURITY_TOOL_SCAN%29%7Eselect%7Etrue%7Ewhere%7E%28dataSource_name%7E%28EQUALS%7E%28%7E%27Wiz*20Workload*20Scanner%29%29%7Estatus%7E%28EQUALS%7E%28%7E%27ScanStatusError%29%29%29%29%29" TargetMode="External"/><Relationship Id="rId8" Type="http://schemas.openxmlformats.org/officeDocument/2006/relationships/image" Target="../media/image53.png"/></Relationships>
</file>

<file path=ppt/slides/_rels/slide7.xml.rels><?xml version="1.0" encoding="UTF-8" standalone="yes"?>
<Relationships xmlns="http://schemas.openxmlformats.org/package/2006/relationships"><Relationship Id="rId8" Type="http://schemas.openxmlformats.org/officeDocument/2006/relationships/hyperlink" Target="https://app.wiz.io/settings/projects#%7E%28filters%7E%28businessImpact%7E%28equals%7E%28%7E%27MBI%29%29%29%29" TargetMode="External"/><Relationship Id="rId13" Type="http://schemas.openxmlformats.org/officeDocument/2006/relationships/hyperlink" Target="https://app.wiz.io/policies/inventory-management-rules#%7E%28filters%7E%28createdBy%7E%28equals%7E%28%7E%27USER%29%29%29%29" TargetMode="External"/><Relationship Id="rId18" Type="http://schemas.openxmlformats.org/officeDocument/2006/relationships/image" Target="../media/image54.png"/><Relationship Id="rId3" Type="http://schemas.openxmlformats.org/officeDocument/2006/relationships/hyperlink" Target="https://app.wiz.io/settings/users#%7E%28filters%7E%28status%7E%28notEquals%7E%28%7E%27DELETED%29%29%29%29" TargetMode="External"/><Relationship Id="rId21" Type="http://schemas.openxmlformats.org/officeDocument/2006/relationships/hyperlink" Target="https://app.wiz.io/policies/workflows" TargetMode="External"/><Relationship Id="rId7" Type="http://schemas.openxmlformats.org/officeDocument/2006/relationships/hyperlink" Target="https://app.wiz.io/settings/projects#%7E%28filters%7E%28businessImpact%7E%28equals%7E%28%7E%27HBI%29%29%29%29" TargetMode="External"/><Relationship Id="rId12" Type="http://schemas.openxmlformats.org/officeDocument/2006/relationships/hyperlink" Target="https://app.wiz.io/settings/services" TargetMode="External"/><Relationship Id="rId17" Type="http://schemas.openxmlformats.org/officeDocument/2006/relationships/hyperlink" Target="https://app.wiz.io/settings/audit-log#%7E%28filters%7E%28action%7E%28equals%7E%28%7E%27AiAssistantSendMessage%29%29%7EclientType%7E%28notEquals%7E%28%7E%27UNKNOWN%29%29%7EuserType%7E%28equals%7E%28%7E%27USER_ACCOUNT%29%29%29%7EgroupBy%7E%28%7E%27CLIENT_TYPE%29%29" TargetMode="External"/><Relationship Id="rId2" Type="http://schemas.openxmlformats.org/officeDocument/2006/relationships/notesSlide" Target="../notesSlides/notesSlide7.xml"/><Relationship Id="rId16" Type="http://schemas.openxmlformats.org/officeDocument/2006/relationships/hyperlink" Target="https://app.wiz.io/boards/champion-center" TargetMode="External"/><Relationship Id="rId20" Type="http://schemas.openxmlformats.org/officeDocument/2006/relationships/image" Target="../media/image56.png"/><Relationship Id="rId1" Type="http://schemas.openxmlformats.org/officeDocument/2006/relationships/slideLayout" Target="../slideLayouts/slideLayout3.xml"/><Relationship Id="rId6" Type="http://schemas.openxmlformats.org/officeDocument/2006/relationships/hyperlink" Target="https://app.wiz.io/inventory/unscanned-resources/unclassified" TargetMode="External"/><Relationship Id="rId11" Type="http://schemas.openxmlformats.org/officeDocument/2006/relationships/hyperlink" Target="https://app.wiz.io/policies/resource-tag-rules#%7E%28filters%7E%28type%7E%28equals%7E%28%7E%27TAG%29%29%7Estatus%7E%28equals%7E%27enabled%29%29%29" TargetMode="External"/><Relationship Id="rId5" Type="http://schemas.openxmlformats.org/officeDocument/2006/relationships/hyperlink" Target="https://app.wiz.io/settings/deployments#%7E%28type%7E%27INTEGRATION%29" TargetMode="External"/><Relationship Id="rId15" Type="http://schemas.openxmlformats.org/officeDocument/2006/relationships/hyperlink" Target="https://app.wiz.io/reports/monitored-metrics#%7E%28filters%7E%28builtin%7E%28equals%7E%28%7E%27false%29%29%29%29" TargetMode="External"/><Relationship Id="rId23" Type="http://schemas.openxmlformats.org/officeDocument/2006/relationships/hyperlink" Target="https://app.wiz.io/settings/audit-log#%7E%28filters%7E%28clientType%7E%28equals%7E%28%7E%27MCP%29%29%29%7EgroupBy%7E%28%7E%27PERFORMER%29%29" TargetMode="External"/><Relationship Id="rId10" Type="http://schemas.openxmlformats.org/officeDocument/2006/relationships/hyperlink" Target="https://app.wiz.io/reports/compliance/security-frameworks#%7E%28filters%7E%28createdBy%7E%28equals%7E%27USER%29%29%29" TargetMode="External"/><Relationship Id="rId19" Type="http://schemas.openxmlformats.org/officeDocument/2006/relationships/image" Target="../media/image55.png"/><Relationship Id="rId4" Type="http://schemas.openxmlformats.org/officeDocument/2006/relationships/hyperlink" Target="https://app.wiz.io/settings/users#%7E%28filters%7E%28status%7E%28notEquals%7E%28%7E%27DELETED%29%29%7ElastLoginAt%7E%28inTheLast%7E%28amount%7E30%7Eunit%7E%27days%29%29%29%29" TargetMode="External"/><Relationship Id="rId9" Type="http://schemas.openxmlformats.org/officeDocument/2006/relationships/hyperlink" Target="https://app.wiz.io/settings/projects#%7E%28filters%7E%28businessImpact%7E%28equals%7E%28%7E%27LBI%29%29%29%29" TargetMode="External"/><Relationship Id="rId14" Type="http://schemas.openxmlformats.org/officeDocument/2006/relationships/hyperlink" Target="https://app.wiz.io/policies/posture#%7E%28filters%7E%28creator%7E%28equals%7E%28%7E%27USER%29%29%29%29" TargetMode="External"/><Relationship Id="rId22" Type="http://schemas.openxmlformats.org/officeDocument/2006/relationships/hyperlink" Target="https://app.wiz.io/policies/automation-rules" TargetMode="External"/></Relationships>
</file>

<file path=ppt/slides/_rels/slide8.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45.png"/><Relationship Id="rId7" Type="http://schemas.openxmlformats.org/officeDocument/2006/relationships/image" Target="../media/image60.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59.png"/><Relationship Id="rId5" Type="http://schemas.openxmlformats.org/officeDocument/2006/relationships/image" Target="../media/image58.png"/><Relationship Id="rId10" Type="http://schemas.openxmlformats.org/officeDocument/2006/relationships/image" Target="../media/image63.png"/><Relationship Id="rId4" Type="http://schemas.openxmlformats.org/officeDocument/2006/relationships/image" Target="../media/image57.png"/><Relationship Id="rId9"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hyperlink" Target="https://app.wiz.io/settings/preview-and-migration-hub"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hyperlink" Target="https://app.wiz.io/settings/preview-and-migration-hub"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hyperlink" Target="https://app.wiz.io/roadmap?tab=TRACKED"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3.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9.png"/><Relationship Id="rId7" Type="http://schemas.openxmlformats.org/officeDocument/2006/relationships/image" Target="../media/image64.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2.png"/><Relationship Id="rId4" Type="http://schemas.openxmlformats.org/officeDocument/2006/relationships/image" Target="../media/image33.png"/></Relationships>
</file>

<file path=ppt/slides/_rels/slide14.xml.rels><?xml version="1.0" encoding="UTF-8" standalone="yes"?>
<Relationships xmlns="http://schemas.openxmlformats.org/package/2006/relationships"><Relationship Id="rId8" Type="http://schemas.openxmlformats.org/officeDocument/2006/relationships/hyperlink" Target="https://app.wiz.io/issues#%7E%28filters%7E%28status%7E%28equals%7E%28%7E%27REJECTED%29%29%29%7EgroupBy%7E%27none%29" TargetMode="External"/><Relationship Id="rId13" Type="http://schemas.openxmlformats.org/officeDocument/2006/relationships/image" Target="../media/image65.png"/><Relationship Id="rId3" Type="http://schemas.openxmlformats.org/officeDocument/2006/relationships/image" Target="../media/image51.png"/><Relationship Id="rId7" Type="http://schemas.openxmlformats.org/officeDocument/2006/relationships/hyperlink" Target="https://app.wiz.io/issues#%7E%28filters%7E%28status%7E%28equals%7E%28%7E%27RESOLVED%29%29%7Eseverity%7E%28equals%7E%28%7E%27HIGH%29%29%29%7EgroupBy%7E%27none%29" TargetMode="External"/><Relationship Id="rId12" Type="http://schemas.openxmlformats.org/officeDocument/2006/relationships/hyperlink" Target="https://app.wiz.io/threats#%7E%28filters%7E%28status%7E%28equals%7E%28%7E%27OPEN%7E%27IN_PROGRESS%29%29%7EcreatedAt%7E%28dateRange%7E%28past%7E%28amount%7E30%7Eunit%7E%27day%29%29%29%29%29" TargetMode="External"/><Relationship Id="rId2" Type="http://schemas.openxmlformats.org/officeDocument/2006/relationships/notesSlide" Target="../notesSlides/notesSlide14.xml"/><Relationship Id="rId1" Type="http://schemas.openxmlformats.org/officeDocument/2006/relationships/slideLayout" Target="../slideLayouts/slideLayout4.xml"/><Relationship Id="rId6" Type="http://schemas.openxmlformats.org/officeDocument/2006/relationships/hyperlink" Target="https://app.wiz.io/issues#%7E%28filters%7E%28status%7E%28equals%7E%28%7E%27OPEN%7E%27IN_PROGRESS%29%29%7Eseverity%7E%28equals%7E%28%7E%27HIGH%29%29%29%7EgroupBy%7E%27none%29" TargetMode="External"/><Relationship Id="rId11" Type="http://schemas.openxmlformats.org/officeDocument/2006/relationships/hyperlink" Target="https://app.wiz.io/boards/security-operations#%7E%28filters%7E%28timestamp%7E%28dateRange%7E%28past%7E%28unit%7E%27day%7Eamount%7E30%29%29%29%29%29" TargetMode="External"/><Relationship Id="rId5" Type="http://schemas.openxmlformats.org/officeDocument/2006/relationships/hyperlink" Target="https://app.wiz.io/issues#%7E%28filters%7E%28status%7E%28equals%7E%28%7E%27RESOLVED%29%29%7Eseverity%7E%28equals%7E%28%7E%27CRITICAL%29%29%29%7EgroupBy%7E%27none%29" TargetMode="External"/><Relationship Id="rId10" Type="http://schemas.openxmlformats.org/officeDocument/2006/relationships/image" Target="../media/image44.png"/><Relationship Id="rId4" Type="http://schemas.openxmlformats.org/officeDocument/2006/relationships/hyperlink" Target="https://app.wiz.io/issues#%7E%28filters%7E%28status%7E%28equals%7E%28%7E%27OPEN%7E%27IN_PROGRESS%29%29%7Eseverity%7E%28equals%7E%28%7E%27CRITICAL%29%29%29%7EgroupBy%7E%27none%29" TargetMode="External"/><Relationship Id="rId9" Type="http://schemas.openxmlformats.org/officeDocument/2006/relationships/hyperlink" Target="https://app.wiz.io/boards/ai-security" TargetMode="External"/><Relationship Id="rId14" Type="http://schemas.openxmlformats.org/officeDocument/2006/relationships/image" Target="../media/image66.png"/></Relationships>
</file>

<file path=ppt/slides/_rels/slide15.xml.rels><?xml version="1.0" encoding="UTF-8" standalone="yes"?>
<Relationships xmlns="http://schemas.openxmlformats.org/package/2006/relationships"><Relationship Id="rId8" Type="http://schemas.openxmlformats.org/officeDocument/2006/relationships/hyperlink" Target="https://app.wiz.io/inventory/kubernetes-clusters" TargetMode="External"/><Relationship Id="rId3" Type="http://schemas.openxmlformats.org/officeDocument/2006/relationships/image" Target="../media/image44.png"/><Relationship Id="rId7" Type="http://schemas.openxmlformats.org/officeDocument/2006/relationships/hyperlink" Target="https://app.wiz.io/issues?filters=%7B%22status%22%3A%7B%22equals%22%3A%5B%22OPEN%22%2C%22IN_PROGRESS%22%5D%7D%2C%22severity%22%3A%7B%22equals%22%3A%5B%22CRITICAL%22%5D%7D%7D&amp;groupOrderBy=%5B%22SEVERITY%22%2C%22DESC%22%5D" TargetMode="External"/><Relationship Id="rId2" Type="http://schemas.openxmlformats.org/officeDocument/2006/relationships/notesSlide" Target="../notesSlides/notesSlide15.xml"/><Relationship Id="rId1" Type="http://schemas.openxmlformats.org/officeDocument/2006/relationships/slideLayout" Target="../slideLayouts/slideLayout4.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 Id="rId9" Type="http://schemas.openxmlformats.org/officeDocument/2006/relationships/hyperlink" Target="https://app.wiz.io/issues?filters=%7B%22status%22%3A%7B%22equals%22%3A%5B%22OPEN%22%2C%22IN_PROGRESS%22%5D%7D%2C%22severity%22%3A%7B%22equals%22%3A%5B%22HIGH%22%5D%7D%7D&amp;groupOrderBy=%5B%22SEVERITY%22%2C%22DESC%22%5D"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3.png"/></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8"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uditLogCollector_deploymentStatus%7E%28EQUALS%7E%28%7E%27Installed%29%29%29%29" TargetMode="External"/><Relationship Id="rId13"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sensor_deploymentStatus%7E%28EQUALS%7E%28%7E%27NotInstalled%29%29%29%29" TargetMode="External"/><Relationship Id="rId3" Type="http://schemas.openxmlformats.org/officeDocument/2006/relationships/hyperlink" Target="https://app.wiz.io/inventory/kubernetes-clusters" TargetMode="External"/><Relationship Id="rId7" Type="http://schemas.openxmlformats.org/officeDocument/2006/relationships/hyperlink" Target="https://app.wiz.io/inventory/container-registries" TargetMode="External"/><Relationship Id="rId12"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uditLogCollector_deploymentStatus%7E%28EQUALS%7E%28%7E%27NotInstalled%29%29%29%29" TargetMode="External"/><Relationship Id="rId17" Type="http://schemas.openxmlformats.org/officeDocument/2006/relationships/hyperlink" Target="https://app.wiz.io/inventory/container-registries#%7E%28filters%7E%28scanningConfigurationType%7E%28equals%7E%28%7E%27CUSTOM%29%29%29%29" TargetMode="External"/><Relationship Id="rId2" Type="http://schemas.openxmlformats.org/officeDocument/2006/relationships/notesSlide" Target="../notesSlides/notesSlide18.xml"/><Relationship Id="rId16" Type="http://schemas.openxmlformats.org/officeDocument/2006/relationships/hyperlink" Target="https://app.wiz.io/inventory/container-registries#%7E%28filters%7E%28connectionType%7E%28equals%7E%28%7E%27AUTOMATIC%29%29%29%29" TargetMode="External"/><Relationship Id="rId1" Type="http://schemas.openxmlformats.org/officeDocument/2006/relationships/slideLayout" Target="../slideLayouts/slideLayout4.xml"/><Relationship Id="rId6" Type="http://schemas.openxmlformats.org/officeDocument/2006/relationships/hyperlink" Target="https://app.wiz.io/inventory/containers/images" TargetMode="External"/><Relationship Id="rId11"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connector_deploymentStatus%7E%28EQUALS%7E%28%7E%27NotInstalled%29%29%29%29" TargetMode="External"/><Relationship Id="rId5"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admissionController_deploymentStatus%7E%28EQUALS%7E%28%7E%27Installed%29%29%29%29" TargetMode="External"/><Relationship Id="rId15" Type="http://schemas.openxmlformats.org/officeDocument/2006/relationships/hyperlink" Target="https://app.wiz.io/inventory/container-registries#%7E%28filters%7E%28connectionType%7E%28equals%7E%28%7E%27STANDALONE%29%29%29%29" TargetMode="External"/><Relationship Id="rId10" Type="http://schemas.openxmlformats.org/officeDocument/2006/relationships/hyperlink" Target="https://app.wiz.io/inventory/kubernetes-clusters#%7E%28filters%7E%28property*3aaccessibleFrom.internet%7E%28EQUALS%7Etrue%29%29%29" TargetMode="External"/><Relationship Id="rId4"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connector_deploymentStatus%7E%28EQUALS%7E%28%7E%27Installed%29%29%29%29" TargetMode="External"/><Relationship Id="rId9" Type="http://schemas.openxmlformats.org/officeDocument/2006/relationships/hyperlink" Target="https://app.wiz.io/inventory/kubernetes-clusters#%7E%28cols%7E%28%7E%28%7E%27c-cluster%7E%27fill%29%7E%28%7E%27c-coverage%7E0%29%7E%28%7E%27c-related-issues%7E0%29%7E%28%7E%27c-version%7E0%29%7E%28%7E%27c-subscription%7E0%29%7E%28%7E%27c-policies%7E0%29%7E%28%7E%27c-kubernetes-cluster-node-count%7E0%29%7E%28%7E%27c-accessible-from-internet%7E0%29%7E%28%7E%27c-project%7E0%29%7E%28%7E%27c-last-seen%7E0%29%7E%28%7E%27c-p-kubernetes-kubernetes-flavor%7E%27fit%29%29%7Eentity%7E%28%7E%29%7Efilters%7E%28property*3adeploymentCoverage_sensor_deploymentStatus%7E%28EQUALS%7E%28%7E%27Installed%29%29%29%29" TargetMode="External"/><Relationship Id="rId14" Type="http://schemas.openxmlformats.org/officeDocument/2006/relationships/image" Target="../media/image67.png"/></Relationships>
</file>

<file path=ppt/slides/_rels/slide1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28.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hyperlink" Target="https://app.wiz.io/settings/scanners/cloud-configuration" TargetMode="External"/><Relationship Id="rId7" Type="http://schemas.openxmlformats.org/officeDocument/2006/relationships/hyperlink" Target="https://app.wiz.io/settings/scanners/attack-surface" TargetMode="External"/><Relationship Id="rId2" Type="http://schemas.openxmlformats.org/officeDocument/2006/relationships/notesSlide" Target="../notesSlides/notesSlide21.xml"/><Relationship Id="rId1" Type="http://schemas.openxmlformats.org/officeDocument/2006/relationships/slideLayout" Target="../slideLayouts/slideLayout16.xml"/><Relationship Id="rId6" Type="http://schemas.openxmlformats.org/officeDocument/2006/relationships/hyperlink" Target="https://app.wiz.io/boards/security-operations#%7E%28filters%7E%28timestamp%7E%28dateRange%7E%28past%7E%28unit%7E%27day%7Eamount%7E30%29%29%29%29%29" TargetMode="External"/><Relationship Id="rId5" Type="http://schemas.openxmlformats.org/officeDocument/2006/relationships/hyperlink" Target="https://app.wiz.io/settings/scanners/workload-scanner" TargetMode="External"/><Relationship Id="rId4" Type="http://schemas.openxmlformats.org/officeDocument/2006/relationships/hyperlink" Target="https://app.wiz.io/settings/scanners/file-integrity-monitoring"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2.xml"/><Relationship Id="rId1" Type="http://schemas.openxmlformats.org/officeDocument/2006/relationships/slideLayout" Target="../slideLayouts/slideLayout16.xml"/><Relationship Id="rId6" Type="http://schemas.openxmlformats.org/officeDocument/2006/relationships/hyperlink" Target="https://app.wiz.io/settings/scanners/data-security" TargetMode="External"/><Relationship Id="rId5" Type="http://schemas.openxmlformats.org/officeDocument/2006/relationships/hyperlink" Target="https://app.wiz.io/boards/security-operations#%7E%28filters%7E%28timestamp%7E%28dateRange%7E%28past%7E%28unit%7E%27day%7Eamount%7E30%29%29%29%29%29" TargetMode="External"/><Relationship Id="rId4" Type="http://schemas.openxmlformats.org/officeDocument/2006/relationships/hyperlink" Target="https://app.wiz.io/settings/scanners/vulnerability-scanning"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SPM*20*28Cloud*20Security*20Posture*20Management*29%7E%27CNAPP*20*28Cloud-Native*20Application*20Protection*20Platform*29%7E%27CIEM*20*28Cloud*20Infrastructure*20Entitlement*20Management*29%7E%27DSPM*20*28Data*20Security*20Posture*20Management*29%7E%27Data*20Access*20Management%7E%27Attack*20Surface*20Management%29%29%29%29%7Eview%7E%27table%7EgraphEntityCols%7E%28TECHNOLOGY%7E%28%7E%27deploymentModel%7E%27categories%7E%27storesData%7E%27stackLayer%7E%27ownerName%7E%27description%29%29%29" TargetMode="External"/><Relationship Id="rId2" Type="http://schemas.openxmlformats.org/officeDocument/2006/relationships/notesSlide" Target="../notesSlides/notesSlide23.xml"/><Relationship Id="rId1" Type="http://schemas.openxmlformats.org/officeDocument/2006/relationships/slideLayout" Target="../slideLayouts/slideLayout16.xml"/><Relationship Id="rId5"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select%7Etrue%7Etype%7E%28%7E%27SERVICE_ACCOUNT%29%7Ewhere%7E%28externalOwners%7E%28IS_SET%7Etrue%29%29%7Eaggregate%7Etrue%29%29%29%7Eselect%7Etrue%7Etype%7E%28%7E%27TECHNOLOGY%29%7Ewhere%7E%28deploymentModel%7E%28EQUALS%7E%28%7E%27Cloud*20service%29%29%7Ename%7E%28DOES_NOT_CONTAIN%7E%28%7E%27wiz%29%29%7Ecategories%7E%28EQUALS%7E%28%7E%27Infrastructure*20as*20Code*20Analysis%7E%27SAST*20*28Static*20Application*20Security*20Testing*29%7E%27DAST*20*28Dynamic*20Application*20Security*20Testing*29%7E%27SCA*20*28Software*20Composition*20Analysis*29%7E%27Code*20Secret*20Scanner%7E%27Integrated*20development*20environment*20*28IDE*29*20Tools%7E%27Code*20Security%29%29%29%29%7Eview%7E%27table%7EgraphEntityCols%7E%28TECHNOLOGY%7E%28%7E%27deploymentModel%7E%27categories%7E%27storesData%7E%27stackLayer%7E%27ownerName%7E%27description%29%29%29" TargetMode="External"/><Relationship Id="rId4" Type="http://schemas.openxmlformats.org/officeDocument/2006/relationships/hyperlink" Target="https://app.wiz.io/explorer/graph#%7E%28query%7E%28relationships%7E%28%7E%28type%7E%28%7E%28reverse%7Etrue%7Etype%7E%27HAS_TECH%29%29%7Ewith%7E%28relationships%7E%28%7E%28type%7E%28%7E%28reverse%7Etrue%7Etype%7E%27CONTAINS%29%29%7Ewith%7E%28type%7E%28%7E%27SUBSCRIPTION%7E%27CLOUD_ORGANIZATION%29%7Ewhere%7E%28name%7E%28DOES_NOT_START_WITH%7E%28%7E%27Discovered%29%29%29%29%29%29%7Etype%7E%28%7E%27SERVICE_ACCOUNT%29%7Ewhere%7E%28externalOwners%7E%28IS_SET%7Etrue%29%29%7Eselect%7Etrue%7Eaggregate%7Etrue%29%29%29%7Eselect%7Etrue%7Etype%7E%28%7E%27TECHNOLOGY%29%7Ewhere%7E%28deploymentModel%7E%28EQUALS%7E%28%7E%27Cloud*20service%29%29%7Ename%7E%28DOES_NOT_CONTAIN%7E%28%7E%27wiz%29%29%7Ecategories%7E%28EQUALS%7E%28%7E%27CWPP*20*28Cloud*20Workload*20Protection*20Platform*29%7E%27Container*20Runtime*20Security%7E%27Runtime*20Security%7E%27Threat*20Detection*20and*20Response%7E%27Container*20Image*20Scanners%7E%27Container*20Security%29%29%29%29%7Eview%7E%27table%7EgraphEntityCols%7E%28TECHNOLOGY%7E%28%7E%27deploymentModel%7E%27categories%7E%27storesData%7E%27stackLayer%7E%27ownerName%7E%27description%29%29%29"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47"/>
          <p:cNvSpPr txBox="1"/>
          <p:nvPr/>
        </p:nvSpPr>
        <p:spPr>
          <a:xfrm>
            <a:off x="250594" y="1969767"/>
            <a:ext cx="3854969" cy="900216"/>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 sz="2700" b="0" i="0" u="none" strike="noStrike" cap="none" dirty="0">
                <a:solidFill>
                  <a:schemeClr val="lt1"/>
                </a:solidFill>
                <a:latin typeface="Calibri"/>
                <a:ea typeface="Calibri"/>
                <a:cs typeface="Calibri"/>
                <a:sym typeface="Calibri"/>
              </a:rPr>
              <a:t>Tenant Health Assessment </a:t>
            </a:r>
            <a:br>
              <a:rPr lang="en" sz="2700" b="0" i="0" u="none" strike="noStrike" cap="none" dirty="0">
                <a:solidFill>
                  <a:schemeClr val="lt1"/>
                </a:solidFill>
                <a:latin typeface="Calibri"/>
                <a:ea typeface="Calibri"/>
                <a:cs typeface="Calibri"/>
                <a:sym typeface="Calibri"/>
              </a:rPr>
            </a:br>
            <a:r>
              <a:rPr lang="en" sz="2700" b="0" i="0" u="none" strike="noStrike" cap="none" dirty="0">
                <a:solidFill>
                  <a:schemeClr val="lt1"/>
                </a:solidFill>
                <a:latin typeface="Calibri"/>
                <a:ea typeface="Calibri"/>
                <a:cs typeface="Calibri"/>
                <a:sym typeface="Calibri"/>
              </a:rPr>
              <a:t>{{Customer}}</a:t>
            </a:r>
            <a:endParaRPr sz="2700" b="0" i="0" u="none" strike="noStrike" cap="none" dirty="0">
              <a:solidFill>
                <a:srgbClr val="000000"/>
              </a:solidFill>
              <a:latin typeface="Calibri"/>
              <a:ea typeface="Calibri"/>
              <a:cs typeface="Calibri"/>
              <a:sym typeface="Calibri"/>
            </a:endParaRPr>
          </a:p>
        </p:txBody>
      </p:sp>
      <p:sp>
        <p:nvSpPr>
          <p:cNvPr id="238" name="Google Shape;238;p47"/>
          <p:cNvSpPr txBox="1"/>
          <p:nvPr/>
        </p:nvSpPr>
        <p:spPr>
          <a:xfrm>
            <a:off x="318791" y="3217425"/>
            <a:ext cx="4026300" cy="5310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800"/>
              <a:buFont typeface="Arial"/>
              <a:buNone/>
            </a:pPr>
            <a:endParaRPr sz="1500" b="0" i="0" u="none" strike="noStrike" cap="none" dirty="0">
              <a:solidFill>
                <a:schemeClr val="lt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800"/>
              <a:buFont typeface="Arial"/>
              <a:buNone/>
            </a:pPr>
            <a:r>
              <a:rPr lang="en" sz="1500" b="0" i="0" u="none" strike="noStrike" cap="none">
                <a:solidFill>
                  <a:schemeClr val="lt1"/>
                </a:solidFill>
                <a:latin typeface="Calibri"/>
                <a:ea typeface="Calibri"/>
                <a:cs typeface="Calibri"/>
                <a:sym typeface="Calibri"/>
              </a:rPr>
              <a:t>{Date}</a:t>
            </a:r>
            <a:endParaRPr sz="1500" b="0" i="0" u="none" strike="noStrike" cap="none" dirty="0">
              <a:solidFill>
                <a:schemeClr val="lt1"/>
              </a:solidFill>
              <a:latin typeface="Calibri"/>
              <a:ea typeface="Calibri"/>
              <a:cs typeface="Calibri"/>
              <a:sym typeface="Calibri"/>
            </a:endParaRPr>
          </a:p>
        </p:txBody>
      </p:sp>
      <p:pic>
        <p:nvPicPr>
          <p:cNvPr id="239" name="Google Shape;239;p47"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240" name="Google Shape;240;p47"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241" name="Google Shape;241;p47" title="logo.png"/>
          <p:cNvPicPr preferRelativeResize="0"/>
          <p:nvPr/>
        </p:nvPicPr>
        <p:blipFill rotWithShape="1">
          <a:blip r:embed="rId5">
            <a:alphaModFix/>
          </a:blip>
          <a:srcRect/>
          <a:stretch/>
        </p:blipFill>
        <p:spPr>
          <a:xfrm>
            <a:off x="548202" y="1143475"/>
            <a:ext cx="637001" cy="3041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p48"/>
          <p:cNvSpPr txBox="1"/>
          <p:nvPr/>
        </p:nvSpPr>
        <p:spPr>
          <a:xfrm>
            <a:off x="6799450" y="3366600"/>
            <a:ext cx="2010300" cy="177538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p:txBody>
      </p:sp>
      <p:sp>
        <p:nvSpPr>
          <p:cNvPr id="248" name="Google Shape;248;p48"/>
          <p:cNvSpPr txBox="1"/>
          <p:nvPr/>
        </p:nvSpPr>
        <p:spPr>
          <a:xfrm>
            <a:off x="799800" y="4353432"/>
            <a:ext cx="2010300" cy="789941"/>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p:txBody>
      </p:sp>
      <p:sp>
        <p:nvSpPr>
          <p:cNvPr id="249" name="Google Shape;249;p48"/>
          <p:cNvSpPr txBox="1"/>
          <p:nvPr/>
        </p:nvSpPr>
        <p:spPr>
          <a:xfrm>
            <a:off x="4803550" y="3675175"/>
            <a:ext cx="2005200" cy="14682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p:txBody>
      </p:sp>
      <p:sp>
        <p:nvSpPr>
          <p:cNvPr id="250" name="Google Shape;250;p48"/>
          <p:cNvSpPr txBox="1"/>
          <p:nvPr/>
        </p:nvSpPr>
        <p:spPr>
          <a:xfrm>
            <a:off x="2815700" y="4060176"/>
            <a:ext cx="1987500" cy="1083324"/>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p:txBody>
      </p:sp>
      <p:cxnSp>
        <p:nvCxnSpPr>
          <p:cNvPr id="251" name="Google Shape;251;p48"/>
          <p:cNvCxnSpPr/>
          <p:nvPr/>
        </p:nvCxnSpPr>
        <p:spPr>
          <a:xfrm rot="10800000">
            <a:off x="2813100" y="2136400"/>
            <a:ext cx="7761" cy="3005580"/>
          </a:xfrm>
          <a:prstGeom prst="straightConnector1">
            <a:avLst/>
          </a:prstGeom>
          <a:noFill/>
          <a:ln w="9525" cap="flat" cmpd="sng">
            <a:solidFill>
              <a:srgbClr val="0254EC"/>
            </a:solidFill>
            <a:prstDash val="solid"/>
            <a:round/>
            <a:headEnd type="none" w="sm" len="sm"/>
            <a:tailEnd type="none" w="sm" len="sm"/>
          </a:ln>
        </p:spPr>
      </p:cxnSp>
      <p:cxnSp>
        <p:nvCxnSpPr>
          <p:cNvPr id="252" name="Google Shape;252;p48"/>
          <p:cNvCxnSpPr/>
          <p:nvPr/>
        </p:nvCxnSpPr>
        <p:spPr>
          <a:xfrm rot="10800000">
            <a:off x="4804975" y="1525650"/>
            <a:ext cx="0" cy="3616330"/>
          </a:xfrm>
          <a:prstGeom prst="straightConnector1">
            <a:avLst/>
          </a:prstGeom>
          <a:noFill/>
          <a:ln w="9525" cap="flat" cmpd="sng">
            <a:solidFill>
              <a:srgbClr val="0254EC"/>
            </a:solidFill>
            <a:prstDash val="solid"/>
            <a:round/>
            <a:headEnd type="none" w="sm" len="sm"/>
            <a:tailEnd type="none" w="sm" len="sm"/>
          </a:ln>
        </p:spPr>
      </p:cxnSp>
      <p:cxnSp>
        <p:nvCxnSpPr>
          <p:cNvPr id="253" name="Google Shape;253;p48"/>
          <p:cNvCxnSpPr/>
          <p:nvPr/>
        </p:nvCxnSpPr>
        <p:spPr>
          <a:xfrm rot="10800000">
            <a:off x="6804675" y="910700"/>
            <a:ext cx="7760" cy="4245462"/>
          </a:xfrm>
          <a:prstGeom prst="straightConnector1">
            <a:avLst/>
          </a:prstGeom>
          <a:noFill/>
          <a:ln w="9525" cap="flat" cmpd="sng">
            <a:solidFill>
              <a:srgbClr val="0254EC"/>
            </a:solidFill>
            <a:prstDash val="solid"/>
            <a:round/>
            <a:headEnd type="none" w="sm" len="sm"/>
            <a:tailEnd type="none" w="sm" len="sm"/>
          </a:ln>
        </p:spPr>
      </p:cxnSp>
      <p:cxnSp>
        <p:nvCxnSpPr>
          <p:cNvPr id="254" name="Google Shape;254;p48"/>
          <p:cNvCxnSpPr/>
          <p:nvPr/>
        </p:nvCxnSpPr>
        <p:spPr>
          <a:xfrm rot="10800000" flipH="1">
            <a:off x="983850" y="193650"/>
            <a:ext cx="8194200" cy="2507100"/>
          </a:xfrm>
          <a:prstGeom prst="straightConnector1">
            <a:avLst/>
          </a:prstGeom>
          <a:noFill/>
          <a:ln w="9525" cap="flat" cmpd="sng">
            <a:solidFill>
              <a:srgbClr val="0254EC"/>
            </a:solidFill>
            <a:prstDash val="lgDash"/>
            <a:round/>
            <a:headEnd type="none" w="sm" len="sm"/>
            <a:tailEnd type="none" w="sm" len="sm"/>
          </a:ln>
        </p:spPr>
      </p:cxnSp>
      <p:cxnSp>
        <p:nvCxnSpPr>
          <p:cNvPr id="255" name="Google Shape;255;p48"/>
          <p:cNvCxnSpPr/>
          <p:nvPr/>
        </p:nvCxnSpPr>
        <p:spPr>
          <a:xfrm rot="10800000">
            <a:off x="807946" y="2752144"/>
            <a:ext cx="0" cy="2399400"/>
          </a:xfrm>
          <a:prstGeom prst="straightConnector1">
            <a:avLst/>
          </a:prstGeom>
          <a:noFill/>
          <a:ln w="9525" cap="flat" cmpd="sng">
            <a:solidFill>
              <a:srgbClr val="0254EC"/>
            </a:solidFill>
            <a:prstDash val="solid"/>
            <a:round/>
            <a:headEnd type="none" w="sm" len="sm"/>
            <a:tailEnd type="none" w="sm" len="sm"/>
          </a:ln>
        </p:spPr>
      </p:cxnSp>
      <p:pic>
        <p:nvPicPr>
          <p:cNvPr id="256" name="Google Shape;256;p48" title="Hardening_infinity.png"/>
          <p:cNvPicPr preferRelativeResize="0"/>
          <p:nvPr/>
        </p:nvPicPr>
        <p:blipFill rotWithShape="1">
          <a:blip r:embed="rId3">
            <a:alphaModFix/>
          </a:blip>
          <a:srcRect/>
          <a:stretch/>
        </p:blipFill>
        <p:spPr>
          <a:xfrm rot="-964393">
            <a:off x="4764150" y="359985"/>
            <a:ext cx="2802000" cy="1505395"/>
          </a:xfrm>
          <a:prstGeom prst="rect">
            <a:avLst/>
          </a:prstGeom>
          <a:noFill/>
          <a:ln>
            <a:noFill/>
          </a:ln>
        </p:spPr>
      </p:pic>
      <p:sp>
        <p:nvSpPr>
          <p:cNvPr id="257" name="Google Shape;257;p48"/>
          <p:cNvSpPr txBox="1"/>
          <p:nvPr/>
        </p:nvSpPr>
        <p:spPr>
          <a:xfrm>
            <a:off x="6914847" y="1709849"/>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a:ea typeface="Calibri"/>
                <a:cs typeface="Calibri"/>
                <a:sym typeface="Calibri"/>
              </a:rPr>
              <a:t>EMBED AND AUTOMATE SECURITY</a:t>
            </a:r>
            <a:endParaRPr sz="900" b="0" i="0" u="none" strike="noStrike" cap="none">
              <a:solidFill>
                <a:schemeClr val="dk1"/>
              </a:solidFill>
              <a:latin typeface="Calibri"/>
              <a:ea typeface="Calibri"/>
              <a:cs typeface="Calibri"/>
              <a:sym typeface="Calibri"/>
            </a:endParaRPr>
          </a:p>
        </p:txBody>
      </p:sp>
      <p:sp>
        <p:nvSpPr>
          <p:cNvPr id="258" name="Google Shape;258;p48"/>
          <p:cNvSpPr txBox="1"/>
          <p:nvPr/>
        </p:nvSpPr>
        <p:spPr>
          <a:xfrm>
            <a:off x="6810800" y="2070322"/>
            <a:ext cx="1811700" cy="13203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Enforce security policies consistently across cloud, code, and runtime</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Automate remediation and security lifecycle actions with automation rules</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Continuously reduce risk without manual intervention</a:t>
            </a:r>
            <a:endParaRPr sz="800" b="0" i="0" u="none" strike="noStrike" cap="none">
              <a:solidFill>
                <a:srgbClr val="01123F"/>
              </a:solidFill>
              <a:latin typeface="Calibri"/>
              <a:ea typeface="Calibri"/>
              <a:cs typeface="Calibri"/>
              <a:sym typeface="Calibri"/>
            </a:endParaRPr>
          </a:p>
        </p:txBody>
      </p:sp>
      <p:sp>
        <p:nvSpPr>
          <p:cNvPr id="259" name="Google Shape;259;p48"/>
          <p:cNvSpPr txBox="1"/>
          <p:nvPr/>
        </p:nvSpPr>
        <p:spPr>
          <a:xfrm>
            <a:off x="5006084" y="2154770"/>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a:ea typeface="Calibri"/>
                <a:cs typeface="Calibri"/>
                <a:sym typeface="Calibri"/>
              </a:rPr>
              <a:t>SELF SERVICE SECURITY FOR DEVELOPERS</a:t>
            </a:r>
            <a:endParaRPr sz="900" b="0" i="0" u="none" strike="noStrike" cap="none">
              <a:solidFill>
                <a:schemeClr val="dk1"/>
              </a:solidFill>
              <a:latin typeface="Calibri"/>
              <a:ea typeface="Calibri"/>
              <a:cs typeface="Calibri"/>
              <a:sym typeface="Calibri"/>
            </a:endParaRPr>
          </a:p>
        </p:txBody>
      </p:sp>
      <p:sp>
        <p:nvSpPr>
          <p:cNvPr id="260" name="Google Shape;260;p48"/>
          <p:cNvSpPr txBox="1"/>
          <p:nvPr/>
        </p:nvSpPr>
        <p:spPr>
          <a:xfrm>
            <a:off x="4902050" y="2498816"/>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Enable developers to identify  and remediate risk independently</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Deliver security context       directly into engineering processes with Workflows, integrations, and WizExtend</a:t>
            </a:r>
            <a:endParaRPr sz="800" b="0" i="0" u="none" strike="noStrike" cap="none">
              <a:solidFill>
                <a:srgbClr val="01123F"/>
              </a:solidFill>
              <a:latin typeface="Calibri"/>
              <a:ea typeface="Calibri"/>
              <a:cs typeface="Calibri"/>
              <a:sym typeface="Calibri"/>
            </a:endParaRPr>
          </a:p>
        </p:txBody>
      </p:sp>
      <p:sp>
        <p:nvSpPr>
          <p:cNvPr id="261" name="Google Shape;261;p48"/>
          <p:cNvSpPr txBox="1"/>
          <p:nvPr/>
        </p:nvSpPr>
        <p:spPr>
          <a:xfrm>
            <a:off x="3007225" y="2579120"/>
            <a:ext cx="1668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a:ea typeface="Calibri"/>
                <a:cs typeface="Calibri"/>
                <a:sym typeface="Calibri"/>
              </a:rPr>
              <a:t>SHARED SECURITY CONTEXT WITH ENGINEERING</a:t>
            </a:r>
            <a:endParaRPr sz="900" b="0" i="0" u="none" strike="noStrike" cap="none">
              <a:solidFill>
                <a:schemeClr val="dk1"/>
              </a:solidFill>
              <a:latin typeface="Calibri"/>
              <a:ea typeface="Calibri"/>
              <a:cs typeface="Calibri"/>
              <a:sym typeface="Calibri"/>
            </a:endParaRPr>
          </a:p>
        </p:txBody>
      </p:sp>
      <p:sp>
        <p:nvSpPr>
          <p:cNvPr id="262" name="Google Shape;262;p48"/>
          <p:cNvSpPr txBox="1"/>
          <p:nvPr/>
        </p:nvSpPr>
        <p:spPr>
          <a:xfrm>
            <a:off x="2903200" y="2920169"/>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Map issues to an owner, application, or environment via Projects and Service Catalog</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Prioritize issues by business context and real exposure</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Align security and engineering on what matters most</a:t>
            </a:r>
            <a:endParaRPr sz="800" b="0" i="0" u="none" strike="noStrike" cap="none">
              <a:solidFill>
                <a:srgbClr val="01123F"/>
              </a:solidFill>
              <a:latin typeface="Calibri"/>
              <a:ea typeface="Calibri"/>
              <a:cs typeface="Calibri"/>
              <a:sym typeface="Calibri"/>
            </a:endParaRPr>
          </a:p>
        </p:txBody>
      </p:sp>
      <p:sp>
        <p:nvSpPr>
          <p:cNvPr id="263" name="Google Shape;263;p48"/>
          <p:cNvSpPr txBox="1"/>
          <p:nvPr/>
        </p:nvSpPr>
        <p:spPr>
          <a:xfrm>
            <a:off x="1008697" y="3181396"/>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a:ea typeface="Calibri"/>
                <a:cs typeface="Calibri"/>
                <a:sym typeface="Calibri"/>
              </a:rPr>
              <a:t>CENTRALIZE SECURITY ACROSS SECURITY TEAMS</a:t>
            </a:r>
            <a:endParaRPr sz="900" b="0" i="0" u="none" strike="noStrike" cap="none">
              <a:solidFill>
                <a:schemeClr val="dk1"/>
              </a:solidFill>
              <a:latin typeface="Calibri"/>
              <a:ea typeface="Calibri"/>
              <a:cs typeface="Calibri"/>
              <a:sym typeface="Calibri"/>
            </a:endParaRPr>
          </a:p>
        </p:txBody>
      </p:sp>
      <p:sp>
        <p:nvSpPr>
          <p:cNvPr id="264" name="Google Shape;264;p48"/>
          <p:cNvSpPr txBox="1"/>
          <p:nvPr/>
        </p:nvSpPr>
        <p:spPr>
          <a:xfrm>
            <a:off x="904675" y="3518334"/>
            <a:ext cx="18906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Security ownership is centralized across security teams</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Standardize policies and prioritization across security teams</a:t>
            </a:r>
            <a:endParaRPr sz="800" b="0" i="0" u="none" strike="noStrike" cap="none">
              <a:solidFill>
                <a:srgbClr val="01123F"/>
              </a:solidFill>
              <a:latin typeface="Calibri"/>
              <a:ea typeface="Calibri"/>
              <a:cs typeface="Calibri"/>
              <a:sym typeface="Calibri"/>
            </a:endParaRPr>
          </a:p>
        </p:txBody>
      </p:sp>
      <p:cxnSp>
        <p:nvCxnSpPr>
          <p:cNvPr id="265" name="Google Shape;265;p48"/>
          <p:cNvCxnSpPr/>
          <p:nvPr/>
        </p:nvCxnSpPr>
        <p:spPr>
          <a:xfrm rot="10800000">
            <a:off x="8809850" y="306800"/>
            <a:ext cx="0" cy="4836700"/>
          </a:xfrm>
          <a:prstGeom prst="straightConnector1">
            <a:avLst/>
          </a:prstGeom>
          <a:noFill/>
          <a:ln w="9525" cap="flat" cmpd="sng">
            <a:solidFill>
              <a:srgbClr val="0254EC"/>
            </a:solidFill>
            <a:prstDash val="solid"/>
            <a:round/>
            <a:headEnd type="none" w="sm" len="sm"/>
            <a:tailEnd type="none" w="sm" len="sm"/>
          </a:ln>
        </p:spPr>
      </p:cxnSp>
      <p:sp>
        <p:nvSpPr>
          <p:cNvPr id="266" name="Google Shape;266;p48"/>
          <p:cNvSpPr txBox="1"/>
          <p:nvPr/>
        </p:nvSpPr>
        <p:spPr>
          <a:xfrm>
            <a:off x="6929000" y="3465890"/>
            <a:ext cx="1732800" cy="800189"/>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Goal: Risk is continuously mitigated and remediated by default </a:t>
            </a:r>
            <a:endParaRPr sz="10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p:txBody>
      </p:sp>
      <p:cxnSp>
        <p:nvCxnSpPr>
          <p:cNvPr id="267" name="Google Shape;267;p48"/>
          <p:cNvCxnSpPr/>
          <p:nvPr/>
        </p:nvCxnSpPr>
        <p:spPr>
          <a:xfrm>
            <a:off x="6804671" y="3366612"/>
            <a:ext cx="2005500" cy="0"/>
          </a:xfrm>
          <a:prstGeom prst="straightConnector1">
            <a:avLst/>
          </a:prstGeom>
          <a:noFill/>
          <a:ln w="9525" cap="flat" cmpd="sng">
            <a:solidFill>
              <a:srgbClr val="0254EC"/>
            </a:solidFill>
            <a:prstDash val="solid"/>
            <a:round/>
            <a:headEnd type="none" w="sm" len="sm"/>
            <a:tailEnd type="none" w="sm" len="sm"/>
          </a:ln>
        </p:spPr>
      </p:cxnSp>
      <p:cxnSp>
        <p:nvCxnSpPr>
          <p:cNvPr id="268" name="Google Shape;268;p48"/>
          <p:cNvCxnSpPr/>
          <p:nvPr/>
        </p:nvCxnSpPr>
        <p:spPr>
          <a:xfrm>
            <a:off x="805008" y="4367296"/>
            <a:ext cx="2005500" cy="0"/>
          </a:xfrm>
          <a:prstGeom prst="straightConnector1">
            <a:avLst/>
          </a:prstGeom>
          <a:noFill/>
          <a:ln w="9525" cap="flat" cmpd="sng">
            <a:solidFill>
              <a:srgbClr val="0254EC"/>
            </a:solidFill>
            <a:prstDash val="solid"/>
            <a:round/>
            <a:headEnd type="none" w="sm" len="sm"/>
            <a:tailEnd type="none" w="sm" len="sm"/>
          </a:ln>
        </p:spPr>
      </p:cxnSp>
      <p:cxnSp>
        <p:nvCxnSpPr>
          <p:cNvPr id="269" name="Google Shape;269;p48"/>
          <p:cNvCxnSpPr/>
          <p:nvPr/>
        </p:nvCxnSpPr>
        <p:spPr>
          <a:xfrm>
            <a:off x="4808759" y="3675191"/>
            <a:ext cx="2000400" cy="0"/>
          </a:xfrm>
          <a:prstGeom prst="straightConnector1">
            <a:avLst/>
          </a:prstGeom>
          <a:noFill/>
          <a:ln w="9525" cap="flat" cmpd="sng">
            <a:solidFill>
              <a:srgbClr val="0254EC"/>
            </a:solidFill>
            <a:prstDash val="solid"/>
            <a:round/>
            <a:headEnd type="none" w="sm" len="sm"/>
            <a:tailEnd type="none" w="sm" len="sm"/>
          </a:ln>
        </p:spPr>
      </p:cxnSp>
      <p:cxnSp>
        <p:nvCxnSpPr>
          <p:cNvPr id="270" name="Google Shape;270;p48"/>
          <p:cNvCxnSpPr/>
          <p:nvPr/>
        </p:nvCxnSpPr>
        <p:spPr>
          <a:xfrm>
            <a:off x="2820861" y="4060188"/>
            <a:ext cx="1982700" cy="0"/>
          </a:xfrm>
          <a:prstGeom prst="straightConnector1">
            <a:avLst/>
          </a:prstGeom>
          <a:noFill/>
          <a:ln w="9525" cap="flat" cmpd="sng">
            <a:solidFill>
              <a:srgbClr val="0254EC"/>
            </a:solidFill>
            <a:prstDash val="solid"/>
            <a:round/>
            <a:headEnd type="none" w="sm" len="sm"/>
            <a:tailEnd type="none" w="sm" len="sm"/>
          </a:ln>
        </p:spPr>
      </p:cxnSp>
      <p:sp>
        <p:nvSpPr>
          <p:cNvPr id="271" name="Google Shape;271;p48"/>
          <p:cNvSpPr txBox="1"/>
          <p:nvPr/>
        </p:nvSpPr>
        <p:spPr>
          <a:xfrm>
            <a:off x="904675" y="4435122"/>
            <a:ext cx="1732800" cy="646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Goal: Full visibility into vulnerabilities across all environments</a:t>
            </a:r>
            <a:endParaRPr sz="1000" b="0" i="0" u="none" strike="noStrike" cap="none">
              <a:solidFill>
                <a:schemeClr val="dk1"/>
              </a:solidFill>
              <a:latin typeface="Calibri"/>
              <a:ea typeface="Calibri"/>
              <a:cs typeface="Calibri"/>
              <a:sym typeface="Calibri"/>
            </a:endParaRPr>
          </a:p>
        </p:txBody>
      </p:sp>
      <p:sp>
        <p:nvSpPr>
          <p:cNvPr id="272" name="Google Shape;272;p48"/>
          <p:cNvSpPr txBox="1"/>
          <p:nvPr/>
        </p:nvSpPr>
        <p:spPr>
          <a:xfrm>
            <a:off x="2942638" y="4164084"/>
            <a:ext cx="1732800" cy="492412"/>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Goal: Engineers have what they need to remediate </a:t>
            </a:r>
            <a:endParaRPr sz="1000" b="0" i="0" u="none" strike="noStrike" cap="none">
              <a:solidFill>
                <a:schemeClr val="dk1"/>
              </a:solidFill>
              <a:latin typeface="Calibri"/>
              <a:ea typeface="Calibri"/>
              <a:cs typeface="Calibri"/>
              <a:sym typeface="Calibri"/>
            </a:endParaRPr>
          </a:p>
        </p:txBody>
      </p:sp>
      <p:sp>
        <p:nvSpPr>
          <p:cNvPr id="273" name="Google Shape;273;p48"/>
          <p:cNvSpPr txBox="1"/>
          <p:nvPr/>
        </p:nvSpPr>
        <p:spPr>
          <a:xfrm>
            <a:off x="4934925" y="3774490"/>
            <a:ext cx="1732800" cy="492412"/>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Goal: Security is a natural part of development</a:t>
            </a:r>
            <a:endParaRPr sz="1000" b="0" i="0" u="none" strike="noStrike" cap="none">
              <a:solidFill>
                <a:schemeClr val="dk1"/>
              </a:solidFill>
              <a:latin typeface="Calibri"/>
              <a:ea typeface="Calibri"/>
              <a:cs typeface="Calibri"/>
              <a:sym typeface="Calibri"/>
            </a:endParaRPr>
          </a:p>
        </p:txBody>
      </p:sp>
      <p:sp>
        <p:nvSpPr>
          <p:cNvPr id="274" name="Google Shape;274;p48"/>
          <p:cNvSpPr/>
          <p:nvPr/>
        </p:nvSpPr>
        <p:spPr>
          <a:xfrm>
            <a:off x="3440152" y="629773"/>
            <a:ext cx="1453800" cy="252300"/>
          </a:xfrm>
          <a:prstGeom prst="roundRect">
            <a:avLst>
              <a:gd name="adj" fmla="val 50000"/>
            </a:avLst>
          </a:prstGeom>
          <a:solidFill>
            <a:srgbClr val="FFFFFF"/>
          </a:solidFill>
          <a:ln w="11350" cap="flat" cmpd="sng">
            <a:solidFill>
              <a:srgbClr val="CADAFF"/>
            </a:solidFill>
            <a:prstDash val="solid"/>
            <a:miter lim="0"/>
            <a:headEnd type="none" w="sm" len="sm"/>
            <a:tailEnd type="none" w="sm" len="sm"/>
          </a:ln>
        </p:spPr>
        <p:txBody>
          <a:bodyPr spcFirstLastPara="1" wrap="square" lIns="61300" tIns="30650" rIns="61300" bIns="30650" anchor="t" anchorCtr="0">
            <a:noAutofit/>
          </a:bodyPr>
          <a:lstStyle/>
          <a:p>
            <a:pPr marL="0" marR="0" lvl="0" indent="0" algn="ctr" rtl="0">
              <a:lnSpc>
                <a:spcPct val="100000"/>
              </a:lnSpc>
              <a:spcBef>
                <a:spcPts val="0"/>
              </a:spcBef>
              <a:spcAft>
                <a:spcPts val="0"/>
              </a:spcAft>
              <a:buClr>
                <a:srgbClr val="0153EB"/>
              </a:buClr>
              <a:buSzPts val="596"/>
              <a:buFont typeface="Calibri"/>
              <a:buNone/>
            </a:pPr>
            <a:endParaRPr sz="596" b="1" i="0" u="none" strike="noStrike" cap="none">
              <a:solidFill>
                <a:srgbClr val="000000"/>
              </a:solidFill>
              <a:latin typeface="Calibri"/>
              <a:ea typeface="Calibri"/>
              <a:cs typeface="Calibri"/>
              <a:sym typeface="Calibri"/>
            </a:endParaRPr>
          </a:p>
        </p:txBody>
      </p:sp>
      <p:sp>
        <p:nvSpPr>
          <p:cNvPr id="275" name="Google Shape;275;p48"/>
          <p:cNvSpPr txBox="1"/>
          <p:nvPr/>
        </p:nvSpPr>
        <p:spPr>
          <a:xfrm>
            <a:off x="3725258" y="635426"/>
            <a:ext cx="1289400" cy="247800"/>
          </a:xfrm>
          <a:prstGeom prst="rect">
            <a:avLst/>
          </a:prstGeom>
          <a:noFill/>
          <a:ln>
            <a:noFill/>
          </a:ln>
        </p:spPr>
        <p:txBody>
          <a:bodyPr spcFirstLastPara="1" wrap="square" lIns="0" tIns="40875" rIns="81750" bIns="40875" anchor="t" anchorCtr="0">
            <a:spAutoFit/>
          </a:bodyPr>
          <a:lstStyle/>
          <a:p>
            <a:pPr marL="0" marR="0" lvl="0" indent="0" algn="l" rtl="0">
              <a:lnSpc>
                <a:spcPct val="100000"/>
              </a:lnSpc>
              <a:spcBef>
                <a:spcPts val="0"/>
              </a:spcBef>
              <a:spcAft>
                <a:spcPts val="0"/>
              </a:spcAft>
              <a:buClr>
                <a:srgbClr val="0153EB"/>
              </a:buClr>
              <a:buSzPts val="1073"/>
              <a:buFont typeface="DM Sans Medium"/>
              <a:buNone/>
            </a:pPr>
            <a:r>
              <a:rPr lang="en" sz="1073" b="0" i="0" u="none" strike="noStrike" cap="none">
                <a:solidFill>
                  <a:srgbClr val="0153EB"/>
                </a:solidFill>
                <a:latin typeface="Calibri"/>
                <a:ea typeface="Calibri"/>
                <a:cs typeface="Calibri"/>
                <a:sym typeface="Calibri"/>
              </a:rPr>
              <a:t>Where are you?</a:t>
            </a:r>
            <a:endParaRPr sz="1311" b="0" i="0" u="none" strike="noStrike" cap="none">
              <a:solidFill>
                <a:srgbClr val="000000"/>
              </a:solidFill>
              <a:latin typeface="Calibri"/>
              <a:ea typeface="Calibri"/>
              <a:cs typeface="Calibri"/>
              <a:sym typeface="Calibri"/>
            </a:endParaRPr>
          </a:p>
        </p:txBody>
      </p:sp>
      <p:pic>
        <p:nvPicPr>
          <p:cNvPr id="276" name="Google Shape;276;p48" title="icon.png"/>
          <p:cNvPicPr preferRelativeResize="0"/>
          <p:nvPr/>
        </p:nvPicPr>
        <p:blipFill rotWithShape="1">
          <a:blip r:embed="rId4">
            <a:alphaModFix/>
          </a:blip>
          <a:srcRect/>
          <a:stretch/>
        </p:blipFill>
        <p:spPr>
          <a:xfrm>
            <a:off x="3377536" y="617823"/>
            <a:ext cx="272612" cy="272612"/>
          </a:xfrm>
          <a:prstGeom prst="rect">
            <a:avLst/>
          </a:prstGeom>
          <a:noFill/>
          <a:ln>
            <a:noFill/>
          </a:ln>
        </p:spPr>
      </p:pic>
      <p:pic>
        <p:nvPicPr>
          <p:cNvPr id="277" name="Google Shape;277;p48" title="Group 1000004543_1.png"/>
          <p:cNvPicPr preferRelativeResize="0"/>
          <p:nvPr/>
        </p:nvPicPr>
        <p:blipFill rotWithShape="1">
          <a:blip r:embed="rId5">
            <a:alphaModFix/>
          </a:blip>
          <a:srcRect/>
          <a:stretch/>
        </p:blipFill>
        <p:spPr>
          <a:xfrm>
            <a:off x="685650" y="2277531"/>
            <a:ext cx="883400" cy="883400"/>
          </a:xfrm>
          <a:prstGeom prst="rect">
            <a:avLst/>
          </a:prstGeom>
          <a:noFill/>
          <a:ln>
            <a:noFill/>
          </a:ln>
        </p:spPr>
      </p:pic>
      <p:pic>
        <p:nvPicPr>
          <p:cNvPr id="278" name="Google Shape;278;p48" title="Group 1000004545.png"/>
          <p:cNvPicPr preferRelativeResize="0"/>
          <p:nvPr/>
        </p:nvPicPr>
        <p:blipFill rotWithShape="1">
          <a:blip r:embed="rId6">
            <a:alphaModFix/>
          </a:blip>
          <a:srcRect/>
          <a:stretch/>
        </p:blipFill>
        <p:spPr>
          <a:xfrm>
            <a:off x="2702325" y="1693376"/>
            <a:ext cx="883400" cy="883400"/>
          </a:xfrm>
          <a:prstGeom prst="rect">
            <a:avLst/>
          </a:prstGeom>
          <a:noFill/>
          <a:ln>
            <a:noFill/>
          </a:ln>
        </p:spPr>
      </p:pic>
      <p:pic>
        <p:nvPicPr>
          <p:cNvPr id="279" name="Google Shape;279;p48" title="Group 1000004546.png"/>
          <p:cNvPicPr preferRelativeResize="0"/>
          <p:nvPr/>
        </p:nvPicPr>
        <p:blipFill rotWithShape="1">
          <a:blip r:embed="rId7">
            <a:alphaModFix/>
          </a:blip>
          <a:srcRect/>
          <a:stretch/>
        </p:blipFill>
        <p:spPr>
          <a:xfrm>
            <a:off x="4685600" y="1077600"/>
            <a:ext cx="883400" cy="883400"/>
          </a:xfrm>
          <a:prstGeom prst="rect">
            <a:avLst/>
          </a:prstGeom>
          <a:noFill/>
          <a:ln>
            <a:noFill/>
          </a:ln>
        </p:spPr>
      </p:pic>
      <p:grpSp>
        <p:nvGrpSpPr>
          <p:cNvPr id="280" name="Google Shape;280;p48"/>
          <p:cNvGrpSpPr/>
          <p:nvPr/>
        </p:nvGrpSpPr>
        <p:grpSpPr>
          <a:xfrm>
            <a:off x="6717625" y="465775"/>
            <a:ext cx="883400" cy="883400"/>
            <a:chOff x="6717625" y="465775"/>
            <a:chExt cx="883400" cy="883400"/>
          </a:xfrm>
        </p:grpSpPr>
        <p:pic>
          <p:nvPicPr>
            <p:cNvPr id="281" name="Google Shape;281;p48" title="Group 1000004546.png"/>
            <p:cNvPicPr preferRelativeResize="0"/>
            <p:nvPr/>
          </p:nvPicPr>
          <p:blipFill rotWithShape="1">
            <a:blip r:embed="rId7">
              <a:alphaModFix/>
            </a:blip>
            <a:srcRect/>
            <a:stretch/>
          </p:blipFill>
          <p:spPr>
            <a:xfrm>
              <a:off x="6717625" y="465775"/>
              <a:ext cx="883400" cy="883400"/>
            </a:xfrm>
            <a:prstGeom prst="rect">
              <a:avLst/>
            </a:prstGeom>
            <a:noFill/>
            <a:ln>
              <a:noFill/>
            </a:ln>
          </p:spPr>
        </p:pic>
        <p:sp>
          <p:nvSpPr>
            <p:cNvPr id="282" name="Google Shape;282;p48"/>
            <p:cNvSpPr/>
            <p:nvPr/>
          </p:nvSpPr>
          <p:spPr>
            <a:xfrm>
              <a:off x="6911825" y="635000"/>
              <a:ext cx="495000" cy="495000"/>
            </a:xfrm>
            <a:prstGeom prst="ellipse">
              <a:avLst/>
            </a:prstGeom>
            <a:solidFill>
              <a:schemeClr val="lt1"/>
            </a:soli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pic>
          <p:nvPicPr>
            <p:cNvPr id="283" name="Google Shape;283;p48" descr="A blue and pink logo&#10;&#10;AI-generated content may be incorrect."/>
            <p:cNvPicPr preferRelativeResize="0"/>
            <p:nvPr/>
          </p:nvPicPr>
          <p:blipFill rotWithShape="1">
            <a:blip r:embed="rId8">
              <a:alphaModFix/>
            </a:blip>
            <a:srcRect/>
            <a:stretch/>
          </p:blipFill>
          <p:spPr>
            <a:xfrm>
              <a:off x="6913025" y="617974"/>
              <a:ext cx="492600" cy="492600"/>
            </a:xfrm>
            <a:prstGeom prst="rect">
              <a:avLst/>
            </a:prstGeom>
            <a:noFill/>
            <a:ln>
              <a:noFill/>
            </a:ln>
          </p:spPr>
        </p:pic>
      </p:grpSp>
      <p:sp>
        <p:nvSpPr>
          <p:cNvPr id="284" name="Google Shape;284;p48"/>
          <p:cNvSpPr txBox="1">
            <a:spLocks noGrp="1"/>
          </p:cNvSpPr>
          <p:nvPr>
            <p:ph type="title" idx="4294967295"/>
          </p:nvPr>
        </p:nvSpPr>
        <p:spPr>
          <a:xfrm>
            <a:off x="301950" y="201625"/>
            <a:ext cx="2915100" cy="883500"/>
          </a:xfrm>
          <a:prstGeom prst="rect">
            <a:avLst/>
          </a:prstGeom>
          <a:noFill/>
          <a:ln>
            <a:noFill/>
          </a:ln>
        </p:spPr>
        <p:txBody>
          <a:bodyPr spcFirstLastPara="1" wrap="square" lIns="68575" tIns="34275" rIns="68575" bIns="34275" anchor="ctr" anchorCtr="0">
            <a:noAutofit/>
          </a:bodyPr>
          <a:lstStyle/>
          <a:p>
            <a:pPr marL="0" lvl="0" indent="0" algn="l" rtl="0">
              <a:lnSpc>
                <a:spcPct val="100000"/>
              </a:lnSpc>
              <a:spcBef>
                <a:spcPts val="0"/>
              </a:spcBef>
              <a:spcAft>
                <a:spcPts val="0"/>
              </a:spcAft>
              <a:buClr>
                <a:schemeClr val="dk1"/>
              </a:buClr>
              <a:buSzPts val="1800"/>
              <a:buFont typeface="DM Sans"/>
              <a:buNone/>
            </a:pPr>
            <a:r>
              <a:rPr lang="en" sz="2420">
                <a:latin typeface="Calibri"/>
                <a:ea typeface="Calibri"/>
                <a:cs typeface="Calibri"/>
                <a:sym typeface="Calibri"/>
              </a:rPr>
              <a:t>Wiz Adoption &amp; Democratization</a:t>
            </a:r>
            <a:endParaRPr sz="2420">
              <a:latin typeface="Calibri"/>
              <a:ea typeface="Calibri"/>
              <a:cs typeface="Calibri"/>
              <a:sym typeface="Calibri"/>
            </a:endParaRPr>
          </a:p>
          <a:p>
            <a:pPr marL="0" lvl="0" indent="0" algn="l" rtl="0">
              <a:lnSpc>
                <a:spcPct val="100000"/>
              </a:lnSpc>
              <a:spcBef>
                <a:spcPts val="0"/>
              </a:spcBef>
              <a:spcAft>
                <a:spcPts val="0"/>
              </a:spcAft>
              <a:buSzPts val="2800"/>
              <a:buNone/>
            </a:pPr>
            <a:r>
              <a:rPr lang="en" sz="2420">
                <a:latin typeface="Calibri"/>
                <a:ea typeface="Calibri"/>
                <a:cs typeface="Calibri"/>
                <a:sym typeface="Calibri"/>
              </a:rPr>
              <a:t>Maturity Model </a:t>
            </a:r>
            <a:endParaRPr sz="2420">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pic>
        <p:nvPicPr>
          <p:cNvPr id="290" name="Google Shape;290;p49"/>
          <p:cNvPicPr preferRelativeResize="0"/>
          <p:nvPr/>
        </p:nvPicPr>
        <p:blipFill rotWithShape="1">
          <a:blip r:embed="rId3">
            <a:alphaModFix/>
          </a:blip>
          <a:srcRect/>
          <a:stretch/>
        </p:blipFill>
        <p:spPr>
          <a:xfrm>
            <a:off x="99275" y="814525"/>
            <a:ext cx="2694900" cy="4186399"/>
          </a:xfrm>
          <a:prstGeom prst="rect">
            <a:avLst/>
          </a:prstGeom>
          <a:noFill/>
          <a:ln w="9525" cap="flat" cmpd="sng">
            <a:solidFill>
              <a:schemeClr val="accent1"/>
            </a:solidFill>
            <a:prstDash val="solid"/>
            <a:round/>
            <a:headEnd type="none" w="sm" len="sm"/>
            <a:tailEnd type="none" w="sm" len="sm"/>
          </a:ln>
        </p:spPr>
      </p:pic>
      <p:sp>
        <p:nvSpPr>
          <p:cNvPr id="291" name="Google Shape;291;p49"/>
          <p:cNvSpPr txBox="1">
            <a:spLocks noGrp="1"/>
          </p:cNvSpPr>
          <p:nvPr>
            <p:ph type="title" idx="4294967295"/>
          </p:nvPr>
        </p:nvSpPr>
        <p:spPr>
          <a:xfrm>
            <a:off x="0" y="221125"/>
            <a:ext cx="91443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Cloud and AI Visibility Snapshot</a:t>
            </a:r>
            <a:endParaRPr sz="2420">
              <a:latin typeface="Calibri"/>
              <a:ea typeface="Calibri"/>
              <a:cs typeface="Calibri"/>
              <a:sym typeface="Calibri"/>
            </a:endParaRPr>
          </a:p>
        </p:txBody>
      </p:sp>
      <p:pic>
        <p:nvPicPr>
          <p:cNvPr id="292" name="Google Shape;292;p49"/>
          <p:cNvPicPr preferRelativeResize="0"/>
          <p:nvPr/>
        </p:nvPicPr>
        <p:blipFill rotWithShape="1">
          <a:blip r:embed="rId4">
            <a:alphaModFix/>
          </a:blip>
          <a:srcRect/>
          <a:stretch/>
        </p:blipFill>
        <p:spPr>
          <a:xfrm>
            <a:off x="296060" y="1339164"/>
            <a:ext cx="216750" cy="132020"/>
          </a:xfrm>
          <a:prstGeom prst="rect">
            <a:avLst/>
          </a:prstGeom>
          <a:noFill/>
          <a:ln>
            <a:noFill/>
          </a:ln>
        </p:spPr>
      </p:pic>
      <p:sp>
        <p:nvSpPr>
          <p:cNvPr id="293" name="Google Shape;293;p49"/>
          <p:cNvSpPr txBox="1"/>
          <p:nvPr/>
        </p:nvSpPr>
        <p:spPr>
          <a:xfrm>
            <a:off x="594173" y="1306063"/>
            <a:ext cx="21201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a:ea typeface="Calibri"/>
                <a:cs typeface="Calibri"/>
                <a:sym typeface="Calibri"/>
              </a:rPr>
              <a:t>{{C_AWS}} AWS Connectors</a:t>
            </a:r>
            <a:endParaRPr sz="900" b="0" i="0" u="none" strike="noStrike" cap="none">
              <a:solidFill>
                <a:srgbClr val="000000"/>
              </a:solidFill>
              <a:latin typeface="Calibri"/>
              <a:ea typeface="Calibri"/>
              <a:cs typeface="Calibri"/>
              <a:sym typeface="Calibri"/>
            </a:endParaRPr>
          </a:p>
        </p:txBody>
      </p:sp>
      <p:pic>
        <p:nvPicPr>
          <p:cNvPr id="294" name="Google Shape;294;p49" descr="Kubernetes Logo transparent PNG - StickPNG"/>
          <p:cNvPicPr preferRelativeResize="0"/>
          <p:nvPr/>
        </p:nvPicPr>
        <p:blipFill rotWithShape="1">
          <a:blip r:embed="rId5">
            <a:alphaModFix/>
          </a:blip>
          <a:srcRect/>
          <a:stretch/>
        </p:blipFill>
        <p:spPr>
          <a:xfrm>
            <a:off x="291295" y="2333701"/>
            <a:ext cx="214875" cy="211565"/>
          </a:xfrm>
          <a:prstGeom prst="rect">
            <a:avLst/>
          </a:prstGeom>
          <a:noFill/>
          <a:ln>
            <a:noFill/>
          </a:ln>
        </p:spPr>
      </p:pic>
      <p:sp>
        <p:nvSpPr>
          <p:cNvPr id="295" name="Google Shape;295;p49"/>
          <p:cNvSpPr txBox="1"/>
          <p:nvPr/>
        </p:nvSpPr>
        <p:spPr>
          <a:xfrm>
            <a:off x="594176" y="2267228"/>
            <a:ext cx="21582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a:ea typeface="Calibri"/>
                <a:cs typeface="Calibri"/>
                <a:sym typeface="Calibri"/>
              </a:rPr>
              <a:t>{{K8S}} K8s Clusters</a:t>
            </a:r>
            <a:br>
              <a:rPr lang="en" sz="900" b="0" i="0" u="none" strike="noStrike" cap="none">
                <a:solidFill>
                  <a:srgbClr val="00113E"/>
                </a:solidFill>
                <a:latin typeface="Calibri"/>
                <a:ea typeface="Calibri"/>
                <a:cs typeface="Calibri"/>
                <a:sym typeface="Calibri"/>
              </a:rPr>
            </a:br>
            <a:r>
              <a:rPr lang="en" sz="900" b="0" i="0" u="none" strike="noStrike" cap="none">
                <a:solidFill>
                  <a:srgbClr val="00113E"/>
                </a:solidFill>
                <a:latin typeface="Calibri"/>
                <a:ea typeface="Calibri"/>
                <a:cs typeface="Calibri"/>
                <a:sym typeface="Calibri"/>
              </a:rPr>
              <a:t>{{KG_NC}} Not Connected via Connector</a:t>
            </a:r>
            <a:endParaRPr sz="900" b="0" i="0" u="none" strike="noStrike" cap="none">
              <a:solidFill>
                <a:srgbClr val="000000"/>
              </a:solidFill>
              <a:latin typeface="Calibri"/>
              <a:ea typeface="Calibri"/>
              <a:cs typeface="Calibri"/>
              <a:sym typeface="Calibri"/>
            </a:endParaRPr>
          </a:p>
        </p:txBody>
      </p:sp>
      <p:grpSp>
        <p:nvGrpSpPr>
          <p:cNvPr id="296" name="Google Shape;296;p49"/>
          <p:cNvGrpSpPr/>
          <p:nvPr/>
        </p:nvGrpSpPr>
        <p:grpSpPr>
          <a:xfrm>
            <a:off x="309832" y="2763999"/>
            <a:ext cx="189207" cy="194205"/>
            <a:chOff x="6171974" y="3205262"/>
            <a:chExt cx="189207" cy="191978"/>
          </a:xfrm>
        </p:grpSpPr>
        <p:sp>
          <p:nvSpPr>
            <p:cNvPr id="297" name="Google Shape;297;p49"/>
            <p:cNvSpPr/>
            <p:nvPr/>
          </p:nvSpPr>
          <p:spPr>
            <a:xfrm>
              <a:off x="6171974" y="3205262"/>
              <a:ext cx="107899" cy="107875"/>
            </a:xfrm>
            <a:custGeom>
              <a:avLst/>
              <a:gdLst/>
              <a:ahLst/>
              <a:cxnLst/>
              <a:rect l="l" t="t" r="r" b="b"/>
              <a:pathLst>
                <a:path w="1078992" h="1078750" extrusionOk="0">
                  <a:moveTo>
                    <a:pt x="71003" y="0"/>
                  </a:moveTo>
                  <a:lnTo>
                    <a:pt x="1007989" y="0"/>
                  </a:lnTo>
                  <a:cubicBezTo>
                    <a:pt x="1047203" y="0"/>
                    <a:pt x="1078992" y="31789"/>
                    <a:pt x="1078992" y="71003"/>
                  </a:cubicBezTo>
                  <a:lnTo>
                    <a:pt x="1078992" y="324079"/>
                  </a:lnTo>
                  <a:lnTo>
                    <a:pt x="377206" y="324079"/>
                  </a:lnTo>
                  <a:cubicBezTo>
                    <a:pt x="339490" y="324079"/>
                    <a:pt x="308916" y="354653"/>
                    <a:pt x="308916" y="392369"/>
                  </a:cubicBezTo>
                  <a:lnTo>
                    <a:pt x="308916" y="1078750"/>
                  </a:lnTo>
                  <a:lnTo>
                    <a:pt x="71003" y="1078750"/>
                  </a:lnTo>
                  <a:cubicBezTo>
                    <a:pt x="31789" y="1078750"/>
                    <a:pt x="0" y="1046961"/>
                    <a:pt x="0" y="1007747"/>
                  </a:cubicBezTo>
                  <a:lnTo>
                    <a:pt x="0" y="71003"/>
                  </a:lnTo>
                  <a:cubicBezTo>
                    <a:pt x="0" y="31789"/>
                    <a:pt x="31789" y="0"/>
                    <a:pt x="71003" y="0"/>
                  </a:cubicBezTo>
                  <a:close/>
                </a:path>
              </a:pathLst>
            </a:cu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a:ea typeface="Calibri"/>
                <a:cs typeface="Calibri"/>
                <a:sym typeface="Calibri"/>
              </a:endParaRPr>
            </a:p>
          </p:txBody>
        </p:sp>
        <p:sp>
          <p:nvSpPr>
            <p:cNvPr id="298" name="Google Shape;298;p49"/>
            <p:cNvSpPr/>
            <p:nvPr/>
          </p:nvSpPr>
          <p:spPr>
            <a:xfrm>
              <a:off x="6212578" y="3247251"/>
              <a:ext cx="107899" cy="107875"/>
            </a:xfrm>
            <a:custGeom>
              <a:avLst/>
              <a:gdLst/>
              <a:ahLst/>
              <a:cxnLst/>
              <a:rect l="l" t="t" r="r" b="b"/>
              <a:pathLst>
                <a:path w="1078992" h="1078750" extrusionOk="0">
                  <a:moveTo>
                    <a:pt x="71003" y="0"/>
                  </a:moveTo>
                  <a:lnTo>
                    <a:pt x="1007989" y="0"/>
                  </a:lnTo>
                  <a:cubicBezTo>
                    <a:pt x="1047203" y="0"/>
                    <a:pt x="1078992" y="31789"/>
                    <a:pt x="1078992" y="71003"/>
                  </a:cubicBezTo>
                  <a:lnTo>
                    <a:pt x="1078992" y="324079"/>
                  </a:lnTo>
                  <a:lnTo>
                    <a:pt x="377205" y="324079"/>
                  </a:lnTo>
                  <a:cubicBezTo>
                    <a:pt x="339489" y="324079"/>
                    <a:pt x="308915" y="354653"/>
                    <a:pt x="308915" y="392369"/>
                  </a:cubicBezTo>
                  <a:lnTo>
                    <a:pt x="308915" y="1078750"/>
                  </a:lnTo>
                  <a:lnTo>
                    <a:pt x="71003" y="1078750"/>
                  </a:lnTo>
                  <a:cubicBezTo>
                    <a:pt x="31789" y="1078750"/>
                    <a:pt x="0" y="1046961"/>
                    <a:pt x="0" y="1007747"/>
                  </a:cubicBezTo>
                  <a:lnTo>
                    <a:pt x="0" y="71003"/>
                  </a:lnTo>
                  <a:cubicBezTo>
                    <a:pt x="0" y="31789"/>
                    <a:pt x="31789" y="0"/>
                    <a:pt x="71003" y="0"/>
                  </a:cubicBezTo>
                  <a:close/>
                </a:path>
              </a:pathLst>
            </a:cu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a:ea typeface="Calibri"/>
                <a:cs typeface="Calibri"/>
                <a:sym typeface="Calibri"/>
              </a:endParaRPr>
            </a:p>
          </p:txBody>
        </p:sp>
        <p:sp>
          <p:nvSpPr>
            <p:cNvPr id="299" name="Google Shape;299;p49"/>
            <p:cNvSpPr/>
            <p:nvPr/>
          </p:nvSpPr>
          <p:spPr>
            <a:xfrm>
              <a:off x="6253181" y="3289240"/>
              <a:ext cx="108000" cy="108000"/>
            </a:xfrm>
            <a:prstGeom prst="roundRect">
              <a:avLst>
                <a:gd name="adj" fmla="val 6582"/>
              </a:avLst>
            </a:prstGeom>
            <a:solidFill>
              <a:srgbClr val="014FF7"/>
            </a:solidFill>
            <a:ln>
              <a:noFill/>
            </a:ln>
          </p:spPr>
          <p:txBody>
            <a:bodyPr spcFirstLastPara="1" wrap="square" lIns="47650" tIns="23800" rIns="47650" bIns="23800" anchor="ctr" anchorCtr="0">
              <a:noAutofit/>
            </a:bodyPr>
            <a:lstStyle/>
            <a:p>
              <a:pPr marL="0" marR="0" lvl="0" indent="0" algn="ctr" rtl="0">
                <a:lnSpc>
                  <a:spcPct val="100000"/>
                </a:lnSpc>
                <a:spcBef>
                  <a:spcPts val="0"/>
                </a:spcBef>
                <a:spcAft>
                  <a:spcPts val="0"/>
                </a:spcAft>
                <a:buClr>
                  <a:srgbClr val="FFFFFF"/>
                </a:buClr>
                <a:buSzPts val="938"/>
                <a:buFont typeface="Calibri"/>
                <a:buNone/>
              </a:pPr>
              <a:endParaRPr sz="938" b="0" i="0" u="none" strike="noStrike" cap="none">
                <a:solidFill>
                  <a:srgbClr val="00113E"/>
                </a:solidFill>
                <a:latin typeface="Calibri"/>
                <a:ea typeface="Calibri"/>
                <a:cs typeface="Calibri"/>
                <a:sym typeface="Calibri"/>
              </a:endParaRPr>
            </a:p>
          </p:txBody>
        </p:sp>
      </p:grpSp>
      <p:sp>
        <p:nvSpPr>
          <p:cNvPr id="300" name="Google Shape;300;p49"/>
          <p:cNvSpPr txBox="1"/>
          <p:nvPr/>
        </p:nvSpPr>
        <p:spPr>
          <a:xfrm>
            <a:off x="594175" y="2710232"/>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chemeClr val="dk1"/>
                </a:solidFill>
                <a:latin typeface="Calibri"/>
                <a:ea typeface="Calibri"/>
                <a:cs typeface="Calibri"/>
                <a:sym typeface="Calibri"/>
              </a:rPr>
              <a:t>{{C_OTH}} Others</a:t>
            </a:r>
            <a:br>
              <a:rPr lang="en" sz="900" b="0" i="0" u="none" strike="noStrike" cap="none">
                <a:solidFill>
                  <a:schemeClr val="dk1"/>
                </a:solidFill>
                <a:latin typeface="Calibri"/>
                <a:ea typeface="Calibri"/>
                <a:cs typeface="Calibri"/>
                <a:sym typeface="Calibri"/>
              </a:rPr>
            </a:br>
            <a:r>
              <a:rPr lang="en" sz="800" b="0" i="0" u="none" strike="noStrike" cap="none">
                <a:solidFill>
                  <a:schemeClr val="dk1"/>
                </a:solidFill>
                <a:latin typeface="Calibri"/>
                <a:ea typeface="Calibri"/>
                <a:cs typeface="Calibri"/>
                <a:sym typeface="Calibri"/>
              </a:rPr>
              <a:t>{{C_OTH_NAMES}}</a:t>
            </a:r>
            <a:br>
              <a:rPr lang="en" sz="900" b="0" i="0" u="none" strike="noStrike" cap="none">
                <a:solidFill>
                  <a:schemeClr val="dk1"/>
                </a:solidFill>
                <a:latin typeface="Calibri"/>
                <a:ea typeface="Calibri"/>
                <a:cs typeface="Calibri"/>
                <a:sym typeface="Calibri"/>
              </a:rPr>
            </a:br>
            <a:endParaRPr sz="900" b="0" i="0" u="none" strike="noStrike" cap="none">
              <a:solidFill>
                <a:schemeClr val="dk1"/>
              </a:solidFill>
              <a:latin typeface="Calibri"/>
              <a:ea typeface="Calibri"/>
              <a:cs typeface="Calibri"/>
              <a:sym typeface="Calibri"/>
            </a:endParaRPr>
          </a:p>
        </p:txBody>
      </p:sp>
      <p:grpSp>
        <p:nvGrpSpPr>
          <p:cNvPr id="301" name="Google Shape;301;p49"/>
          <p:cNvGrpSpPr/>
          <p:nvPr/>
        </p:nvGrpSpPr>
        <p:grpSpPr>
          <a:xfrm>
            <a:off x="318778" y="3899121"/>
            <a:ext cx="171314" cy="178215"/>
            <a:chOff x="11835920" y="1617571"/>
            <a:chExt cx="5866906" cy="6041208"/>
          </a:xfrm>
        </p:grpSpPr>
        <p:sp>
          <p:nvSpPr>
            <p:cNvPr id="302" name="Google Shape;302;p49"/>
            <p:cNvSpPr/>
            <p:nvPr/>
          </p:nvSpPr>
          <p:spPr>
            <a:xfrm>
              <a:off x="13171525" y="1625031"/>
              <a:ext cx="1490700" cy="944700"/>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a:ea typeface="Calibri"/>
                <a:cs typeface="Calibri"/>
                <a:sym typeface="Calibri"/>
              </a:endParaRPr>
            </a:p>
          </p:txBody>
        </p:sp>
        <p:sp>
          <p:nvSpPr>
            <p:cNvPr id="303" name="Google Shape;303;p49"/>
            <p:cNvSpPr/>
            <p:nvPr/>
          </p:nvSpPr>
          <p:spPr>
            <a:xfrm rot="4145691">
              <a:off x="12227504" y="4096971"/>
              <a:ext cx="6050917" cy="1078706"/>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a:ea typeface="Calibri"/>
                <a:cs typeface="Calibri"/>
                <a:sym typeface="Calibri"/>
              </a:endParaRPr>
            </a:p>
          </p:txBody>
        </p:sp>
        <p:sp>
          <p:nvSpPr>
            <p:cNvPr id="304" name="Google Shape;304;p49"/>
            <p:cNvSpPr/>
            <p:nvPr/>
          </p:nvSpPr>
          <p:spPr>
            <a:xfrm rot="9723288">
              <a:off x="15609080" y="6301883"/>
              <a:ext cx="1975610" cy="1078787"/>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a:ea typeface="Calibri"/>
                <a:cs typeface="Calibri"/>
                <a:sym typeface="Calibri"/>
              </a:endParaRPr>
            </a:p>
          </p:txBody>
        </p:sp>
        <p:sp>
          <p:nvSpPr>
            <p:cNvPr id="305" name="Google Shape;305;p49"/>
            <p:cNvSpPr/>
            <p:nvPr/>
          </p:nvSpPr>
          <p:spPr>
            <a:xfrm rot="7393903">
              <a:off x="14175210" y="3530494"/>
              <a:ext cx="644860" cy="604337"/>
            </a:xfrm>
            <a:prstGeom prst="rect">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a:ea typeface="Calibri"/>
                <a:cs typeface="Calibri"/>
                <a:sym typeface="Calibri"/>
              </a:endParaRPr>
            </a:p>
          </p:txBody>
        </p:sp>
        <p:sp>
          <p:nvSpPr>
            <p:cNvPr id="306" name="Google Shape;306;p49"/>
            <p:cNvSpPr/>
            <p:nvPr/>
          </p:nvSpPr>
          <p:spPr>
            <a:xfrm>
              <a:off x="11835920" y="3725119"/>
              <a:ext cx="3579000" cy="3592200"/>
            </a:xfrm>
            <a:prstGeom prst="parallelogram">
              <a:avLst>
                <a:gd name="adj" fmla="val 66161"/>
              </a:avLst>
            </a:prstGeom>
            <a:solidFill>
              <a:srgbClr val="15DCE4"/>
            </a:solidFill>
            <a:ln>
              <a:noFill/>
            </a:ln>
          </p:spPr>
          <p:txBody>
            <a:bodyPr spcFirstLastPara="1" wrap="square" lIns="40650" tIns="20325" rIns="40650" bIns="20325" anchor="ctr" anchorCtr="0">
              <a:noAutofit/>
            </a:bodyPr>
            <a:lstStyle/>
            <a:p>
              <a:pPr marL="0" marR="0" lvl="0" indent="0" algn="ctr" rtl="0">
                <a:lnSpc>
                  <a:spcPct val="100000"/>
                </a:lnSpc>
                <a:spcBef>
                  <a:spcPts val="0"/>
                </a:spcBef>
                <a:spcAft>
                  <a:spcPts val="0"/>
                </a:spcAft>
                <a:buClr>
                  <a:srgbClr val="FFFFFF"/>
                </a:buClr>
                <a:buSzPts val="801"/>
                <a:buFont typeface="Calibri"/>
                <a:buNone/>
              </a:pPr>
              <a:endParaRPr sz="801" b="0" i="0" u="none" strike="noStrike" cap="none">
                <a:solidFill>
                  <a:srgbClr val="00113E"/>
                </a:solidFill>
                <a:latin typeface="Calibri"/>
                <a:ea typeface="Calibri"/>
                <a:cs typeface="Calibri"/>
                <a:sym typeface="Calibri"/>
              </a:endParaRPr>
            </a:p>
          </p:txBody>
        </p:sp>
      </p:grpSp>
      <p:sp>
        <p:nvSpPr>
          <p:cNvPr id="307" name="Google Shape;307;p49"/>
          <p:cNvSpPr txBox="1"/>
          <p:nvPr/>
        </p:nvSpPr>
        <p:spPr>
          <a:xfrm>
            <a:off x="594173" y="3867490"/>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a:ea typeface="Calibri"/>
                <a:cs typeface="Calibri"/>
                <a:sym typeface="Calibri"/>
              </a:rPr>
              <a:t>{{SERVERLESS_FN_COUNT}} Serverless Functions</a:t>
            </a:r>
            <a:endParaRPr sz="900" b="0" i="0" u="none" strike="noStrike" cap="none">
              <a:solidFill>
                <a:srgbClr val="000000"/>
              </a:solidFill>
              <a:latin typeface="Calibri"/>
              <a:ea typeface="Calibri"/>
              <a:cs typeface="Calibri"/>
              <a:sym typeface="Calibri"/>
            </a:endParaRPr>
          </a:p>
        </p:txBody>
      </p:sp>
      <p:sp>
        <p:nvSpPr>
          <p:cNvPr id="308" name="Google Shape;308;p49"/>
          <p:cNvSpPr txBox="1"/>
          <p:nvPr/>
        </p:nvSpPr>
        <p:spPr>
          <a:xfrm>
            <a:off x="594173" y="1626385"/>
            <a:ext cx="21201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a:ea typeface="Calibri"/>
                <a:cs typeface="Calibri"/>
                <a:sym typeface="Calibri"/>
              </a:rPr>
              <a:t>{{C_GCP}} GCP Connectors</a:t>
            </a:r>
            <a:endParaRPr sz="900" b="0" i="0" u="none" strike="noStrike" cap="none">
              <a:solidFill>
                <a:srgbClr val="000000"/>
              </a:solidFill>
              <a:latin typeface="Calibri"/>
              <a:ea typeface="Calibri"/>
              <a:cs typeface="Calibri"/>
              <a:sym typeface="Calibri"/>
            </a:endParaRPr>
          </a:p>
        </p:txBody>
      </p:sp>
      <p:pic>
        <p:nvPicPr>
          <p:cNvPr id="309" name="Google Shape;309;p49" descr="Google Cloud Platform · GitHub"/>
          <p:cNvPicPr preferRelativeResize="0"/>
          <p:nvPr/>
        </p:nvPicPr>
        <p:blipFill rotWithShape="1">
          <a:blip r:embed="rId6">
            <a:alphaModFix/>
          </a:blip>
          <a:srcRect/>
          <a:stretch/>
        </p:blipFill>
        <p:spPr>
          <a:xfrm>
            <a:off x="299754" y="1614903"/>
            <a:ext cx="209362" cy="211780"/>
          </a:xfrm>
          <a:prstGeom prst="rect">
            <a:avLst/>
          </a:prstGeom>
          <a:noFill/>
          <a:ln>
            <a:noFill/>
          </a:ln>
        </p:spPr>
      </p:pic>
      <p:sp>
        <p:nvSpPr>
          <p:cNvPr id="310" name="Google Shape;310;p49"/>
          <p:cNvSpPr txBox="1"/>
          <p:nvPr/>
        </p:nvSpPr>
        <p:spPr>
          <a:xfrm>
            <a:off x="594173" y="1958244"/>
            <a:ext cx="20517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a:ea typeface="Calibri"/>
                <a:cs typeface="Calibri"/>
                <a:sym typeface="Calibri"/>
              </a:rPr>
              <a:t>{{C_AZ}} Azure Connectors</a:t>
            </a:r>
            <a:endParaRPr sz="900" b="0" i="0" u="none" strike="noStrike" cap="none">
              <a:solidFill>
                <a:srgbClr val="000000"/>
              </a:solidFill>
              <a:latin typeface="Calibri"/>
              <a:ea typeface="Calibri"/>
              <a:cs typeface="Calibri"/>
              <a:sym typeface="Calibri"/>
            </a:endParaRPr>
          </a:p>
        </p:txBody>
      </p:sp>
      <p:pic>
        <p:nvPicPr>
          <p:cNvPr id="311" name="Google Shape;311;p49"/>
          <p:cNvPicPr preferRelativeResize="0"/>
          <p:nvPr/>
        </p:nvPicPr>
        <p:blipFill rotWithShape="1">
          <a:blip r:embed="rId7">
            <a:alphaModFix/>
          </a:blip>
          <a:srcRect/>
          <a:stretch/>
        </p:blipFill>
        <p:spPr>
          <a:xfrm>
            <a:off x="299673" y="1970401"/>
            <a:ext cx="209525" cy="185367"/>
          </a:xfrm>
          <a:prstGeom prst="rect">
            <a:avLst/>
          </a:prstGeom>
          <a:noFill/>
          <a:ln>
            <a:noFill/>
          </a:ln>
        </p:spPr>
      </p:pic>
      <p:grpSp>
        <p:nvGrpSpPr>
          <p:cNvPr id="312" name="Google Shape;312;p49"/>
          <p:cNvGrpSpPr/>
          <p:nvPr/>
        </p:nvGrpSpPr>
        <p:grpSpPr>
          <a:xfrm>
            <a:off x="240579" y="3445870"/>
            <a:ext cx="327712" cy="372880"/>
            <a:chOff x="6153425" y="3541954"/>
            <a:chExt cx="540155" cy="607594"/>
          </a:xfrm>
        </p:grpSpPr>
        <p:grpSp>
          <p:nvGrpSpPr>
            <p:cNvPr id="313" name="Google Shape;313;p49"/>
            <p:cNvGrpSpPr/>
            <p:nvPr/>
          </p:nvGrpSpPr>
          <p:grpSpPr>
            <a:xfrm>
              <a:off x="6302419" y="3759933"/>
              <a:ext cx="246143" cy="246517"/>
              <a:chOff x="6996063" y="371043"/>
              <a:chExt cx="3423407" cy="3428610"/>
            </a:xfrm>
          </p:grpSpPr>
          <p:grpSp>
            <p:nvGrpSpPr>
              <p:cNvPr id="314" name="Google Shape;314;p49"/>
              <p:cNvGrpSpPr/>
              <p:nvPr/>
            </p:nvGrpSpPr>
            <p:grpSpPr>
              <a:xfrm>
                <a:off x="7365704" y="1326099"/>
                <a:ext cx="2559934" cy="2230430"/>
                <a:chOff x="7359949" y="1328909"/>
                <a:chExt cx="2559934" cy="2230430"/>
              </a:xfrm>
            </p:grpSpPr>
            <p:sp>
              <p:nvSpPr>
                <p:cNvPr id="315" name="Google Shape;315;p49"/>
                <p:cNvSpPr/>
                <p:nvPr/>
              </p:nvSpPr>
              <p:spPr>
                <a:xfrm rot="-1800156">
                  <a:off x="7697610" y="1838146"/>
                  <a:ext cx="901729" cy="1592176"/>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a:ea typeface="Calibri"/>
                    <a:cs typeface="Calibri"/>
                    <a:sym typeface="Calibri"/>
                  </a:endParaRPr>
                </a:p>
              </p:txBody>
            </p:sp>
            <p:sp>
              <p:nvSpPr>
                <p:cNvPr id="316" name="Google Shape;316;p49"/>
                <p:cNvSpPr/>
                <p:nvPr/>
              </p:nvSpPr>
              <p:spPr>
                <a:xfrm rot="5400000">
                  <a:off x="8189014" y="983759"/>
                  <a:ext cx="901800" cy="1592100"/>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a:ea typeface="Calibri"/>
                    <a:cs typeface="Calibri"/>
                    <a:sym typeface="Calibri"/>
                  </a:endParaRPr>
                </a:p>
              </p:txBody>
            </p:sp>
            <p:sp>
              <p:nvSpPr>
                <p:cNvPr id="317" name="Google Shape;317;p49"/>
                <p:cNvSpPr/>
                <p:nvPr/>
              </p:nvSpPr>
              <p:spPr>
                <a:xfrm rot="-8999844">
                  <a:off x="8680494" y="1848387"/>
                  <a:ext cx="901729" cy="1592176"/>
                </a:xfrm>
                <a:prstGeom prst="diamond">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a:ea typeface="Calibri"/>
                    <a:cs typeface="Calibri"/>
                    <a:sym typeface="Calibri"/>
                  </a:endParaRPr>
                </a:p>
              </p:txBody>
            </p:sp>
          </p:grpSp>
          <p:sp>
            <p:nvSpPr>
              <p:cNvPr id="318" name="Google Shape;318;p49"/>
              <p:cNvSpPr/>
              <p:nvPr/>
            </p:nvSpPr>
            <p:spPr>
              <a:xfrm rot="5400000">
                <a:off x="6993462" y="373644"/>
                <a:ext cx="3428610" cy="3423407"/>
              </a:xfrm>
              <a:custGeom>
                <a:avLst/>
                <a:gdLst/>
                <a:ahLst/>
                <a:cxnLst/>
                <a:rect l="l" t="t" r="r" b="b"/>
                <a:pathLst>
                  <a:path w="4021830" h="3547572" extrusionOk="0">
                    <a:moveTo>
                      <a:pt x="438870" y="1773786"/>
                    </a:moveTo>
                    <a:lnTo>
                      <a:pt x="1231625" y="3181575"/>
                    </a:lnTo>
                    <a:lnTo>
                      <a:pt x="2790205" y="3181575"/>
                    </a:lnTo>
                    <a:lnTo>
                      <a:pt x="3582960" y="1773786"/>
                    </a:lnTo>
                    <a:lnTo>
                      <a:pt x="2790205" y="365997"/>
                    </a:lnTo>
                    <a:lnTo>
                      <a:pt x="1231625" y="365997"/>
                    </a:lnTo>
                    <a:close/>
                    <a:moveTo>
                      <a:pt x="0" y="1773786"/>
                    </a:moveTo>
                    <a:lnTo>
                      <a:pt x="998855" y="0"/>
                    </a:lnTo>
                    <a:lnTo>
                      <a:pt x="3022975" y="0"/>
                    </a:lnTo>
                    <a:lnTo>
                      <a:pt x="4021830" y="1773786"/>
                    </a:lnTo>
                    <a:lnTo>
                      <a:pt x="3022975" y="3547572"/>
                    </a:lnTo>
                    <a:lnTo>
                      <a:pt x="998855" y="3547572"/>
                    </a:lnTo>
                    <a:close/>
                  </a:path>
                </a:pathLst>
              </a:cu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a:ea typeface="Calibri"/>
                  <a:cs typeface="Calibri"/>
                  <a:sym typeface="Calibri"/>
                </a:endParaRPr>
              </a:p>
            </p:txBody>
          </p:sp>
          <p:sp>
            <p:nvSpPr>
              <p:cNvPr id="319" name="Google Shape;319;p49"/>
              <p:cNvSpPr/>
              <p:nvPr/>
            </p:nvSpPr>
            <p:spPr>
              <a:xfrm>
                <a:off x="8550588" y="665584"/>
                <a:ext cx="190200" cy="854100"/>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a:ea typeface="Calibri"/>
                  <a:cs typeface="Calibri"/>
                  <a:sym typeface="Calibri"/>
                </a:endParaRPr>
              </a:p>
            </p:txBody>
          </p:sp>
          <p:sp>
            <p:nvSpPr>
              <p:cNvPr id="320" name="Google Shape;320;p49"/>
              <p:cNvSpPr/>
              <p:nvPr/>
            </p:nvSpPr>
            <p:spPr>
              <a:xfrm rot="7200163">
                <a:off x="9706081" y="2593755"/>
                <a:ext cx="190184" cy="853876"/>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a:ea typeface="Calibri"/>
                  <a:cs typeface="Calibri"/>
                  <a:sym typeface="Calibri"/>
                </a:endParaRPr>
              </a:p>
            </p:txBody>
          </p:sp>
          <p:sp>
            <p:nvSpPr>
              <p:cNvPr id="321" name="Google Shape;321;p49"/>
              <p:cNvSpPr/>
              <p:nvPr/>
            </p:nvSpPr>
            <p:spPr>
              <a:xfrm rot="-7200163">
                <a:off x="7397547" y="2579190"/>
                <a:ext cx="190184" cy="853876"/>
              </a:xfrm>
              <a:prstGeom prst="rect">
                <a:avLst/>
              </a:prstGeom>
              <a:solidFill>
                <a:srgbClr val="0FB2F2"/>
              </a:solidFill>
              <a:ln>
                <a:noFill/>
              </a:ln>
            </p:spPr>
            <p:txBody>
              <a:bodyPr spcFirstLastPara="1" wrap="square" lIns="33900" tIns="16950" rIns="33900" bIns="16950" anchor="ctr" anchorCtr="0">
                <a:noAutofit/>
              </a:bodyPr>
              <a:lstStyle/>
              <a:p>
                <a:pPr marL="0" marR="0" lvl="0" indent="0" algn="ctr" rtl="0">
                  <a:lnSpc>
                    <a:spcPct val="100000"/>
                  </a:lnSpc>
                  <a:spcBef>
                    <a:spcPts val="0"/>
                  </a:spcBef>
                  <a:spcAft>
                    <a:spcPts val="0"/>
                  </a:spcAft>
                  <a:buClr>
                    <a:srgbClr val="FFFFFF"/>
                  </a:buClr>
                  <a:buSzPts val="667"/>
                  <a:buFont typeface="Calibri"/>
                  <a:buNone/>
                </a:pPr>
                <a:endParaRPr sz="485" b="0" i="0" u="none" strike="noStrike" cap="none">
                  <a:solidFill>
                    <a:srgbClr val="00113E"/>
                  </a:solidFill>
                  <a:latin typeface="Calibri"/>
                  <a:ea typeface="Calibri"/>
                  <a:cs typeface="Calibri"/>
                  <a:sym typeface="Calibri"/>
                </a:endParaRPr>
              </a:p>
            </p:txBody>
          </p:sp>
        </p:grpSp>
        <p:pic>
          <p:nvPicPr>
            <p:cNvPr id="322" name="Google Shape;322;p49" descr="Serverless Containers | Scaleway"/>
            <p:cNvPicPr preferRelativeResize="0"/>
            <p:nvPr/>
          </p:nvPicPr>
          <p:blipFill rotWithShape="1">
            <a:blip r:embed="rId8">
              <a:alphaModFix/>
            </a:blip>
            <a:srcRect/>
            <a:stretch/>
          </p:blipFill>
          <p:spPr>
            <a:xfrm>
              <a:off x="6153425" y="3541954"/>
              <a:ext cx="540155" cy="607594"/>
            </a:xfrm>
            <a:prstGeom prst="rect">
              <a:avLst/>
            </a:prstGeom>
            <a:noFill/>
            <a:ln>
              <a:noFill/>
            </a:ln>
          </p:spPr>
        </p:pic>
      </p:grpSp>
      <p:pic>
        <p:nvPicPr>
          <p:cNvPr id="323" name="Google Shape;323;p49" descr="A blue hexagon with white text&#10;&#10;Description automatically generated"/>
          <p:cNvPicPr preferRelativeResize="0"/>
          <p:nvPr/>
        </p:nvPicPr>
        <p:blipFill rotWithShape="1">
          <a:blip r:embed="rId9">
            <a:alphaModFix/>
          </a:blip>
          <a:srcRect/>
          <a:stretch/>
        </p:blipFill>
        <p:spPr>
          <a:xfrm>
            <a:off x="281180" y="3165533"/>
            <a:ext cx="246510" cy="211566"/>
          </a:xfrm>
          <a:prstGeom prst="rect">
            <a:avLst/>
          </a:prstGeom>
          <a:noFill/>
          <a:ln>
            <a:noFill/>
          </a:ln>
        </p:spPr>
      </p:pic>
      <p:sp>
        <p:nvSpPr>
          <p:cNvPr id="324" name="Google Shape;324;p49"/>
          <p:cNvSpPr txBox="1"/>
          <p:nvPr/>
        </p:nvSpPr>
        <p:spPr>
          <a:xfrm>
            <a:off x="602752" y="3174368"/>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FF0000"/>
              </a:buClr>
              <a:buSzPts val="855"/>
              <a:buFont typeface="DM Sans"/>
              <a:buNone/>
            </a:pPr>
            <a:r>
              <a:rPr lang="en" sz="900" b="0" i="0" u="none" strike="noStrike" cap="none" dirty="0">
                <a:solidFill>
                  <a:srgbClr val="00113E"/>
                </a:solidFill>
                <a:latin typeface="Calibri"/>
                <a:ea typeface="Calibri"/>
                <a:cs typeface="Calibri"/>
                <a:sym typeface="Calibri"/>
              </a:rPr>
              <a:t>{{CH_TOT}} Container </a:t>
            </a:r>
            <a:r>
              <a:rPr lang="en" sz="900" dirty="0">
                <a:solidFill>
                  <a:srgbClr val="00113E"/>
                </a:solidFill>
                <a:latin typeface="Calibri"/>
                <a:ea typeface="Calibri"/>
                <a:cs typeface="Calibri"/>
                <a:sym typeface="Calibri"/>
              </a:rPr>
              <a:t>Hosts</a:t>
            </a:r>
            <a:endParaRPr sz="900" b="0" i="0" u="none" strike="noStrike" cap="none" dirty="0">
              <a:solidFill>
                <a:srgbClr val="000000"/>
              </a:solidFill>
              <a:latin typeface="Calibri"/>
              <a:ea typeface="Calibri"/>
              <a:cs typeface="Calibri"/>
              <a:sym typeface="Calibri"/>
            </a:endParaRPr>
          </a:p>
        </p:txBody>
      </p:sp>
      <p:sp>
        <p:nvSpPr>
          <p:cNvPr id="325" name="Google Shape;325;p49"/>
          <p:cNvSpPr txBox="1"/>
          <p:nvPr/>
        </p:nvSpPr>
        <p:spPr>
          <a:xfrm>
            <a:off x="99325" y="902925"/>
            <a:ext cx="2694900"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none" strike="noStrike" cap="none">
                <a:solidFill>
                  <a:schemeClr val="dk1"/>
                </a:solidFill>
                <a:latin typeface="Calibri"/>
                <a:ea typeface="Calibri"/>
                <a:cs typeface="Calibri"/>
                <a:sym typeface="Calibri"/>
              </a:rPr>
              <a:t>Cloud Visibility</a:t>
            </a:r>
            <a:endParaRPr sz="1400" b="0" i="0" u="none" strike="noStrike" cap="none">
              <a:solidFill>
                <a:schemeClr val="dk1"/>
              </a:solidFill>
              <a:latin typeface="Calibri"/>
              <a:ea typeface="Calibri"/>
              <a:cs typeface="Calibri"/>
              <a:sym typeface="Calibri"/>
            </a:endParaRPr>
          </a:p>
        </p:txBody>
      </p:sp>
      <p:sp>
        <p:nvSpPr>
          <p:cNvPr id="326" name="Google Shape;326;p49"/>
          <p:cNvSpPr txBox="1"/>
          <p:nvPr/>
        </p:nvSpPr>
        <p:spPr>
          <a:xfrm>
            <a:off x="594175" y="3523023"/>
            <a:ext cx="20859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a:ea typeface="Calibri"/>
                <a:cs typeface="Calibri"/>
                <a:sym typeface="Calibri"/>
              </a:rPr>
              <a:t>{{SERVERLESS_CT_COUNT}} Serverless Containers</a:t>
            </a:r>
            <a:endParaRPr sz="900" b="0" i="0" u="none" strike="noStrike" cap="none">
              <a:solidFill>
                <a:srgbClr val="00113E"/>
              </a:solidFill>
              <a:latin typeface="Calibri"/>
              <a:ea typeface="Calibri"/>
              <a:cs typeface="Calibri"/>
              <a:sym typeface="Calibri"/>
            </a:endParaRPr>
          </a:p>
        </p:txBody>
      </p:sp>
      <p:sp>
        <p:nvSpPr>
          <p:cNvPr id="327" name="Google Shape;327;p49"/>
          <p:cNvSpPr txBox="1"/>
          <p:nvPr/>
        </p:nvSpPr>
        <p:spPr>
          <a:xfrm>
            <a:off x="593145" y="4603900"/>
            <a:ext cx="21477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a:ea typeface="Calibri"/>
                <a:cs typeface="Calibri"/>
                <a:sym typeface="Calibri"/>
              </a:rPr>
              <a:t>{{L_SE}} </a:t>
            </a:r>
            <a:br>
              <a:rPr lang="en" sz="900" b="0" i="0" u="none" strike="noStrike" cap="none">
                <a:solidFill>
                  <a:srgbClr val="00113E"/>
                </a:solidFill>
                <a:latin typeface="Calibri"/>
                <a:ea typeface="Calibri"/>
                <a:cs typeface="Calibri"/>
                <a:sym typeface="Calibri"/>
              </a:rPr>
            </a:br>
            <a:r>
              <a:rPr lang="en" sz="900" b="0" i="0" u="none" strike="noStrike" cap="none">
                <a:solidFill>
                  <a:srgbClr val="00113E"/>
                </a:solidFill>
                <a:latin typeface="Calibri"/>
                <a:ea typeface="Calibri"/>
                <a:cs typeface="Calibri"/>
                <a:sym typeface="Calibri"/>
              </a:rPr>
              <a:t>Wiz Runtime Sensors Deployed</a:t>
            </a:r>
            <a:endParaRPr sz="900" b="0" i="0" u="none" strike="noStrike" cap="none">
              <a:solidFill>
                <a:srgbClr val="000000"/>
              </a:solidFill>
              <a:latin typeface="Calibri"/>
              <a:ea typeface="Calibri"/>
              <a:cs typeface="Calibri"/>
              <a:sym typeface="Calibri"/>
            </a:endParaRPr>
          </a:p>
        </p:txBody>
      </p:sp>
      <p:pic>
        <p:nvPicPr>
          <p:cNvPr id="328" name="Google Shape;328;p49"/>
          <p:cNvPicPr preferRelativeResize="0"/>
          <p:nvPr/>
        </p:nvPicPr>
        <p:blipFill rotWithShape="1">
          <a:blip r:embed="rId10">
            <a:alphaModFix/>
          </a:blip>
          <a:srcRect/>
          <a:stretch/>
        </p:blipFill>
        <p:spPr>
          <a:xfrm>
            <a:off x="285915" y="4606907"/>
            <a:ext cx="216750" cy="245654"/>
          </a:xfrm>
          <a:prstGeom prst="rect">
            <a:avLst/>
          </a:prstGeom>
          <a:noFill/>
          <a:ln>
            <a:noFill/>
          </a:ln>
        </p:spPr>
      </p:pic>
      <p:sp>
        <p:nvSpPr>
          <p:cNvPr id="329" name="Google Shape;329;p49"/>
          <p:cNvSpPr txBox="1"/>
          <p:nvPr/>
        </p:nvSpPr>
        <p:spPr>
          <a:xfrm>
            <a:off x="590675" y="4214860"/>
            <a:ext cx="2213400" cy="1974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900" b="0" i="0" u="none" strike="noStrike" cap="none">
                <a:solidFill>
                  <a:srgbClr val="00113E"/>
                </a:solidFill>
                <a:latin typeface="Calibri"/>
                <a:ea typeface="Calibri"/>
                <a:cs typeface="Calibri"/>
                <a:sym typeface="Calibri"/>
              </a:rPr>
              <a:t>{{CON_WE}} Connectors With Cloud Events</a:t>
            </a:r>
            <a:br>
              <a:rPr lang="en" sz="900" b="0" i="0" u="none" strike="noStrike" cap="none">
                <a:solidFill>
                  <a:srgbClr val="00113E"/>
                </a:solidFill>
                <a:latin typeface="Calibri"/>
                <a:ea typeface="Calibri"/>
                <a:cs typeface="Calibri"/>
                <a:sym typeface="Calibri"/>
              </a:rPr>
            </a:br>
            <a:r>
              <a:rPr lang="en" sz="900" b="0" i="0" u="none" strike="noStrike" cap="none">
                <a:solidFill>
                  <a:srgbClr val="00113E"/>
                </a:solidFill>
                <a:latin typeface="Calibri"/>
                <a:ea typeface="Calibri"/>
                <a:cs typeface="Calibri"/>
                <a:sym typeface="Calibri"/>
              </a:rPr>
              <a:t>{{CON_NE}} Connectors Without</a:t>
            </a:r>
            <a:endParaRPr sz="900" b="0" i="0" u="none" strike="noStrike" cap="none">
              <a:solidFill>
                <a:srgbClr val="000000"/>
              </a:solidFill>
              <a:latin typeface="Calibri"/>
              <a:ea typeface="Calibri"/>
              <a:cs typeface="Calibri"/>
              <a:sym typeface="Calibri"/>
            </a:endParaRPr>
          </a:p>
        </p:txBody>
      </p:sp>
      <p:pic>
        <p:nvPicPr>
          <p:cNvPr id="330" name="Google Shape;330;p49"/>
          <p:cNvPicPr preferRelativeResize="0"/>
          <p:nvPr/>
        </p:nvPicPr>
        <p:blipFill rotWithShape="1">
          <a:blip r:embed="rId11">
            <a:alphaModFix/>
          </a:blip>
          <a:srcRect/>
          <a:stretch/>
        </p:blipFill>
        <p:spPr>
          <a:xfrm>
            <a:off x="260656" y="4232746"/>
            <a:ext cx="287558" cy="276456"/>
          </a:xfrm>
          <a:prstGeom prst="rect">
            <a:avLst/>
          </a:prstGeom>
          <a:noFill/>
          <a:ln>
            <a:noFill/>
          </a:ln>
        </p:spPr>
      </p:pic>
      <p:pic>
        <p:nvPicPr>
          <p:cNvPr id="331" name="Google Shape;331;p49"/>
          <p:cNvPicPr preferRelativeResize="0"/>
          <p:nvPr/>
        </p:nvPicPr>
        <p:blipFill rotWithShape="1">
          <a:blip r:embed="rId3">
            <a:alphaModFix/>
          </a:blip>
          <a:srcRect/>
          <a:stretch/>
        </p:blipFill>
        <p:spPr>
          <a:xfrm>
            <a:off x="2972000" y="820225"/>
            <a:ext cx="2879650" cy="2923377"/>
          </a:xfrm>
          <a:prstGeom prst="rect">
            <a:avLst/>
          </a:prstGeom>
          <a:noFill/>
          <a:ln w="9525" cap="flat" cmpd="sng">
            <a:solidFill>
              <a:schemeClr val="accent1"/>
            </a:solidFill>
            <a:prstDash val="solid"/>
            <a:round/>
            <a:headEnd type="none" w="sm" len="sm"/>
            <a:tailEnd type="none" w="sm" len="sm"/>
          </a:ln>
        </p:spPr>
      </p:pic>
      <p:sp>
        <p:nvSpPr>
          <p:cNvPr id="332" name="Google Shape;332;p49"/>
          <p:cNvSpPr txBox="1"/>
          <p:nvPr/>
        </p:nvSpPr>
        <p:spPr>
          <a:xfrm>
            <a:off x="2972075" y="829568"/>
            <a:ext cx="2879700"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sng" strike="noStrike" cap="none">
                <a:solidFill>
                  <a:schemeClr val="hlink"/>
                </a:solidFill>
                <a:latin typeface="Calibri"/>
                <a:ea typeface="Calibri"/>
                <a:cs typeface="Calibri"/>
                <a:sym typeface="Calibri"/>
                <a:hlinkClick r:id="rId12"/>
              </a:rPr>
              <a:t>Deployments / Connectors</a:t>
            </a:r>
            <a:r>
              <a:rPr lang="en" sz="1400" b="0" i="0" u="none" strike="noStrike" cap="none">
                <a:solidFill>
                  <a:srgbClr val="0254EC"/>
                </a:solidFill>
                <a:latin typeface="Calibri"/>
                <a:ea typeface="Calibri"/>
                <a:cs typeface="Calibri"/>
                <a:sym typeface="Calibri"/>
              </a:rPr>
              <a:t> </a:t>
            </a:r>
            <a:r>
              <a:rPr lang="en" sz="1500" b="0" i="0" u="none" strike="noStrike" cap="none">
                <a:solidFill>
                  <a:schemeClr val="hlink"/>
                </a:solidFill>
                <a:uFill>
                  <a:noFill/>
                </a:uFill>
                <a:latin typeface="Calibri"/>
                <a:ea typeface="Calibri"/>
                <a:cs typeface="Calibri"/>
                <a:sym typeface="Calibri"/>
                <a:hlinkClick r:id="rId13"/>
              </a:rPr>
              <a:t>↗</a:t>
            </a:r>
            <a:endParaRPr sz="1400" b="0" i="0" u="none" strike="noStrike" cap="none">
              <a:solidFill>
                <a:srgbClr val="0254EC"/>
              </a:solidFill>
              <a:latin typeface="Calibri"/>
              <a:ea typeface="Calibri"/>
              <a:cs typeface="Calibri"/>
              <a:sym typeface="Calibri"/>
            </a:endParaRPr>
          </a:p>
        </p:txBody>
      </p:sp>
      <p:sp>
        <p:nvSpPr>
          <p:cNvPr id="333" name="Google Shape;333;p49"/>
          <p:cNvSpPr/>
          <p:nvPr/>
        </p:nvSpPr>
        <p:spPr>
          <a:xfrm>
            <a:off x="4494205" y="1157402"/>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dirty="0">
                <a:solidFill>
                  <a:srgbClr val="00113E"/>
                </a:solidFill>
                <a:latin typeface="Calibri"/>
                <a:ea typeface="Calibri"/>
                <a:cs typeface="Calibri"/>
                <a:sym typeface="Calibri"/>
              </a:rPr>
              <a:t>{{CON_EN}} </a:t>
            </a:r>
            <a:br>
              <a:rPr lang="en" sz="700" b="0" i="0" u="none" strike="noStrike" cap="none" dirty="0">
                <a:solidFill>
                  <a:srgbClr val="00113E"/>
                </a:solidFill>
                <a:latin typeface="Calibri"/>
                <a:ea typeface="Calibri"/>
                <a:cs typeface="Calibri"/>
                <a:sym typeface="Calibri"/>
              </a:rPr>
            </a:br>
            <a:r>
              <a:rPr lang="en" sz="700" b="0" i="0" u="none" strike="noStrike" cap="none" dirty="0">
                <a:solidFill>
                  <a:srgbClr val="00113E"/>
                </a:solidFill>
                <a:latin typeface="Calibri"/>
                <a:ea typeface="Calibri"/>
                <a:cs typeface="Calibri"/>
                <a:sym typeface="Calibri"/>
              </a:rPr>
              <a:t>Active Cloud Connectors</a:t>
            </a:r>
            <a:endParaRPr sz="700" b="0" i="0" u="none" strike="noStrike" cap="none" dirty="0">
              <a:solidFill>
                <a:srgbClr val="00113E"/>
              </a:solidFill>
              <a:latin typeface="Calibri"/>
              <a:ea typeface="Calibri"/>
              <a:cs typeface="Calibri"/>
              <a:sym typeface="Calibri"/>
            </a:endParaRPr>
          </a:p>
        </p:txBody>
      </p:sp>
      <p:sp>
        <p:nvSpPr>
          <p:cNvPr id="334" name="Google Shape;334;p49"/>
          <p:cNvSpPr/>
          <p:nvPr/>
        </p:nvSpPr>
        <p:spPr>
          <a:xfrm>
            <a:off x="4494205" y="1683395"/>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{{CON_VCS}}</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VCS Connectors</a:t>
            </a:r>
            <a:endParaRPr sz="700" b="0" i="0" u="none" strike="noStrike" cap="none">
              <a:solidFill>
                <a:srgbClr val="00113E"/>
              </a:solidFill>
              <a:latin typeface="Calibri"/>
              <a:ea typeface="Calibri"/>
              <a:cs typeface="Calibri"/>
              <a:sym typeface="Calibri"/>
            </a:endParaRPr>
          </a:p>
        </p:txBody>
      </p:sp>
      <p:sp>
        <p:nvSpPr>
          <p:cNvPr id="335" name="Google Shape;335;p49"/>
          <p:cNvSpPr/>
          <p:nvPr/>
        </p:nvSpPr>
        <p:spPr>
          <a:xfrm>
            <a:off x="3195369" y="1153399"/>
            <a:ext cx="1168200" cy="4278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dirty="0">
                <a:solidFill>
                  <a:srgbClr val="00113E"/>
                </a:solidFill>
                <a:latin typeface="Calibri"/>
                <a:ea typeface="Calibri"/>
                <a:cs typeface="Calibri"/>
                <a:sym typeface="Calibri"/>
              </a:rPr>
              <a:t>{{CON_TOT}} </a:t>
            </a:r>
            <a:br>
              <a:rPr lang="en" sz="700" b="0" i="0" u="none" strike="noStrike" cap="none" dirty="0">
                <a:solidFill>
                  <a:srgbClr val="00113E"/>
                </a:solidFill>
                <a:latin typeface="Calibri"/>
                <a:ea typeface="Calibri"/>
                <a:cs typeface="Calibri"/>
                <a:sym typeface="Calibri"/>
              </a:rPr>
            </a:br>
            <a:r>
              <a:rPr lang="en" sz="700" b="0" i="0" u="none" strike="noStrike" cap="none" dirty="0">
                <a:solidFill>
                  <a:srgbClr val="00113E"/>
                </a:solidFill>
                <a:latin typeface="Calibri"/>
                <a:ea typeface="Calibri"/>
                <a:cs typeface="Calibri"/>
                <a:sym typeface="Calibri"/>
              </a:rPr>
              <a:t>Total Cloud Connectors</a:t>
            </a:r>
            <a:endParaRPr sz="700" b="0" i="0" u="none" strike="noStrike" cap="none" dirty="0">
              <a:solidFill>
                <a:srgbClr val="00113E"/>
              </a:solidFill>
              <a:latin typeface="Calibri"/>
              <a:ea typeface="Calibri"/>
              <a:cs typeface="Calibri"/>
              <a:sym typeface="Calibri"/>
            </a:endParaRPr>
          </a:p>
        </p:txBody>
      </p:sp>
      <p:sp>
        <p:nvSpPr>
          <p:cNvPr id="336" name="Google Shape;336;p49"/>
          <p:cNvSpPr/>
          <p:nvPr/>
        </p:nvSpPr>
        <p:spPr>
          <a:xfrm>
            <a:off x="3195369" y="1681109"/>
            <a:ext cx="1168200" cy="4278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{{OUT_DEP}}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Outpost Deployments</a:t>
            </a:r>
            <a:endParaRPr sz="700" b="0" i="0" u="none" strike="noStrike" cap="none">
              <a:solidFill>
                <a:srgbClr val="00113E"/>
              </a:solidFill>
              <a:latin typeface="Calibri"/>
              <a:ea typeface="Calibri"/>
              <a:cs typeface="Calibri"/>
              <a:sym typeface="Calibri"/>
            </a:endParaRPr>
          </a:p>
        </p:txBody>
      </p:sp>
      <p:sp>
        <p:nvSpPr>
          <p:cNvPr id="337" name="Google Shape;337;p49"/>
          <p:cNvSpPr/>
          <p:nvPr/>
        </p:nvSpPr>
        <p:spPr>
          <a:xfrm>
            <a:off x="3201552" y="2208819"/>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dirty="0">
                <a:solidFill>
                  <a:srgbClr val="00113E"/>
                </a:solidFill>
                <a:latin typeface="Calibri"/>
                <a:ea typeface="Calibri"/>
                <a:cs typeface="Calibri"/>
                <a:sym typeface="Calibri"/>
              </a:rPr>
              <a:t>{{CON_DIS}} </a:t>
            </a:r>
            <a:br>
              <a:rPr lang="en" sz="700" b="0" i="0" u="none" strike="noStrike" cap="none" dirty="0">
                <a:solidFill>
                  <a:srgbClr val="00113E"/>
                </a:solidFill>
                <a:latin typeface="Calibri"/>
                <a:ea typeface="Calibri"/>
                <a:cs typeface="Calibri"/>
                <a:sym typeface="Calibri"/>
              </a:rPr>
            </a:br>
            <a:r>
              <a:rPr lang="en" sz="700" b="0" i="0" u="none" strike="noStrike" cap="none" dirty="0">
                <a:solidFill>
                  <a:srgbClr val="00113E"/>
                </a:solidFill>
                <a:latin typeface="Calibri"/>
                <a:ea typeface="Calibri"/>
                <a:cs typeface="Calibri"/>
                <a:sym typeface="Calibri"/>
              </a:rPr>
              <a:t>Inactive Connectors</a:t>
            </a:r>
            <a:endParaRPr sz="700" b="0" i="0" u="none" strike="noStrike" cap="none" dirty="0">
              <a:solidFill>
                <a:srgbClr val="00113E"/>
              </a:solidFill>
              <a:latin typeface="Calibri"/>
              <a:ea typeface="Calibri"/>
              <a:cs typeface="Calibri"/>
              <a:sym typeface="Calibri"/>
            </a:endParaRPr>
          </a:p>
        </p:txBody>
      </p:sp>
      <p:sp>
        <p:nvSpPr>
          <p:cNvPr id="338" name="Google Shape;338;p49"/>
          <p:cNvSpPr/>
          <p:nvPr/>
        </p:nvSpPr>
        <p:spPr>
          <a:xfrm>
            <a:off x="4500405" y="2209388"/>
            <a:ext cx="11703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175" tIns="91175" rIns="91175" bIns="91175" anchor="ctr" anchorCtr="0">
            <a:noAutofit/>
          </a:bodyPr>
          <a:lstStyle/>
          <a:p>
            <a:pPr marL="0" marR="0" lvl="0" indent="0" algn="ctr" rtl="0">
              <a:lnSpc>
                <a:spcPct val="100000"/>
              </a:lnSpc>
              <a:spcBef>
                <a:spcPts val="0"/>
              </a:spcBef>
              <a:spcAft>
                <a:spcPts val="0"/>
              </a:spcAft>
              <a:buClr>
                <a:srgbClr val="000000"/>
              </a:buClr>
              <a:buSzPts val="698"/>
              <a:buFont typeface="Arial"/>
              <a:buNone/>
            </a:pPr>
            <a:r>
              <a:rPr lang="en" sz="698" b="0" i="0" u="none" strike="noStrike" cap="none">
                <a:solidFill>
                  <a:srgbClr val="00113E"/>
                </a:solidFill>
                <a:latin typeface="Calibri"/>
                <a:ea typeface="Calibri"/>
                <a:cs typeface="Calibri"/>
                <a:sym typeface="Calibri"/>
              </a:rPr>
              <a:t>{{CON_BRO}}</a:t>
            </a:r>
            <a:br>
              <a:rPr lang="en" sz="698" b="0" i="0" u="none" strike="noStrike" cap="none">
                <a:solidFill>
                  <a:srgbClr val="00113E"/>
                </a:solidFill>
                <a:latin typeface="Calibri"/>
                <a:ea typeface="Calibri"/>
                <a:cs typeface="Calibri"/>
                <a:sym typeface="Calibri"/>
              </a:rPr>
            </a:br>
            <a:r>
              <a:rPr lang="en" sz="698" b="0" i="0" u="none" strike="noStrike" cap="none">
                <a:solidFill>
                  <a:srgbClr val="00113E"/>
                </a:solidFill>
                <a:latin typeface="Calibri"/>
                <a:ea typeface="Calibri"/>
                <a:cs typeface="Calibri"/>
                <a:sym typeface="Calibri"/>
              </a:rPr>
              <a:t>Broker Deployments</a:t>
            </a:r>
            <a:endParaRPr sz="698" b="0" i="0" u="none" strike="noStrike" cap="none">
              <a:solidFill>
                <a:srgbClr val="00113E"/>
              </a:solidFill>
              <a:latin typeface="Calibri"/>
              <a:ea typeface="Calibri"/>
              <a:cs typeface="Calibri"/>
              <a:sym typeface="Calibri"/>
            </a:endParaRPr>
          </a:p>
        </p:txBody>
      </p:sp>
      <p:sp>
        <p:nvSpPr>
          <p:cNvPr id="339" name="Google Shape;339;p49"/>
          <p:cNvSpPr/>
          <p:nvPr/>
        </p:nvSpPr>
        <p:spPr>
          <a:xfrm>
            <a:off x="3201552" y="2738628"/>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{{CON_R}}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Registry Connectors</a:t>
            </a:r>
            <a:endParaRPr sz="700" b="0" i="0" u="none" strike="noStrike" cap="none">
              <a:solidFill>
                <a:srgbClr val="00113E"/>
              </a:solidFill>
              <a:latin typeface="Calibri"/>
              <a:ea typeface="Calibri"/>
              <a:cs typeface="Calibri"/>
              <a:sym typeface="Calibri"/>
            </a:endParaRPr>
          </a:p>
        </p:txBody>
      </p:sp>
      <p:sp>
        <p:nvSpPr>
          <p:cNvPr id="340" name="Google Shape;340;p49"/>
          <p:cNvSpPr/>
          <p:nvPr/>
        </p:nvSpPr>
        <p:spPr>
          <a:xfrm>
            <a:off x="4500395" y="2735381"/>
            <a:ext cx="11682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{{CON_K8S}}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Kubernetes Connectors</a:t>
            </a:r>
            <a:endParaRPr sz="700" b="0" i="0" u="none" strike="noStrike" cap="none">
              <a:solidFill>
                <a:srgbClr val="00113E"/>
              </a:solidFill>
              <a:latin typeface="Calibri"/>
              <a:ea typeface="Calibri"/>
              <a:cs typeface="Calibri"/>
              <a:sym typeface="Calibri"/>
            </a:endParaRPr>
          </a:p>
        </p:txBody>
      </p:sp>
      <p:pic>
        <p:nvPicPr>
          <p:cNvPr id="341" name="Google Shape;341;p49"/>
          <p:cNvPicPr preferRelativeResize="0"/>
          <p:nvPr/>
        </p:nvPicPr>
        <p:blipFill rotWithShape="1">
          <a:blip r:embed="rId3">
            <a:alphaModFix/>
          </a:blip>
          <a:srcRect/>
          <a:stretch/>
        </p:blipFill>
        <p:spPr>
          <a:xfrm>
            <a:off x="5999925" y="828800"/>
            <a:ext cx="2958424" cy="2914801"/>
          </a:xfrm>
          <a:prstGeom prst="rect">
            <a:avLst/>
          </a:prstGeom>
          <a:noFill/>
          <a:ln w="9525" cap="flat" cmpd="sng">
            <a:solidFill>
              <a:schemeClr val="accent1"/>
            </a:solidFill>
            <a:prstDash val="solid"/>
            <a:round/>
            <a:headEnd type="none" w="sm" len="sm"/>
            <a:tailEnd type="none" w="sm" len="sm"/>
          </a:ln>
        </p:spPr>
      </p:pic>
      <p:sp>
        <p:nvSpPr>
          <p:cNvPr id="342" name="Google Shape;342;p49"/>
          <p:cNvSpPr txBox="1"/>
          <p:nvPr/>
        </p:nvSpPr>
        <p:spPr>
          <a:xfrm>
            <a:off x="6027633" y="838143"/>
            <a:ext cx="2901413" cy="313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400" b="0" i="0" u="sng" strike="noStrike" cap="none">
                <a:solidFill>
                  <a:schemeClr val="hlink"/>
                </a:solidFill>
                <a:latin typeface="Calibri"/>
                <a:ea typeface="Calibri"/>
                <a:cs typeface="Calibri"/>
                <a:sym typeface="Calibri"/>
                <a:hlinkClick r:id="rId14"/>
              </a:rPr>
              <a:t>Cloud Events</a:t>
            </a:r>
            <a:r>
              <a:rPr lang="en" sz="1400" b="0" i="0" u="none" strike="noStrike" cap="none">
                <a:solidFill>
                  <a:srgbClr val="0254EC"/>
                </a:solidFill>
                <a:latin typeface="Calibri"/>
                <a:ea typeface="Calibri"/>
                <a:cs typeface="Calibri"/>
                <a:sym typeface="Calibri"/>
              </a:rPr>
              <a:t> </a:t>
            </a:r>
            <a:r>
              <a:rPr lang="en" sz="1500" b="0" i="0" u="none" strike="noStrike" cap="none">
                <a:solidFill>
                  <a:schemeClr val="hlink"/>
                </a:solidFill>
                <a:uFill>
                  <a:noFill/>
                </a:uFill>
                <a:latin typeface="Calibri"/>
                <a:ea typeface="Calibri"/>
                <a:cs typeface="Calibri"/>
                <a:sym typeface="Calibri"/>
                <a:hlinkClick r:id="rId13"/>
              </a:rPr>
              <a:t>↗</a:t>
            </a:r>
            <a:endParaRPr sz="1400" b="0" i="0" u="none" strike="noStrike" cap="none">
              <a:solidFill>
                <a:srgbClr val="0254EC"/>
              </a:solidFill>
              <a:latin typeface="Calibri"/>
              <a:ea typeface="Calibri"/>
              <a:cs typeface="Calibri"/>
              <a:sym typeface="Calibri"/>
            </a:endParaRPr>
          </a:p>
        </p:txBody>
      </p:sp>
      <p:sp>
        <p:nvSpPr>
          <p:cNvPr id="343" name="Google Shape;343;p49"/>
          <p:cNvSpPr txBox="1"/>
          <p:nvPr/>
        </p:nvSpPr>
        <p:spPr>
          <a:xfrm>
            <a:off x="6015229" y="131973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{{CLOUD_EVENTS_2}}</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44" name="Google Shape;344;p49"/>
          <p:cNvSpPr txBox="1"/>
          <p:nvPr/>
        </p:nvSpPr>
        <p:spPr>
          <a:xfrm>
            <a:off x="6015229" y="1514580"/>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{{CLOUD_EVENTS_3}}</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45" name="Google Shape;345;p49"/>
          <p:cNvSpPr txBox="1"/>
          <p:nvPr/>
        </p:nvSpPr>
        <p:spPr>
          <a:xfrm>
            <a:off x="6015229" y="1709422"/>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{{CLOUD_EVENTS_4}}</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46" name="Google Shape;346;p49"/>
          <p:cNvSpPr txBox="1"/>
          <p:nvPr/>
        </p:nvSpPr>
        <p:spPr>
          <a:xfrm>
            <a:off x="6015229" y="190426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{{CLOUD_EVENTS_5}}</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47" name="Google Shape;347;p49"/>
          <p:cNvSpPr txBox="1"/>
          <p:nvPr/>
        </p:nvSpPr>
        <p:spPr>
          <a:xfrm>
            <a:off x="6015229" y="2099106"/>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{{CLOUD_EVENTS_6}}</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48" name="Google Shape;348;p49"/>
          <p:cNvSpPr txBox="1"/>
          <p:nvPr/>
        </p:nvSpPr>
        <p:spPr>
          <a:xfrm>
            <a:off x="6015229" y="229394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{{CLOUD_EVENTS_7}}</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49" name="Google Shape;349;p49"/>
          <p:cNvSpPr txBox="1"/>
          <p:nvPr/>
        </p:nvSpPr>
        <p:spPr>
          <a:xfrm>
            <a:off x="6015229" y="2488790"/>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{{CLOUD_EVENTS_8}}</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50" name="Google Shape;350;p49"/>
          <p:cNvSpPr txBox="1"/>
          <p:nvPr/>
        </p:nvSpPr>
        <p:spPr>
          <a:xfrm>
            <a:off x="6015229" y="2683632"/>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{{CLOUD_EVENTS_9}}</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51" name="Google Shape;351;p49"/>
          <p:cNvSpPr txBox="1"/>
          <p:nvPr/>
        </p:nvSpPr>
        <p:spPr>
          <a:xfrm>
            <a:off x="6015229" y="287847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{{CLOUD_EVENTS_10}}</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52" name="Google Shape;352;p49"/>
          <p:cNvSpPr txBox="1"/>
          <p:nvPr/>
        </p:nvSpPr>
        <p:spPr>
          <a:xfrm>
            <a:off x="6015229" y="3073316"/>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333333"/>
                </a:solidFill>
                <a:latin typeface="Calibri"/>
                <a:ea typeface="Calibri"/>
                <a:cs typeface="Calibri"/>
                <a:sym typeface="Calibri"/>
              </a:rPr>
              <a:t>{{CLOUD_EVENTS_11}}</a:t>
            </a:r>
            <a:endParaRPr sz="8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800"/>
              <a:buFont typeface="Arial"/>
              <a:buNone/>
            </a:pPr>
            <a:endParaRPr sz="800" b="0" i="0" u="none" strike="noStrike" cap="none">
              <a:solidFill>
                <a:srgbClr val="333333"/>
              </a:solidFill>
              <a:latin typeface="Calibri"/>
              <a:ea typeface="Calibri"/>
              <a:cs typeface="Calibri"/>
              <a:sym typeface="Calibri"/>
            </a:endParaRPr>
          </a:p>
        </p:txBody>
      </p:sp>
      <p:sp>
        <p:nvSpPr>
          <p:cNvPr id="353" name="Google Shape;353;p49"/>
          <p:cNvSpPr txBox="1"/>
          <p:nvPr/>
        </p:nvSpPr>
        <p:spPr>
          <a:xfrm>
            <a:off x="6015229" y="3268158"/>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{{CLOUD_EVENTS_12}}</a:t>
            </a:r>
            <a:endParaRPr sz="800" b="0" i="0" u="none" strike="noStrike" cap="none">
              <a:solidFill>
                <a:srgbClr val="333333"/>
              </a:solidFill>
              <a:latin typeface="Calibri"/>
              <a:ea typeface="Calibri"/>
              <a:cs typeface="Calibri"/>
              <a:sym typeface="Calibri"/>
            </a:endParaRPr>
          </a:p>
        </p:txBody>
      </p:sp>
      <p:sp>
        <p:nvSpPr>
          <p:cNvPr id="354" name="Google Shape;354;p49"/>
          <p:cNvSpPr txBox="1"/>
          <p:nvPr/>
        </p:nvSpPr>
        <p:spPr>
          <a:xfrm>
            <a:off x="6015228" y="1122408"/>
            <a:ext cx="2287200" cy="1839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{{CLOUD_EVENTS_1}}</a:t>
            </a:r>
            <a:endParaRPr sz="800" b="0" i="0" u="none" strike="noStrike" cap="none">
              <a:solidFill>
                <a:srgbClr val="333333"/>
              </a:solidFill>
              <a:latin typeface="Calibri"/>
              <a:ea typeface="Calibri"/>
              <a:cs typeface="Calibri"/>
              <a:sym typeface="Calibri"/>
            </a:endParaRPr>
          </a:p>
        </p:txBody>
      </p:sp>
      <p:sp>
        <p:nvSpPr>
          <p:cNvPr id="355" name="Google Shape;355;p49"/>
          <p:cNvSpPr txBox="1"/>
          <p:nvPr/>
        </p:nvSpPr>
        <p:spPr>
          <a:xfrm>
            <a:off x="7985429" y="1105704"/>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{{CE_1}}</a:t>
            </a:r>
            <a:endParaRPr sz="800" b="0" i="0" u="none" strike="noStrike" cap="none">
              <a:solidFill>
                <a:srgbClr val="333333"/>
              </a:solidFill>
              <a:latin typeface="Calibri"/>
              <a:ea typeface="Calibri"/>
              <a:cs typeface="Calibri"/>
              <a:sym typeface="Calibri"/>
            </a:endParaRPr>
          </a:p>
        </p:txBody>
      </p:sp>
      <p:sp>
        <p:nvSpPr>
          <p:cNvPr id="356" name="Google Shape;356;p49"/>
          <p:cNvSpPr txBox="1"/>
          <p:nvPr/>
        </p:nvSpPr>
        <p:spPr>
          <a:xfrm>
            <a:off x="7985429" y="1300773"/>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{{CE_2}}</a:t>
            </a:r>
            <a:endParaRPr sz="800" b="0" i="0" u="none" strike="noStrike" cap="none">
              <a:solidFill>
                <a:srgbClr val="333333"/>
              </a:solidFill>
              <a:latin typeface="Calibri"/>
              <a:ea typeface="Calibri"/>
              <a:cs typeface="Calibri"/>
              <a:sym typeface="Calibri"/>
            </a:endParaRPr>
          </a:p>
        </p:txBody>
      </p:sp>
      <p:sp>
        <p:nvSpPr>
          <p:cNvPr id="357" name="Google Shape;357;p49"/>
          <p:cNvSpPr txBox="1"/>
          <p:nvPr/>
        </p:nvSpPr>
        <p:spPr>
          <a:xfrm>
            <a:off x="7985429" y="1495843"/>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{{CE_3}}</a:t>
            </a:r>
            <a:endParaRPr sz="800" b="0" i="0" u="none" strike="noStrike" cap="none">
              <a:solidFill>
                <a:srgbClr val="333333"/>
              </a:solidFill>
              <a:latin typeface="Calibri"/>
              <a:ea typeface="Calibri"/>
              <a:cs typeface="Calibri"/>
              <a:sym typeface="Calibri"/>
            </a:endParaRPr>
          </a:p>
        </p:txBody>
      </p:sp>
      <p:sp>
        <p:nvSpPr>
          <p:cNvPr id="358" name="Google Shape;358;p49"/>
          <p:cNvSpPr txBox="1"/>
          <p:nvPr/>
        </p:nvSpPr>
        <p:spPr>
          <a:xfrm>
            <a:off x="7985429" y="1690912"/>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{{CE_4}}</a:t>
            </a:r>
            <a:endParaRPr sz="800" b="0" i="0" u="none" strike="noStrike" cap="none">
              <a:solidFill>
                <a:srgbClr val="333333"/>
              </a:solidFill>
              <a:latin typeface="Calibri"/>
              <a:ea typeface="Calibri"/>
              <a:cs typeface="Calibri"/>
              <a:sym typeface="Calibri"/>
            </a:endParaRPr>
          </a:p>
        </p:txBody>
      </p:sp>
      <p:sp>
        <p:nvSpPr>
          <p:cNvPr id="359" name="Google Shape;359;p49"/>
          <p:cNvSpPr txBox="1"/>
          <p:nvPr/>
        </p:nvSpPr>
        <p:spPr>
          <a:xfrm>
            <a:off x="7985429" y="1885981"/>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{{CE_5}}</a:t>
            </a:r>
            <a:endParaRPr sz="800" b="0" i="0" u="none" strike="noStrike" cap="none">
              <a:solidFill>
                <a:srgbClr val="333333"/>
              </a:solidFill>
              <a:latin typeface="Calibri"/>
              <a:ea typeface="Calibri"/>
              <a:cs typeface="Calibri"/>
              <a:sym typeface="Calibri"/>
            </a:endParaRPr>
          </a:p>
        </p:txBody>
      </p:sp>
      <p:sp>
        <p:nvSpPr>
          <p:cNvPr id="360" name="Google Shape;360;p49"/>
          <p:cNvSpPr txBox="1"/>
          <p:nvPr/>
        </p:nvSpPr>
        <p:spPr>
          <a:xfrm>
            <a:off x="7985429" y="2081050"/>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{{CE_6}}</a:t>
            </a:r>
            <a:endParaRPr sz="800" b="0" i="0" u="none" strike="noStrike" cap="none">
              <a:solidFill>
                <a:srgbClr val="333333"/>
              </a:solidFill>
              <a:latin typeface="Calibri"/>
              <a:ea typeface="Calibri"/>
              <a:cs typeface="Calibri"/>
              <a:sym typeface="Calibri"/>
            </a:endParaRPr>
          </a:p>
        </p:txBody>
      </p:sp>
      <p:sp>
        <p:nvSpPr>
          <p:cNvPr id="361" name="Google Shape;361;p49"/>
          <p:cNvSpPr txBox="1"/>
          <p:nvPr/>
        </p:nvSpPr>
        <p:spPr>
          <a:xfrm>
            <a:off x="7985429" y="2276120"/>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{{CE_7}}</a:t>
            </a:r>
            <a:endParaRPr sz="800" b="0" i="0" u="none" strike="noStrike" cap="none">
              <a:solidFill>
                <a:srgbClr val="333333"/>
              </a:solidFill>
              <a:latin typeface="Calibri"/>
              <a:ea typeface="Calibri"/>
              <a:cs typeface="Calibri"/>
              <a:sym typeface="Calibri"/>
            </a:endParaRPr>
          </a:p>
        </p:txBody>
      </p:sp>
      <p:sp>
        <p:nvSpPr>
          <p:cNvPr id="362" name="Google Shape;362;p49"/>
          <p:cNvSpPr txBox="1"/>
          <p:nvPr/>
        </p:nvSpPr>
        <p:spPr>
          <a:xfrm>
            <a:off x="7985429" y="2471189"/>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{{CE_8}}</a:t>
            </a:r>
            <a:endParaRPr sz="800" b="0" i="0" u="none" strike="noStrike" cap="none">
              <a:solidFill>
                <a:srgbClr val="333333"/>
              </a:solidFill>
              <a:latin typeface="Calibri"/>
              <a:ea typeface="Calibri"/>
              <a:cs typeface="Calibri"/>
              <a:sym typeface="Calibri"/>
            </a:endParaRPr>
          </a:p>
        </p:txBody>
      </p:sp>
      <p:sp>
        <p:nvSpPr>
          <p:cNvPr id="363" name="Google Shape;363;p49"/>
          <p:cNvSpPr txBox="1"/>
          <p:nvPr/>
        </p:nvSpPr>
        <p:spPr>
          <a:xfrm>
            <a:off x="7985429" y="2666258"/>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{{CE_9}}</a:t>
            </a:r>
            <a:endParaRPr sz="800" b="0" i="0" u="none" strike="noStrike" cap="none">
              <a:solidFill>
                <a:srgbClr val="333333"/>
              </a:solidFill>
              <a:latin typeface="Calibri"/>
              <a:ea typeface="Calibri"/>
              <a:cs typeface="Calibri"/>
              <a:sym typeface="Calibri"/>
            </a:endParaRPr>
          </a:p>
        </p:txBody>
      </p:sp>
      <p:sp>
        <p:nvSpPr>
          <p:cNvPr id="364" name="Google Shape;364;p49"/>
          <p:cNvSpPr txBox="1"/>
          <p:nvPr/>
        </p:nvSpPr>
        <p:spPr>
          <a:xfrm>
            <a:off x="7985429" y="2861327"/>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{{CE_10}}</a:t>
            </a:r>
            <a:endParaRPr sz="800" b="0" i="0" u="none" strike="noStrike" cap="none">
              <a:solidFill>
                <a:srgbClr val="333333"/>
              </a:solidFill>
              <a:latin typeface="Calibri"/>
              <a:ea typeface="Calibri"/>
              <a:cs typeface="Calibri"/>
              <a:sym typeface="Calibri"/>
            </a:endParaRPr>
          </a:p>
        </p:txBody>
      </p:sp>
      <p:sp>
        <p:nvSpPr>
          <p:cNvPr id="365" name="Google Shape;365;p49"/>
          <p:cNvSpPr txBox="1"/>
          <p:nvPr/>
        </p:nvSpPr>
        <p:spPr>
          <a:xfrm>
            <a:off x="7990523" y="3056397"/>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{{CE_11}}</a:t>
            </a:r>
            <a:endParaRPr sz="800" b="0" i="0" u="none" strike="noStrike" cap="none">
              <a:solidFill>
                <a:srgbClr val="333333"/>
              </a:solidFill>
              <a:latin typeface="Calibri"/>
              <a:ea typeface="Calibri"/>
              <a:cs typeface="Calibri"/>
              <a:sym typeface="Calibri"/>
            </a:endParaRPr>
          </a:p>
        </p:txBody>
      </p:sp>
      <p:sp>
        <p:nvSpPr>
          <p:cNvPr id="366" name="Google Shape;366;p49"/>
          <p:cNvSpPr txBox="1"/>
          <p:nvPr/>
        </p:nvSpPr>
        <p:spPr>
          <a:xfrm>
            <a:off x="7985429" y="3251466"/>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{{CE_12}}</a:t>
            </a:r>
            <a:endParaRPr sz="800" b="0" i="0" u="none" strike="noStrike" cap="none">
              <a:solidFill>
                <a:srgbClr val="333333"/>
              </a:solidFill>
              <a:latin typeface="Calibri"/>
              <a:ea typeface="Calibri"/>
              <a:cs typeface="Calibri"/>
              <a:sym typeface="Calibri"/>
            </a:endParaRPr>
          </a:p>
        </p:txBody>
      </p:sp>
      <p:pic>
        <p:nvPicPr>
          <p:cNvPr id="367" name="Google Shape;367;p49"/>
          <p:cNvPicPr preferRelativeResize="0"/>
          <p:nvPr/>
        </p:nvPicPr>
        <p:blipFill rotWithShape="1">
          <a:blip r:embed="rId15">
            <a:alphaModFix/>
          </a:blip>
          <a:srcRect/>
          <a:stretch/>
        </p:blipFill>
        <p:spPr>
          <a:xfrm>
            <a:off x="2972000" y="3837150"/>
            <a:ext cx="5986350" cy="1180899"/>
          </a:xfrm>
          <a:prstGeom prst="rect">
            <a:avLst/>
          </a:prstGeom>
          <a:noFill/>
          <a:ln w="9525" cap="flat" cmpd="sng">
            <a:solidFill>
              <a:schemeClr val="accent1"/>
            </a:solidFill>
            <a:prstDash val="solid"/>
            <a:round/>
            <a:headEnd type="none" w="sm" len="sm"/>
            <a:tailEnd type="none" w="sm" len="sm"/>
          </a:ln>
        </p:spPr>
      </p:pic>
      <p:sp>
        <p:nvSpPr>
          <p:cNvPr id="368" name="Google Shape;368;p49"/>
          <p:cNvSpPr txBox="1"/>
          <p:nvPr/>
        </p:nvSpPr>
        <p:spPr>
          <a:xfrm>
            <a:off x="3107645" y="3877908"/>
            <a:ext cx="2630400" cy="309000"/>
          </a:xfrm>
          <a:prstGeom prst="rect">
            <a:avLst/>
          </a:prstGeom>
          <a:noFill/>
          <a:ln>
            <a:noFill/>
          </a:ln>
        </p:spPr>
        <p:txBody>
          <a:bodyPr spcFirstLastPara="1" wrap="square" lIns="68575" tIns="34275" rIns="68575" bIns="34275" anchor="t" anchorCtr="0">
            <a:normAutofit/>
          </a:bodyPr>
          <a:lstStyle/>
          <a:p>
            <a:pPr marL="0" marR="0" lvl="0" indent="0" algn="l" rtl="0">
              <a:lnSpc>
                <a:spcPct val="90000"/>
              </a:lnSpc>
              <a:spcBef>
                <a:spcPts val="0"/>
              </a:spcBef>
              <a:spcAft>
                <a:spcPts val="0"/>
              </a:spcAft>
              <a:buClr>
                <a:schemeClr val="dk2"/>
              </a:buClr>
              <a:buSzPts val="1500"/>
              <a:buFont typeface="Arial"/>
              <a:buNone/>
            </a:pPr>
            <a:r>
              <a:rPr lang="en" sz="1400" b="0" i="0" u="sng" strike="noStrike" cap="none">
                <a:solidFill>
                  <a:schemeClr val="hlink"/>
                </a:solidFill>
                <a:latin typeface="Calibri"/>
                <a:ea typeface="Calibri"/>
                <a:cs typeface="Calibri"/>
                <a:sym typeface="Calibri"/>
                <a:hlinkClick r:id="rId16"/>
              </a:rPr>
              <a:t>AI Visibility / Inventory</a:t>
            </a:r>
            <a:r>
              <a:rPr lang="en" sz="1400" b="0" i="0" u="none" strike="noStrike" cap="none">
                <a:solidFill>
                  <a:srgbClr val="0254EC"/>
                </a:solidFill>
                <a:latin typeface="Calibri"/>
                <a:ea typeface="Calibri"/>
                <a:cs typeface="Calibri"/>
                <a:sym typeface="Calibri"/>
              </a:rPr>
              <a:t> </a:t>
            </a:r>
            <a:r>
              <a:rPr lang="en" sz="1500" b="0" i="0" u="none" strike="noStrike" cap="none">
                <a:solidFill>
                  <a:schemeClr val="hlink"/>
                </a:solidFill>
                <a:uFill>
                  <a:noFill/>
                </a:uFill>
                <a:latin typeface="Calibri"/>
                <a:ea typeface="Calibri"/>
                <a:cs typeface="Calibri"/>
                <a:sym typeface="Calibri"/>
                <a:hlinkClick r:id="rId13"/>
              </a:rPr>
              <a:t>↗</a:t>
            </a:r>
            <a:endParaRPr sz="1400" b="0" i="0" u="none" strike="noStrike" cap="none">
              <a:solidFill>
                <a:srgbClr val="0254EC"/>
              </a:solidFill>
              <a:latin typeface="Calibri"/>
              <a:ea typeface="Calibri"/>
              <a:cs typeface="Calibri"/>
              <a:sym typeface="Calibri"/>
            </a:endParaRPr>
          </a:p>
        </p:txBody>
      </p:sp>
      <p:sp>
        <p:nvSpPr>
          <p:cNvPr id="369" name="Google Shape;369;p49"/>
          <p:cNvSpPr/>
          <p:nvPr/>
        </p:nvSpPr>
        <p:spPr>
          <a:xfrm>
            <a:off x="3139402" y="427905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{{AI_MODELS_COUNT}}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AI Models</a:t>
            </a:r>
            <a:endParaRPr sz="1200" b="0" i="0" u="none" strike="noStrike" cap="none">
              <a:solidFill>
                <a:srgbClr val="000000"/>
              </a:solidFill>
              <a:latin typeface="Calibri"/>
              <a:ea typeface="Calibri"/>
              <a:cs typeface="Calibri"/>
              <a:sym typeface="Calibri"/>
            </a:endParaRPr>
          </a:p>
        </p:txBody>
      </p:sp>
      <p:sp>
        <p:nvSpPr>
          <p:cNvPr id="370" name="Google Shape;370;p49"/>
          <p:cNvSpPr/>
          <p:nvPr/>
        </p:nvSpPr>
        <p:spPr>
          <a:xfrm>
            <a:off x="4314761" y="427905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{{AI_AGENTS_COUNT}}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AI Agents</a:t>
            </a:r>
            <a:endParaRPr sz="700" b="0" i="0" u="none" strike="noStrike" cap="none">
              <a:solidFill>
                <a:srgbClr val="00113E"/>
              </a:solidFill>
              <a:latin typeface="Calibri"/>
              <a:ea typeface="Calibri"/>
              <a:cs typeface="Calibri"/>
              <a:sym typeface="Calibri"/>
            </a:endParaRPr>
          </a:p>
        </p:txBody>
      </p:sp>
      <p:sp>
        <p:nvSpPr>
          <p:cNvPr id="371" name="Google Shape;371;p49"/>
          <p:cNvSpPr/>
          <p:nvPr/>
        </p:nvSpPr>
        <p:spPr>
          <a:xfrm>
            <a:off x="5490120" y="4279060"/>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{{AI_PIPELINES_COUNT}}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AI Pipelines</a:t>
            </a:r>
            <a:endParaRPr sz="700" b="0" i="0" u="none" strike="noStrike" cap="none">
              <a:solidFill>
                <a:srgbClr val="00113E"/>
              </a:solidFill>
              <a:latin typeface="Calibri"/>
              <a:ea typeface="Calibri"/>
              <a:cs typeface="Calibri"/>
              <a:sym typeface="Calibri"/>
            </a:endParaRPr>
          </a:p>
        </p:txBody>
      </p:sp>
      <p:sp>
        <p:nvSpPr>
          <p:cNvPr id="372" name="Google Shape;372;p49"/>
          <p:cNvSpPr/>
          <p:nvPr/>
        </p:nvSpPr>
        <p:spPr>
          <a:xfrm>
            <a:off x="6665479" y="4284759"/>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{{AI_WORKLOADS_COUNT}}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AI Workloads</a:t>
            </a:r>
            <a:endParaRPr sz="700" b="0" i="0" u="none" strike="noStrike" cap="none">
              <a:solidFill>
                <a:srgbClr val="00113E"/>
              </a:solidFill>
              <a:latin typeface="Calibri"/>
              <a:ea typeface="Calibri"/>
              <a:cs typeface="Calibri"/>
              <a:sym typeface="Calibri"/>
            </a:endParaRPr>
          </a:p>
        </p:txBody>
      </p:sp>
      <p:sp>
        <p:nvSpPr>
          <p:cNvPr id="373" name="Google Shape;373;p49"/>
          <p:cNvSpPr/>
          <p:nvPr/>
        </p:nvSpPr>
        <p:spPr>
          <a:xfrm>
            <a:off x="3145104" y="4656960"/>
            <a:ext cx="1060500" cy="2844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{{AI_GUARDRAILS_COUNT}}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AI Guardrails</a:t>
            </a:r>
            <a:endParaRPr sz="700" b="0" i="0" u="none" strike="noStrike" cap="none">
              <a:solidFill>
                <a:srgbClr val="00113E"/>
              </a:solidFill>
              <a:latin typeface="Calibri"/>
              <a:ea typeface="Calibri"/>
              <a:cs typeface="Calibri"/>
              <a:sym typeface="Calibri"/>
            </a:endParaRPr>
          </a:p>
        </p:txBody>
      </p:sp>
      <p:sp>
        <p:nvSpPr>
          <p:cNvPr id="374" name="Google Shape;374;p49"/>
          <p:cNvSpPr/>
          <p:nvPr/>
        </p:nvSpPr>
        <p:spPr>
          <a:xfrm>
            <a:off x="4319779" y="4664450"/>
            <a:ext cx="1060500" cy="2844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{{AI_MCP_SERVERS_COUNT}}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MCP Servers</a:t>
            </a:r>
            <a:endParaRPr sz="700" b="0" i="0" u="none" strike="noStrike" cap="none">
              <a:solidFill>
                <a:srgbClr val="00113E"/>
              </a:solidFill>
              <a:latin typeface="Calibri"/>
              <a:ea typeface="Calibri"/>
              <a:cs typeface="Calibri"/>
              <a:sym typeface="Calibri"/>
            </a:endParaRPr>
          </a:p>
        </p:txBody>
      </p:sp>
      <p:sp>
        <p:nvSpPr>
          <p:cNvPr id="375" name="Google Shape;375;p49"/>
          <p:cNvSpPr/>
          <p:nvPr/>
        </p:nvSpPr>
        <p:spPr>
          <a:xfrm>
            <a:off x="5494453" y="4657061"/>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{{AI_TECHNOLOGIES_COUNT}}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AI Technologies</a:t>
            </a:r>
            <a:endParaRPr sz="700" b="0" i="0" u="none" strike="noStrike" cap="none">
              <a:solidFill>
                <a:srgbClr val="00113E"/>
              </a:solidFill>
              <a:latin typeface="Calibri"/>
              <a:ea typeface="Calibri"/>
              <a:cs typeface="Calibri"/>
              <a:sym typeface="Calibri"/>
            </a:endParaRPr>
          </a:p>
        </p:txBody>
      </p:sp>
      <p:sp>
        <p:nvSpPr>
          <p:cNvPr id="376" name="Google Shape;376;p49"/>
          <p:cNvSpPr/>
          <p:nvPr/>
        </p:nvSpPr>
        <p:spPr>
          <a:xfrm>
            <a:off x="6669128" y="4655787"/>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{{AI_CODE_REPOS_COUNT}}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Code Repos with AI</a:t>
            </a:r>
            <a:endParaRPr sz="700" b="0" i="0" u="none" strike="noStrike" cap="none">
              <a:solidFill>
                <a:srgbClr val="00113E"/>
              </a:solidFill>
              <a:latin typeface="Calibri"/>
              <a:ea typeface="Calibri"/>
              <a:cs typeface="Calibri"/>
              <a:sym typeface="Calibri"/>
            </a:endParaRPr>
          </a:p>
        </p:txBody>
      </p:sp>
      <p:sp>
        <p:nvSpPr>
          <p:cNvPr id="377" name="Google Shape;377;p49"/>
          <p:cNvSpPr txBox="1"/>
          <p:nvPr/>
        </p:nvSpPr>
        <p:spPr>
          <a:xfrm>
            <a:off x="6013666" y="3460474"/>
            <a:ext cx="2287200" cy="181200"/>
          </a:xfrm>
          <a:prstGeom prst="rect">
            <a:avLst/>
          </a:prstGeom>
          <a:noFill/>
          <a:ln>
            <a:noFill/>
          </a:ln>
        </p:spPr>
        <p:txBody>
          <a:bodyPr spcFirstLastPara="1" wrap="square" lIns="91225" tIns="91225" rIns="91225" bIns="91225" anchor="t" anchorCtr="0">
            <a:noAutofit/>
          </a:bodyPr>
          <a:lstStyle/>
          <a:p>
            <a:pPr marL="0" marR="0" lvl="0" indent="0" algn="l"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{{CLOUD_EVENTS_13}}</a:t>
            </a:r>
            <a:endParaRPr sz="800" b="0" i="0" u="none" strike="noStrike" cap="none">
              <a:solidFill>
                <a:srgbClr val="333333"/>
              </a:solidFill>
              <a:latin typeface="Calibri"/>
              <a:ea typeface="Calibri"/>
              <a:cs typeface="Calibri"/>
              <a:sym typeface="Calibri"/>
            </a:endParaRPr>
          </a:p>
        </p:txBody>
      </p:sp>
      <p:sp>
        <p:nvSpPr>
          <p:cNvPr id="378" name="Google Shape;378;p49"/>
          <p:cNvSpPr txBox="1"/>
          <p:nvPr/>
        </p:nvSpPr>
        <p:spPr>
          <a:xfrm>
            <a:off x="7983866" y="3443782"/>
            <a:ext cx="798300" cy="183900"/>
          </a:xfrm>
          <a:prstGeom prst="rect">
            <a:avLst/>
          </a:prstGeom>
          <a:noFill/>
          <a:ln>
            <a:noFill/>
          </a:ln>
        </p:spPr>
        <p:txBody>
          <a:bodyPr spcFirstLastPara="1" wrap="square" lIns="91225" tIns="91225" rIns="91225" bIns="91225" anchor="t" anchorCtr="0">
            <a:noAutofit/>
          </a:bodyPr>
          <a:lstStyle/>
          <a:p>
            <a:pPr marL="0" marR="0" lvl="0" indent="0" algn="r" rtl="0">
              <a:lnSpc>
                <a:spcPct val="100000"/>
              </a:lnSpc>
              <a:spcBef>
                <a:spcPts val="0"/>
              </a:spcBef>
              <a:spcAft>
                <a:spcPts val="0"/>
              </a:spcAft>
              <a:buClr>
                <a:srgbClr val="000000"/>
              </a:buClr>
              <a:buSzPts val="800"/>
              <a:buFont typeface="Arial"/>
              <a:buNone/>
            </a:pPr>
            <a:r>
              <a:rPr lang="en" sz="800" b="0" i="0" u="none" strike="noStrike" cap="none">
                <a:solidFill>
                  <a:srgbClr val="333333"/>
                </a:solidFill>
                <a:latin typeface="Calibri"/>
                <a:ea typeface="Calibri"/>
                <a:cs typeface="Calibri"/>
                <a:sym typeface="Calibri"/>
              </a:rPr>
              <a:t>{{CE_13}}</a:t>
            </a:r>
            <a:endParaRPr sz="800" b="0" i="0" u="none" strike="noStrike" cap="none">
              <a:solidFill>
                <a:srgbClr val="333333"/>
              </a:solidFill>
              <a:latin typeface="Calibri"/>
              <a:ea typeface="Calibri"/>
              <a:cs typeface="Calibri"/>
              <a:sym typeface="Calibri"/>
            </a:endParaRPr>
          </a:p>
        </p:txBody>
      </p:sp>
      <p:sp>
        <p:nvSpPr>
          <p:cNvPr id="379" name="Google Shape;379;p49"/>
          <p:cNvSpPr/>
          <p:nvPr/>
        </p:nvSpPr>
        <p:spPr>
          <a:xfrm>
            <a:off x="3190949" y="3268438"/>
            <a:ext cx="11787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dirty="0">
                <a:solidFill>
                  <a:srgbClr val="00113E"/>
                </a:solidFill>
                <a:latin typeface="Calibri"/>
                <a:ea typeface="Calibri"/>
                <a:cs typeface="Calibri"/>
                <a:sym typeface="Calibri"/>
              </a:rPr>
              <a:t>{{CON_ADM}} </a:t>
            </a:r>
            <a:br>
              <a:rPr lang="en" sz="700" b="0" i="0" u="none" strike="noStrike" cap="none" dirty="0">
                <a:solidFill>
                  <a:srgbClr val="00113E"/>
                </a:solidFill>
                <a:latin typeface="Calibri"/>
                <a:ea typeface="Calibri"/>
                <a:cs typeface="Calibri"/>
                <a:sym typeface="Calibri"/>
              </a:rPr>
            </a:br>
            <a:r>
              <a:rPr lang="en" sz="700" b="0" i="0" u="none" strike="noStrike" cap="none" dirty="0">
                <a:solidFill>
                  <a:srgbClr val="00113E"/>
                </a:solidFill>
                <a:latin typeface="Calibri"/>
                <a:ea typeface="Calibri"/>
                <a:cs typeface="Calibri"/>
                <a:sym typeface="Calibri"/>
              </a:rPr>
              <a:t>Admission Controllers</a:t>
            </a:r>
            <a:endParaRPr sz="700" b="0" i="0" u="none" strike="noStrike" cap="none" dirty="0">
              <a:solidFill>
                <a:srgbClr val="00113E"/>
              </a:solidFill>
              <a:latin typeface="Calibri"/>
              <a:ea typeface="Calibri"/>
              <a:cs typeface="Calibri"/>
              <a:sym typeface="Calibri"/>
            </a:endParaRPr>
          </a:p>
        </p:txBody>
      </p:sp>
      <p:sp>
        <p:nvSpPr>
          <p:cNvPr id="380" name="Google Shape;380;p49"/>
          <p:cNvSpPr/>
          <p:nvPr/>
        </p:nvSpPr>
        <p:spPr>
          <a:xfrm>
            <a:off x="7840838" y="4284759"/>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{{AI_DATASETS_COUNT}}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AI Datastores</a:t>
            </a:r>
            <a:endParaRPr sz="700" b="0" i="0" u="none" strike="noStrike" cap="none">
              <a:solidFill>
                <a:srgbClr val="00113E"/>
              </a:solidFill>
              <a:latin typeface="Calibri"/>
              <a:ea typeface="Calibri"/>
              <a:cs typeface="Calibri"/>
              <a:sym typeface="Calibri"/>
            </a:endParaRPr>
          </a:p>
        </p:txBody>
      </p:sp>
      <p:sp>
        <p:nvSpPr>
          <p:cNvPr id="381" name="Google Shape;381;p49"/>
          <p:cNvSpPr/>
          <p:nvPr/>
        </p:nvSpPr>
        <p:spPr>
          <a:xfrm>
            <a:off x="7843803" y="4655787"/>
            <a:ext cx="1060500" cy="2730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0" tIns="91425" rIns="0"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{{AI_CA_COUNT}}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Coding Agents (IDE)</a:t>
            </a:r>
            <a:endParaRPr sz="700" b="0" i="0" u="none" strike="noStrike" cap="none">
              <a:solidFill>
                <a:srgbClr val="00113E"/>
              </a:solidFill>
              <a:latin typeface="Calibri"/>
              <a:ea typeface="Calibri"/>
              <a:cs typeface="Calibri"/>
              <a:sym typeface="Calibri"/>
            </a:endParaRPr>
          </a:p>
        </p:txBody>
      </p:sp>
      <p:sp>
        <p:nvSpPr>
          <p:cNvPr id="382" name="Google Shape;382;p49"/>
          <p:cNvSpPr/>
          <p:nvPr/>
        </p:nvSpPr>
        <p:spPr>
          <a:xfrm>
            <a:off x="4488949" y="3261374"/>
            <a:ext cx="1178700" cy="429900"/>
          </a:xfrm>
          <a:prstGeom prst="roundRect">
            <a:avLst>
              <a:gd name="adj" fmla="val 16667"/>
            </a:avLst>
          </a:prstGeom>
          <a:solidFill>
            <a:srgbClr val="F7FAFF"/>
          </a:solidFill>
          <a:ln w="9525" cap="flat" cmpd="sng">
            <a:solidFill>
              <a:srgbClr val="6296FF"/>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en" sz="700" b="0" i="0" u="none" strike="noStrike" cap="none">
                <a:solidFill>
                  <a:srgbClr val="00113E"/>
                </a:solidFill>
                <a:latin typeface="Calibri"/>
                <a:ea typeface="Calibri"/>
                <a:cs typeface="Calibri"/>
                <a:sym typeface="Calibri"/>
              </a:rPr>
              <a:t>{{CON_WOS}} </a:t>
            </a:r>
            <a:br>
              <a:rPr lang="en" sz="700" b="0" i="0" u="none" strike="noStrike" cap="none">
                <a:solidFill>
                  <a:srgbClr val="00113E"/>
                </a:solidFill>
                <a:latin typeface="Calibri"/>
                <a:ea typeface="Calibri"/>
                <a:cs typeface="Calibri"/>
                <a:sym typeface="Calibri"/>
              </a:rPr>
            </a:br>
            <a:r>
              <a:rPr lang="en" sz="700" b="0" i="0" u="none" strike="noStrike" cap="none">
                <a:solidFill>
                  <a:srgbClr val="00113E"/>
                </a:solidFill>
                <a:latin typeface="Calibri"/>
                <a:ea typeface="Calibri"/>
                <a:cs typeface="Calibri"/>
                <a:sym typeface="Calibri"/>
              </a:rPr>
              <a:t>WizOS Workloads</a:t>
            </a:r>
            <a:endParaRPr sz="700" b="0" i="0" u="none" strike="noStrike" cap="none">
              <a:solidFill>
                <a:srgbClr val="00113E"/>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39"/>
        <p:cNvGrpSpPr/>
        <p:nvPr/>
      </p:nvGrpSpPr>
      <p:grpSpPr>
        <a:xfrm>
          <a:off x="0" y="0"/>
          <a:ext cx="0" cy="0"/>
          <a:chOff x="0" y="0"/>
          <a:chExt cx="0" cy="0"/>
        </a:xfrm>
      </p:grpSpPr>
      <p:pic>
        <p:nvPicPr>
          <p:cNvPr id="1340" name="Google Shape;1340;p66" title="Rectangle 7854.png"/>
          <p:cNvPicPr preferRelativeResize="0"/>
          <p:nvPr/>
        </p:nvPicPr>
        <p:blipFill rotWithShape="1">
          <a:blip r:embed="rId3">
            <a:alphaModFix/>
          </a:blip>
          <a:srcRect/>
          <a:stretch/>
        </p:blipFill>
        <p:spPr>
          <a:xfrm>
            <a:off x="3237298" y="1837850"/>
            <a:ext cx="2669404" cy="3050125"/>
          </a:xfrm>
          <a:prstGeom prst="rect">
            <a:avLst/>
          </a:prstGeom>
          <a:noFill/>
          <a:ln>
            <a:noFill/>
          </a:ln>
        </p:spPr>
      </p:pic>
      <p:pic>
        <p:nvPicPr>
          <p:cNvPr id="1341" name="Google Shape;1341;p66" title="Rectangle 7854.png"/>
          <p:cNvPicPr preferRelativeResize="0"/>
          <p:nvPr/>
        </p:nvPicPr>
        <p:blipFill rotWithShape="1">
          <a:blip r:embed="rId3">
            <a:alphaModFix/>
          </a:blip>
          <a:srcRect/>
          <a:stretch/>
        </p:blipFill>
        <p:spPr>
          <a:xfrm>
            <a:off x="357125" y="1837850"/>
            <a:ext cx="2669404" cy="3050125"/>
          </a:xfrm>
          <a:prstGeom prst="rect">
            <a:avLst/>
          </a:prstGeom>
          <a:noFill/>
          <a:ln>
            <a:noFill/>
          </a:ln>
        </p:spPr>
      </p:pic>
      <p:cxnSp>
        <p:nvCxnSpPr>
          <p:cNvPr id="1342" name="Google Shape;1342;p66"/>
          <p:cNvCxnSpPr/>
          <p:nvPr/>
        </p:nvCxnSpPr>
        <p:spPr>
          <a:xfrm>
            <a:off x="63057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43" name="Google Shape;1343;p66"/>
          <p:cNvSpPr txBox="1"/>
          <p:nvPr/>
        </p:nvSpPr>
        <p:spPr>
          <a:xfrm>
            <a:off x="319913" y="3164537"/>
            <a:ext cx="2641800" cy="1539900"/>
          </a:xfrm>
          <a:prstGeom prst="rect">
            <a:avLst/>
          </a:prstGeom>
          <a:noFill/>
          <a:ln>
            <a:noFill/>
          </a:ln>
        </p:spPr>
        <p:txBody>
          <a:bodyPr spcFirstLastPara="1" wrap="square" lIns="68575" tIns="34275" rIns="68575" bIns="34275" anchor="t" anchorCtr="0">
            <a:no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a:rPr>
              <a:t>An unscanned resource</a:t>
            </a: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 is one in which </a:t>
            </a:r>
            <a:r>
              <a:rPr lang="en" sz="900" b="0" i="0" u="none" strike="noStrike" cap="none" dirty="0">
                <a:solidFill>
                  <a:schemeClr val="dk1"/>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Light"/>
              </a:rPr>
              <a:t>Wiz can identify but cannot directly scan, such as unconnected repositories, cloud accounts, and organizations.</a:t>
            </a:r>
            <a:r>
              <a:rPr lang="en"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 </a:t>
            </a:r>
            <a:endParaRPr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Classify </a:t>
            </a:r>
            <a:r>
              <a:rPr lang="en" sz="900" b="0" i="0" u="none" strike="noStrike" cap="none" dirty="0">
                <a:solidFill>
                  <a:schemeClr val="dk1"/>
                </a:solidFill>
                <a:highlight>
                  <a:srgbClr val="FFFFFF"/>
                </a:highlight>
                <a:latin typeface="Calibri" panose="020F0502020204030204" pitchFamily="34" charset="0"/>
                <a:ea typeface="Calibri" panose="020F0502020204030204" pitchFamily="34" charset="0"/>
                <a:cs typeface="Calibri" panose="020F0502020204030204" pitchFamily="34" charset="0"/>
                <a:sym typeface="Poppins Light"/>
              </a:rPr>
              <a:t>these resources, determine if they belong to your organization or a third party, and identify gaps in your security coverage.</a:t>
            </a:r>
            <a:r>
              <a:rPr lang="en"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 </a:t>
            </a:r>
            <a:endParaRPr sz="9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cxnSp>
        <p:nvCxnSpPr>
          <p:cNvPr id="1344" name="Google Shape;1344;p66"/>
          <p:cNvCxnSpPr/>
          <p:nvPr/>
        </p:nvCxnSpPr>
        <p:spPr>
          <a:xfrm>
            <a:off x="3510750" y="3063399"/>
            <a:ext cx="2122500" cy="0"/>
          </a:xfrm>
          <a:prstGeom prst="straightConnector1">
            <a:avLst/>
          </a:prstGeom>
          <a:noFill/>
          <a:ln w="9525" cap="flat" cmpd="sng">
            <a:solidFill>
              <a:srgbClr val="0254EC"/>
            </a:solidFill>
            <a:prstDash val="solid"/>
            <a:round/>
            <a:headEnd type="none" w="sm" len="sm"/>
            <a:tailEnd type="none" w="sm" len="sm"/>
          </a:ln>
        </p:spPr>
      </p:cxnSp>
      <p:pic>
        <p:nvPicPr>
          <p:cNvPr id="1345" name="Google Shape;1345;p66" title="Rectangle 7854.png"/>
          <p:cNvPicPr preferRelativeResize="0"/>
          <p:nvPr/>
        </p:nvPicPr>
        <p:blipFill rotWithShape="1">
          <a:blip r:embed="rId3">
            <a:alphaModFix/>
          </a:blip>
          <a:srcRect/>
          <a:stretch/>
        </p:blipFill>
        <p:spPr>
          <a:xfrm>
            <a:off x="6117471" y="1837850"/>
            <a:ext cx="2669404" cy="3050125"/>
          </a:xfrm>
          <a:prstGeom prst="rect">
            <a:avLst/>
          </a:prstGeom>
          <a:noFill/>
          <a:ln>
            <a:noFill/>
          </a:ln>
        </p:spPr>
      </p:pic>
      <p:cxnSp>
        <p:nvCxnSpPr>
          <p:cNvPr id="1346" name="Google Shape;1346;p66"/>
          <p:cNvCxnSpPr/>
          <p:nvPr/>
        </p:nvCxnSpPr>
        <p:spPr>
          <a:xfrm>
            <a:off x="639092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47" name="Google Shape;1347;p66"/>
          <p:cNvSpPr txBox="1"/>
          <p:nvPr/>
        </p:nvSpPr>
        <p:spPr>
          <a:xfrm>
            <a:off x="3209516" y="3164537"/>
            <a:ext cx="2599800" cy="16185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US" sz="900"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a:rPr>
              <a:t>{{FA1_VISIBILITY}}</a:t>
            </a:r>
            <a:endParaRPr sz="90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a:rPr>
              <a:t>{{FA2_VISIBILITY}}</a:t>
            </a:r>
            <a:endParaRPr sz="90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1348" name="Google Shape;1348;p66"/>
          <p:cNvSpPr txBox="1"/>
          <p:nvPr/>
        </p:nvSpPr>
        <p:spPr>
          <a:xfrm>
            <a:off x="6078114" y="3177641"/>
            <a:ext cx="2641800" cy="16842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1"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a:rPr>
              <a:t>Fold in third-party telemetry</a:t>
            </a: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 Integrating with additional tools to provide stronger attribution. I.e. Pull findings from tools like ServiceNow, Armorcode, Crowdstrike, etc.) across cloud and on-prem.</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Normalize, deduplicate and enrich existing Wiz data, in one view.</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1349" name="Google Shape;1349;p66"/>
          <p:cNvSpPr txBox="1"/>
          <p:nvPr/>
        </p:nvSpPr>
        <p:spPr>
          <a:xfrm>
            <a:off x="6243025" y="2624673"/>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Expand Coverage 3rd Party Resources &amp; Telemetry</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1350" name="Google Shape;1350;p66"/>
          <p:cNvSpPr txBox="1">
            <a:spLocks noGrp="1"/>
          </p:cNvSpPr>
          <p:nvPr>
            <p:ph type="title" idx="4294967295"/>
          </p:nvPr>
        </p:nvSpPr>
        <p:spPr>
          <a:xfrm>
            <a:off x="0" y="535725"/>
            <a:ext cx="91440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Top Three Focus Areas to Improve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Cloud Visibility &amp; Coverage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1351" name="Google Shape;1351;p66"/>
          <p:cNvPicPr preferRelativeResize="0"/>
          <p:nvPr/>
        </p:nvPicPr>
        <p:blipFill rotWithShape="1">
          <a:blip r:embed="rId4">
            <a:alphaModFix/>
          </a:blip>
          <a:srcRect/>
          <a:stretch/>
        </p:blipFill>
        <p:spPr>
          <a:xfrm>
            <a:off x="1326966" y="1926775"/>
            <a:ext cx="729718" cy="693550"/>
          </a:xfrm>
          <a:prstGeom prst="rect">
            <a:avLst/>
          </a:prstGeom>
          <a:noFill/>
          <a:ln>
            <a:noFill/>
          </a:ln>
        </p:spPr>
      </p:pic>
      <p:pic>
        <p:nvPicPr>
          <p:cNvPr id="1352" name="Google Shape;1352;p66"/>
          <p:cNvPicPr preferRelativeResize="0"/>
          <p:nvPr/>
        </p:nvPicPr>
        <p:blipFill rotWithShape="1">
          <a:blip r:embed="rId5">
            <a:alphaModFix/>
          </a:blip>
          <a:srcRect/>
          <a:stretch/>
        </p:blipFill>
        <p:spPr>
          <a:xfrm>
            <a:off x="4225225" y="1913375"/>
            <a:ext cx="693550" cy="693550"/>
          </a:xfrm>
          <a:prstGeom prst="rect">
            <a:avLst/>
          </a:prstGeom>
          <a:noFill/>
          <a:ln>
            <a:noFill/>
          </a:ln>
        </p:spPr>
      </p:pic>
      <p:pic>
        <p:nvPicPr>
          <p:cNvPr id="1353" name="Google Shape;1353;p66" title="Group 1000002779.png"/>
          <p:cNvPicPr preferRelativeResize="0"/>
          <p:nvPr/>
        </p:nvPicPr>
        <p:blipFill rotWithShape="1">
          <a:blip r:embed="rId6">
            <a:alphaModFix/>
          </a:blip>
          <a:srcRect/>
          <a:stretch/>
        </p:blipFill>
        <p:spPr>
          <a:xfrm>
            <a:off x="7043298" y="1991749"/>
            <a:ext cx="817750" cy="563600"/>
          </a:xfrm>
          <a:prstGeom prst="rect">
            <a:avLst/>
          </a:prstGeom>
          <a:noFill/>
          <a:ln>
            <a:noFill/>
          </a:ln>
        </p:spPr>
      </p:pic>
      <p:sp>
        <p:nvSpPr>
          <p:cNvPr id="1354" name="Google Shape;1354;p66"/>
          <p:cNvSpPr txBox="1"/>
          <p:nvPr/>
        </p:nvSpPr>
        <p:spPr>
          <a:xfrm>
            <a:off x="482675" y="2640997"/>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Review Unscanned </a:t>
            </a:r>
            <a:b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b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Resources for Coverage Gaps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1355" name="Google Shape;1355;p66"/>
          <p:cNvSpPr txBox="1"/>
          <p:nvPr/>
        </p:nvSpPr>
        <p:spPr>
          <a:xfrm>
            <a:off x="3362850" y="2627164"/>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Adopt Additional Features &amp; Functionality in Wiz</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pic>
        <p:nvPicPr>
          <p:cNvPr id="388" name="Google Shape;388;p50"/>
          <p:cNvPicPr preferRelativeResize="0"/>
          <p:nvPr/>
        </p:nvPicPr>
        <p:blipFill rotWithShape="1">
          <a:blip r:embed="rId3">
            <a:alphaModFix/>
          </a:blip>
          <a:srcRect/>
          <a:stretch/>
        </p:blipFill>
        <p:spPr>
          <a:xfrm>
            <a:off x="169678" y="971143"/>
            <a:ext cx="2848816" cy="3509202"/>
          </a:xfrm>
          <a:prstGeom prst="rect">
            <a:avLst/>
          </a:prstGeom>
          <a:noFill/>
          <a:ln w="9525" cap="flat" cmpd="sng">
            <a:solidFill>
              <a:schemeClr val="accent1"/>
            </a:solidFill>
            <a:prstDash val="solid"/>
            <a:round/>
            <a:headEnd type="none" w="sm" len="sm"/>
            <a:tailEnd type="none" w="sm" len="sm"/>
          </a:ln>
        </p:spPr>
      </p:pic>
      <p:sp>
        <p:nvSpPr>
          <p:cNvPr id="389" name="Google Shape;389;p50"/>
          <p:cNvSpPr txBox="1">
            <a:spLocks noGrp="1"/>
          </p:cNvSpPr>
          <p:nvPr>
            <p:ph type="title" idx="4294967295"/>
          </p:nvPr>
        </p:nvSpPr>
        <p:spPr>
          <a:xfrm>
            <a:off x="150" y="2496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Wiz Adoption &amp; Usage Snapshot</a:t>
            </a:r>
            <a:endParaRPr sz="2420">
              <a:latin typeface="Calibri"/>
              <a:ea typeface="Calibri"/>
              <a:cs typeface="Calibri"/>
              <a:sym typeface="Calibri"/>
            </a:endParaRPr>
          </a:p>
        </p:txBody>
      </p:sp>
      <p:sp>
        <p:nvSpPr>
          <p:cNvPr id="390" name="Google Shape;390;p50"/>
          <p:cNvSpPr txBox="1"/>
          <p:nvPr/>
        </p:nvSpPr>
        <p:spPr>
          <a:xfrm>
            <a:off x="614172" y="1378747"/>
            <a:ext cx="24327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dirty="0">
                <a:solidFill>
                  <a:srgbClr val="00113E"/>
                </a:solidFill>
                <a:latin typeface="Calibri"/>
                <a:ea typeface="Calibri"/>
                <a:cs typeface="Calibri"/>
                <a:sym typeface="Calibri"/>
              </a:rPr>
              <a:t>Cloud Advanced</a:t>
            </a:r>
            <a:br>
              <a:rPr lang="en" sz="1100" b="0" i="0" u="none" strike="noStrike" cap="none" dirty="0">
                <a:solidFill>
                  <a:srgbClr val="00113E"/>
                </a:solidFill>
                <a:latin typeface="Calibri"/>
                <a:ea typeface="Calibri"/>
                <a:cs typeface="Calibri"/>
                <a:sym typeface="Calibri"/>
              </a:rPr>
            </a:br>
            <a:endParaRPr sz="1100" b="0" i="0" u="none" strike="noStrike" cap="none" dirty="0">
              <a:solidFill>
                <a:srgbClr val="000000"/>
              </a:solidFill>
              <a:latin typeface="Calibri"/>
              <a:ea typeface="Calibri"/>
              <a:cs typeface="Calibri"/>
              <a:sym typeface="Calibri"/>
            </a:endParaRPr>
          </a:p>
        </p:txBody>
      </p:sp>
      <p:sp>
        <p:nvSpPr>
          <p:cNvPr id="392" name="Google Shape;392;p50"/>
          <p:cNvSpPr txBox="1"/>
          <p:nvPr/>
        </p:nvSpPr>
        <p:spPr>
          <a:xfrm>
            <a:off x="169678" y="1008122"/>
            <a:ext cx="2843100" cy="3876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none" strike="noStrike" cap="none">
                <a:solidFill>
                  <a:schemeClr val="dk1"/>
                </a:solidFill>
                <a:latin typeface="Calibri"/>
                <a:ea typeface="Calibri"/>
                <a:cs typeface="Calibri"/>
                <a:sym typeface="Calibri"/>
              </a:rPr>
              <a:t>Product Usage</a:t>
            </a:r>
            <a:endParaRPr sz="1600" b="0" i="0" u="none" strike="noStrike" cap="none">
              <a:solidFill>
                <a:schemeClr val="dk1"/>
              </a:solidFill>
              <a:latin typeface="Calibri"/>
              <a:ea typeface="Calibri"/>
              <a:cs typeface="Calibri"/>
              <a:sym typeface="Calibri"/>
            </a:endParaRPr>
          </a:p>
        </p:txBody>
      </p:sp>
      <p:sp>
        <p:nvSpPr>
          <p:cNvPr id="393" name="Google Shape;393;p50"/>
          <p:cNvSpPr txBox="1"/>
          <p:nvPr/>
        </p:nvSpPr>
        <p:spPr>
          <a:xfrm>
            <a:off x="613618" y="1876601"/>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dirty="0">
                <a:solidFill>
                  <a:srgbClr val="00113E"/>
                </a:solidFill>
                <a:latin typeface="Calibri"/>
                <a:ea typeface="Calibri"/>
                <a:cs typeface="Calibri"/>
                <a:sym typeface="Calibri"/>
              </a:rPr>
              <a:t>Runtime Sensor</a:t>
            </a:r>
            <a:endParaRPr sz="1300" b="0" i="0" u="none" strike="noStrike" cap="none" dirty="0">
              <a:solidFill>
                <a:srgbClr val="38761D"/>
              </a:solidFill>
              <a:latin typeface="Calibri"/>
              <a:ea typeface="Calibri"/>
              <a:cs typeface="Calibri"/>
              <a:sym typeface="Calibri"/>
            </a:endParaRPr>
          </a:p>
        </p:txBody>
      </p:sp>
      <p:pic>
        <p:nvPicPr>
          <p:cNvPr id="394" name="Google Shape;394;p50" title="Screenshot 2025-07-09 at 19.45.30.png"/>
          <p:cNvPicPr preferRelativeResize="0"/>
          <p:nvPr/>
        </p:nvPicPr>
        <p:blipFill rotWithShape="1">
          <a:blip r:embed="rId4">
            <a:alphaModFix/>
          </a:blip>
          <a:srcRect/>
          <a:stretch/>
        </p:blipFill>
        <p:spPr>
          <a:xfrm>
            <a:off x="212175" y="1880796"/>
            <a:ext cx="384944" cy="394315"/>
          </a:xfrm>
          <a:prstGeom prst="rect">
            <a:avLst/>
          </a:prstGeom>
          <a:noFill/>
          <a:ln>
            <a:noFill/>
          </a:ln>
        </p:spPr>
      </p:pic>
      <p:sp>
        <p:nvSpPr>
          <p:cNvPr id="395" name="Google Shape;395;p50"/>
          <p:cNvSpPr txBox="1"/>
          <p:nvPr/>
        </p:nvSpPr>
        <p:spPr>
          <a:xfrm>
            <a:off x="618387" y="2392927"/>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dirty="0">
                <a:solidFill>
                  <a:srgbClr val="00113E"/>
                </a:solidFill>
                <a:latin typeface="Calibri"/>
                <a:ea typeface="Calibri"/>
                <a:cs typeface="Calibri"/>
                <a:sym typeface="Calibri"/>
              </a:rPr>
              <a:t>Wiz Defend Ingestion</a:t>
            </a:r>
            <a:endParaRPr sz="1300" b="0" i="0" u="none" strike="noStrike" cap="none" dirty="0">
              <a:solidFill>
                <a:srgbClr val="38761D"/>
              </a:solidFill>
              <a:latin typeface="Calibri"/>
              <a:ea typeface="Calibri"/>
              <a:cs typeface="Calibri"/>
              <a:sym typeface="Calibri"/>
            </a:endParaRPr>
          </a:p>
        </p:txBody>
      </p:sp>
      <p:pic>
        <p:nvPicPr>
          <p:cNvPr id="396" name="Google Shape;396;p50" title="Screenshot 2025-07-09 at 19.46.40.png"/>
          <p:cNvPicPr preferRelativeResize="0"/>
          <p:nvPr/>
        </p:nvPicPr>
        <p:blipFill rotWithShape="1">
          <a:blip r:embed="rId5">
            <a:alphaModFix/>
          </a:blip>
          <a:srcRect/>
          <a:stretch/>
        </p:blipFill>
        <p:spPr>
          <a:xfrm>
            <a:off x="194378" y="2404673"/>
            <a:ext cx="403072" cy="394315"/>
          </a:xfrm>
          <a:prstGeom prst="rect">
            <a:avLst/>
          </a:prstGeom>
          <a:noFill/>
          <a:ln>
            <a:noFill/>
          </a:ln>
        </p:spPr>
      </p:pic>
      <p:pic>
        <p:nvPicPr>
          <p:cNvPr id="397" name="Google Shape;397;p50" title="Screenshot 2025-07-09 at 19.46.06.png"/>
          <p:cNvPicPr preferRelativeResize="0"/>
          <p:nvPr/>
        </p:nvPicPr>
        <p:blipFill rotWithShape="1">
          <a:blip r:embed="rId6">
            <a:alphaModFix/>
          </a:blip>
          <a:srcRect/>
          <a:stretch/>
        </p:blipFill>
        <p:spPr>
          <a:xfrm>
            <a:off x="217005" y="2928550"/>
            <a:ext cx="385851" cy="388893"/>
          </a:xfrm>
          <a:prstGeom prst="rect">
            <a:avLst/>
          </a:prstGeom>
          <a:noFill/>
          <a:ln>
            <a:noFill/>
          </a:ln>
        </p:spPr>
      </p:pic>
      <p:sp>
        <p:nvSpPr>
          <p:cNvPr id="398" name="Google Shape;398;p50"/>
          <p:cNvSpPr txBox="1"/>
          <p:nvPr/>
        </p:nvSpPr>
        <p:spPr>
          <a:xfrm>
            <a:off x="621949" y="2904636"/>
            <a:ext cx="21201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dirty="0">
                <a:solidFill>
                  <a:srgbClr val="00113E"/>
                </a:solidFill>
                <a:latin typeface="Calibri"/>
                <a:ea typeface="Calibri"/>
                <a:cs typeface="Calibri"/>
                <a:sym typeface="Calibri"/>
              </a:rPr>
              <a:t>Wiz Code</a:t>
            </a:r>
            <a:endParaRPr sz="1300" b="0" i="0" u="none" strike="noStrike" cap="none" dirty="0">
              <a:solidFill>
                <a:srgbClr val="38761D"/>
              </a:solidFill>
              <a:latin typeface="Calibri"/>
              <a:ea typeface="Calibri"/>
              <a:cs typeface="Calibri"/>
              <a:sym typeface="Calibri"/>
            </a:endParaRPr>
          </a:p>
        </p:txBody>
      </p:sp>
      <p:pic>
        <p:nvPicPr>
          <p:cNvPr id="399" name="Google Shape;399;p50"/>
          <p:cNvPicPr preferRelativeResize="0"/>
          <p:nvPr/>
        </p:nvPicPr>
        <p:blipFill rotWithShape="1">
          <a:blip r:embed="rId7">
            <a:alphaModFix/>
          </a:blip>
          <a:srcRect/>
          <a:stretch/>
        </p:blipFill>
        <p:spPr>
          <a:xfrm>
            <a:off x="3171345" y="971143"/>
            <a:ext cx="2838298" cy="1109701"/>
          </a:xfrm>
          <a:prstGeom prst="rect">
            <a:avLst/>
          </a:prstGeom>
          <a:noFill/>
          <a:ln w="9525" cap="flat" cmpd="sng">
            <a:solidFill>
              <a:schemeClr val="accent1"/>
            </a:solidFill>
            <a:prstDash val="solid"/>
            <a:round/>
            <a:headEnd type="none" w="sm" len="sm"/>
            <a:tailEnd type="none" w="sm" len="sm"/>
          </a:ln>
        </p:spPr>
      </p:pic>
      <p:sp>
        <p:nvSpPr>
          <p:cNvPr id="400" name="Google Shape;400;p50"/>
          <p:cNvSpPr txBox="1"/>
          <p:nvPr/>
        </p:nvSpPr>
        <p:spPr>
          <a:xfrm>
            <a:off x="3171351" y="997628"/>
            <a:ext cx="2836200" cy="285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a:ea typeface="Calibri"/>
                <a:cs typeface="Calibri"/>
                <a:sym typeface="Calibri"/>
              </a:rPr>
              <a:t>Time With Wiz</a:t>
            </a:r>
            <a:endParaRPr sz="1500" b="0" i="0" u="none" strike="noStrike" cap="none">
              <a:solidFill>
                <a:schemeClr val="dk1"/>
              </a:solidFill>
              <a:latin typeface="Calibri"/>
              <a:ea typeface="Calibri"/>
              <a:cs typeface="Calibri"/>
              <a:sym typeface="Calibri"/>
            </a:endParaRPr>
          </a:p>
        </p:txBody>
      </p:sp>
      <p:sp>
        <p:nvSpPr>
          <p:cNvPr id="401" name="Google Shape;401;p50"/>
          <p:cNvSpPr txBox="1"/>
          <p:nvPr/>
        </p:nvSpPr>
        <p:spPr>
          <a:xfrm>
            <a:off x="3310069" y="1492406"/>
            <a:ext cx="2556900" cy="3066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02" name="Google Shape;402;p50"/>
          <p:cNvSpPr txBox="1"/>
          <p:nvPr/>
        </p:nvSpPr>
        <p:spPr>
          <a:xfrm>
            <a:off x="3249786" y="1239364"/>
            <a:ext cx="2683500" cy="2607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a:ea typeface="Calibri"/>
              <a:cs typeface="Calibri"/>
              <a:sym typeface="Calibri"/>
            </a:endParaRPr>
          </a:p>
        </p:txBody>
      </p:sp>
      <p:pic>
        <p:nvPicPr>
          <p:cNvPr id="403" name="Google Shape;403;p50"/>
          <p:cNvPicPr preferRelativeResize="0"/>
          <p:nvPr/>
        </p:nvPicPr>
        <p:blipFill rotWithShape="1">
          <a:blip r:embed="rId7">
            <a:alphaModFix/>
          </a:blip>
          <a:srcRect/>
          <a:stretch/>
        </p:blipFill>
        <p:spPr>
          <a:xfrm>
            <a:off x="3167109" y="2242540"/>
            <a:ext cx="2841027" cy="2534151"/>
          </a:xfrm>
          <a:prstGeom prst="rect">
            <a:avLst/>
          </a:prstGeom>
          <a:noFill/>
          <a:ln w="9525" cap="flat" cmpd="sng">
            <a:solidFill>
              <a:schemeClr val="accent1"/>
            </a:solidFill>
            <a:prstDash val="solid"/>
            <a:round/>
            <a:headEnd type="none" w="sm" len="sm"/>
            <a:tailEnd type="none" w="sm" len="sm"/>
          </a:ln>
        </p:spPr>
      </p:pic>
      <p:sp>
        <p:nvSpPr>
          <p:cNvPr id="404" name="Google Shape;404;p50"/>
          <p:cNvSpPr txBox="1"/>
          <p:nvPr/>
        </p:nvSpPr>
        <p:spPr>
          <a:xfrm>
            <a:off x="3167119" y="2314275"/>
            <a:ext cx="2838900" cy="6675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none" strike="noStrike" cap="none">
                <a:solidFill>
                  <a:schemeClr val="dk1"/>
                </a:solidFill>
                <a:latin typeface="Calibri"/>
                <a:ea typeface="Calibri"/>
                <a:cs typeface="Calibri"/>
                <a:sym typeface="Calibri"/>
              </a:rPr>
              <a:t>Kubernetes / Containers</a:t>
            </a:r>
            <a:br>
              <a:rPr lang="en" sz="1600" b="0" i="0" u="none" strike="noStrike" cap="none">
                <a:solidFill>
                  <a:schemeClr val="dk1"/>
                </a:solidFill>
                <a:latin typeface="Calibri"/>
                <a:ea typeface="Calibri"/>
                <a:cs typeface="Calibri"/>
                <a:sym typeface="Calibri"/>
              </a:rPr>
            </a:br>
            <a:r>
              <a:rPr lang="en" sz="1600" b="0" i="0" u="none" strike="noStrike" cap="none">
                <a:solidFill>
                  <a:schemeClr val="dk1"/>
                </a:solidFill>
                <a:latin typeface="Calibri"/>
                <a:ea typeface="Calibri"/>
                <a:cs typeface="Calibri"/>
                <a:sym typeface="Calibri"/>
              </a:rPr>
              <a:t>&amp; Wiz CLI</a:t>
            </a:r>
            <a:endParaRPr sz="1600" b="0" i="0" u="none" strike="noStrike" cap="none">
              <a:solidFill>
                <a:schemeClr val="dk1"/>
              </a:solidFill>
              <a:latin typeface="Calibri"/>
              <a:ea typeface="Calibri"/>
              <a:cs typeface="Calibri"/>
              <a:sym typeface="Calibri"/>
            </a:endParaRPr>
          </a:p>
        </p:txBody>
      </p:sp>
      <p:sp>
        <p:nvSpPr>
          <p:cNvPr id="405" name="Google Shape;405;p50"/>
          <p:cNvSpPr txBox="1"/>
          <p:nvPr/>
        </p:nvSpPr>
        <p:spPr>
          <a:xfrm>
            <a:off x="3271520" y="3472107"/>
            <a:ext cx="2592000" cy="716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06" name="Google Shape;406;p50"/>
          <p:cNvSpPr txBox="1"/>
          <p:nvPr/>
        </p:nvSpPr>
        <p:spPr>
          <a:xfrm>
            <a:off x="3210410" y="2880241"/>
            <a:ext cx="2720400" cy="6096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a:ea typeface="Calibri"/>
              <a:cs typeface="Calibri"/>
              <a:sym typeface="Calibri"/>
            </a:endParaRPr>
          </a:p>
        </p:txBody>
      </p:sp>
      <p:sp>
        <p:nvSpPr>
          <p:cNvPr id="407" name="Google Shape;407;p50"/>
          <p:cNvSpPr txBox="1"/>
          <p:nvPr/>
        </p:nvSpPr>
        <p:spPr>
          <a:xfrm>
            <a:off x="3302811" y="3024161"/>
            <a:ext cx="16959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8"/>
              </a:rPr>
              <a:t>K8s Clusters</a:t>
            </a:r>
            <a:endParaRPr sz="1000" b="0" i="0" u="none" strike="noStrike" cap="none">
              <a:solidFill>
                <a:srgbClr val="0254EC"/>
              </a:solidFill>
              <a:latin typeface="Calibri"/>
              <a:ea typeface="Calibri"/>
              <a:cs typeface="Calibri"/>
              <a:sym typeface="Calibri"/>
            </a:endParaRPr>
          </a:p>
        </p:txBody>
      </p:sp>
      <p:sp>
        <p:nvSpPr>
          <p:cNvPr id="408" name="Google Shape;408;p50"/>
          <p:cNvSpPr txBox="1"/>
          <p:nvPr/>
        </p:nvSpPr>
        <p:spPr>
          <a:xfrm>
            <a:off x="4789108" y="3024161"/>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a:ea typeface="Calibri"/>
                <a:cs typeface="Calibri"/>
                <a:sym typeface="Calibri"/>
              </a:rPr>
              <a:t>{{K8S}}</a:t>
            </a:r>
            <a:endParaRPr sz="1000" b="0" i="0" u="none" strike="noStrike" cap="none">
              <a:solidFill>
                <a:srgbClr val="333333"/>
              </a:solidFill>
              <a:latin typeface="Calibri"/>
              <a:ea typeface="Calibri"/>
              <a:cs typeface="Calibri"/>
              <a:sym typeface="Calibri"/>
            </a:endParaRPr>
          </a:p>
        </p:txBody>
      </p:sp>
      <p:sp>
        <p:nvSpPr>
          <p:cNvPr id="409" name="Google Shape;409;p50"/>
          <p:cNvSpPr txBox="1"/>
          <p:nvPr/>
        </p:nvSpPr>
        <p:spPr>
          <a:xfrm>
            <a:off x="4789108" y="3245522"/>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a:ea typeface="Calibri"/>
                <a:cs typeface="Calibri"/>
                <a:sym typeface="Calibri"/>
              </a:rPr>
              <a:t>{{TI}}</a:t>
            </a:r>
            <a:endParaRPr sz="1000" b="0" i="0" u="none" strike="noStrike" cap="none">
              <a:solidFill>
                <a:srgbClr val="333333"/>
              </a:solidFill>
              <a:latin typeface="Calibri"/>
              <a:ea typeface="Calibri"/>
              <a:cs typeface="Calibri"/>
              <a:sym typeface="Calibri"/>
            </a:endParaRPr>
          </a:p>
        </p:txBody>
      </p:sp>
      <p:sp>
        <p:nvSpPr>
          <p:cNvPr id="410" name="Google Shape;410;p50"/>
          <p:cNvSpPr txBox="1"/>
          <p:nvPr/>
        </p:nvSpPr>
        <p:spPr>
          <a:xfrm>
            <a:off x="3167108" y="3808871"/>
            <a:ext cx="2838900" cy="270300"/>
          </a:xfrm>
          <a:prstGeom prst="rect">
            <a:avLst/>
          </a:prstGeom>
          <a:noFill/>
          <a:ln>
            <a:noFill/>
          </a:ln>
        </p:spPr>
        <p:txBody>
          <a:bodyPr spcFirstLastPara="1" wrap="square" lIns="91225" tIns="91225" rIns="91225" bIns="9122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sng" strike="noStrike" cap="none">
                <a:solidFill>
                  <a:schemeClr val="hlink"/>
                </a:solidFill>
                <a:latin typeface="Calibri"/>
                <a:ea typeface="Calibri"/>
                <a:cs typeface="Calibri"/>
                <a:sym typeface="Calibri"/>
                <a:hlinkClick r:id="rId9"/>
              </a:rPr>
              <a:t>Wiz CLI SCANS (30d) </a:t>
            </a:r>
            <a:r>
              <a:rPr lang="en" sz="1400" b="0" i="0" u="none" strike="noStrike" cap="none">
                <a:solidFill>
                  <a:schemeClr val="hlink"/>
                </a:solidFill>
                <a:uFill>
                  <a:noFill/>
                </a:uFill>
                <a:latin typeface="Calibri"/>
                <a:ea typeface="Calibri"/>
                <a:cs typeface="Calibri"/>
                <a:sym typeface="Calibri"/>
                <a:hlinkClick r:id="rId9"/>
              </a:rPr>
              <a:t>↗</a:t>
            </a:r>
            <a:endParaRPr sz="1100" b="0" i="0" u="none" strike="noStrike" cap="none">
              <a:solidFill>
                <a:srgbClr val="0254EC"/>
              </a:solidFill>
              <a:latin typeface="Calibri"/>
              <a:ea typeface="Calibri"/>
              <a:cs typeface="Calibri"/>
              <a:sym typeface="Calibri"/>
            </a:endParaRPr>
          </a:p>
        </p:txBody>
      </p:sp>
      <p:sp>
        <p:nvSpPr>
          <p:cNvPr id="411" name="Google Shape;411;p50"/>
          <p:cNvSpPr txBox="1"/>
          <p:nvPr/>
        </p:nvSpPr>
        <p:spPr>
          <a:xfrm>
            <a:off x="3167108" y="4128246"/>
            <a:ext cx="2838900" cy="492000"/>
          </a:xfrm>
          <a:prstGeom prst="rect">
            <a:avLst/>
          </a:prstGeom>
          <a:noFill/>
          <a:ln>
            <a:noFill/>
          </a:ln>
        </p:spPr>
        <p:txBody>
          <a:bodyPr spcFirstLastPara="1" wrap="square" lIns="91225" tIns="91225" rIns="91225" bIns="91225" anchor="t" anchorCtr="0">
            <a:noAutofit/>
          </a:bodyPr>
          <a:lstStyle/>
          <a:p>
            <a:pPr marL="0" marR="0" lvl="0" indent="0" algn="ctr" rtl="0">
              <a:lnSpc>
                <a:spcPct val="150000"/>
              </a:lnSpc>
              <a:spcBef>
                <a:spcPts val="0"/>
              </a:spcBef>
              <a:spcAft>
                <a:spcPts val="0"/>
              </a:spcAft>
              <a:buClr>
                <a:srgbClr val="000000"/>
              </a:buClr>
              <a:buSzPts val="2000"/>
              <a:buFont typeface="Arial"/>
              <a:buNone/>
            </a:pPr>
            <a:r>
              <a:rPr lang="en" sz="2000" b="0" i="0" u="none" strike="noStrike" cap="none">
                <a:solidFill>
                  <a:srgbClr val="333333"/>
                </a:solidFill>
                <a:latin typeface="Calibri"/>
                <a:ea typeface="Calibri"/>
                <a:cs typeface="Calibri"/>
                <a:sym typeface="Calibri"/>
              </a:rPr>
              <a:t>{{CLI}}</a:t>
            </a:r>
            <a:endParaRPr sz="2000" b="0" i="0" u="none" strike="noStrike" cap="none">
              <a:solidFill>
                <a:srgbClr val="333333"/>
              </a:solidFill>
              <a:latin typeface="Calibri"/>
              <a:ea typeface="Calibri"/>
              <a:cs typeface="Calibri"/>
              <a:sym typeface="Calibri"/>
            </a:endParaRPr>
          </a:p>
        </p:txBody>
      </p:sp>
      <p:sp>
        <p:nvSpPr>
          <p:cNvPr id="412" name="Google Shape;412;p50"/>
          <p:cNvSpPr txBox="1"/>
          <p:nvPr/>
        </p:nvSpPr>
        <p:spPr>
          <a:xfrm>
            <a:off x="3306330" y="3466201"/>
            <a:ext cx="16959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0"/>
              </a:rPr>
              <a:t>Container Registries</a:t>
            </a:r>
            <a:endParaRPr sz="1000" b="0" i="0" u="none" strike="noStrike" cap="none">
              <a:solidFill>
                <a:srgbClr val="0254EC"/>
              </a:solidFill>
              <a:latin typeface="Calibri"/>
              <a:ea typeface="Calibri"/>
              <a:cs typeface="Calibri"/>
              <a:sym typeface="Calibri"/>
            </a:endParaRPr>
          </a:p>
        </p:txBody>
      </p:sp>
      <p:sp>
        <p:nvSpPr>
          <p:cNvPr id="413" name="Google Shape;413;p50"/>
          <p:cNvSpPr txBox="1"/>
          <p:nvPr/>
        </p:nvSpPr>
        <p:spPr>
          <a:xfrm>
            <a:off x="4792628" y="3466201"/>
            <a:ext cx="1059900" cy="209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a:ea typeface="Calibri"/>
                <a:cs typeface="Calibri"/>
                <a:sym typeface="Calibri"/>
              </a:rPr>
              <a:t>{{R_TOT}}</a:t>
            </a:r>
            <a:endParaRPr sz="1000" b="0" i="0" u="none" strike="noStrike" cap="none">
              <a:solidFill>
                <a:srgbClr val="333333"/>
              </a:solidFill>
              <a:latin typeface="Calibri"/>
              <a:ea typeface="Calibri"/>
              <a:cs typeface="Calibri"/>
              <a:sym typeface="Calibri"/>
            </a:endParaRPr>
          </a:p>
        </p:txBody>
      </p:sp>
      <p:sp>
        <p:nvSpPr>
          <p:cNvPr id="414" name="Google Shape;414;p50"/>
          <p:cNvSpPr txBox="1"/>
          <p:nvPr/>
        </p:nvSpPr>
        <p:spPr>
          <a:xfrm>
            <a:off x="3293611" y="3244616"/>
            <a:ext cx="1784700" cy="2094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1"/>
              </a:rPr>
              <a:t>Container Images</a:t>
            </a:r>
            <a:endParaRPr sz="1000" b="0" i="0" u="none" strike="noStrike" cap="none">
              <a:solidFill>
                <a:srgbClr val="0254EC"/>
              </a:solidFill>
              <a:latin typeface="Calibri"/>
              <a:ea typeface="Calibri"/>
              <a:cs typeface="Calibri"/>
              <a:sym typeface="Calibri"/>
            </a:endParaRPr>
          </a:p>
        </p:txBody>
      </p:sp>
      <p:sp>
        <p:nvSpPr>
          <p:cNvPr id="416" name="Google Shape;416;p50"/>
          <p:cNvSpPr txBox="1"/>
          <p:nvPr/>
        </p:nvSpPr>
        <p:spPr>
          <a:xfrm>
            <a:off x="3295309" y="1456043"/>
            <a:ext cx="2528700" cy="335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Current Contract End</a:t>
            </a:r>
            <a:br>
              <a:rPr lang="en" sz="1000" b="0" i="0" u="none" strike="noStrike" cap="none">
                <a:solidFill>
                  <a:schemeClr val="dk1"/>
                </a:solidFill>
                <a:latin typeface="Calibri"/>
                <a:ea typeface="Calibri"/>
                <a:cs typeface="Calibri"/>
                <a:sym typeface="Calibri"/>
              </a:rPr>
            </a:br>
            <a:r>
              <a:rPr lang="en" sz="1000" b="0" i="0" u="none" strike="noStrike" cap="none">
                <a:solidFill>
                  <a:schemeClr val="dk1"/>
                </a:solidFill>
                <a:latin typeface="Calibri"/>
                <a:ea typeface="Calibri"/>
                <a:cs typeface="Calibri"/>
                <a:sym typeface="Calibri"/>
              </a:rPr>
              <a:t>{{CONTRACT_END_FMT}}</a:t>
            </a:r>
            <a:endParaRPr sz="1000" b="0" i="0" u="none" strike="noStrike" cap="none">
              <a:solidFill>
                <a:schemeClr val="dk1"/>
              </a:solidFill>
              <a:latin typeface="Calibri"/>
              <a:ea typeface="Calibri"/>
              <a:cs typeface="Calibri"/>
              <a:sym typeface="Calibri"/>
            </a:endParaRPr>
          </a:p>
        </p:txBody>
      </p:sp>
      <p:sp>
        <p:nvSpPr>
          <p:cNvPr id="417" name="Google Shape;417;p50"/>
          <p:cNvSpPr txBox="1"/>
          <p:nvPr/>
        </p:nvSpPr>
        <p:spPr>
          <a:xfrm>
            <a:off x="3266555" y="1275483"/>
            <a:ext cx="2683500" cy="285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1155CC"/>
                </a:solidFill>
                <a:latin typeface="Calibri"/>
                <a:ea typeface="Calibri"/>
                <a:cs typeface="Calibri"/>
                <a:sym typeface="Calibri"/>
              </a:rPr>
              <a:t>{{CUS_NOD}} Days as Wiz Customer</a:t>
            </a:r>
            <a:endParaRPr sz="1100" b="0" i="0" u="none" strike="noStrike" cap="none">
              <a:solidFill>
                <a:srgbClr val="1155CC"/>
              </a:solidFill>
              <a:latin typeface="Calibri"/>
              <a:ea typeface="Calibri"/>
              <a:cs typeface="Calibri"/>
              <a:sym typeface="Calibri"/>
            </a:endParaRPr>
          </a:p>
        </p:txBody>
      </p:sp>
      <p:sp>
        <p:nvSpPr>
          <p:cNvPr id="418" name="Google Shape;418;p50"/>
          <p:cNvSpPr txBox="1"/>
          <p:nvPr/>
        </p:nvSpPr>
        <p:spPr>
          <a:xfrm>
            <a:off x="3293159" y="1891557"/>
            <a:ext cx="2683500" cy="153888"/>
          </a:xfrm>
          <a:prstGeom prst="rect">
            <a:avLst/>
          </a:prstGeom>
          <a:noFill/>
          <a:ln>
            <a:noFill/>
          </a:ln>
        </p:spPr>
        <p:txBody>
          <a:bodyPr spcFirstLastPara="1" wrap="square" lIns="91425" tIns="0" rIns="91425" bIns="0"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{{D_U_R}} Days Until Renewal</a:t>
            </a:r>
            <a:endParaRPr sz="1000" b="0" i="0" u="none" strike="noStrike" cap="none">
              <a:solidFill>
                <a:schemeClr val="dk1"/>
              </a:solidFill>
              <a:latin typeface="Calibri"/>
              <a:ea typeface="Calibri"/>
              <a:cs typeface="Calibri"/>
              <a:sym typeface="Calibri"/>
            </a:endParaRPr>
          </a:p>
        </p:txBody>
      </p:sp>
      <p:pic>
        <p:nvPicPr>
          <p:cNvPr id="419" name="Google Shape;419;p50"/>
          <p:cNvPicPr preferRelativeResize="0"/>
          <p:nvPr/>
        </p:nvPicPr>
        <p:blipFill rotWithShape="1">
          <a:blip r:embed="rId12">
            <a:alphaModFix/>
          </a:blip>
          <a:srcRect/>
          <a:stretch/>
        </p:blipFill>
        <p:spPr>
          <a:xfrm>
            <a:off x="231234" y="1394102"/>
            <a:ext cx="338330" cy="357132"/>
          </a:xfrm>
          <a:prstGeom prst="rect">
            <a:avLst/>
          </a:prstGeom>
          <a:noFill/>
          <a:ln>
            <a:noFill/>
          </a:ln>
        </p:spPr>
      </p:pic>
      <p:pic>
        <p:nvPicPr>
          <p:cNvPr id="420" name="Google Shape;420;p50"/>
          <p:cNvPicPr preferRelativeResize="0"/>
          <p:nvPr/>
        </p:nvPicPr>
        <p:blipFill rotWithShape="1">
          <a:blip r:embed="rId7">
            <a:alphaModFix/>
          </a:blip>
          <a:srcRect/>
          <a:stretch/>
        </p:blipFill>
        <p:spPr>
          <a:xfrm>
            <a:off x="6189553" y="976375"/>
            <a:ext cx="2780923" cy="1385452"/>
          </a:xfrm>
          <a:prstGeom prst="rect">
            <a:avLst/>
          </a:prstGeom>
          <a:noFill/>
          <a:ln w="9525" cap="flat" cmpd="sng">
            <a:solidFill>
              <a:schemeClr val="accent1"/>
            </a:solidFill>
            <a:prstDash val="solid"/>
            <a:round/>
            <a:headEnd type="none" w="sm" len="sm"/>
            <a:tailEnd type="none" w="sm" len="sm"/>
          </a:ln>
        </p:spPr>
      </p:pic>
      <p:sp>
        <p:nvSpPr>
          <p:cNvPr id="421" name="Google Shape;421;p50"/>
          <p:cNvSpPr txBox="1"/>
          <p:nvPr/>
        </p:nvSpPr>
        <p:spPr>
          <a:xfrm>
            <a:off x="6189557" y="997040"/>
            <a:ext cx="2781000" cy="3765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595959"/>
              </a:buClr>
              <a:buSzPts val="1500"/>
              <a:buFont typeface="Arial"/>
              <a:buNone/>
            </a:pPr>
            <a:r>
              <a:rPr lang="en" sz="1500" b="0" i="0" u="sng" strike="noStrike" cap="none">
                <a:solidFill>
                  <a:schemeClr val="hlink"/>
                </a:solidFill>
                <a:latin typeface="Calibri"/>
                <a:ea typeface="Calibri"/>
                <a:cs typeface="Calibri"/>
                <a:sym typeface="Calibri"/>
                <a:hlinkClick r:id="rId13"/>
              </a:rPr>
              <a:t>Unscanned Resources </a:t>
            </a:r>
            <a:r>
              <a:rPr lang="en" sz="1500" b="0" i="0" u="none" strike="noStrike" cap="none">
                <a:solidFill>
                  <a:schemeClr val="hlink"/>
                </a:solidFill>
                <a:uFill>
                  <a:noFill/>
                </a:uFill>
                <a:latin typeface="Calibri"/>
                <a:ea typeface="Calibri"/>
                <a:cs typeface="Calibri"/>
                <a:sym typeface="Calibri"/>
                <a:hlinkClick r:id="rId13"/>
              </a:rPr>
              <a:t>↗</a:t>
            </a:r>
            <a:endParaRPr sz="1500" b="0" i="0" u="none" strike="noStrike" cap="none">
              <a:solidFill>
                <a:srgbClr val="0254EC"/>
              </a:solidFill>
              <a:latin typeface="Calibri"/>
              <a:ea typeface="Calibri"/>
              <a:cs typeface="Calibri"/>
              <a:sym typeface="Calibri"/>
            </a:endParaRPr>
          </a:p>
        </p:txBody>
      </p:sp>
      <p:sp>
        <p:nvSpPr>
          <p:cNvPr id="422" name="Google Shape;422;p50"/>
          <p:cNvSpPr txBox="1"/>
          <p:nvPr/>
        </p:nvSpPr>
        <p:spPr>
          <a:xfrm>
            <a:off x="6189565" y="1395307"/>
            <a:ext cx="2781000" cy="940800"/>
          </a:xfrm>
          <a:prstGeom prst="rect">
            <a:avLst/>
          </a:prstGeom>
          <a:noFill/>
          <a:ln>
            <a:noFill/>
          </a:ln>
        </p:spPr>
        <p:txBody>
          <a:bodyPr spcFirstLastPara="1" wrap="square" lIns="92600" tIns="92600" rIns="92600" bIns="92600" anchor="t" anchorCtr="0">
            <a:noAutofit/>
          </a:bodyPr>
          <a:lstStyle/>
          <a:p>
            <a:pPr marL="0" marR="0" lvl="0" indent="0" algn="ctr" rtl="0">
              <a:lnSpc>
                <a:spcPct val="115000"/>
              </a:lnSpc>
              <a:spcBef>
                <a:spcPts val="0"/>
              </a:spcBef>
              <a:spcAft>
                <a:spcPts val="0"/>
              </a:spcAft>
              <a:buClr>
                <a:srgbClr val="000000"/>
              </a:buClr>
              <a:buSzPts val="1200"/>
              <a:buFont typeface="Arial"/>
              <a:buNone/>
            </a:pPr>
            <a:r>
              <a:rPr lang="en" sz="1200" b="0" i="0" u="none" strike="noStrike" cap="none">
                <a:solidFill>
                  <a:srgbClr val="333333"/>
                </a:solidFill>
                <a:latin typeface="Calibri"/>
                <a:ea typeface="Calibri"/>
                <a:cs typeface="Calibri"/>
                <a:sym typeface="Calibri"/>
              </a:rPr>
              <a:t>{{U_RES}} Unscanned Resources</a:t>
            </a:r>
            <a:br>
              <a:rPr lang="en" sz="1200" b="0" i="0" u="none" strike="noStrike" cap="none">
                <a:solidFill>
                  <a:srgbClr val="333333"/>
                </a:solidFill>
                <a:latin typeface="Calibri"/>
                <a:ea typeface="Calibri"/>
                <a:cs typeface="Calibri"/>
                <a:sym typeface="Calibri"/>
              </a:rPr>
            </a:br>
            <a:r>
              <a:rPr lang="en" sz="800" b="0" i="0" u="none" strike="noStrike" cap="none">
                <a:solidFill>
                  <a:srgbClr val="333333"/>
                </a:solidFill>
                <a:latin typeface="Calibri"/>
                <a:ea typeface="Calibri"/>
                <a:cs typeface="Calibri"/>
                <a:sym typeface="Calibri"/>
              </a:rPr>
              <a:t>Cloud Organizations, Code Repositories &amp; Subscriptions</a:t>
            </a:r>
            <a:endParaRPr sz="800" b="0" i="0" u="none" strike="noStrike" cap="none">
              <a:solidFill>
                <a:srgbClr val="333333"/>
              </a:solidFill>
              <a:latin typeface="Calibri"/>
              <a:ea typeface="Calibri"/>
              <a:cs typeface="Calibri"/>
              <a:sym typeface="Calibri"/>
            </a:endParaRPr>
          </a:p>
        </p:txBody>
      </p:sp>
      <p:pic>
        <p:nvPicPr>
          <p:cNvPr id="423" name="Google Shape;423;p50"/>
          <p:cNvPicPr preferRelativeResize="0"/>
          <p:nvPr/>
        </p:nvPicPr>
        <p:blipFill rotWithShape="1">
          <a:blip r:embed="rId7">
            <a:alphaModFix/>
          </a:blip>
          <a:srcRect/>
          <a:stretch/>
        </p:blipFill>
        <p:spPr>
          <a:xfrm>
            <a:off x="6194229" y="2518124"/>
            <a:ext cx="2769198" cy="1385452"/>
          </a:xfrm>
          <a:prstGeom prst="rect">
            <a:avLst/>
          </a:prstGeom>
          <a:noFill/>
          <a:ln w="9525" cap="flat" cmpd="sng">
            <a:solidFill>
              <a:schemeClr val="accent1"/>
            </a:solidFill>
            <a:prstDash val="solid"/>
            <a:round/>
            <a:headEnd type="none" w="sm" len="sm"/>
            <a:tailEnd type="none" w="sm" len="sm"/>
          </a:ln>
        </p:spPr>
      </p:pic>
      <p:sp>
        <p:nvSpPr>
          <p:cNvPr id="424" name="Google Shape;424;p50"/>
          <p:cNvSpPr txBox="1"/>
          <p:nvPr/>
        </p:nvSpPr>
        <p:spPr>
          <a:xfrm>
            <a:off x="6194230" y="2538228"/>
            <a:ext cx="2767200" cy="4047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sng" strike="noStrike" cap="none">
                <a:solidFill>
                  <a:schemeClr val="hlink"/>
                </a:solidFill>
                <a:latin typeface="Calibri"/>
                <a:ea typeface="Calibri"/>
                <a:cs typeface="Calibri"/>
                <a:sym typeface="Calibri"/>
                <a:hlinkClick r:id="rId14"/>
              </a:rPr>
              <a:t>Red Agent Scans</a:t>
            </a:r>
            <a:r>
              <a:rPr lang="en" sz="1500" b="0" i="0" u="none" strike="noStrike" cap="none">
                <a:solidFill>
                  <a:srgbClr val="0254EC"/>
                </a:solidFill>
                <a:latin typeface="Calibri"/>
                <a:ea typeface="Calibri"/>
                <a:cs typeface="Calibri"/>
                <a:sym typeface="Calibri"/>
              </a:rPr>
              <a:t> </a:t>
            </a:r>
            <a:r>
              <a:rPr lang="en" sz="1500" b="0" i="0" u="none" strike="noStrike" cap="none">
                <a:solidFill>
                  <a:schemeClr val="hlink"/>
                </a:solidFill>
                <a:uFill>
                  <a:noFill/>
                </a:uFill>
                <a:latin typeface="Calibri"/>
                <a:ea typeface="Calibri"/>
                <a:cs typeface="Calibri"/>
                <a:sym typeface="Calibri"/>
                <a:hlinkClick r:id="rId13"/>
              </a:rPr>
              <a:t>↗</a:t>
            </a:r>
            <a:endParaRPr sz="1500" b="0" i="0" u="none" strike="noStrike" cap="none">
              <a:solidFill>
                <a:srgbClr val="0254EC"/>
              </a:solidFill>
              <a:latin typeface="Calibri"/>
              <a:ea typeface="Calibri"/>
              <a:cs typeface="Calibri"/>
              <a:sym typeface="Calibri"/>
            </a:endParaRPr>
          </a:p>
        </p:txBody>
      </p:sp>
      <p:sp>
        <p:nvSpPr>
          <p:cNvPr id="425" name="Google Shape;425;p50"/>
          <p:cNvSpPr txBox="1"/>
          <p:nvPr/>
        </p:nvSpPr>
        <p:spPr>
          <a:xfrm>
            <a:off x="6296001" y="3150231"/>
            <a:ext cx="2526300" cy="37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26" name="Google Shape;426;p50"/>
          <p:cNvSpPr txBox="1"/>
          <p:nvPr/>
        </p:nvSpPr>
        <p:spPr>
          <a:xfrm>
            <a:off x="6236436" y="2843382"/>
            <a:ext cx="2651700" cy="316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a:ea typeface="Calibri"/>
              <a:cs typeface="Calibri"/>
              <a:sym typeface="Calibri"/>
            </a:endParaRPr>
          </a:p>
        </p:txBody>
      </p:sp>
      <p:sp>
        <p:nvSpPr>
          <p:cNvPr id="427" name="Google Shape;427;p50"/>
          <p:cNvSpPr txBox="1"/>
          <p:nvPr/>
        </p:nvSpPr>
        <p:spPr>
          <a:xfrm>
            <a:off x="6203356" y="2861350"/>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dirty="0">
                <a:solidFill>
                  <a:srgbClr val="333333"/>
                </a:solidFill>
                <a:latin typeface="Calibri"/>
                <a:ea typeface="Calibri"/>
                <a:cs typeface="Calibri"/>
                <a:sym typeface="Calibri"/>
              </a:rPr>
              <a:t>Web API Crawler</a:t>
            </a:r>
            <a:r>
              <a:rPr lang="en" sz="900" b="0" i="0" u="none" strike="noStrike" cap="none" dirty="0">
                <a:solidFill>
                  <a:srgbClr val="333333"/>
                </a:solidFill>
                <a:latin typeface="Calibri"/>
                <a:ea typeface="Calibri"/>
                <a:cs typeface="Calibri"/>
                <a:sym typeface="Calibri"/>
              </a:rPr>
              <a:t>: {{RA_WC}}</a:t>
            </a:r>
            <a:endParaRPr sz="900" b="0" i="0" u="none" strike="noStrike" cap="none" dirty="0">
              <a:solidFill>
                <a:srgbClr val="333333"/>
              </a:solidFill>
              <a:latin typeface="Calibri"/>
              <a:ea typeface="Calibri"/>
              <a:cs typeface="Calibri"/>
              <a:sym typeface="Calibri"/>
            </a:endParaRPr>
          </a:p>
        </p:txBody>
      </p:sp>
      <p:sp>
        <p:nvSpPr>
          <p:cNvPr id="428" name="Google Shape;428;p50"/>
          <p:cNvSpPr txBox="1"/>
          <p:nvPr/>
        </p:nvSpPr>
        <p:spPr>
          <a:xfrm>
            <a:off x="6202885" y="3097036"/>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dirty="0">
                <a:solidFill>
                  <a:srgbClr val="333333"/>
                </a:solidFill>
                <a:latin typeface="Calibri"/>
                <a:ea typeface="Calibri"/>
                <a:cs typeface="Calibri"/>
                <a:sym typeface="Calibri"/>
              </a:rPr>
              <a:t>API DAST Attacker</a:t>
            </a:r>
            <a:r>
              <a:rPr lang="en" sz="900" b="0" i="0" u="none" strike="noStrike" cap="none" dirty="0">
                <a:solidFill>
                  <a:srgbClr val="333333"/>
                </a:solidFill>
                <a:latin typeface="Calibri"/>
                <a:ea typeface="Calibri"/>
                <a:cs typeface="Calibri"/>
                <a:sym typeface="Calibri"/>
              </a:rPr>
              <a:t>: {{RA_DAST}}</a:t>
            </a:r>
            <a:endParaRPr sz="900" b="0" i="0" u="none" strike="noStrike" cap="none" dirty="0">
              <a:solidFill>
                <a:srgbClr val="333333"/>
              </a:solidFill>
              <a:latin typeface="Calibri"/>
              <a:ea typeface="Calibri"/>
              <a:cs typeface="Calibri"/>
              <a:sym typeface="Calibri"/>
            </a:endParaRPr>
          </a:p>
        </p:txBody>
      </p:sp>
      <p:sp>
        <p:nvSpPr>
          <p:cNvPr id="429" name="Google Shape;429;p50"/>
          <p:cNvSpPr txBox="1"/>
          <p:nvPr/>
        </p:nvSpPr>
        <p:spPr>
          <a:xfrm>
            <a:off x="6202728" y="3332721"/>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0" i="0" u="none" strike="noStrike" cap="none" dirty="0">
                <a:solidFill>
                  <a:srgbClr val="333333"/>
                </a:solidFill>
                <a:latin typeface="Calibri"/>
                <a:ea typeface="Calibri"/>
                <a:cs typeface="Calibri"/>
                <a:sym typeface="Calibri"/>
              </a:rPr>
              <a:t>Secret Blast Radius: {{RA_SI}}</a:t>
            </a:r>
            <a:endParaRPr sz="900" b="0" i="0" u="none" strike="noStrike" cap="none" dirty="0">
              <a:solidFill>
                <a:srgbClr val="333333"/>
              </a:solidFill>
              <a:latin typeface="Calibri"/>
              <a:ea typeface="Calibri"/>
              <a:cs typeface="Calibri"/>
              <a:sym typeface="Calibri"/>
            </a:endParaRPr>
          </a:p>
        </p:txBody>
      </p:sp>
      <p:sp>
        <p:nvSpPr>
          <p:cNvPr id="430" name="Google Shape;430;p50"/>
          <p:cNvSpPr txBox="1"/>
          <p:nvPr/>
        </p:nvSpPr>
        <p:spPr>
          <a:xfrm>
            <a:off x="6192125" y="3519610"/>
            <a:ext cx="2764500" cy="2427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a:ea typeface="Calibri"/>
                <a:cs typeface="Calibri"/>
                <a:sym typeface="Calibri"/>
              </a:rPr>
              <a:t>Total Monthly Scans: {{RA_TOTS}}</a:t>
            </a:r>
            <a:endParaRPr sz="1100" b="0" i="0" u="none" strike="noStrike" cap="none">
              <a:solidFill>
                <a:srgbClr val="333333"/>
              </a:solidFill>
              <a:latin typeface="Calibri"/>
              <a:ea typeface="Calibri"/>
              <a:cs typeface="Calibri"/>
              <a:sym typeface="Calibri"/>
            </a:endParaRPr>
          </a:p>
        </p:txBody>
      </p:sp>
      <p:sp>
        <p:nvSpPr>
          <p:cNvPr id="2" name="Google Shape;390;p50">
            <a:extLst>
              <a:ext uri="{FF2B5EF4-FFF2-40B4-BE49-F238E27FC236}">
                <a16:creationId xmlns:a16="http://schemas.microsoft.com/office/drawing/2014/main" id="{82D1517E-B19B-BBBA-6A10-B46AFA56C909}"/>
              </a:ext>
            </a:extLst>
          </p:cNvPr>
          <p:cNvSpPr txBox="1"/>
          <p:nvPr/>
        </p:nvSpPr>
        <p:spPr>
          <a:xfrm>
            <a:off x="614178" y="1558857"/>
            <a:ext cx="24327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dirty="0">
                <a:solidFill>
                  <a:srgbClr val="38761D"/>
                </a:solidFill>
                <a:latin typeface="Calibri"/>
                <a:ea typeface="Calibri"/>
                <a:cs typeface="Calibri"/>
                <a:sym typeface="Calibri"/>
              </a:rPr>
              <a:t>{{LU_ADV}}</a:t>
            </a:r>
            <a:endParaRPr sz="1100" b="0" i="0" u="none" strike="noStrike" cap="none" dirty="0">
              <a:solidFill>
                <a:srgbClr val="000000"/>
              </a:solidFill>
              <a:latin typeface="Calibri"/>
              <a:ea typeface="Calibri"/>
              <a:cs typeface="Calibri"/>
              <a:sym typeface="Calibri"/>
            </a:endParaRPr>
          </a:p>
        </p:txBody>
      </p:sp>
      <p:sp>
        <p:nvSpPr>
          <p:cNvPr id="3" name="Google Shape;390;p50">
            <a:extLst>
              <a:ext uri="{FF2B5EF4-FFF2-40B4-BE49-F238E27FC236}">
                <a16:creationId xmlns:a16="http://schemas.microsoft.com/office/drawing/2014/main" id="{0D3C1DDD-C73F-BE82-8B2D-D1DD83BDBE94}"/>
              </a:ext>
            </a:extLst>
          </p:cNvPr>
          <p:cNvSpPr txBox="1"/>
          <p:nvPr/>
        </p:nvSpPr>
        <p:spPr>
          <a:xfrm>
            <a:off x="614184" y="2043762"/>
            <a:ext cx="24327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dirty="0">
                <a:solidFill>
                  <a:srgbClr val="38761D"/>
                </a:solidFill>
                <a:latin typeface="Calibri"/>
                <a:ea typeface="Calibri"/>
                <a:cs typeface="Calibri"/>
                <a:sym typeface="Calibri"/>
              </a:rPr>
              <a:t>{{LU_SENSOR}}</a:t>
            </a:r>
            <a:endParaRPr sz="1100" b="0" i="0" u="none" strike="noStrike" cap="none" dirty="0">
              <a:solidFill>
                <a:srgbClr val="000000"/>
              </a:solidFill>
              <a:latin typeface="Calibri"/>
              <a:ea typeface="Calibri"/>
              <a:cs typeface="Calibri"/>
              <a:sym typeface="Calibri"/>
            </a:endParaRPr>
          </a:p>
        </p:txBody>
      </p:sp>
      <p:sp>
        <p:nvSpPr>
          <p:cNvPr id="4" name="Google Shape;390;p50">
            <a:extLst>
              <a:ext uri="{FF2B5EF4-FFF2-40B4-BE49-F238E27FC236}">
                <a16:creationId xmlns:a16="http://schemas.microsoft.com/office/drawing/2014/main" id="{549788B0-FA68-A49F-A6D9-E1FE8C634547}"/>
              </a:ext>
            </a:extLst>
          </p:cNvPr>
          <p:cNvSpPr txBox="1"/>
          <p:nvPr/>
        </p:nvSpPr>
        <p:spPr>
          <a:xfrm>
            <a:off x="614178" y="2574855"/>
            <a:ext cx="24327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dirty="0">
                <a:solidFill>
                  <a:srgbClr val="38761D"/>
                </a:solidFill>
                <a:latin typeface="Calibri"/>
                <a:ea typeface="Calibri"/>
                <a:cs typeface="Calibri"/>
                <a:sym typeface="Calibri"/>
              </a:rPr>
              <a:t>{{LU_DEFEND}} Units</a:t>
            </a:r>
            <a:endParaRPr sz="1100" b="0" i="0" u="none" strike="noStrike" cap="none" dirty="0">
              <a:solidFill>
                <a:srgbClr val="000000"/>
              </a:solidFill>
              <a:latin typeface="Calibri"/>
              <a:ea typeface="Calibri"/>
              <a:cs typeface="Calibri"/>
              <a:sym typeface="Calibri"/>
            </a:endParaRPr>
          </a:p>
        </p:txBody>
      </p:sp>
      <p:sp>
        <p:nvSpPr>
          <p:cNvPr id="5" name="Google Shape;390;p50">
            <a:extLst>
              <a:ext uri="{FF2B5EF4-FFF2-40B4-BE49-F238E27FC236}">
                <a16:creationId xmlns:a16="http://schemas.microsoft.com/office/drawing/2014/main" id="{73EBBFB4-9E81-B198-565D-7B23F277B69C}"/>
              </a:ext>
            </a:extLst>
          </p:cNvPr>
          <p:cNvSpPr txBox="1"/>
          <p:nvPr/>
        </p:nvSpPr>
        <p:spPr>
          <a:xfrm>
            <a:off x="614178" y="3073623"/>
            <a:ext cx="2432700" cy="205800"/>
          </a:xfrm>
          <a:prstGeom prst="rect">
            <a:avLst/>
          </a:prstGeom>
          <a:noFill/>
          <a:ln>
            <a:noFill/>
          </a:ln>
        </p:spPr>
        <p:txBody>
          <a:bodyPr spcFirstLastPara="1" wrap="square" lIns="55875" tIns="27925" rIns="55875" bIns="27925" anchor="t" anchorCtr="0">
            <a:noAutofit/>
          </a:bodyPr>
          <a:lstStyle/>
          <a:p>
            <a:pPr marL="0" marR="0" lvl="0" indent="0" algn="l" rtl="0">
              <a:lnSpc>
                <a:spcPct val="100000"/>
              </a:lnSpc>
              <a:spcBef>
                <a:spcPts val="0"/>
              </a:spcBef>
              <a:spcAft>
                <a:spcPts val="0"/>
              </a:spcAft>
              <a:buClr>
                <a:srgbClr val="00113E"/>
              </a:buClr>
              <a:buSzPts val="855"/>
              <a:buFont typeface="DM Sans"/>
              <a:buNone/>
            </a:pPr>
            <a:r>
              <a:rPr lang="en" sz="1100" b="0" i="0" u="none" strike="noStrike" cap="none" dirty="0">
                <a:solidFill>
                  <a:srgbClr val="38761D"/>
                </a:solidFill>
                <a:latin typeface="Calibri"/>
                <a:ea typeface="Calibri"/>
                <a:cs typeface="Calibri"/>
                <a:sym typeface="Calibri"/>
              </a:rPr>
              <a:t>{{LU_CODE}} Developers</a:t>
            </a:r>
            <a:endParaRPr sz="1100" b="0" i="0" u="none" strike="noStrike" cap="none" dirty="0">
              <a:solidFill>
                <a:srgbClr val="000000"/>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35"/>
        <p:cNvGrpSpPr/>
        <p:nvPr/>
      </p:nvGrpSpPr>
      <p:grpSpPr>
        <a:xfrm>
          <a:off x="0" y="0"/>
          <a:ext cx="0" cy="0"/>
          <a:chOff x="0" y="0"/>
          <a:chExt cx="0" cy="0"/>
        </a:xfrm>
      </p:grpSpPr>
      <p:sp>
        <p:nvSpPr>
          <p:cNvPr id="436" name="Google Shape;436;p51"/>
          <p:cNvSpPr txBox="1">
            <a:spLocks noGrp="1"/>
          </p:cNvSpPr>
          <p:nvPr>
            <p:ph type="title" idx="4294967295"/>
          </p:nvPr>
        </p:nvSpPr>
        <p:spPr>
          <a:xfrm>
            <a:off x="150" y="2496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Wiz System Health &amp; Scans Snapshot</a:t>
            </a:r>
            <a:endParaRPr sz="2420">
              <a:latin typeface="Calibri"/>
              <a:ea typeface="Calibri"/>
              <a:cs typeface="Calibri"/>
              <a:sym typeface="Calibri"/>
            </a:endParaRPr>
          </a:p>
        </p:txBody>
      </p:sp>
      <p:pic>
        <p:nvPicPr>
          <p:cNvPr id="437" name="Google Shape;437;p51"/>
          <p:cNvPicPr preferRelativeResize="0"/>
          <p:nvPr/>
        </p:nvPicPr>
        <p:blipFill rotWithShape="1">
          <a:blip r:embed="rId3">
            <a:alphaModFix/>
          </a:blip>
          <a:srcRect/>
          <a:stretch/>
        </p:blipFill>
        <p:spPr>
          <a:xfrm>
            <a:off x="119827" y="933590"/>
            <a:ext cx="2755502" cy="1594700"/>
          </a:xfrm>
          <a:prstGeom prst="rect">
            <a:avLst/>
          </a:prstGeom>
          <a:noFill/>
          <a:ln w="9525" cap="flat" cmpd="sng">
            <a:solidFill>
              <a:schemeClr val="accent1"/>
            </a:solidFill>
            <a:prstDash val="solid"/>
            <a:round/>
            <a:headEnd type="none" w="sm" len="sm"/>
            <a:tailEnd type="none" w="sm" len="sm"/>
          </a:ln>
        </p:spPr>
      </p:pic>
      <p:sp>
        <p:nvSpPr>
          <p:cNvPr id="438" name="Google Shape;438;p51"/>
          <p:cNvSpPr txBox="1"/>
          <p:nvPr/>
        </p:nvSpPr>
        <p:spPr>
          <a:xfrm>
            <a:off x="119827" y="1028050"/>
            <a:ext cx="2838300" cy="225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a:ea typeface="Calibri"/>
                <a:cs typeface="Calibri"/>
                <a:sym typeface="Calibri"/>
              </a:rPr>
              <a:t>System Health Issues</a:t>
            </a:r>
            <a:endParaRPr sz="1500" b="0" i="0" u="none" strike="noStrike" cap="none">
              <a:solidFill>
                <a:schemeClr val="dk1"/>
              </a:solidFill>
              <a:latin typeface="Calibri"/>
              <a:ea typeface="Calibri"/>
              <a:cs typeface="Calibri"/>
              <a:sym typeface="Calibri"/>
            </a:endParaRPr>
          </a:p>
        </p:txBody>
      </p:sp>
      <p:sp>
        <p:nvSpPr>
          <p:cNvPr id="439" name="Google Shape;439;p51"/>
          <p:cNvSpPr txBox="1"/>
          <p:nvPr/>
        </p:nvSpPr>
        <p:spPr>
          <a:xfrm>
            <a:off x="224233" y="1475155"/>
            <a:ext cx="2591700" cy="336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40" name="Google Shape;440;p51"/>
          <p:cNvSpPr txBox="1"/>
          <p:nvPr/>
        </p:nvSpPr>
        <p:spPr>
          <a:xfrm>
            <a:off x="163134" y="1196871"/>
            <a:ext cx="2720100" cy="2868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a:ea typeface="Calibri"/>
              <a:cs typeface="Calibri"/>
              <a:sym typeface="Calibri"/>
            </a:endParaRPr>
          </a:p>
        </p:txBody>
      </p:sp>
      <p:sp>
        <p:nvSpPr>
          <p:cNvPr id="441" name="Google Shape;441;p51"/>
          <p:cNvSpPr txBox="1"/>
          <p:nvPr/>
        </p:nvSpPr>
        <p:spPr>
          <a:xfrm>
            <a:off x="256245" y="1350741"/>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4"/>
              </a:rPr>
              <a:t>Critical SHIs</a:t>
            </a:r>
            <a:endParaRPr sz="1000" b="0" i="0" u="none" strike="noStrike" cap="none">
              <a:solidFill>
                <a:srgbClr val="0254EC"/>
              </a:solidFill>
              <a:latin typeface="Calibri"/>
              <a:ea typeface="Calibri"/>
              <a:cs typeface="Calibri"/>
              <a:sym typeface="Calibri"/>
            </a:endParaRPr>
          </a:p>
        </p:txBody>
      </p:sp>
      <p:sp>
        <p:nvSpPr>
          <p:cNvPr id="442" name="Google Shape;442;p51"/>
          <p:cNvSpPr txBox="1"/>
          <p:nvPr/>
        </p:nvSpPr>
        <p:spPr>
          <a:xfrm>
            <a:off x="1713244" y="1340109"/>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a:ea typeface="Calibri"/>
                <a:cs typeface="Calibri"/>
                <a:sym typeface="Calibri"/>
              </a:rPr>
              <a:t>{{SHI_C}}</a:t>
            </a:r>
            <a:endParaRPr sz="1000" b="0" i="0" u="none" strike="noStrike" cap="none">
              <a:solidFill>
                <a:srgbClr val="333333"/>
              </a:solidFill>
              <a:latin typeface="Calibri"/>
              <a:ea typeface="Calibri"/>
              <a:cs typeface="Calibri"/>
              <a:sym typeface="Calibri"/>
            </a:endParaRPr>
          </a:p>
        </p:txBody>
      </p:sp>
      <p:sp>
        <p:nvSpPr>
          <p:cNvPr id="443" name="Google Shape;443;p51"/>
          <p:cNvSpPr txBox="1"/>
          <p:nvPr/>
        </p:nvSpPr>
        <p:spPr>
          <a:xfrm>
            <a:off x="256245" y="1525050"/>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5"/>
              </a:rPr>
              <a:t>High SHIs</a:t>
            </a:r>
            <a:endParaRPr sz="1000" b="0" i="0" u="none" strike="noStrike" cap="none">
              <a:solidFill>
                <a:srgbClr val="0254EC"/>
              </a:solidFill>
              <a:latin typeface="Calibri"/>
              <a:ea typeface="Calibri"/>
              <a:cs typeface="Calibri"/>
              <a:sym typeface="Calibri"/>
            </a:endParaRPr>
          </a:p>
        </p:txBody>
      </p:sp>
      <p:sp>
        <p:nvSpPr>
          <p:cNvPr id="444" name="Google Shape;444;p51"/>
          <p:cNvSpPr txBox="1"/>
          <p:nvPr/>
        </p:nvSpPr>
        <p:spPr>
          <a:xfrm>
            <a:off x="1712251" y="1519655"/>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a:ea typeface="Calibri"/>
                <a:cs typeface="Calibri"/>
                <a:sym typeface="Calibri"/>
              </a:rPr>
              <a:t>{{SHI_H}}</a:t>
            </a:r>
            <a:endParaRPr sz="1000" b="0" i="0" u="none" strike="noStrike" cap="none">
              <a:solidFill>
                <a:srgbClr val="333333"/>
              </a:solidFill>
              <a:latin typeface="Calibri"/>
              <a:ea typeface="Calibri"/>
              <a:cs typeface="Calibri"/>
              <a:sym typeface="Calibri"/>
            </a:endParaRPr>
          </a:p>
        </p:txBody>
      </p:sp>
      <p:sp>
        <p:nvSpPr>
          <p:cNvPr id="445" name="Google Shape;445;p51"/>
          <p:cNvSpPr txBox="1"/>
          <p:nvPr/>
        </p:nvSpPr>
        <p:spPr>
          <a:xfrm>
            <a:off x="256528" y="1974033"/>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6"/>
              </a:rPr>
              <a:t>Resolved Critical SHIs</a:t>
            </a:r>
            <a:endParaRPr sz="1000" b="0" i="0" u="none" strike="noStrike" cap="none">
              <a:solidFill>
                <a:srgbClr val="0254EC"/>
              </a:solidFill>
              <a:latin typeface="Calibri"/>
              <a:ea typeface="Calibri"/>
              <a:cs typeface="Calibri"/>
              <a:sym typeface="Calibri"/>
            </a:endParaRPr>
          </a:p>
        </p:txBody>
      </p:sp>
      <p:sp>
        <p:nvSpPr>
          <p:cNvPr id="446" name="Google Shape;446;p51"/>
          <p:cNvSpPr txBox="1"/>
          <p:nvPr/>
        </p:nvSpPr>
        <p:spPr>
          <a:xfrm>
            <a:off x="1735851" y="1974033"/>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a:ea typeface="Calibri"/>
                <a:cs typeface="Calibri"/>
                <a:sym typeface="Calibri"/>
              </a:rPr>
              <a:t>{{SHI_R_C}}</a:t>
            </a:r>
            <a:endParaRPr sz="1000" b="0" i="0" u="none" strike="noStrike" cap="none">
              <a:solidFill>
                <a:srgbClr val="333333"/>
              </a:solidFill>
              <a:latin typeface="Calibri"/>
              <a:ea typeface="Calibri"/>
              <a:cs typeface="Calibri"/>
              <a:sym typeface="Calibri"/>
            </a:endParaRPr>
          </a:p>
        </p:txBody>
      </p:sp>
      <p:sp>
        <p:nvSpPr>
          <p:cNvPr id="447" name="Google Shape;447;p51"/>
          <p:cNvSpPr txBox="1"/>
          <p:nvPr/>
        </p:nvSpPr>
        <p:spPr>
          <a:xfrm>
            <a:off x="256528" y="2153659"/>
            <a:ext cx="1785000" cy="1698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7"/>
              </a:rPr>
              <a:t>Resolved High SHIs</a:t>
            </a:r>
            <a:endParaRPr sz="1000" b="0" i="0" u="none" strike="noStrike" cap="none">
              <a:solidFill>
                <a:srgbClr val="0254EC"/>
              </a:solidFill>
              <a:latin typeface="Calibri"/>
              <a:ea typeface="Calibri"/>
              <a:cs typeface="Calibri"/>
              <a:sym typeface="Calibri"/>
            </a:endParaRPr>
          </a:p>
        </p:txBody>
      </p:sp>
      <p:sp>
        <p:nvSpPr>
          <p:cNvPr id="448" name="Google Shape;448;p51"/>
          <p:cNvSpPr txBox="1"/>
          <p:nvPr/>
        </p:nvSpPr>
        <p:spPr>
          <a:xfrm>
            <a:off x="1735851" y="2153659"/>
            <a:ext cx="1115700" cy="169800"/>
          </a:xfrm>
          <a:prstGeom prst="rect">
            <a:avLst/>
          </a:prstGeom>
          <a:noFill/>
          <a:ln>
            <a:noFill/>
          </a:ln>
        </p:spPr>
        <p:txBody>
          <a:bodyPr spcFirstLastPara="1" wrap="square" lIns="91250" tIns="91250" rIns="91250" bIns="9125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a:ea typeface="Calibri"/>
                <a:cs typeface="Calibri"/>
                <a:sym typeface="Calibri"/>
              </a:rPr>
              <a:t>{{SHI_R_H}}</a:t>
            </a:r>
            <a:endParaRPr sz="1000" b="0" i="0" u="none" strike="noStrike" cap="none">
              <a:solidFill>
                <a:srgbClr val="333333"/>
              </a:solidFill>
              <a:latin typeface="Calibri"/>
              <a:ea typeface="Calibri"/>
              <a:cs typeface="Calibri"/>
              <a:sym typeface="Calibri"/>
            </a:endParaRPr>
          </a:p>
        </p:txBody>
      </p:sp>
      <p:sp>
        <p:nvSpPr>
          <p:cNvPr id="449" name="Google Shape;449;p51"/>
          <p:cNvSpPr txBox="1"/>
          <p:nvPr/>
        </p:nvSpPr>
        <p:spPr>
          <a:xfrm>
            <a:off x="244065" y="1774709"/>
            <a:ext cx="2655300" cy="219900"/>
          </a:xfrm>
          <a:prstGeom prst="rect">
            <a:avLst/>
          </a:prstGeom>
          <a:noFill/>
          <a:ln>
            <a:noFill/>
          </a:ln>
        </p:spPr>
        <p:txBody>
          <a:bodyPr spcFirstLastPara="1" wrap="square" lIns="91250" tIns="91250" rIns="91250" bIns="9125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a:ea typeface="Calibri"/>
                <a:cs typeface="Calibri"/>
                <a:sym typeface="Calibri"/>
              </a:rPr>
              <a:t>Resolved SHIs in Past 30 Days</a:t>
            </a:r>
            <a:endParaRPr sz="1000" b="0" i="0" u="none" strike="noStrike" cap="none">
              <a:solidFill>
                <a:srgbClr val="333333"/>
              </a:solidFill>
              <a:latin typeface="Calibri"/>
              <a:ea typeface="Calibri"/>
              <a:cs typeface="Calibri"/>
              <a:sym typeface="Calibri"/>
            </a:endParaRPr>
          </a:p>
        </p:txBody>
      </p:sp>
      <p:pic>
        <p:nvPicPr>
          <p:cNvPr id="450" name="Google Shape;450;p51"/>
          <p:cNvPicPr preferRelativeResize="0"/>
          <p:nvPr/>
        </p:nvPicPr>
        <p:blipFill rotWithShape="1">
          <a:blip r:embed="rId8">
            <a:alphaModFix amt="79000"/>
          </a:blip>
          <a:srcRect/>
          <a:stretch/>
        </p:blipFill>
        <p:spPr>
          <a:xfrm>
            <a:off x="3091600" y="2638250"/>
            <a:ext cx="2755502" cy="2427451"/>
          </a:xfrm>
          <a:prstGeom prst="rect">
            <a:avLst/>
          </a:prstGeom>
          <a:noFill/>
          <a:ln w="9525" cap="flat" cmpd="sng">
            <a:solidFill>
              <a:schemeClr val="accent1"/>
            </a:solidFill>
            <a:prstDash val="solid"/>
            <a:round/>
            <a:headEnd type="none" w="sm" len="sm"/>
            <a:tailEnd type="none" w="sm" len="sm"/>
          </a:ln>
        </p:spPr>
      </p:pic>
      <p:sp>
        <p:nvSpPr>
          <p:cNvPr id="451" name="Google Shape;451;p51"/>
          <p:cNvSpPr txBox="1"/>
          <p:nvPr/>
        </p:nvSpPr>
        <p:spPr>
          <a:xfrm>
            <a:off x="3091590" y="2718202"/>
            <a:ext cx="2753400"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a:ea typeface="Calibri"/>
                <a:cs typeface="Calibri"/>
                <a:sym typeface="Calibri"/>
              </a:rPr>
              <a:t>Non-OS, Registry &amp; VM Image Scans</a:t>
            </a:r>
            <a:endParaRPr sz="1500" b="0" i="0" u="none" strike="noStrike" cap="none">
              <a:solidFill>
                <a:schemeClr val="dk1"/>
              </a:solidFill>
              <a:latin typeface="Calibri"/>
              <a:ea typeface="Calibri"/>
              <a:cs typeface="Calibri"/>
              <a:sym typeface="Calibri"/>
            </a:endParaRPr>
          </a:p>
        </p:txBody>
      </p:sp>
      <p:pic>
        <p:nvPicPr>
          <p:cNvPr id="452" name="Google Shape;452;p51"/>
          <p:cNvPicPr preferRelativeResize="0"/>
          <p:nvPr/>
        </p:nvPicPr>
        <p:blipFill rotWithShape="1">
          <a:blip r:embed="rId3">
            <a:alphaModFix/>
          </a:blip>
          <a:srcRect/>
          <a:stretch/>
        </p:blipFill>
        <p:spPr>
          <a:xfrm>
            <a:off x="6483927" y="933600"/>
            <a:ext cx="2532948" cy="1594700"/>
          </a:xfrm>
          <a:prstGeom prst="rect">
            <a:avLst/>
          </a:prstGeom>
          <a:noFill/>
          <a:ln w="9525" cap="flat" cmpd="sng">
            <a:solidFill>
              <a:schemeClr val="accent1"/>
            </a:solidFill>
            <a:prstDash val="solid"/>
            <a:round/>
            <a:headEnd type="none" w="sm" len="sm"/>
            <a:tailEnd type="none" w="sm" len="sm"/>
          </a:ln>
        </p:spPr>
      </p:pic>
      <p:sp>
        <p:nvSpPr>
          <p:cNvPr id="453" name="Google Shape;453;p51"/>
          <p:cNvSpPr txBox="1"/>
          <p:nvPr/>
        </p:nvSpPr>
        <p:spPr>
          <a:xfrm>
            <a:off x="6491831" y="1016199"/>
            <a:ext cx="2522747"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dirty="0">
                <a:solidFill>
                  <a:schemeClr val="dk1"/>
                </a:solidFill>
                <a:latin typeface="Calibri"/>
                <a:ea typeface="Calibri"/>
                <a:cs typeface="Calibri"/>
                <a:sym typeface="Calibri"/>
              </a:rPr>
              <a:t>Data Security (DSPM) Scans</a:t>
            </a:r>
            <a:endParaRPr sz="1500" b="0" i="0" u="none" strike="noStrike" cap="none" dirty="0">
              <a:solidFill>
                <a:schemeClr val="dk1"/>
              </a:solidFill>
              <a:latin typeface="Calibri"/>
              <a:ea typeface="Calibri"/>
              <a:cs typeface="Calibri"/>
              <a:sym typeface="Calibri"/>
            </a:endParaRPr>
          </a:p>
        </p:txBody>
      </p:sp>
      <p:sp>
        <p:nvSpPr>
          <p:cNvPr id="454" name="Google Shape;454;p51"/>
          <p:cNvSpPr txBox="1"/>
          <p:nvPr/>
        </p:nvSpPr>
        <p:spPr>
          <a:xfrm>
            <a:off x="6183001" y="1483537"/>
            <a:ext cx="2684100"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55" name="Google Shape;455;p51"/>
          <p:cNvSpPr txBox="1"/>
          <p:nvPr/>
        </p:nvSpPr>
        <p:spPr>
          <a:xfrm>
            <a:off x="6119719" y="1221521"/>
            <a:ext cx="2817300" cy="2700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2100"/>
              <a:buFont typeface="Arial"/>
              <a:buNone/>
            </a:pPr>
            <a:endParaRPr sz="2100" b="0" i="0" u="none" strike="noStrike" cap="none">
              <a:solidFill>
                <a:srgbClr val="1155CC"/>
              </a:solidFill>
              <a:latin typeface="Calibri"/>
              <a:ea typeface="Calibri"/>
              <a:cs typeface="Calibri"/>
              <a:sym typeface="Calibri"/>
            </a:endParaRPr>
          </a:p>
        </p:txBody>
      </p:sp>
      <p:sp>
        <p:nvSpPr>
          <p:cNvPr id="456" name="Google Shape;456;p51"/>
          <p:cNvSpPr txBox="1"/>
          <p:nvPr/>
        </p:nvSpPr>
        <p:spPr>
          <a:xfrm>
            <a:off x="6426123" y="1350465"/>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chemeClr val="hlink"/>
                </a:solidFill>
                <a:latin typeface="Calibri"/>
                <a:ea typeface="Calibri"/>
                <a:cs typeface="Calibri"/>
                <a:sym typeface="Calibri"/>
                <a:hlinkClick r:id="rId9"/>
              </a:rPr>
              <a:t>Total</a:t>
            </a:r>
            <a:r>
              <a:rPr lang="en" sz="1000" b="0" i="0" u="none" strike="noStrike" cap="none" dirty="0">
                <a:solidFill>
                  <a:srgbClr val="333333"/>
                </a:solidFill>
                <a:latin typeface="Calibri"/>
                <a:ea typeface="Calibri"/>
                <a:cs typeface="Calibri"/>
                <a:sym typeface="Calibri"/>
              </a:rPr>
              <a:t>: {{DS_T}}</a:t>
            </a:r>
            <a:endParaRPr sz="1000" b="0" i="0" u="none" strike="noStrike" cap="none" dirty="0">
              <a:solidFill>
                <a:srgbClr val="333333"/>
              </a:solidFill>
              <a:latin typeface="Calibri"/>
              <a:ea typeface="Calibri"/>
              <a:cs typeface="Calibri"/>
              <a:sym typeface="Calibri"/>
            </a:endParaRPr>
          </a:p>
        </p:txBody>
      </p:sp>
      <p:sp>
        <p:nvSpPr>
          <p:cNvPr id="457" name="Google Shape;457;p51"/>
          <p:cNvSpPr txBox="1"/>
          <p:nvPr/>
        </p:nvSpPr>
        <p:spPr>
          <a:xfrm>
            <a:off x="6425673" y="1603626"/>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0"/>
              </a:rPr>
              <a:t>Failed</a:t>
            </a:r>
            <a:r>
              <a:rPr lang="en" sz="1000" b="0" i="0" u="none" strike="noStrike" cap="none">
                <a:solidFill>
                  <a:srgbClr val="333333"/>
                </a:solidFill>
                <a:latin typeface="Calibri"/>
                <a:ea typeface="Calibri"/>
                <a:cs typeface="Calibri"/>
                <a:sym typeface="Calibri"/>
              </a:rPr>
              <a:t>: {{DS_F}}</a:t>
            </a:r>
            <a:endParaRPr sz="1000" b="0" i="0" u="none" strike="noStrike" cap="none">
              <a:solidFill>
                <a:srgbClr val="333333"/>
              </a:solidFill>
              <a:latin typeface="Calibri"/>
              <a:ea typeface="Calibri"/>
              <a:cs typeface="Calibri"/>
              <a:sym typeface="Calibri"/>
            </a:endParaRPr>
          </a:p>
        </p:txBody>
      </p:sp>
      <p:sp>
        <p:nvSpPr>
          <p:cNvPr id="458" name="Google Shape;458;p51"/>
          <p:cNvSpPr txBox="1"/>
          <p:nvPr/>
        </p:nvSpPr>
        <p:spPr>
          <a:xfrm>
            <a:off x="6258947" y="2109948"/>
            <a:ext cx="29283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none" strike="noStrike" cap="none">
                <a:solidFill>
                  <a:srgbClr val="000000"/>
                </a:solidFill>
                <a:latin typeface="Calibri"/>
                <a:ea typeface="Calibri"/>
                <a:cs typeface="Calibri"/>
                <a:sym typeface="Calibri"/>
              </a:rPr>
              <a:t>Data Scan Coverage:</a:t>
            </a:r>
            <a:r>
              <a:rPr lang="en" sz="1000" b="0" i="0" u="none" strike="noStrike" cap="none">
                <a:solidFill>
                  <a:srgbClr val="333333"/>
                </a:solidFill>
                <a:latin typeface="Calibri"/>
                <a:ea typeface="Calibri"/>
                <a:cs typeface="Calibri"/>
                <a:sym typeface="Calibri"/>
              </a:rPr>
              <a:t> {{DS_P}}</a:t>
            </a:r>
            <a:endParaRPr sz="1000" b="0" i="0" u="none" strike="noStrike" cap="none">
              <a:solidFill>
                <a:srgbClr val="333333"/>
              </a:solidFill>
              <a:latin typeface="Calibri"/>
              <a:ea typeface="Calibri"/>
              <a:cs typeface="Calibri"/>
              <a:sym typeface="Calibri"/>
            </a:endParaRPr>
          </a:p>
        </p:txBody>
      </p:sp>
      <p:sp>
        <p:nvSpPr>
          <p:cNvPr id="459" name="Google Shape;459;p51"/>
          <p:cNvSpPr txBox="1"/>
          <p:nvPr/>
        </p:nvSpPr>
        <p:spPr>
          <a:xfrm>
            <a:off x="6419464" y="1856787"/>
            <a:ext cx="2643900" cy="234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1"/>
              </a:rPr>
              <a:t>Skipped</a:t>
            </a:r>
            <a:r>
              <a:rPr lang="en" sz="1000" b="0" i="0" u="none" strike="noStrike" cap="none">
                <a:solidFill>
                  <a:srgbClr val="333333"/>
                </a:solidFill>
                <a:latin typeface="Calibri"/>
                <a:ea typeface="Calibri"/>
                <a:cs typeface="Calibri"/>
                <a:sym typeface="Calibri"/>
              </a:rPr>
              <a:t>: {{DS_SK}}</a:t>
            </a:r>
            <a:endParaRPr sz="1000" b="0" i="0" u="none" strike="noStrike" cap="none">
              <a:solidFill>
                <a:srgbClr val="333333"/>
              </a:solidFill>
              <a:latin typeface="Calibri"/>
              <a:ea typeface="Calibri"/>
              <a:cs typeface="Calibri"/>
              <a:sym typeface="Calibri"/>
            </a:endParaRPr>
          </a:p>
        </p:txBody>
      </p:sp>
      <p:pic>
        <p:nvPicPr>
          <p:cNvPr id="460" name="Google Shape;460;p51"/>
          <p:cNvPicPr preferRelativeResize="0"/>
          <p:nvPr/>
        </p:nvPicPr>
        <p:blipFill rotWithShape="1">
          <a:blip r:embed="rId3">
            <a:alphaModFix/>
          </a:blip>
          <a:srcRect/>
          <a:stretch/>
        </p:blipFill>
        <p:spPr>
          <a:xfrm>
            <a:off x="6071616" y="2962656"/>
            <a:ext cx="2939187" cy="2033900"/>
          </a:xfrm>
          <a:prstGeom prst="rect">
            <a:avLst/>
          </a:prstGeom>
          <a:noFill/>
          <a:ln w="9525" cap="flat" cmpd="sng">
            <a:solidFill>
              <a:schemeClr val="accent1"/>
            </a:solidFill>
            <a:prstDash val="solid"/>
            <a:round/>
            <a:headEnd type="none" w="sm" len="sm"/>
            <a:tailEnd type="none" w="sm" len="sm"/>
          </a:ln>
        </p:spPr>
      </p:pic>
      <p:sp>
        <p:nvSpPr>
          <p:cNvPr id="461" name="Google Shape;461;p51"/>
          <p:cNvSpPr txBox="1"/>
          <p:nvPr/>
        </p:nvSpPr>
        <p:spPr>
          <a:xfrm>
            <a:off x="6074177" y="3001318"/>
            <a:ext cx="2937000" cy="5361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a:ea typeface="Calibri"/>
                <a:cs typeface="Calibri"/>
                <a:sym typeface="Calibri"/>
              </a:rPr>
              <a:t>Data Security Scans</a:t>
            </a:r>
            <a:br>
              <a:rPr lang="en" sz="1500" b="0" i="0" u="none" strike="noStrike" cap="none">
                <a:solidFill>
                  <a:schemeClr val="dk1"/>
                </a:solidFill>
                <a:latin typeface="Calibri"/>
                <a:ea typeface="Calibri"/>
                <a:cs typeface="Calibri"/>
                <a:sym typeface="Calibri"/>
              </a:rPr>
            </a:br>
            <a:r>
              <a:rPr lang="en" sz="1300" b="0" i="0" u="none" strike="noStrike" cap="none">
                <a:solidFill>
                  <a:schemeClr val="dk1"/>
                </a:solidFill>
                <a:latin typeface="Calibri"/>
                <a:ea typeface="Calibri"/>
                <a:cs typeface="Calibri"/>
                <a:sym typeface="Calibri"/>
              </a:rPr>
              <a:t>Counts by Resource Type</a:t>
            </a:r>
            <a:r>
              <a:rPr lang="en" sz="1500" b="0" i="0" u="none" strike="noStrike" cap="none">
                <a:solidFill>
                  <a:schemeClr val="dk1"/>
                </a:solidFill>
                <a:latin typeface="Calibri"/>
                <a:ea typeface="Calibri"/>
                <a:cs typeface="Calibri"/>
                <a:sym typeface="Calibri"/>
              </a:rPr>
              <a:t> </a:t>
            </a:r>
            <a:endParaRPr sz="1500" b="0" i="0" u="none" strike="noStrike" cap="none">
              <a:solidFill>
                <a:schemeClr val="dk1"/>
              </a:solidFill>
              <a:latin typeface="Calibri"/>
              <a:ea typeface="Calibri"/>
              <a:cs typeface="Calibri"/>
              <a:sym typeface="Calibri"/>
            </a:endParaRPr>
          </a:p>
        </p:txBody>
      </p:sp>
      <p:sp>
        <p:nvSpPr>
          <p:cNvPr id="462" name="Google Shape;462;p51"/>
          <p:cNvSpPr txBox="1"/>
          <p:nvPr/>
        </p:nvSpPr>
        <p:spPr>
          <a:xfrm>
            <a:off x="6182195" y="3512872"/>
            <a:ext cx="2681400"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63" name="Google Shape;463;p51"/>
          <p:cNvSpPr txBox="1"/>
          <p:nvPr/>
        </p:nvSpPr>
        <p:spPr>
          <a:xfrm>
            <a:off x="6080958" y="3553677"/>
            <a:ext cx="2925600" cy="207300"/>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2"/>
              </a:rPr>
              <a:t>Buckets</a:t>
            </a:r>
            <a:r>
              <a:rPr lang="en" sz="1000" b="0" i="0" u="none" strike="noStrike" cap="none">
                <a:solidFill>
                  <a:srgbClr val="333333"/>
                </a:solidFill>
                <a:latin typeface="Calibri"/>
                <a:ea typeface="Calibri"/>
                <a:cs typeface="Calibri"/>
                <a:sym typeface="Calibri"/>
              </a:rPr>
              <a:t>: {{DS_B}}</a:t>
            </a:r>
            <a:endParaRPr sz="1000" b="0" i="0" u="none" strike="noStrike" cap="none">
              <a:solidFill>
                <a:srgbClr val="333333"/>
              </a:solidFill>
              <a:latin typeface="Calibri"/>
              <a:ea typeface="Calibri"/>
              <a:cs typeface="Calibri"/>
              <a:sym typeface="Calibri"/>
            </a:endParaRPr>
          </a:p>
        </p:txBody>
      </p:sp>
      <p:sp>
        <p:nvSpPr>
          <p:cNvPr id="464" name="Google Shape;464;p51"/>
          <p:cNvSpPr txBox="1"/>
          <p:nvPr/>
        </p:nvSpPr>
        <p:spPr>
          <a:xfrm>
            <a:off x="6076847" y="3787606"/>
            <a:ext cx="29394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3"/>
              </a:rPr>
              <a:t>PaaS Databases</a:t>
            </a:r>
            <a:r>
              <a:rPr lang="en" sz="1000" b="0" i="0" u="none" strike="noStrike" cap="none">
                <a:solidFill>
                  <a:srgbClr val="333333"/>
                </a:solidFill>
                <a:latin typeface="Calibri"/>
                <a:ea typeface="Calibri"/>
                <a:cs typeface="Calibri"/>
                <a:sym typeface="Calibri"/>
              </a:rPr>
              <a:t>: {{DS_PD}}</a:t>
            </a:r>
            <a:endParaRPr sz="1000" b="0" i="0" u="none" strike="noStrike" cap="none">
              <a:solidFill>
                <a:srgbClr val="333333"/>
              </a:solidFill>
              <a:latin typeface="Calibri"/>
              <a:ea typeface="Calibri"/>
              <a:cs typeface="Calibri"/>
              <a:sym typeface="Calibri"/>
            </a:endParaRPr>
          </a:p>
        </p:txBody>
      </p:sp>
      <p:sp>
        <p:nvSpPr>
          <p:cNvPr id="465" name="Google Shape;465;p51"/>
          <p:cNvSpPr txBox="1"/>
          <p:nvPr/>
        </p:nvSpPr>
        <p:spPr>
          <a:xfrm>
            <a:off x="6087369" y="4266098"/>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4"/>
              </a:rPr>
              <a:t>Virtual Drives</a:t>
            </a:r>
            <a:r>
              <a:rPr lang="en" sz="1000" b="0" i="0" u="none" strike="noStrike" cap="none">
                <a:solidFill>
                  <a:srgbClr val="333333"/>
                </a:solidFill>
                <a:latin typeface="Calibri"/>
                <a:ea typeface="Calibri"/>
                <a:cs typeface="Calibri"/>
                <a:sym typeface="Calibri"/>
              </a:rPr>
              <a:t>: {{DS_VD}}</a:t>
            </a:r>
            <a:endParaRPr sz="1000" b="0" i="0" u="none" strike="noStrike" cap="none">
              <a:solidFill>
                <a:srgbClr val="333333"/>
              </a:solidFill>
              <a:latin typeface="Calibri"/>
              <a:ea typeface="Calibri"/>
              <a:cs typeface="Calibri"/>
              <a:sym typeface="Calibri"/>
            </a:endParaRPr>
          </a:p>
        </p:txBody>
      </p:sp>
      <p:sp>
        <p:nvSpPr>
          <p:cNvPr id="466" name="Google Shape;466;p51"/>
          <p:cNvSpPr txBox="1"/>
          <p:nvPr/>
        </p:nvSpPr>
        <p:spPr>
          <a:xfrm>
            <a:off x="6084243" y="4026852"/>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5"/>
              </a:rPr>
              <a:t>Data Warehouses</a:t>
            </a:r>
            <a:r>
              <a:rPr lang="en" sz="1000" b="0" i="0" u="none" strike="noStrike" cap="none">
                <a:solidFill>
                  <a:srgbClr val="333333"/>
                </a:solidFill>
                <a:latin typeface="Calibri"/>
                <a:ea typeface="Calibri"/>
                <a:cs typeface="Calibri"/>
                <a:sym typeface="Calibri"/>
              </a:rPr>
              <a:t>: {{DS_DW}}</a:t>
            </a:r>
            <a:endParaRPr sz="1000" b="0" i="0" u="none" strike="noStrike" cap="none">
              <a:solidFill>
                <a:srgbClr val="333333"/>
              </a:solidFill>
              <a:latin typeface="Calibri"/>
              <a:ea typeface="Calibri"/>
              <a:cs typeface="Calibri"/>
              <a:sym typeface="Calibri"/>
            </a:endParaRPr>
          </a:p>
        </p:txBody>
      </p:sp>
      <p:sp>
        <p:nvSpPr>
          <p:cNvPr id="467" name="Google Shape;467;p51"/>
          <p:cNvSpPr txBox="1"/>
          <p:nvPr/>
        </p:nvSpPr>
        <p:spPr>
          <a:xfrm>
            <a:off x="6085707" y="4505344"/>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6"/>
              </a:rPr>
              <a:t>AI Datastores</a:t>
            </a:r>
            <a:r>
              <a:rPr lang="en" sz="1000" b="0" i="0" u="none" strike="noStrike" cap="none">
                <a:solidFill>
                  <a:srgbClr val="333333"/>
                </a:solidFill>
                <a:latin typeface="Calibri"/>
                <a:ea typeface="Calibri"/>
                <a:cs typeface="Calibri"/>
                <a:sym typeface="Calibri"/>
              </a:rPr>
              <a:t>: {{DS_AI}}</a:t>
            </a:r>
            <a:endParaRPr sz="1000" b="0" i="0" u="none" strike="noStrike" cap="none">
              <a:solidFill>
                <a:srgbClr val="333333"/>
              </a:solidFill>
              <a:latin typeface="Calibri"/>
              <a:ea typeface="Calibri"/>
              <a:cs typeface="Calibri"/>
              <a:sym typeface="Calibri"/>
            </a:endParaRPr>
          </a:p>
        </p:txBody>
      </p:sp>
      <p:sp>
        <p:nvSpPr>
          <p:cNvPr id="468" name="Google Shape;468;p51"/>
          <p:cNvSpPr txBox="1"/>
          <p:nvPr/>
        </p:nvSpPr>
        <p:spPr>
          <a:xfrm>
            <a:off x="6085192" y="4744589"/>
            <a:ext cx="29256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7"/>
              </a:rPr>
              <a:t>File System Services</a:t>
            </a:r>
            <a:r>
              <a:rPr lang="en" sz="1000" b="0" i="0" u="none" strike="noStrike" cap="none">
                <a:solidFill>
                  <a:srgbClr val="333333"/>
                </a:solidFill>
                <a:latin typeface="Calibri"/>
                <a:ea typeface="Calibri"/>
                <a:cs typeface="Calibri"/>
                <a:sym typeface="Calibri"/>
              </a:rPr>
              <a:t>: {{DS_FSS}}</a:t>
            </a:r>
            <a:endParaRPr sz="1000" b="0" i="0" u="none" strike="noStrike" cap="none">
              <a:solidFill>
                <a:srgbClr val="333333"/>
              </a:solidFill>
              <a:latin typeface="Calibri"/>
              <a:ea typeface="Calibri"/>
              <a:cs typeface="Calibri"/>
              <a:sym typeface="Calibri"/>
            </a:endParaRPr>
          </a:p>
        </p:txBody>
      </p:sp>
      <p:pic>
        <p:nvPicPr>
          <p:cNvPr id="469" name="Google Shape;469;p51"/>
          <p:cNvPicPr preferRelativeResize="0"/>
          <p:nvPr/>
        </p:nvPicPr>
        <p:blipFill rotWithShape="1">
          <a:blip r:embed="rId3">
            <a:alphaModFix/>
          </a:blip>
          <a:srcRect/>
          <a:stretch/>
        </p:blipFill>
        <p:spPr>
          <a:xfrm>
            <a:off x="3080275" y="933600"/>
            <a:ext cx="3188398" cy="1594690"/>
          </a:xfrm>
          <a:prstGeom prst="rect">
            <a:avLst/>
          </a:prstGeom>
          <a:noFill/>
          <a:ln w="9525" cap="flat" cmpd="sng">
            <a:solidFill>
              <a:schemeClr val="accent1"/>
            </a:solidFill>
            <a:prstDash val="solid"/>
            <a:round/>
            <a:headEnd type="none" w="sm" len="sm"/>
            <a:tailEnd type="none" w="sm" len="sm"/>
          </a:ln>
        </p:spPr>
      </p:pic>
      <p:sp>
        <p:nvSpPr>
          <p:cNvPr id="470" name="Google Shape;470;p51"/>
          <p:cNvSpPr txBox="1"/>
          <p:nvPr/>
        </p:nvSpPr>
        <p:spPr>
          <a:xfrm>
            <a:off x="3080276" y="1001134"/>
            <a:ext cx="3174975" cy="3456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dirty="0">
                <a:solidFill>
                  <a:schemeClr val="dk1"/>
                </a:solidFill>
                <a:latin typeface="Calibri"/>
                <a:ea typeface="Calibri"/>
                <a:cs typeface="Calibri"/>
                <a:sym typeface="Calibri"/>
              </a:rPr>
              <a:t>Workload Scans</a:t>
            </a:r>
            <a:endParaRPr sz="1200" b="0" i="0" u="none" strike="noStrike" cap="none" dirty="0">
              <a:solidFill>
                <a:schemeClr val="dk1"/>
              </a:solidFill>
              <a:latin typeface="Calibri"/>
              <a:ea typeface="Calibri"/>
              <a:cs typeface="Calibri"/>
              <a:sym typeface="Calibri"/>
            </a:endParaRPr>
          </a:p>
        </p:txBody>
      </p:sp>
      <p:sp>
        <p:nvSpPr>
          <p:cNvPr id="471" name="Google Shape;471;p51"/>
          <p:cNvSpPr txBox="1"/>
          <p:nvPr/>
        </p:nvSpPr>
        <p:spPr>
          <a:xfrm>
            <a:off x="3072365" y="1578966"/>
            <a:ext cx="3177693" cy="317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72" name="Google Shape;472;p51"/>
          <p:cNvSpPr txBox="1"/>
          <p:nvPr/>
        </p:nvSpPr>
        <p:spPr>
          <a:xfrm>
            <a:off x="3080274" y="1296582"/>
            <a:ext cx="3183206"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chemeClr val="hlink"/>
                </a:solidFill>
                <a:latin typeface="Calibri"/>
                <a:ea typeface="Calibri"/>
                <a:cs typeface="Calibri"/>
                <a:sym typeface="Calibri"/>
                <a:hlinkClick r:id="rId18"/>
              </a:rPr>
              <a:t>Total Workload Scans</a:t>
            </a:r>
            <a:r>
              <a:rPr lang="en" sz="1000" b="0" i="0" u="none" strike="noStrike" cap="none" dirty="0">
                <a:solidFill>
                  <a:srgbClr val="333333"/>
                </a:solidFill>
                <a:latin typeface="Calibri"/>
                <a:ea typeface="Calibri"/>
                <a:cs typeface="Calibri"/>
                <a:sym typeface="Calibri"/>
              </a:rPr>
              <a:t>: {{WS_T}}</a:t>
            </a:r>
            <a:endParaRPr sz="1000" b="0" i="0" u="none" strike="noStrike" cap="none" dirty="0">
              <a:solidFill>
                <a:srgbClr val="333333"/>
              </a:solidFill>
              <a:latin typeface="Calibri"/>
              <a:ea typeface="Calibri"/>
              <a:cs typeface="Calibri"/>
              <a:sym typeface="Calibri"/>
            </a:endParaRPr>
          </a:p>
        </p:txBody>
      </p:sp>
      <p:sp>
        <p:nvSpPr>
          <p:cNvPr id="476" name="Google Shape;476;p51"/>
          <p:cNvSpPr/>
          <p:nvPr/>
        </p:nvSpPr>
        <p:spPr>
          <a:xfrm>
            <a:off x="1335452" y="2575004"/>
            <a:ext cx="269400" cy="345600"/>
          </a:xfrm>
          <a:prstGeom prst="downArrow">
            <a:avLst>
              <a:gd name="adj1" fmla="val 50000"/>
              <a:gd name="adj2" fmla="val 50000"/>
            </a:avLst>
          </a:prstGeom>
          <a:solidFill>
            <a:srgbClr val="014FF7"/>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pic>
        <p:nvPicPr>
          <p:cNvPr id="477" name="Google Shape;477;p51"/>
          <p:cNvPicPr preferRelativeResize="0"/>
          <p:nvPr/>
        </p:nvPicPr>
        <p:blipFill rotWithShape="1">
          <a:blip r:embed="rId3">
            <a:alphaModFix/>
          </a:blip>
          <a:srcRect/>
          <a:stretch/>
        </p:blipFill>
        <p:spPr>
          <a:xfrm>
            <a:off x="119827" y="2962925"/>
            <a:ext cx="2755502" cy="2126475"/>
          </a:xfrm>
          <a:prstGeom prst="rect">
            <a:avLst/>
          </a:prstGeom>
          <a:noFill/>
          <a:ln w="9525" cap="flat" cmpd="sng">
            <a:solidFill>
              <a:schemeClr val="accent1"/>
            </a:solidFill>
            <a:prstDash val="solid"/>
            <a:round/>
            <a:headEnd type="none" w="sm" len="sm"/>
            <a:tailEnd type="none" w="sm" len="sm"/>
          </a:ln>
        </p:spPr>
      </p:pic>
      <p:sp>
        <p:nvSpPr>
          <p:cNvPr id="478" name="Google Shape;478;p51"/>
          <p:cNvSpPr txBox="1"/>
          <p:nvPr/>
        </p:nvSpPr>
        <p:spPr>
          <a:xfrm>
            <a:off x="119827" y="2984749"/>
            <a:ext cx="2753400" cy="5361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2"/>
              </a:buClr>
              <a:buSzPts val="1500"/>
              <a:buFont typeface="Arial"/>
              <a:buNone/>
            </a:pPr>
            <a:r>
              <a:rPr lang="en" sz="1500" b="0" i="0" u="none" strike="noStrike" cap="none">
                <a:solidFill>
                  <a:schemeClr val="dk1"/>
                </a:solidFill>
                <a:latin typeface="Calibri"/>
                <a:ea typeface="Calibri"/>
                <a:cs typeface="Calibri"/>
                <a:sym typeface="Calibri"/>
              </a:rPr>
              <a:t>System Health Issues</a:t>
            </a:r>
            <a:br>
              <a:rPr lang="en" sz="1500" b="0" i="0" u="none" strike="noStrike" cap="none">
                <a:solidFill>
                  <a:schemeClr val="dk1"/>
                </a:solidFill>
                <a:latin typeface="Calibri"/>
                <a:ea typeface="Calibri"/>
                <a:cs typeface="Calibri"/>
                <a:sym typeface="Calibri"/>
              </a:rPr>
            </a:br>
            <a:r>
              <a:rPr lang="en" sz="1300" b="0" i="0" u="none" strike="noStrike" cap="none">
                <a:solidFill>
                  <a:schemeClr val="dk1"/>
                </a:solidFill>
                <a:latin typeface="Calibri"/>
                <a:ea typeface="Calibri"/>
                <a:cs typeface="Calibri"/>
                <a:sym typeface="Calibri"/>
              </a:rPr>
              <a:t>Counts by Resource Type</a:t>
            </a:r>
            <a:r>
              <a:rPr lang="en" sz="1500" b="0" i="0" u="none" strike="noStrike" cap="none">
                <a:solidFill>
                  <a:schemeClr val="dk1"/>
                </a:solidFill>
                <a:latin typeface="Calibri"/>
                <a:ea typeface="Calibri"/>
                <a:cs typeface="Calibri"/>
                <a:sym typeface="Calibri"/>
              </a:rPr>
              <a:t> </a:t>
            </a:r>
            <a:endParaRPr sz="1500" b="0" i="0" u="none" strike="noStrike" cap="none">
              <a:solidFill>
                <a:schemeClr val="dk1"/>
              </a:solidFill>
              <a:latin typeface="Calibri"/>
              <a:ea typeface="Calibri"/>
              <a:cs typeface="Calibri"/>
              <a:sym typeface="Calibri"/>
            </a:endParaRPr>
          </a:p>
        </p:txBody>
      </p:sp>
      <p:sp>
        <p:nvSpPr>
          <p:cNvPr id="479" name="Google Shape;479;p51"/>
          <p:cNvSpPr txBox="1"/>
          <p:nvPr/>
        </p:nvSpPr>
        <p:spPr>
          <a:xfrm>
            <a:off x="157649" y="3766713"/>
            <a:ext cx="2690181" cy="188771"/>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9"/>
              </a:rPr>
              <a:t>Outposts</a:t>
            </a:r>
            <a:r>
              <a:rPr lang="en" sz="1000" b="0" i="0" u="none" strike="noStrike" cap="none">
                <a:solidFill>
                  <a:srgbClr val="333333"/>
                </a:solidFill>
                <a:latin typeface="Calibri"/>
                <a:ea typeface="Calibri"/>
                <a:cs typeface="Calibri"/>
                <a:sym typeface="Calibri"/>
              </a:rPr>
              <a:t>: {{SHI_O}}</a:t>
            </a:r>
            <a:endParaRPr sz="1000" b="0" i="0" u="none" strike="noStrike" cap="none">
              <a:solidFill>
                <a:srgbClr val="333333"/>
              </a:solidFill>
              <a:latin typeface="Calibri"/>
              <a:ea typeface="Calibri"/>
              <a:cs typeface="Calibri"/>
              <a:sym typeface="Calibri"/>
            </a:endParaRPr>
          </a:p>
        </p:txBody>
      </p:sp>
      <p:sp>
        <p:nvSpPr>
          <p:cNvPr id="480" name="Google Shape;480;p51"/>
          <p:cNvSpPr txBox="1"/>
          <p:nvPr/>
        </p:nvSpPr>
        <p:spPr>
          <a:xfrm>
            <a:off x="142826" y="4203392"/>
            <a:ext cx="2695757" cy="2235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20"/>
              </a:rPr>
              <a:t>Registry Connectors</a:t>
            </a:r>
            <a:r>
              <a:rPr lang="en" sz="1000" b="0" i="0" u="none" strike="noStrike" cap="none">
                <a:solidFill>
                  <a:srgbClr val="333333"/>
                </a:solidFill>
                <a:latin typeface="Calibri"/>
                <a:ea typeface="Calibri"/>
                <a:cs typeface="Calibri"/>
                <a:sym typeface="Calibri"/>
              </a:rPr>
              <a:t>: {{SHI_RC}}</a:t>
            </a:r>
            <a:endParaRPr sz="1000" b="0" i="0" u="none" strike="noStrike" cap="none">
              <a:solidFill>
                <a:srgbClr val="333333"/>
              </a:solidFill>
              <a:latin typeface="Calibri"/>
              <a:ea typeface="Calibri"/>
              <a:cs typeface="Calibri"/>
              <a:sym typeface="Calibri"/>
            </a:endParaRPr>
          </a:p>
        </p:txBody>
      </p:sp>
      <p:sp>
        <p:nvSpPr>
          <p:cNvPr id="481" name="Google Shape;481;p51"/>
          <p:cNvSpPr txBox="1"/>
          <p:nvPr/>
        </p:nvSpPr>
        <p:spPr>
          <a:xfrm>
            <a:off x="147275" y="3985053"/>
            <a:ext cx="2696624" cy="19981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21"/>
              </a:rPr>
              <a:t>Integrations</a:t>
            </a:r>
            <a:r>
              <a:rPr lang="en" sz="1000" b="0" i="0" u="none" strike="noStrike" cap="none">
                <a:solidFill>
                  <a:srgbClr val="333333"/>
                </a:solidFill>
                <a:latin typeface="Calibri"/>
                <a:ea typeface="Calibri"/>
                <a:cs typeface="Calibri"/>
                <a:sym typeface="Calibri"/>
              </a:rPr>
              <a:t>: {{SHI_I}}</a:t>
            </a:r>
            <a:endParaRPr sz="1000" b="0" i="0" u="none" strike="noStrike" cap="none">
              <a:solidFill>
                <a:srgbClr val="333333"/>
              </a:solidFill>
              <a:latin typeface="Calibri"/>
              <a:ea typeface="Calibri"/>
              <a:cs typeface="Calibri"/>
              <a:sym typeface="Calibri"/>
            </a:endParaRPr>
          </a:p>
        </p:txBody>
      </p:sp>
      <p:sp>
        <p:nvSpPr>
          <p:cNvPr id="482" name="Google Shape;482;p51"/>
          <p:cNvSpPr txBox="1"/>
          <p:nvPr/>
        </p:nvSpPr>
        <p:spPr>
          <a:xfrm>
            <a:off x="157216" y="4421732"/>
            <a:ext cx="2685297" cy="202588"/>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22"/>
              </a:rPr>
              <a:t>K8S Connectors</a:t>
            </a:r>
            <a:r>
              <a:rPr lang="en" sz="1000" b="0" i="0" u="none" strike="noStrike" cap="none">
                <a:solidFill>
                  <a:srgbClr val="333333"/>
                </a:solidFill>
                <a:latin typeface="Calibri"/>
                <a:ea typeface="Calibri"/>
                <a:cs typeface="Calibri"/>
                <a:sym typeface="Calibri"/>
              </a:rPr>
              <a:t>: {{SHI_KC}}</a:t>
            </a:r>
            <a:endParaRPr sz="1000" b="0" i="0" u="none" strike="noStrike" cap="none">
              <a:solidFill>
                <a:srgbClr val="333333"/>
              </a:solidFill>
              <a:latin typeface="Calibri"/>
              <a:ea typeface="Calibri"/>
              <a:cs typeface="Calibri"/>
              <a:sym typeface="Calibri"/>
            </a:endParaRPr>
          </a:p>
        </p:txBody>
      </p:sp>
      <p:sp>
        <p:nvSpPr>
          <p:cNvPr id="483" name="Google Shape;483;p51"/>
          <p:cNvSpPr txBox="1"/>
          <p:nvPr/>
        </p:nvSpPr>
        <p:spPr>
          <a:xfrm>
            <a:off x="140785" y="4640071"/>
            <a:ext cx="2695757" cy="21834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23"/>
              </a:rPr>
              <a:t>VCS Connectors</a:t>
            </a:r>
            <a:r>
              <a:rPr lang="en" sz="1000" b="0" i="0" u="none" strike="noStrike" cap="none">
                <a:solidFill>
                  <a:srgbClr val="333333"/>
                </a:solidFill>
                <a:latin typeface="Calibri"/>
                <a:ea typeface="Calibri"/>
                <a:cs typeface="Calibri"/>
                <a:sym typeface="Calibri"/>
              </a:rPr>
              <a:t>: {{SHI_VCS}}</a:t>
            </a:r>
            <a:endParaRPr sz="1000" b="0" i="0" u="none" strike="noStrike" cap="none">
              <a:solidFill>
                <a:srgbClr val="333333"/>
              </a:solidFill>
              <a:latin typeface="Calibri"/>
              <a:ea typeface="Calibri"/>
              <a:cs typeface="Calibri"/>
              <a:sym typeface="Calibri"/>
            </a:endParaRPr>
          </a:p>
        </p:txBody>
      </p:sp>
      <p:sp>
        <p:nvSpPr>
          <p:cNvPr id="484" name="Google Shape;484;p51"/>
          <p:cNvSpPr txBox="1"/>
          <p:nvPr/>
        </p:nvSpPr>
        <p:spPr>
          <a:xfrm>
            <a:off x="154650" y="4858411"/>
            <a:ext cx="2682547" cy="19465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24"/>
              </a:rPr>
              <a:t>Brokers</a:t>
            </a:r>
            <a:r>
              <a:rPr lang="en" sz="1000" b="0" i="0" u="none" strike="noStrike" cap="none">
                <a:solidFill>
                  <a:srgbClr val="333333"/>
                </a:solidFill>
                <a:latin typeface="Calibri"/>
                <a:ea typeface="Calibri"/>
                <a:cs typeface="Calibri"/>
                <a:sym typeface="Calibri"/>
              </a:rPr>
              <a:t>: {{SHI_B}}</a:t>
            </a:r>
            <a:endParaRPr sz="1000" b="0" i="0" u="none" strike="noStrike" cap="none">
              <a:solidFill>
                <a:srgbClr val="333333"/>
              </a:solidFill>
              <a:latin typeface="Calibri"/>
              <a:ea typeface="Calibri"/>
              <a:cs typeface="Calibri"/>
              <a:sym typeface="Calibri"/>
            </a:endParaRPr>
          </a:p>
        </p:txBody>
      </p:sp>
      <p:sp>
        <p:nvSpPr>
          <p:cNvPr id="485" name="Google Shape;485;p51"/>
          <p:cNvSpPr txBox="1"/>
          <p:nvPr/>
        </p:nvSpPr>
        <p:spPr>
          <a:xfrm>
            <a:off x="136809" y="3548374"/>
            <a:ext cx="2725374" cy="194650"/>
          </a:xfrm>
          <a:prstGeom prst="rect">
            <a:avLst/>
          </a:prstGeom>
          <a:solidFill>
            <a:schemeClr val="lt1"/>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25"/>
              </a:rPr>
              <a:t>Cloud Connectors</a:t>
            </a:r>
            <a:r>
              <a:rPr lang="en" sz="1000" b="0" i="0" u="none" strike="noStrike" cap="none">
                <a:solidFill>
                  <a:srgbClr val="333333"/>
                </a:solidFill>
                <a:latin typeface="Calibri"/>
                <a:ea typeface="Calibri"/>
                <a:cs typeface="Calibri"/>
                <a:sym typeface="Calibri"/>
              </a:rPr>
              <a:t>: {{SHI_CC}}</a:t>
            </a:r>
            <a:endParaRPr sz="1000" b="0" i="0" u="none" strike="noStrike" cap="none">
              <a:solidFill>
                <a:srgbClr val="333333"/>
              </a:solidFill>
              <a:latin typeface="Calibri"/>
              <a:ea typeface="Calibri"/>
              <a:cs typeface="Calibri"/>
              <a:sym typeface="Calibri"/>
            </a:endParaRPr>
          </a:p>
        </p:txBody>
      </p:sp>
      <p:sp>
        <p:nvSpPr>
          <p:cNvPr id="486" name="Google Shape;486;p51"/>
          <p:cNvSpPr/>
          <p:nvPr/>
        </p:nvSpPr>
        <p:spPr>
          <a:xfrm>
            <a:off x="7428227" y="2578608"/>
            <a:ext cx="269400" cy="345600"/>
          </a:xfrm>
          <a:prstGeom prst="downArrow">
            <a:avLst>
              <a:gd name="adj1" fmla="val 50000"/>
              <a:gd name="adj2" fmla="val 50000"/>
            </a:avLst>
          </a:prstGeom>
          <a:solidFill>
            <a:srgbClr val="014FF7"/>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487" name="Google Shape;487;p51"/>
          <p:cNvSpPr txBox="1"/>
          <p:nvPr/>
        </p:nvSpPr>
        <p:spPr>
          <a:xfrm>
            <a:off x="3097638" y="3166433"/>
            <a:ext cx="2742900" cy="207300"/>
          </a:xfrm>
          <a:prstGeom prst="rect">
            <a:avLst/>
          </a:prstGeom>
          <a:solidFill>
            <a:srgbClr val="FFFFFF"/>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rgbClr val="0097A7"/>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Non-OS Disk Scans</a:t>
            </a:r>
            <a:r>
              <a:rPr lang="en" sz="1000" b="0" i="0" u="none" strike="noStrike" cap="none">
                <a:solidFill>
                  <a:srgbClr val="333333"/>
                </a:solidFill>
                <a:latin typeface="Calibri"/>
                <a:ea typeface="Calibri"/>
                <a:cs typeface="Calibri"/>
                <a:sym typeface="Calibri"/>
              </a:rPr>
              <a:t>: {{NON_T}}</a:t>
            </a:r>
            <a:endParaRPr sz="1000" b="0" i="0" u="none" strike="noStrike" cap="none">
              <a:solidFill>
                <a:srgbClr val="333333"/>
              </a:solidFill>
              <a:latin typeface="Calibri"/>
              <a:ea typeface="Calibri"/>
              <a:cs typeface="Calibri"/>
              <a:sym typeface="Calibri"/>
            </a:endParaRPr>
          </a:p>
        </p:txBody>
      </p:sp>
      <p:sp>
        <p:nvSpPr>
          <p:cNvPr id="488" name="Google Shape;488;p51"/>
          <p:cNvSpPr txBox="1"/>
          <p:nvPr/>
        </p:nvSpPr>
        <p:spPr>
          <a:xfrm>
            <a:off x="3116051" y="3365306"/>
            <a:ext cx="2715900" cy="176700"/>
          </a:xfrm>
          <a:prstGeom prst="rect">
            <a:avLst/>
          </a:prstGeom>
          <a:solidFill>
            <a:srgbClr val="FFFFFF"/>
          </a:solid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sng" strike="noStrike" cap="none">
                <a:solidFill>
                  <a:srgbClr val="0097A7"/>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Failed</a:t>
            </a:r>
            <a:r>
              <a:rPr lang="en" sz="900" b="0" i="0" u="none" strike="noStrike" cap="none">
                <a:solidFill>
                  <a:srgbClr val="333333"/>
                </a:solidFill>
                <a:latin typeface="Calibri"/>
                <a:ea typeface="Calibri"/>
                <a:cs typeface="Calibri"/>
                <a:sym typeface="Calibri"/>
              </a:rPr>
              <a:t>: {{NON_F}} / </a:t>
            </a:r>
            <a:r>
              <a:rPr lang="en" sz="900" b="0" i="0" u="sng" strike="noStrike" cap="none">
                <a:solidFill>
                  <a:srgbClr val="0097A7"/>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Skipped</a:t>
            </a:r>
            <a:r>
              <a:rPr lang="en" sz="900" b="0" i="0" u="none" strike="noStrike" cap="none">
                <a:solidFill>
                  <a:srgbClr val="333333"/>
                </a:solidFill>
                <a:latin typeface="Calibri"/>
                <a:ea typeface="Calibri"/>
                <a:cs typeface="Calibri"/>
                <a:sym typeface="Calibri"/>
              </a:rPr>
              <a:t>: {{NON_S}}</a:t>
            </a:r>
            <a:endParaRPr sz="900" b="0" i="0" u="none" strike="noStrike" cap="none">
              <a:solidFill>
                <a:srgbClr val="333333"/>
              </a:solidFill>
              <a:latin typeface="Calibri"/>
              <a:ea typeface="Calibri"/>
              <a:cs typeface="Calibri"/>
              <a:sym typeface="Calibri"/>
            </a:endParaRPr>
          </a:p>
        </p:txBody>
      </p:sp>
      <p:sp>
        <p:nvSpPr>
          <p:cNvPr id="489" name="Google Shape;489;p51"/>
          <p:cNvSpPr txBox="1"/>
          <p:nvPr/>
        </p:nvSpPr>
        <p:spPr>
          <a:xfrm>
            <a:off x="3125493" y="3816773"/>
            <a:ext cx="2684100" cy="1926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rgbClr val="0097A7"/>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Container Image Scans</a:t>
            </a:r>
            <a:r>
              <a:rPr lang="en" sz="1000" b="0" i="0" u="none" strike="noStrike" cap="none">
                <a:solidFill>
                  <a:srgbClr val="333333"/>
                </a:solidFill>
                <a:latin typeface="Calibri"/>
                <a:ea typeface="Calibri"/>
                <a:cs typeface="Calibri"/>
                <a:sym typeface="Calibri"/>
              </a:rPr>
              <a:t>: {{RCI_T}}</a:t>
            </a:r>
            <a:endParaRPr sz="1000" b="0" i="0" u="none" strike="noStrike" cap="none">
              <a:solidFill>
                <a:srgbClr val="333333"/>
              </a:solidFill>
              <a:latin typeface="Calibri"/>
              <a:ea typeface="Calibri"/>
              <a:cs typeface="Calibri"/>
              <a:sym typeface="Calibri"/>
            </a:endParaRPr>
          </a:p>
        </p:txBody>
      </p:sp>
      <p:sp>
        <p:nvSpPr>
          <p:cNvPr id="490" name="Google Shape;490;p51"/>
          <p:cNvSpPr txBox="1"/>
          <p:nvPr/>
        </p:nvSpPr>
        <p:spPr>
          <a:xfrm>
            <a:off x="3121350" y="3994034"/>
            <a:ext cx="26841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sng" strike="noStrike" cap="none">
                <a:solidFill>
                  <a:srgbClr val="0097A7"/>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Failed</a:t>
            </a:r>
            <a:r>
              <a:rPr lang="en" sz="900" b="0" i="0" u="none" strike="noStrike" cap="none">
                <a:solidFill>
                  <a:srgbClr val="333333"/>
                </a:solidFill>
                <a:latin typeface="Calibri"/>
                <a:ea typeface="Calibri"/>
                <a:cs typeface="Calibri"/>
                <a:sym typeface="Calibri"/>
              </a:rPr>
              <a:t>: {{RCI_F}} / </a:t>
            </a:r>
            <a:r>
              <a:rPr lang="en" sz="900" b="0" i="0" u="sng" strike="noStrike" cap="none">
                <a:solidFill>
                  <a:srgbClr val="0097A7"/>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Skipped</a:t>
            </a:r>
            <a:r>
              <a:rPr lang="en" sz="900" b="0" i="0" u="none" strike="noStrike" cap="none">
                <a:solidFill>
                  <a:srgbClr val="333333"/>
                </a:solidFill>
                <a:latin typeface="Calibri"/>
                <a:ea typeface="Calibri"/>
                <a:cs typeface="Calibri"/>
                <a:sym typeface="Calibri"/>
              </a:rPr>
              <a:t>: {{RCI_S}}</a:t>
            </a:r>
            <a:endParaRPr sz="900" b="0" i="0" u="none" strike="noStrike" cap="none">
              <a:solidFill>
                <a:srgbClr val="333333"/>
              </a:solidFill>
              <a:latin typeface="Calibri"/>
              <a:ea typeface="Calibri"/>
              <a:cs typeface="Calibri"/>
              <a:sym typeface="Calibri"/>
            </a:endParaRPr>
          </a:p>
        </p:txBody>
      </p:sp>
      <p:sp>
        <p:nvSpPr>
          <p:cNvPr id="491" name="Google Shape;491;p51"/>
          <p:cNvSpPr txBox="1"/>
          <p:nvPr/>
        </p:nvSpPr>
        <p:spPr>
          <a:xfrm>
            <a:off x="3115085" y="4449820"/>
            <a:ext cx="2715900" cy="2016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rgbClr val="0097A7"/>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VM Image Scans</a:t>
            </a:r>
            <a:r>
              <a:rPr lang="en" sz="1000" b="0" i="0" u="none" strike="noStrike" cap="none">
                <a:solidFill>
                  <a:srgbClr val="333333"/>
                </a:solidFill>
                <a:latin typeface="Calibri"/>
                <a:ea typeface="Calibri"/>
                <a:cs typeface="Calibri"/>
                <a:sym typeface="Calibri"/>
              </a:rPr>
              <a:t>: {{VMI_T}}</a:t>
            </a:r>
            <a:endParaRPr sz="1000" b="0" i="0" u="none" strike="noStrike" cap="none">
              <a:solidFill>
                <a:srgbClr val="333333"/>
              </a:solidFill>
              <a:latin typeface="Calibri"/>
              <a:ea typeface="Calibri"/>
              <a:cs typeface="Calibri"/>
              <a:sym typeface="Calibri"/>
            </a:endParaRPr>
          </a:p>
        </p:txBody>
      </p:sp>
      <p:sp>
        <p:nvSpPr>
          <p:cNvPr id="492" name="Google Shape;492;p51"/>
          <p:cNvSpPr txBox="1"/>
          <p:nvPr/>
        </p:nvSpPr>
        <p:spPr>
          <a:xfrm>
            <a:off x="3132188" y="4624320"/>
            <a:ext cx="26841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sng" strike="noStrike" cap="none">
                <a:solidFill>
                  <a:srgbClr val="0097A7"/>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Failed</a:t>
            </a:r>
            <a:r>
              <a:rPr lang="en" sz="900" b="0" i="0" u="none" strike="noStrike" cap="none">
                <a:solidFill>
                  <a:srgbClr val="333333"/>
                </a:solidFill>
                <a:latin typeface="Calibri"/>
                <a:ea typeface="Calibri"/>
                <a:cs typeface="Calibri"/>
                <a:sym typeface="Calibri"/>
              </a:rPr>
              <a:t>: {{VMI_F}} / </a:t>
            </a:r>
            <a:r>
              <a:rPr lang="en" sz="900" b="0" i="0" u="sng" strike="noStrike" cap="none">
                <a:solidFill>
                  <a:srgbClr val="0097A7"/>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Skipped</a:t>
            </a:r>
            <a:r>
              <a:rPr lang="en" sz="900" b="0" i="0" u="none" strike="noStrike" cap="none">
                <a:solidFill>
                  <a:srgbClr val="333333"/>
                </a:solidFill>
                <a:latin typeface="Calibri"/>
                <a:ea typeface="Calibri"/>
                <a:cs typeface="Calibri"/>
                <a:sym typeface="Calibri"/>
              </a:rPr>
              <a:t>: {{VMI_S}}</a:t>
            </a:r>
            <a:endParaRPr sz="900" b="0" i="0" u="none" strike="noStrike" cap="none">
              <a:solidFill>
                <a:srgbClr val="333333"/>
              </a:solidFill>
              <a:latin typeface="Calibri"/>
              <a:ea typeface="Calibri"/>
              <a:cs typeface="Calibri"/>
              <a:sym typeface="Calibri"/>
            </a:endParaRPr>
          </a:p>
        </p:txBody>
      </p:sp>
      <p:sp>
        <p:nvSpPr>
          <p:cNvPr id="493" name="Google Shape;493;p51"/>
          <p:cNvSpPr txBox="1"/>
          <p:nvPr/>
        </p:nvSpPr>
        <p:spPr>
          <a:xfrm>
            <a:off x="3121555" y="3532304"/>
            <a:ext cx="27018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Non-OS Disk Scan Coverage: {{NON_C}}</a:t>
            </a:r>
            <a:endParaRPr sz="900" b="0" i="0" u="none" strike="noStrike" cap="none">
              <a:solidFill>
                <a:srgbClr val="333333"/>
              </a:solidFill>
              <a:latin typeface="Calibri"/>
              <a:ea typeface="Calibri"/>
              <a:cs typeface="Calibri"/>
              <a:sym typeface="Calibri"/>
            </a:endParaRPr>
          </a:p>
        </p:txBody>
      </p:sp>
      <p:sp>
        <p:nvSpPr>
          <p:cNvPr id="494" name="Google Shape;494;p51"/>
          <p:cNvSpPr txBox="1"/>
          <p:nvPr/>
        </p:nvSpPr>
        <p:spPr>
          <a:xfrm>
            <a:off x="3116240" y="4171296"/>
            <a:ext cx="2715900" cy="201600"/>
          </a:xfrm>
          <a:prstGeom prst="rect">
            <a:avLst/>
          </a:prstGeom>
          <a:noFill/>
          <a:ln>
            <a:noFill/>
          </a:ln>
        </p:spPr>
        <p:txBody>
          <a:bodyPr spcFirstLastPara="1" wrap="square" lIns="0" tIns="91250" rIns="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Container Image Scan Coverage: {{RCI_C}}</a:t>
            </a:r>
            <a:endParaRPr sz="900" b="0" i="0" u="none" strike="noStrike" cap="none">
              <a:solidFill>
                <a:srgbClr val="333333"/>
              </a:solidFill>
              <a:latin typeface="Calibri"/>
              <a:ea typeface="Calibri"/>
              <a:cs typeface="Calibri"/>
              <a:sym typeface="Calibri"/>
            </a:endParaRPr>
          </a:p>
        </p:txBody>
      </p:sp>
      <p:sp>
        <p:nvSpPr>
          <p:cNvPr id="495" name="Google Shape;495;p51"/>
          <p:cNvSpPr txBox="1"/>
          <p:nvPr/>
        </p:nvSpPr>
        <p:spPr>
          <a:xfrm>
            <a:off x="3114023" y="4798820"/>
            <a:ext cx="2742900" cy="207300"/>
          </a:xfrm>
          <a:prstGeom prst="rect">
            <a:avLst/>
          </a:prstGeom>
          <a:noFill/>
          <a:ln>
            <a:noFill/>
          </a:ln>
        </p:spPr>
        <p:txBody>
          <a:bodyPr spcFirstLastPara="1" wrap="square" lIns="91250" tIns="91250" rIns="91250" bIns="91250" anchor="ctr"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VM Image Scan Coverage: {{VMI_C}}</a:t>
            </a:r>
            <a:endParaRPr sz="900" b="0" i="0" u="none" strike="noStrike" cap="none">
              <a:solidFill>
                <a:srgbClr val="333333"/>
              </a:solidFill>
              <a:latin typeface="Calibri"/>
              <a:ea typeface="Calibri"/>
              <a:cs typeface="Calibri"/>
              <a:sym typeface="Calibri"/>
            </a:endParaRPr>
          </a:p>
        </p:txBody>
      </p:sp>
      <p:sp>
        <p:nvSpPr>
          <p:cNvPr id="3" name="Google Shape;473;p51">
            <a:extLst>
              <a:ext uri="{FF2B5EF4-FFF2-40B4-BE49-F238E27FC236}">
                <a16:creationId xmlns:a16="http://schemas.microsoft.com/office/drawing/2014/main" id="{D3CCA7BC-5C8C-64A8-3E89-8946581ECE8D}"/>
              </a:ext>
            </a:extLst>
          </p:cNvPr>
          <p:cNvSpPr txBox="1"/>
          <p:nvPr/>
        </p:nvSpPr>
        <p:spPr>
          <a:xfrm>
            <a:off x="3092446" y="2131817"/>
            <a:ext cx="3171034" cy="207300"/>
          </a:xfrm>
          <a:prstGeom prst="rect">
            <a:avLst/>
          </a:prstGeom>
          <a:noFill/>
          <a:ln>
            <a:noFill/>
          </a:ln>
        </p:spPr>
        <p:txBody>
          <a:bodyPr spcFirstLastPara="1" wrap="square" lIns="91250" tIns="91250" rIns="91250" bIns="91250" anchor="t" anchorCtr="0">
            <a:noAutofit/>
          </a:bodyPr>
          <a:lstStyle/>
          <a:p>
            <a:pPr marL="0" marR="0" lvl="0" indent="0" algn="ctr" rtl="0">
              <a:spcBef>
                <a:spcPts val="0"/>
              </a:spcBef>
              <a:spcAft>
                <a:spcPts val="0"/>
              </a:spcAft>
              <a:buClr>
                <a:srgbClr val="000000"/>
              </a:buClr>
              <a:buSzPts val="1000"/>
              <a:buFont typeface="Arial"/>
              <a:buNone/>
            </a:pPr>
            <a:r>
              <a:rPr lang="en" sz="900" b="0" i="0" u="none" strike="noStrike" cap="none" dirty="0">
                <a:solidFill>
                  <a:srgbClr val="333333"/>
                </a:solidFill>
                <a:latin typeface="Calibri"/>
                <a:ea typeface="Calibri"/>
                <a:cs typeface="Calibri"/>
                <a:sym typeface="Calibri"/>
              </a:rPr>
              <a:t>Top Failure Reason: </a:t>
            </a:r>
            <a:br>
              <a:rPr lang="en" sz="900" b="0" i="0" u="none" strike="noStrike" cap="none" dirty="0">
                <a:solidFill>
                  <a:srgbClr val="333333"/>
                </a:solidFill>
                <a:latin typeface="Calibri"/>
                <a:ea typeface="Calibri"/>
                <a:cs typeface="Calibri"/>
                <a:sym typeface="Calibri"/>
              </a:rPr>
            </a:br>
            <a:r>
              <a:rPr lang="en" sz="900" b="0" i="0" u="none" strike="noStrike" cap="none" dirty="0">
                <a:solidFill>
                  <a:srgbClr val="333333"/>
                </a:solidFill>
                <a:latin typeface="Calibri"/>
                <a:ea typeface="Calibri"/>
                <a:cs typeface="Calibri"/>
                <a:sym typeface="Calibri"/>
              </a:rPr>
              <a:t>{{WS_S1}}</a:t>
            </a:r>
            <a:endParaRPr sz="900" b="0" i="0" u="none" strike="noStrike" cap="none" dirty="0">
              <a:solidFill>
                <a:srgbClr val="333333"/>
              </a:solidFill>
              <a:latin typeface="Calibri"/>
              <a:ea typeface="Calibri"/>
              <a:cs typeface="Calibri"/>
              <a:sym typeface="Calibri"/>
            </a:endParaRPr>
          </a:p>
        </p:txBody>
      </p:sp>
      <p:sp>
        <p:nvSpPr>
          <p:cNvPr id="4" name="Google Shape;472;p51">
            <a:extLst>
              <a:ext uri="{FF2B5EF4-FFF2-40B4-BE49-F238E27FC236}">
                <a16:creationId xmlns:a16="http://schemas.microsoft.com/office/drawing/2014/main" id="{ADFD464D-5F95-C6CE-5742-579822A4A499}"/>
              </a:ext>
            </a:extLst>
          </p:cNvPr>
          <p:cNvSpPr txBox="1"/>
          <p:nvPr/>
        </p:nvSpPr>
        <p:spPr>
          <a:xfrm>
            <a:off x="3084890" y="1493623"/>
            <a:ext cx="3183206"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sng" strike="noStrike" cap="none" dirty="0">
                <a:solidFill>
                  <a:schemeClr val="hlink"/>
                </a:solidFill>
                <a:latin typeface="Calibri"/>
                <a:ea typeface="Calibri"/>
                <a:cs typeface="Calibri"/>
                <a:sym typeface="Calibri"/>
                <a:hlinkClick r:id="rId35"/>
              </a:rPr>
              <a:t>Failed Workload Scans</a:t>
            </a:r>
            <a:r>
              <a:rPr lang="en" sz="1000" b="0" i="0" u="none" strike="noStrike" cap="none" dirty="0">
                <a:solidFill>
                  <a:srgbClr val="333333"/>
                </a:solidFill>
                <a:latin typeface="Calibri"/>
                <a:ea typeface="Calibri"/>
                <a:cs typeface="Calibri"/>
                <a:sym typeface="Calibri"/>
              </a:rPr>
              <a:t>: {{WS_F}}</a:t>
            </a:r>
            <a:endParaRPr sz="1000" b="0" i="0" u="none" strike="noStrike" cap="none" dirty="0">
              <a:solidFill>
                <a:srgbClr val="333333"/>
              </a:solidFill>
              <a:latin typeface="Calibri"/>
              <a:ea typeface="Calibri"/>
              <a:cs typeface="Calibri"/>
              <a:sym typeface="Calibri"/>
            </a:endParaRPr>
          </a:p>
        </p:txBody>
      </p:sp>
      <p:sp>
        <p:nvSpPr>
          <p:cNvPr id="5" name="Google Shape;472;p51">
            <a:extLst>
              <a:ext uri="{FF2B5EF4-FFF2-40B4-BE49-F238E27FC236}">
                <a16:creationId xmlns:a16="http://schemas.microsoft.com/office/drawing/2014/main" id="{9B293F5D-041A-56DE-A085-0A24241B2365}"/>
              </a:ext>
            </a:extLst>
          </p:cNvPr>
          <p:cNvSpPr txBox="1"/>
          <p:nvPr/>
        </p:nvSpPr>
        <p:spPr>
          <a:xfrm>
            <a:off x="3084888" y="1690664"/>
            <a:ext cx="3183206"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u="sng" dirty="0">
                <a:solidFill>
                  <a:schemeClr val="hlink"/>
                </a:solidFill>
                <a:latin typeface="Calibri"/>
                <a:ea typeface="Calibri"/>
                <a:cs typeface="Calibri"/>
                <a:sym typeface="Calibri"/>
                <a:hlinkClick r:id="rId36"/>
              </a:rPr>
              <a:t>Skipped</a:t>
            </a:r>
            <a:r>
              <a:rPr lang="en" sz="1000" b="0" i="0" u="sng" strike="noStrike" cap="none" dirty="0">
                <a:solidFill>
                  <a:schemeClr val="hlink"/>
                </a:solidFill>
                <a:latin typeface="Calibri"/>
                <a:ea typeface="Calibri"/>
                <a:cs typeface="Calibri"/>
                <a:sym typeface="Calibri"/>
                <a:hlinkClick r:id="rId36"/>
              </a:rPr>
              <a:t> Workload Scans</a:t>
            </a:r>
            <a:r>
              <a:rPr lang="en" sz="1000" b="0" i="0" u="none" strike="noStrike" cap="none" dirty="0">
                <a:solidFill>
                  <a:srgbClr val="333333"/>
                </a:solidFill>
                <a:latin typeface="Calibri"/>
                <a:ea typeface="Calibri"/>
                <a:cs typeface="Calibri"/>
                <a:sym typeface="Calibri"/>
              </a:rPr>
              <a:t>: {{WS_S}}</a:t>
            </a:r>
            <a:endParaRPr sz="1000" b="0" i="0" u="none" strike="noStrike" cap="none" dirty="0">
              <a:solidFill>
                <a:srgbClr val="333333"/>
              </a:solidFill>
              <a:latin typeface="Calibri"/>
              <a:ea typeface="Calibri"/>
              <a:cs typeface="Calibri"/>
              <a:sym typeface="Calibri"/>
            </a:endParaRPr>
          </a:p>
        </p:txBody>
      </p:sp>
      <p:sp>
        <p:nvSpPr>
          <p:cNvPr id="6" name="Google Shape;472;p51">
            <a:extLst>
              <a:ext uri="{FF2B5EF4-FFF2-40B4-BE49-F238E27FC236}">
                <a16:creationId xmlns:a16="http://schemas.microsoft.com/office/drawing/2014/main" id="{407A4C8C-27D1-4DD1-9A1D-17C2B3042FD4}"/>
              </a:ext>
            </a:extLst>
          </p:cNvPr>
          <p:cNvSpPr txBox="1"/>
          <p:nvPr/>
        </p:nvSpPr>
        <p:spPr>
          <a:xfrm>
            <a:off x="3084893" y="1887704"/>
            <a:ext cx="3183206" cy="207300"/>
          </a:xfrm>
          <a:prstGeom prst="rect">
            <a:avLst/>
          </a:prstGeom>
          <a:noFill/>
          <a:ln>
            <a:noFill/>
          </a:ln>
        </p:spPr>
        <p:txBody>
          <a:bodyPr spcFirstLastPara="1" wrap="square" lIns="91250" tIns="91250" rIns="91250" bIns="91250"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dirty="0">
                <a:solidFill>
                  <a:schemeClr val="tx1"/>
                </a:solidFill>
                <a:latin typeface="Calibri"/>
                <a:ea typeface="Calibri"/>
                <a:cs typeface="Calibri"/>
                <a:sym typeface="Calibri"/>
              </a:rPr>
              <a:t>Workload Scan Coverage</a:t>
            </a:r>
            <a:r>
              <a:rPr lang="en" sz="1000" b="0" i="0" u="none" strike="noStrike" cap="none" dirty="0">
                <a:solidFill>
                  <a:srgbClr val="333333"/>
                </a:solidFill>
                <a:latin typeface="Calibri"/>
                <a:ea typeface="Calibri"/>
                <a:cs typeface="Calibri"/>
                <a:sym typeface="Calibri"/>
              </a:rPr>
              <a:t>: {{WS_P}}</a:t>
            </a:r>
            <a:endParaRPr sz="1000" b="0" i="0" u="none" strike="noStrike" cap="none" dirty="0">
              <a:solidFill>
                <a:srgbClr val="333333"/>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52"/>
          <p:cNvSpPr txBox="1">
            <a:spLocks noGrp="1"/>
          </p:cNvSpPr>
          <p:nvPr>
            <p:ph type="title" idx="4294967295"/>
          </p:nvPr>
        </p:nvSpPr>
        <p:spPr>
          <a:xfrm>
            <a:off x="150" y="2661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Democratization Snapshot</a:t>
            </a:r>
            <a:endParaRPr sz="2420">
              <a:latin typeface="Calibri"/>
              <a:ea typeface="Calibri"/>
              <a:cs typeface="Calibri"/>
              <a:sym typeface="Calibri"/>
            </a:endParaRPr>
          </a:p>
        </p:txBody>
      </p:sp>
      <p:sp>
        <p:nvSpPr>
          <p:cNvPr id="502" name="Google Shape;502;p52"/>
          <p:cNvSpPr/>
          <p:nvPr/>
        </p:nvSpPr>
        <p:spPr>
          <a:xfrm>
            <a:off x="145225" y="1212546"/>
            <a:ext cx="2401200" cy="953400"/>
          </a:xfrm>
          <a:prstGeom prst="roundRect">
            <a:avLst>
              <a:gd name="adj" fmla="val 16667"/>
            </a:avLst>
          </a:prstGeom>
          <a:noFill/>
          <a:ln w="9650" cap="sq" cmpd="sng">
            <a:solidFill>
              <a:schemeClr val="accent1"/>
            </a:solidFill>
            <a:prstDash val="solid"/>
            <a:round/>
            <a:headEnd type="none" w="sm" len="sm"/>
            <a:tailEnd type="none" w="sm" len="sm"/>
          </a:ln>
        </p:spPr>
        <p:txBody>
          <a:bodyPr spcFirstLastPara="1" wrap="square" lIns="92600" tIns="92600" rIns="92600" bIns="926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503" name="Google Shape;503;p52"/>
          <p:cNvSpPr txBox="1"/>
          <p:nvPr/>
        </p:nvSpPr>
        <p:spPr>
          <a:xfrm>
            <a:off x="145225" y="914076"/>
            <a:ext cx="2401200" cy="303900"/>
          </a:xfrm>
          <a:prstGeom prst="rect">
            <a:avLst/>
          </a:prstGeom>
          <a:noFill/>
          <a:ln>
            <a:noFill/>
          </a:ln>
        </p:spPr>
        <p:txBody>
          <a:bodyPr spcFirstLastPara="1" wrap="square" lIns="92600" tIns="92600" rIns="92600" bIns="92600"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a:ea typeface="Calibri"/>
                <a:cs typeface="Calibri"/>
                <a:sym typeface="Calibri"/>
              </a:rPr>
              <a:t>Users &amp; Engagement</a:t>
            </a:r>
            <a:endParaRPr sz="1300" b="0" i="0" u="none" strike="noStrike" cap="none">
              <a:solidFill>
                <a:srgbClr val="333333"/>
              </a:solidFill>
              <a:latin typeface="Calibri"/>
              <a:ea typeface="Calibri"/>
              <a:cs typeface="Calibri"/>
              <a:sym typeface="Calibri"/>
            </a:endParaRPr>
          </a:p>
        </p:txBody>
      </p:sp>
      <p:sp>
        <p:nvSpPr>
          <p:cNvPr id="504" name="Google Shape;504;p52"/>
          <p:cNvSpPr txBox="1"/>
          <p:nvPr/>
        </p:nvSpPr>
        <p:spPr>
          <a:xfrm>
            <a:off x="178750" y="1248140"/>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3"/>
              </a:rPr>
              <a:t>Total Users</a:t>
            </a:r>
            <a:endParaRPr sz="1000" b="0" i="0" u="none" strike="noStrike" cap="none">
              <a:solidFill>
                <a:srgbClr val="0254EC"/>
              </a:solidFill>
              <a:latin typeface="Calibri"/>
              <a:ea typeface="Calibri"/>
              <a:cs typeface="Calibri"/>
              <a:sym typeface="Calibri"/>
            </a:endParaRPr>
          </a:p>
        </p:txBody>
      </p:sp>
      <p:sp>
        <p:nvSpPr>
          <p:cNvPr id="505" name="Google Shape;505;p52"/>
          <p:cNvSpPr txBox="1"/>
          <p:nvPr/>
        </p:nvSpPr>
        <p:spPr>
          <a:xfrm>
            <a:off x="1496720" y="1248135"/>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{{U_TOT}}</a:t>
            </a:r>
            <a:endParaRPr sz="1000" b="1" i="0" u="none" strike="noStrike" cap="none">
              <a:solidFill>
                <a:srgbClr val="333333"/>
              </a:solidFill>
              <a:latin typeface="Calibri"/>
              <a:ea typeface="Calibri"/>
              <a:cs typeface="Calibri"/>
              <a:sym typeface="Calibri"/>
            </a:endParaRPr>
          </a:p>
        </p:txBody>
      </p:sp>
      <p:sp>
        <p:nvSpPr>
          <p:cNvPr id="506" name="Google Shape;506;p52"/>
          <p:cNvSpPr txBox="1"/>
          <p:nvPr/>
        </p:nvSpPr>
        <p:spPr>
          <a:xfrm>
            <a:off x="178750" y="1430476"/>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4"/>
              </a:rPr>
              <a:t>Active (Last 30 Days)</a:t>
            </a:r>
            <a:endParaRPr sz="1000" b="0" i="0" u="none" strike="noStrike" cap="none">
              <a:solidFill>
                <a:srgbClr val="0254EC"/>
              </a:solidFill>
              <a:latin typeface="Calibri"/>
              <a:ea typeface="Calibri"/>
              <a:cs typeface="Calibri"/>
              <a:sym typeface="Calibri"/>
            </a:endParaRPr>
          </a:p>
        </p:txBody>
      </p:sp>
      <p:sp>
        <p:nvSpPr>
          <p:cNvPr id="507" name="Google Shape;507;p52"/>
          <p:cNvSpPr txBox="1"/>
          <p:nvPr/>
        </p:nvSpPr>
        <p:spPr>
          <a:xfrm>
            <a:off x="1496720" y="1430472"/>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{{U_ACT}}</a:t>
            </a:r>
            <a:endParaRPr sz="1000" b="1" i="0" u="none" strike="noStrike" cap="none">
              <a:solidFill>
                <a:srgbClr val="333333"/>
              </a:solidFill>
              <a:latin typeface="Calibri"/>
              <a:ea typeface="Calibri"/>
              <a:cs typeface="Calibri"/>
              <a:sym typeface="Calibri"/>
            </a:endParaRPr>
          </a:p>
        </p:txBody>
      </p:sp>
      <p:sp>
        <p:nvSpPr>
          <p:cNvPr id="508" name="Google Shape;508;p52"/>
          <p:cNvSpPr txBox="1"/>
          <p:nvPr/>
        </p:nvSpPr>
        <p:spPr>
          <a:xfrm>
            <a:off x="178750" y="1612811"/>
            <a:ext cx="1723200" cy="172500"/>
          </a:xfrm>
          <a:prstGeom prst="rect">
            <a:avLst/>
          </a:prstGeom>
          <a:noFill/>
          <a:ln>
            <a:noFill/>
          </a:ln>
        </p:spPr>
        <p:txBody>
          <a:bodyPr spcFirstLastPara="1" wrap="square" lIns="92600" tIns="92600" rIns="92600" bIns="92600"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rgbClr val="0254EC"/>
                </a:solidFill>
                <a:latin typeface="Calibri"/>
                <a:ea typeface="Calibri"/>
                <a:cs typeface="Calibri"/>
                <a:sym typeface="Calibri"/>
              </a:rPr>
              <a:t>Engagement Rate</a:t>
            </a:r>
            <a:endParaRPr sz="1000" b="0" i="0" u="none" strike="noStrike" cap="none">
              <a:solidFill>
                <a:srgbClr val="0254EC"/>
              </a:solidFill>
              <a:latin typeface="Calibri"/>
              <a:ea typeface="Calibri"/>
              <a:cs typeface="Calibri"/>
              <a:sym typeface="Calibri"/>
            </a:endParaRPr>
          </a:p>
        </p:txBody>
      </p:sp>
      <p:sp>
        <p:nvSpPr>
          <p:cNvPr id="509" name="Google Shape;509;p52"/>
          <p:cNvSpPr txBox="1"/>
          <p:nvPr/>
        </p:nvSpPr>
        <p:spPr>
          <a:xfrm>
            <a:off x="1496720" y="1612810"/>
            <a:ext cx="953400" cy="172500"/>
          </a:xfrm>
          <a:prstGeom prst="rect">
            <a:avLst/>
          </a:prstGeom>
          <a:noFill/>
          <a:ln>
            <a:noFill/>
          </a:ln>
        </p:spPr>
        <p:txBody>
          <a:bodyPr spcFirstLastPara="1" wrap="square" lIns="92600" tIns="92600" rIns="92600" bIns="92600"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{{U_ENG}}</a:t>
            </a:r>
            <a:endParaRPr sz="1000" b="1" i="0" u="none" strike="noStrike" cap="none">
              <a:solidFill>
                <a:srgbClr val="333333"/>
              </a:solidFill>
              <a:latin typeface="Calibri"/>
              <a:ea typeface="Calibri"/>
              <a:cs typeface="Calibri"/>
              <a:sym typeface="Calibri"/>
            </a:endParaRPr>
          </a:p>
        </p:txBody>
      </p:sp>
      <p:sp>
        <p:nvSpPr>
          <p:cNvPr id="510" name="Google Shape;510;p52"/>
          <p:cNvSpPr/>
          <p:nvPr/>
        </p:nvSpPr>
        <p:spPr>
          <a:xfrm>
            <a:off x="2714774" y="1111825"/>
            <a:ext cx="3290529" cy="2203950"/>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19"/>
              <a:buFont typeface="Arial"/>
              <a:buNone/>
            </a:pPr>
            <a:endParaRPr sz="1319" b="0" i="0" u="none" strike="noStrike" cap="none">
              <a:solidFill>
                <a:srgbClr val="000000"/>
              </a:solidFill>
              <a:latin typeface="Calibri"/>
              <a:ea typeface="Calibri"/>
              <a:cs typeface="Calibri"/>
              <a:sym typeface="Calibri"/>
            </a:endParaRPr>
          </a:p>
        </p:txBody>
      </p:sp>
      <p:sp>
        <p:nvSpPr>
          <p:cNvPr id="511" name="Google Shape;511;p52"/>
          <p:cNvSpPr txBox="1"/>
          <p:nvPr/>
        </p:nvSpPr>
        <p:spPr>
          <a:xfrm>
            <a:off x="2828728" y="1492318"/>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{{IA_2}}</a:t>
            </a:r>
            <a:endParaRPr sz="848" b="0" i="0" u="none" strike="noStrike" cap="none">
              <a:solidFill>
                <a:srgbClr val="333333"/>
              </a:solidFill>
              <a:latin typeface="Calibri"/>
              <a:ea typeface="Calibri"/>
              <a:cs typeface="Calibri"/>
              <a:sym typeface="Calibri"/>
            </a:endParaRPr>
          </a:p>
        </p:txBody>
      </p:sp>
      <p:sp>
        <p:nvSpPr>
          <p:cNvPr id="512" name="Google Shape;512;p52"/>
          <p:cNvSpPr txBox="1"/>
          <p:nvPr/>
        </p:nvSpPr>
        <p:spPr>
          <a:xfrm>
            <a:off x="2828728" y="1667642"/>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{{IA_3}}</a:t>
            </a:r>
            <a:endParaRPr sz="848" b="0" i="0" u="none" strike="noStrike" cap="none">
              <a:solidFill>
                <a:srgbClr val="333333"/>
              </a:solidFill>
              <a:latin typeface="Calibri"/>
              <a:ea typeface="Calibri"/>
              <a:cs typeface="Calibri"/>
              <a:sym typeface="Calibri"/>
            </a:endParaRPr>
          </a:p>
        </p:txBody>
      </p:sp>
      <p:sp>
        <p:nvSpPr>
          <p:cNvPr id="513" name="Google Shape;513;p52"/>
          <p:cNvSpPr txBox="1"/>
          <p:nvPr/>
        </p:nvSpPr>
        <p:spPr>
          <a:xfrm>
            <a:off x="2828726" y="1839906"/>
            <a:ext cx="2338694" cy="192051"/>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{{IA_4}}</a:t>
            </a:r>
            <a:endParaRPr sz="848" b="0" i="0" u="none" strike="noStrike" cap="none">
              <a:solidFill>
                <a:srgbClr val="333333"/>
              </a:solidFill>
              <a:latin typeface="Calibri"/>
              <a:ea typeface="Calibri"/>
              <a:cs typeface="Calibri"/>
              <a:sym typeface="Calibri"/>
            </a:endParaRPr>
          </a:p>
        </p:txBody>
      </p:sp>
      <p:sp>
        <p:nvSpPr>
          <p:cNvPr id="514" name="Google Shape;514;p52"/>
          <p:cNvSpPr txBox="1"/>
          <p:nvPr/>
        </p:nvSpPr>
        <p:spPr>
          <a:xfrm>
            <a:off x="2828728" y="2018325"/>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{{IA_5}}</a:t>
            </a:r>
            <a:endParaRPr sz="848" b="0" i="0" u="none" strike="noStrike" cap="none">
              <a:solidFill>
                <a:srgbClr val="333333"/>
              </a:solidFill>
              <a:latin typeface="Calibri"/>
              <a:ea typeface="Calibri"/>
              <a:cs typeface="Calibri"/>
              <a:sym typeface="Calibri"/>
            </a:endParaRPr>
          </a:p>
        </p:txBody>
      </p:sp>
      <p:sp>
        <p:nvSpPr>
          <p:cNvPr id="515" name="Google Shape;515;p52"/>
          <p:cNvSpPr txBox="1"/>
          <p:nvPr/>
        </p:nvSpPr>
        <p:spPr>
          <a:xfrm>
            <a:off x="2828728" y="2193660"/>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{{IA_6}}</a:t>
            </a:r>
            <a:endParaRPr sz="848" b="0" i="0" u="none" strike="noStrike" cap="none">
              <a:solidFill>
                <a:srgbClr val="333333"/>
              </a:solidFill>
              <a:latin typeface="Calibri"/>
              <a:ea typeface="Calibri"/>
              <a:cs typeface="Calibri"/>
              <a:sym typeface="Calibri"/>
            </a:endParaRPr>
          </a:p>
        </p:txBody>
      </p:sp>
      <p:sp>
        <p:nvSpPr>
          <p:cNvPr id="516" name="Google Shape;516;p52"/>
          <p:cNvSpPr txBox="1"/>
          <p:nvPr/>
        </p:nvSpPr>
        <p:spPr>
          <a:xfrm>
            <a:off x="2828728" y="2368996"/>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{{IA_7}}</a:t>
            </a:r>
            <a:endParaRPr sz="848" b="0" i="0" u="none" strike="noStrike" cap="none">
              <a:solidFill>
                <a:srgbClr val="333333"/>
              </a:solidFill>
              <a:latin typeface="Calibri"/>
              <a:ea typeface="Calibri"/>
              <a:cs typeface="Calibri"/>
              <a:sym typeface="Calibri"/>
            </a:endParaRPr>
          </a:p>
        </p:txBody>
      </p:sp>
      <p:sp>
        <p:nvSpPr>
          <p:cNvPr id="517" name="Google Shape;517;p52"/>
          <p:cNvSpPr txBox="1"/>
          <p:nvPr/>
        </p:nvSpPr>
        <p:spPr>
          <a:xfrm>
            <a:off x="2828728" y="2544332"/>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{{IA_8}}</a:t>
            </a:r>
            <a:endParaRPr sz="848" b="0" i="0" u="none" strike="noStrike" cap="none">
              <a:solidFill>
                <a:srgbClr val="333333"/>
              </a:solidFill>
              <a:latin typeface="Calibri"/>
              <a:ea typeface="Calibri"/>
              <a:cs typeface="Calibri"/>
              <a:sym typeface="Calibri"/>
            </a:endParaRPr>
          </a:p>
        </p:txBody>
      </p:sp>
      <p:sp>
        <p:nvSpPr>
          <p:cNvPr id="518" name="Google Shape;518;p52"/>
          <p:cNvSpPr txBox="1"/>
          <p:nvPr/>
        </p:nvSpPr>
        <p:spPr>
          <a:xfrm>
            <a:off x="2828728" y="2719667"/>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{{IA_9}}</a:t>
            </a:r>
            <a:endParaRPr sz="848" b="0" i="0" u="none" strike="noStrike" cap="none">
              <a:solidFill>
                <a:srgbClr val="333333"/>
              </a:solidFill>
              <a:latin typeface="Calibri"/>
              <a:ea typeface="Calibri"/>
              <a:cs typeface="Calibri"/>
              <a:sym typeface="Calibri"/>
            </a:endParaRPr>
          </a:p>
        </p:txBody>
      </p:sp>
      <p:sp>
        <p:nvSpPr>
          <p:cNvPr id="519" name="Google Shape;519;p52"/>
          <p:cNvSpPr txBox="1"/>
          <p:nvPr/>
        </p:nvSpPr>
        <p:spPr>
          <a:xfrm>
            <a:off x="2823192" y="2895003"/>
            <a:ext cx="2338694" cy="17256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{{IA_10}}</a:t>
            </a:r>
            <a:endParaRPr sz="848" b="0" i="0" u="none" strike="noStrike" cap="none">
              <a:solidFill>
                <a:srgbClr val="333333"/>
              </a:solidFill>
              <a:latin typeface="Calibri"/>
              <a:ea typeface="Calibri"/>
              <a:cs typeface="Calibri"/>
              <a:sym typeface="Calibri"/>
            </a:endParaRPr>
          </a:p>
        </p:txBody>
      </p:sp>
      <p:sp>
        <p:nvSpPr>
          <p:cNvPr id="520" name="Google Shape;520;p52"/>
          <p:cNvSpPr txBox="1"/>
          <p:nvPr/>
        </p:nvSpPr>
        <p:spPr>
          <a:xfrm>
            <a:off x="2828726" y="1314586"/>
            <a:ext cx="2338694" cy="175042"/>
          </a:xfrm>
          <a:prstGeom prst="rect">
            <a:avLst/>
          </a:prstGeom>
          <a:noFill/>
          <a:ln>
            <a:noFill/>
          </a:ln>
        </p:spPr>
        <p:txBody>
          <a:bodyPr spcFirstLastPara="1" wrap="square" lIns="87225" tIns="87225" rIns="87225" bIns="87225" anchor="t" anchorCtr="0">
            <a:noAutofit/>
          </a:bodyPr>
          <a:lstStyle/>
          <a:p>
            <a:pPr marL="0" marR="0" lvl="0" indent="0" algn="l"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{{IA_1}}</a:t>
            </a:r>
            <a:endParaRPr sz="848" b="0" i="0" u="none" strike="noStrike" cap="none">
              <a:solidFill>
                <a:srgbClr val="333333"/>
              </a:solidFill>
              <a:latin typeface="Calibri"/>
              <a:ea typeface="Calibri"/>
              <a:cs typeface="Calibri"/>
              <a:sym typeface="Calibri"/>
            </a:endParaRPr>
          </a:p>
        </p:txBody>
      </p:sp>
      <p:sp>
        <p:nvSpPr>
          <p:cNvPr id="521" name="Google Shape;521;p52"/>
          <p:cNvSpPr txBox="1"/>
          <p:nvPr/>
        </p:nvSpPr>
        <p:spPr>
          <a:xfrm>
            <a:off x="4962307" y="13435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dirty="0">
                <a:solidFill>
                  <a:srgbClr val="333333"/>
                </a:solidFill>
                <a:latin typeface="Calibri"/>
                <a:ea typeface="Calibri"/>
                <a:cs typeface="Calibri"/>
                <a:sym typeface="Calibri"/>
              </a:rPr>
              <a:t>{{IR_1}}</a:t>
            </a:r>
            <a:endParaRPr sz="848" b="0" i="0" u="none" strike="noStrike" cap="none" dirty="0">
              <a:solidFill>
                <a:srgbClr val="333333"/>
              </a:solidFill>
              <a:latin typeface="Calibri"/>
              <a:ea typeface="Calibri"/>
              <a:cs typeface="Calibri"/>
              <a:sym typeface="Calibri"/>
            </a:endParaRPr>
          </a:p>
        </p:txBody>
      </p:sp>
      <p:sp>
        <p:nvSpPr>
          <p:cNvPr id="522" name="Google Shape;522;p52"/>
          <p:cNvSpPr txBox="1"/>
          <p:nvPr/>
        </p:nvSpPr>
        <p:spPr>
          <a:xfrm>
            <a:off x="4962307" y="1519058"/>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{{IR_2}}</a:t>
            </a:r>
            <a:endParaRPr sz="848" b="0" i="0" u="none" strike="noStrike" cap="none">
              <a:solidFill>
                <a:srgbClr val="333333"/>
              </a:solidFill>
              <a:latin typeface="Calibri"/>
              <a:ea typeface="Calibri"/>
              <a:cs typeface="Calibri"/>
              <a:sym typeface="Calibri"/>
            </a:endParaRPr>
          </a:p>
        </p:txBody>
      </p:sp>
      <p:sp>
        <p:nvSpPr>
          <p:cNvPr id="523" name="Google Shape;523;p52"/>
          <p:cNvSpPr txBox="1"/>
          <p:nvPr/>
        </p:nvSpPr>
        <p:spPr>
          <a:xfrm>
            <a:off x="4962307" y="16945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{{IR_3}}</a:t>
            </a:r>
            <a:endParaRPr sz="848" b="0" i="0" u="none" strike="noStrike" cap="none">
              <a:solidFill>
                <a:srgbClr val="333333"/>
              </a:solidFill>
              <a:latin typeface="Calibri"/>
              <a:ea typeface="Calibri"/>
              <a:cs typeface="Calibri"/>
              <a:sym typeface="Calibri"/>
            </a:endParaRPr>
          </a:p>
        </p:txBody>
      </p:sp>
      <p:sp>
        <p:nvSpPr>
          <p:cNvPr id="524" name="Google Shape;524;p52"/>
          <p:cNvSpPr txBox="1"/>
          <p:nvPr/>
        </p:nvSpPr>
        <p:spPr>
          <a:xfrm>
            <a:off x="4962307" y="18701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{{IR_4}}</a:t>
            </a:r>
            <a:endParaRPr sz="848" b="0" i="0" u="none" strike="noStrike" cap="none">
              <a:solidFill>
                <a:srgbClr val="333333"/>
              </a:solidFill>
              <a:latin typeface="Calibri"/>
              <a:ea typeface="Calibri"/>
              <a:cs typeface="Calibri"/>
              <a:sym typeface="Calibri"/>
            </a:endParaRPr>
          </a:p>
        </p:txBody>
      </p:sp>
      <p:sp>
        <p:nvSpPr>
          <p:cNvPr id="525" name="Google Shape;525;p52"/>
          <p:cNvSpPr txBox="1"/>
          <p:nvPr/>
        </p:nvSpPr>
        <p:spPr>
          <a:xfrm>
            <a:off x="4962307" y="2045659"/>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{{IR_5}}</a:t>
            </a:r>
            <a:endParaRPr sz="848" b="0" i="0" u="none" strike="noStrike" cap="none">
              <a:solidFill>
                <a:srgbClr val="333333"/>
              </a:solidFill>
              <a:latin typeface="Calibri"/>
              <a:ea typeface="Calibri"/>
              <a:cs typeface="Calibri"/>
              <a:sym typeface="Calibri"/>
            </a:endParaRPr>
          </a:p>
        </p:txBody>
      </p:sp>
      <p:sp>
        <p:nvSpPr>
          <p:cNvPr id="526" name="Google Shape;526;p52"/>
          <p:cNvSpPr txBox="1"/>
          <p:nvPr/>
        </p:nvSpPr>
        <p:spPr>
          <a:xfrm>
            <a:off x="4962307" y="22211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{{IR_6}}</a:t>
            </a:r>
            <a:endParaRPr sz="848" b="0" i="0" u="none" strike="noStrike" cap="none">
              <a:solidFill>
                <a:srgbClr val="333333"/>
              </a:solidFill>
              <a:latin typeface="Calibri"/>
              <a:ea typeface="Calibri"/>
              <a:cs typeface="Calibri"/>
              <a:sym typeface="Calibri"/>
            </a:endParaRPr>
          </a:p>
        </p:txBody>
      </p:sp>
      <p:sp>
        <p:nvSpPr>
          <p:cNvPr id="527" name="Google Shape;527;p52"/>
          <p:cNvSpPr txBox="1"/>
          <p:nvPr/>
        </p:nvSpPr>
        <p:spPr>
          <a:xfrm>
            <a:off x="4962307" y="2396725"/>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{{IR_7}}</a:t>
            </a:r>
            <a:endParaRPr sz="848" b="0" i="0" u="none" strike="noStrike" cap="none">
              <a:solidFill>
                <a:srgbClr val="333333"/>
              </a:solidFill>
              <a:latin typeface="Calibri"/>
              <a:ea typeface="Calibri"/>
              <a:cs typeface="Calibri"/>
              <a:sym typeface="Calibri"/>
            </a:endParaRPr>
          </a:p>
        </p:txBody>
      </p:sp>
      <p:sp>
        <p:nvSpPr>
          <p:cNvPr id="528" name="Google Shape;528;p52"/>
          <p:cNvSpPr txBox="1"/>
          <p:nvPr/>
        </p:nvSpPr>
        <p:spPr>
          <a:xfrm>
            <a:off x="4962307" y="2572259"/>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{{IR_8}}</a:t>
            </a:r>
            <a:endParaRPr sz="848" b="0" i="0" u="none" strike="noStrike" cap="none">
              <a:solidFill>
                <a:srgbClr val="333333"/>
              </a:solidFill>
              <a:latin typeface="Calibri"/>
              <a:ea typeface="Calibri"/>
              <a:cs typeface="Calibri"/>
              <a:sym typeface="Calibri"/>
            </a:endParaRPr>
          </a:p>
        </p:txBody>
      </p:sp>
      <p:sp>
        <p:nvSpPr>
          <p:cNvPr id="529" name="Google Shape;529;p52"/>
          <p:cNvSpPr txBox="1"/>
          <p:nvPr/>
        </p:nvSpPr>
        <p:spPr>
          <a:xfrm>
            <a:off x="4962307" y="2747792"/>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{{IR_9}}</a:t>
            </a:r>
            <a:endParaRPr sz="848" b="0" i="0" u="none" strike="noStrike" cap="none">
              <a:solidFill>
                <a:srgbClr val="333333"/>
              </a:solidFill>
              <a:latin typeface="Calibri"/>
              <a:ea typeface="Calibri"/>
              <a:cs typeface="Calibri"/>
              <a:sym typeface="Calibri"/>
            </a:endParaRPr>
          </a:p>
        </p:txBody>
      </p:sp>
      <p:sp>
        <p:nvSpPr>
          <p:cNvPr id="530" name="Google Shape;530;p52"/>
          <p:cNvSpPr txBox="1"/>
          <p:nvPr/>
        </p:nvSpPr>
        <p:spPr>
          <a:xfrm>
            <a:off x="4972718" y="2923326"/>
            <a:ext cx="912300" cy="148200"/>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847"/>
              <a:buFont typeface="Arial"/>
              <a:buNone/>
            </a:pPr>
            <a:r>
              <a:rPr lang="en" sz="848" b="0" i="0" u="none" strike="noStrike" cap="none">
                <a:solidFill>
                  <a:srgbClr val="333333"/>
                </a:solidFill>
                <a:latin typeface="Calibri"/>
                <a:ea typeface="Calibri"/>
                <a:cs typeface="Calibri"/>
                <a:sym typeface="Calibri"/>
              </a:rPr>
              <a:t>{{IR_10}}</a:t>
            </a:r>
            <a:endParaRPr sz="848" b="0" i="0" u="none" strike="noStrike" cap="none">
              <a:solidFill>
                <a:srgbClr val="333333"/>
              </a:solidFill>
              <a:latin typeface="Calibri"/>
              <a:ea typeface="Calibri"/>
              <a:cs typeface="Calibri"/>
              <a:sym typeface="Calibri"/>
            </a:endParaRPr>
          </a:p>
        </p:txBody>
      </p:sp>
      <p:sp>
        <p:nvSpPr>
          <p:cNvPr id="531" name="Google Shape;531;p52"/>
          <p:cNvSpPr txBox="1"/>
          <p:nvPr/>
        </p:nvSpPr>
        <p:spPr>
          <a:xfrm>
            <a:off x="2714775" y="792813"/>
            <a:ext cx="3290528" cy="301800"/>
          </a:xfrm>
          <a:prstGeom prst="rect">
            <a:avLst/>
          </a:prstGeom>
          <a:noFill/>
          <a:ln>
            <a:noFill/>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sng" strike="noStrike" cap="none">
                <a:solidFill>
                  <a:schemeClr val="hlink"/>
                </a:solidFill>
                <a:latin typeface="Calibri"/>
                <a:ea typeface="Calibri"/>
                <a:cs typeface="Calibri"/>
                <a:sym typeface="Calibri"/>
                <a:hlinkClick r:id="rId5"/>
              </a:rPr>
              <a:t>Active Integrations</a:t>
            </a:r>
            <a:r>
              <a:rPr lang="en" sz="1300" b="0" i="0" u="none" strike="noStrike" cap="none">
                <a:solidFill>
                  <a:srgbClr val="0254EC"/>
                </a:solidFill>
                <a:latin typeface="Calibri"/>
                <a:ea typeface="Calibri"/>
                <a:cs typeface="Calibri"/>
                <a:sym typeface="Calibri"/>
              </a:rPr>
              <a:t> </a:t>
            </a:r>
            <a:r>
              <a:rPr lang="en" sz="1500" b="0" i="0" u="none" strike="noStrike" cap="none">
                <a:solidFill>
                  <a:schemeClr val="hlink"/>
                </a:solidFill>
                <a:uFill>
                  <a:noFill/>
                </a:uFill>
                <a:latin typeface="Calibri"/>
                <a:ea typeface="Calibri"/>
                <a:cs typeface="Calibri"/>
                <a:sym typeface="Calibri"/>
                <a:hlinkClick r:id="rId6"/>
              </a:rPr>
              <a:t>↗</a:t>
            </a:r>
            <a:endParaRPr sz="1300" b="0" i="0" u="none" strike="noStrike" cap="none">
              <a:solidFill>
                <a:srgbClr val="0254EC"/>
              </a:solidFill>
              <a:latin typeface="Calibri"/>
              <a:ea typeface="Calibri"/>
              <a:cs typeface="Calibri"/>
              <a:sym typeface="Calibri"/>
            </a:endParaRPr>
          </a:p>
        </p:txBody>
      </p:sp>
      <p:sp>
        <p:nvSpPr>
          <p:cNvPr id="532" name="Google Shape;532;p52"/>
          <p:cNvSpPr txBox="1"/>
          <p:nvPr/>
        </p:nvSpPr>
        <p:spPr>
          <a:xfrm>
            <a:off x="2714750" y="1108842"/>
            <a:ext cx="3159552" cy="240862"/>
          </a:xfrm>
          <a:prstGeom prst="rect">
            <a:avLst/>
          </a:prstGeom>
          <a:noFill/>
          <a:ln>
            <a:noFill/>
          </a:ln>
        </p:spPr>
        <p:txBody>
          <a:bodyPr spcFirstLastPara="1" wrap="square" lIns="87225" tIns="87225" rIns="87225" bIns="87225" anchor="t" anchorCtr="0">
            <a:noAutofit/>
          </a:bodyPr>
          <a:lstStyle/>
          <a:p>
            <a:pPr marL="0" marR="0" lvl="0" indent="0" algn="ctr" rtl="0">
              <a:lnSpc>
                <a:spcPct val="100000"/>
              </a:lnSpc>
              <a:spcBef>
                <a:spcPts val="0"/>
              </a:spcBef>
              <a:spcAft>
                <a:spcPts val="0"/>
              </a:spcAft>
              <a:buClr>
                <a:srgbClr val="000000"/>
              </a:buClr>
              <a:buSzPts val="1136"/>
              <a:buFont typeface="Arial"/>
              <a:buNone/>
            </a:pPr>
            <a:r>
              <a:rPr lang="en" sz="1136" b="0" i="0" u="none" strike="noStrike" cap="none" dirty="0">
                <a:solidFill>
                  <a:srgbClr val="333333"/>
                </a:solidFill>
                <a:latin typeface="Calibri"/>
                <a:ea typeface="Calibri"/>
                <a:cs typeface="Calibri"/>
                <a:sym typeface="Calibri"/>
              </a:rPr>
              <a:t>Integration                                               Status</a:t>
            </a:r>
            <a:endParaRPr sz="1136" b="0" i="0" u="none" strike="noStrike" cap="none" dirty="0">
              <a:solidFill>
                <a:srgbClr val="333333"/>
              </a:solidFill>
              <a:latin typeface="Calibri"/>
              <a:ea typeface="Calibri"/>
              <a:cs typeface="Calibri"/>
              <a:sym typeface="Calibri"/>
            </a:endParaRPr>
          </a:p>
        </p:txBody>
      </p:sp>
      <p:sp>
        <p:nvSpPr>
          <p:cNvPr id="533" name="Google Shape;533;p52"/>
          <p:cNvSpPr/>
          <p:nvPr/>
        </p:nvSpPr>
        <p:spPr>
          <a:xfrm>
            <a:off x="145250" y="2537551"/>
            <a:ext cx="2401200" cy="1159200"/>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83375" tIns="83375" rIns="83375" bIns="83375" anchor="ctr" anchorCtr="0">
            <a:noAutofit/>
          </a:bodyPr>
          <a:lstStyle/>
          <a:p>
            <a:pPr marL="0" marR="0" lvl="0" indent="0" algn="ctr" rtl="0">
              <a:lnSpc>
                <a:spcPct val="100000"/>
              </a:lnSpc>
              <a:spcBef>
                <a:spcPts val="0"/>
              </a:spcBef>
              <a:spcAft>
                <a:spcPts val="0"/>
              </a:spcAft>
              <a:buClr>
                <a:srgbClr val="000000"/>
              </a:buClr>
              <a:buSzPts val="1261"/>
              <a:buFont typeface="Arial"/>
              <a:buNone/>
            </a:pPr>
            <a:endParaRPr sz="1261" b="0" i="0" u="none" strike="noStrike" cap="none">
              <a:solidFill>
                <a:srgbClr val="000000"/>
              </a:solidFill>
              <a:latin typeface="Calibri"/>
              <a:ea typeface="Calibri"/>
              <a:cs typeface="Calibri"/>
              <a:sym typeface="Calibri"/>
            </a:endParaRPr>
          </a:p>
        </p:txBody>
      </p:sp>
      <p:sp>
        <p:nvSpPr>
          <p:cNvPr id="534" name="Google Shape;534;p52"/>
          <p:cNvSpPr txBox="1"/>
          <p:nvPr/>
        </p:nvSpPr>
        <p:spPr>
          <a:xfrm>
            <a:off x="178755" y="3027738"/>
            <a:ext cx="1609200" cy="1554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a:solidFill>
                  <a:schemeClr val="hlink"/>
                </a:solidFill>
                <a:latin typeface="Calibri"/>
                <a:ea typeface="Calibri"/>
                <a:cs typeface="Calibri"/>
                <a:sym typeface="Calibri"/>
                <a:hlinkClick r:id="rId7"/>
              </a:rPr>
              <a:t>HBI</a:t>
            </a:r>
            <a:r>
              <a:rPr lang="en" sz="810" b="0" i="0" u="none" strike="noStrike" cap="none">
                <a:solidFill>
                  <a:srgbClr val="333333"/>
                </a:solidFill>
                <a:latin typeface="Calibri"/>
                <a:ea typeface="Calibri"/>
                <a:cs typeface="Calibri"/>
                <a:sym typeface="Calibri"/>
              </a:rPr>
              <a:t> (High Business Impact)</a:t>
            </a:r>
            <a:endParaRPr sz="810" b="0" i="0" u="none" strike="noStrike" cap="none">
              <a:solidFill>
                <a:srgbClr val="333333"/>
              </a:solidFill>
              <a:latin typeface="Calibri"/>
              <a:ea typeface="Calibri"/>
              <a:cs typeface="Calibri"/>
              <a:sym typeface="Calibri"/>
            </a:endParaRPr>
          </a:p>
        </p:txBody>
      </p:sp>
      <p:sp>
        <p:nvSpPr>
          <p:cNvPr id="535" name="Google Shape;535;p52"/>
          <p:cNvSpPr txBox="1"/>
          <p:nvPr/>
        </p:nvSpPr>
        <p:spPr>
          <a:xfrm>
            <a:off x="1499205" y="3036972"/>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a:solidFill>
                  <a:srgbClr val="333333"/>
                </a:solidFill>
                <a:latin typeface="Calibri"/>
                <a:ea typeface="Calibri"/>
                <a:cs typeface="Calibri"/>
                <a:sym typeface="Calibri"/>
              </a:rPr>
              <a:t>{{P_HBI}}</a:t>
            </a:r>
            <a:endParaRPr sz="810" b="1" i="0" u="none" strike="noStrike" cap="none">
              <a:solidFill>
                <a:srgbClr val="333333"/>
              </a:solidFill>
              <a:latin typeface="Calibri"/>
              <a:ea typeface="Calibri"/>
              <a:cs typeface="Calibri"/>
              <a:sym typeface="Calibri"/>
            </a:endParaRPr>
          </a:p>
        </p:txBody>
      </p:sp>
      <p:sp>
        <p:nvSpPr>
          <p:cNvPr id="536" name="Google Shape;536;p52"/>
          <p:cNvSpPr txBox="1"/>
          <p:nvPr/>
        </p:nvSpPr>
        <p:spPr>
          <a:xfrm>
            <a:off x="178763" y="3191899"/>
            <a:ext cx="1650000" cy="1641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a:solidFill>
                  <a:schemeClr val="hlink"/>
                </a:solidFill>
                <a:latin typeface="Calibri"/>
                <a:ea typeface="Calibri"/>
                <a:cs typeface="Calibri"/>
                <a:sym typeface="Calibri"/>
                <a:hlinkClick r:id="rId8"/>
              </a:rPr>
              <a:t>MBI</a:t>
            </a:r>
            <a:r>
              <a:rPr lang="en" sz="810" b="0" i="0" u="none" strike="noStrike" cap="none">
                <a:solidFill>
                  <a:srgbClr val="333333"/>
                </a:solidFill>
                <a:latin typeface="Calibri"/>
                <a:ea typeface="Calibri"/>
                <a:cs typeface="Calibri"/>
                <a:sym typeface="Calibri"/>
              </a:rPr>
              <a:t> (Medium Business Impact)</a:t>
            </a:r>
            <a:endParaRPr sz="810" b="0" i="0" u="none" strike="noStrike" cap="none">
              <a:solidFill>
                <a:srgbClr val="333333"/>
              </a:solidFill>
              <a:latin typeface="Calibri"/>
              <a:ea typeface="Calibri"/>
              <a:cs typeface="Calibri"/>
              <a:sym typeface="Calibri"/>
            </a:endParaRPr>
          </a:p>
        </p:txBody>
      </p:sp>
      <p:sp>
        <p:nvSpPr>
          <p:cNvPr id="537" name="Google Shape;537;p52"/>
          <p:cNvSpPr txBox="1"/>
          <p:nvPr/>
        </p:nvSpPr>
        <p:spPr>
          <a:xfrm>
            <a:off x="1499205" y="3194673"/>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a:solidFill>
                  <a:srgbClr val="333333"/>
                </a:solidFill>
                <a:latin typeface="Calibri"/>
                <a:ea typeface="Calibri"/>
                <a:cs typeface="Calibri"/>
                <a:sym typeface="Calibri"/>
              </a:rPr>
              <a:t>{{P_MBI}}</a:t>
            </a:r>
            <a:endParaRPr sz="810" b="1" i="0" u="none" strike="noStrike" cap="none">
              <a:solidFill>
                <a:srgbClr val="333333"/>
              </a:solidFill>
              <a:latin typeface="Calibri"/>
              <a:ea typeface="Calibri"/>
              <a:cs typeface="Calibri"/>
              <a:sym typeface="Calibri"/>
            </a:endParaRPr>
          </a:p>
        </p:txBody>
      </p:sp>
      <p:sp>
        <p:nvSpPr>
          <p:cNvPr id="538" name="Google Shape;538;p52"/>
          <p:cNvSpPr txBox="1"/>
          <p:nvPr/>
        </p:nvSpPr>
        <p:spPr>
          <a:xfrm>
            <a:off x="103249" y="2268903"/>
            <a:ext cx="2443200" cy="273600"/>
          </a:xfrm>
          <a:prstGeom prst="rect">
            <a:avLst/>
          </a:prstGeom>
          <a:noFill/>
          <a:ln>
            <a:noFill/>
          </a:ln>
        </p:spPr>
        <p:txBody>
          <a:bodyPr spcFirstLastPara="1" wrap="square" lIns="83375" tIns="83375" rIns="83375" bIns="8337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a:ea typeface="Calibri"/>
                <a:cs typeface="Calibri"/>
                <a:sym typeface="Calibri"/>
              </a:rPr>
              <a:t>Projects</a:t>
            </a:r>
            <a:endParaRPr sz="1300" b="0" i="0" u="none" strike="noStrike" cap="none">
              <a:solidFill>
                <a:srgbClr val="333333"/>
              </a:solidFill>
              <a:latin typeface="Calibri"/>
              <a:ea typeface="Calibri"/>
              <a:cs typeface="Calibri"/>
              <a:sym typeface="Calibri"/>
            </a:endParaRPr>
          </a:p>
        </p:txBody>
      </p:sp>
      <p:sp>
        <p:nvSpPr>
          <p:cNvPr id="539" name="Google Shape;539;p52"/>
          <p:cNvSpPr txBox="1"/>
          <p:nvPr/>
        </p:nvSpPr>
        <p:spPr>
          <a:xfrm>
            <a:off x="201255" y="2589298"/>
            <a:ext cx="1550400" cy="1416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Total Parent</a:t>
            </a:r>
            <a:endParaRPr sz="1000" b="0" i="0" u="none" strike="noStrike" cap="none">
              <a:solidFill>
                <a:schemeClr val="dk1"/>
              </a:solidFill>
              <a:latin typeface="Calibri"/>
              <a:ea typeface="Calibri"/>
              <a:cs typeface="Calibri"/>
              <a:sym typeface="Calibri"/>
            </a:endParaRPr>
          </a:p>
        </p:txBody>
      </p:sp>
      <p:sp>
        <p:nvSpPr>
          <p:cNvPr id="540" name="Google Shape;540;p52"/>
          <p:cNvSpPr txBox="1"/>
          <p:nvPr/>
        </p:nvSpPr>
        <p:spPr>
          <a:xfrm>
            <a:off x="1401337" y="2571721"/>
            <a:ext cx="1003500" cy="1416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989"/>
              <a:buFont typeface="Arial"/>
              <a:buNone/>
            </a:pPr>
            <a:r>
              <a:rPr lang="en" sz="990" b="1" i="0" u="none" strike="noStrike" cap="none">
                <a:solidFill>
                  <a:srgbClr val="333333"/>
                </a:solidFill>
                <a:latin typeface="Calibri"/>
                <a:ea typeface="Calibri"/>
                <a:cs typeface="Calibri"/>
                <a:sym typeface="Calibri"/>
              </a:rPr>
              <a:t>{{P_TOT}}</a:t>
            </a:r>
            <a:endParaRPr sz="990" b="1" i="0" u="none" strike="noStrike" cap="none">
              <a:solidFill>
                <a:srgbClr val="333333"/>
              </a:solidFill>
              <a:latin typeface="Calibri"/>
              <a:ea typeface="Calibri"/>
              <a:cs typeface="Calibri"/>
              <a:sym typeface="Calibri"/>
            </a:endParaRPr>
          </a:p>
        </p:txBody>
      </p:sp>
      <p:sp>
        <p:nvSpPr>
          <p:cNvPr id="541" name="Google Shape;541;p52"/>
          <p:cNvSpPr txBox="1"/>
          <p:nvPr/>
        </p:nvSpPr>
        <p:spPr>
          <a:xfrm>
            <a:off x="181215" y="3356084"/>
            <a:ext cx="1459200" cy="1554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810"/>
              <a:buFont typeface="Arial"/>
              <a:buNone/>
            </a:pPr>
            <a:r>
              <a:rPr lang="en" sz="810" b="0" i="0" u="sng" strike="noStrike" cap="none">
                <a:solidFill>
                  <a:schemeClr val="hlink"/>
                </a:solidFill>
                <a:latin typeface="Calibri"/>
                <a:ea typeface="Calibri"/>
                <a:cs typeface="Calibri"/>
                <a:sym typeface="Calibri"/>
                <a:hlinkClick r:id="rId9"/>
              </a:rPr>
              <a:t>LBI</a:t>
            </a:r>
            <a:r>
              <a:rPr lang="en" sz="810" b="0" i="0" u="none" strike="noStrike" cap="none">
                <a:solidFill>
                  <a:srgbClr val="333333"/>
                </a:solidFill>
                <a:latin typeface="Calibri"/>
                <a:ea typeface="Calibri"/>
                <a:cs typeface="Calibri"/>
                <a:sym typeface="Calibri"/>
              </a:rPr>
              <a:t> (Low Business Impact)</a:t>
            </a:r>
            <a:endParaRPr sz="810" b="0" i="0" u="none" strike="noStrike" cap="none">
              <a:solidFill>
                <a:srgbClr val="333333"/>
              </a:solidFill>
              <a:latin typeface="Calibri"/>
              <a:ea typeface="Calibri"/>
              <a:cs typeface="Calibri"/>
              <a:sym typeface="Calibri"/>
            </a:endParaRPr>
          </a:p>
        </p:txBody>
      </p:sp>
      <p:sp>
        <p:nvSpPr>
          <p:cNvPr id="542" name="Google Shape;542;p52"/>
          <p:cNvSpPr txBox="1"/>
          <p:nvPr/>
        </p:nvSpPr>
        <p:spPr>
          <a:xfrm>
            <a:off x="1500450" y="3352374"/>
            <a:ext cx="912300" cy="1554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810"/>
              <a:buFont typeface="Arial"/>
              <a:buNone/>
            </a:pPr>
            <a:r>
              <a:rPr lang="en" sz="810" b="1" i="0" u="none" strike="noStrike" cap="none">
                <a:solidFill>
                  <a:srgbClr val="333333"/>
                </a:solidFill>
                <a:latin typeface="Calibri"/>
                <a:ea typeface="Calibri"/>
                <a:cs typeface="Calibri"/>
                <a:sym typeface="Calibri"/>
              </a:rPr>
              <a:t>{{P_LBI}}</a:t>
            </a:r>
            <a:endParaRPr sz="810" b="1" i="0" u="none" strike="noStrike" cap="none">
              <a:solidFill>
                <a:srgbClr val="333333"/>
              </a:solidFill>
              <a:latin typeface="Calibri"/>
              <a:ea typeface="Calibri"/>
              <a:cs typeface="Calibri"/>
              <a:sym typeface="Calibri"/>
            </a:endParaRPr>
          </a:p>
        </p:txBody>
      </p:sp>
      <p:sp>
        <p:nvSpPr>
          <p:cNvPr id="543" name="Google Shape;543;p52"/>
          <p:cNvSpPr txBox="1"/>
          <p:nvPr/>
        </p:nvSpPr>
        <p:spPr>
          <a:xfrm>
            <a:off x="200888" y="2781549"/>
            <a:ext cx="1550400" cy="141600"/>
          </a:xfrm>
          <a:prstGeom prst="rect">
            <a:avLst/>
          </a:prstGeom>
          <a:noFill/>
          <a:ln>
            <a:noFill/>
          </a:ln>
        </p:spPr>
        <p:txBody>
          <a:bodyPr spcFirstLastPara="1" wrap="square" lIns="83375" tIns="83375" rIns="83375" bIns="83375" anchor="t" anchorCtr="0">
            <a:noAutofit/>
          </a:bodyPr>
          <a:lstStyle/>
          <a:p>
            <a:pPr marL="0" marR="0" lvl="0" indent="0" algn="l" rtl="0">
              <a:lnSpc>
                <a:spcPct val="15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Total Child</a:t>
            </a:r>
            <a:endParaRPr sz="1000" b="0" i="0" u="none" strike="noStrike" cap="none">
              <a:solidFill>
                <a:schemeClr val="dk1"/>
              </a:solidFill>
              <a:latin typeface="Calibri"/>
              <a:ea typeface="Calibri"/>
              <a:cs typeface="Calibri"/>
              <a:sym typeface="Calibri"/>
            </a:endParaRPr>
          </a:p>
        </p:txBody>
      </p:sp>
      <p:sp>
        <p:nvSpPr>
          <p:cNvPr id="544" name="Google Shape;544;p52"/>
          <p:cNvSpPr txBox="1"/>
          <p:nvPr/>
        </p:nvSpPr>
        <p:spPr>
          <a:xfrm>
            <a:off x="1400970" y="2763973"/>
            <a:ext cx="1003500" cy="141600"/>
          </a:xfrm>
          <a:prstGeom prst="rect">
            <a:avLst/>
          </a:prstGeom>
          <a:noFill/>
          <a:ln>
            <a:noFill/>
          </a:ln>
        </p:spPr>
        <p:txBody>
          <a:bodyPr spcFirstLastPara="1" wrap="square" lIns="83375" tIns="83375" rIns="83375" bIns="83375" anchor="t" anchorCtr="0">
            <a:noAutofit/>
          </a:bodyPr>
          <a:lstStyle/>
          <a:p>
            <a:pPr marL="0" marR="0" lvl="0" indent="0" algn="r" rtl="0">
              <a:lnSpc>
                <a:spcPct val="150000"/>
              </a:lnSpc>
              <a:spcBef>
                <a:spcPts val="0"/>
              </a:spcBef>
              <a:spcAft>
                <a:spcPts val="0"/>
              </a:spcAft>
              <a:buClr>
                <a:srgbClr val="000000"/>
              </a:buClr>
              <a:buSzPts val="989"/>
              <a:buFont typeface="Arial"/>
              <a:buNone/>
            </a:pPr>
            <a:r>
              <a:rPr lang="en" sz="990" b="1" i="0" u="none" strike="noStrike" cap="none">
                <a:solidFill>
                  <a:srgbClr val="333333"/>
                </a:solidFill>
                <a:latin typeface="Calibri"/>
                <a:ea typeface="Calibri"/>
                <a:cs typeface="Calibri"/>
                <a:sym typeface="Calibri"/>
              </a:rPr>
              <a:t>{{PC_TOT}}</a:t>
            </a:r>
            <a:endParaRPr sz="990" b="1" i="0" u="none" strike="noStrike" cap="none">
              <a:solidFill>
                <a:srgbClr val="333333"/>
              </a:solidFill>
              <a:latin typeface="Calibri"/>
              <a:ea typeface="Calibri"/>
              <a:cs typeface="Calibri"/>
              <a:sym typeface="Calibri"/>
            </a:endParaRPr>
          </a:p>
        </p:txBody>
      </p:sp>
      <p:sp>
        <p:nvSpPr>
          <p:cNvPr id="545" name="Google Shape;545;p52"/>
          <p:cNvSpPr txBox="1"/>
          <p:nvPr/>
        </p:nvSpPr>
        <p:spPr>
          <a:xfrm>
            <a:off x="6163222" y="792816"/>
            <a:ext cx="2835527" cy="301800"/>
          </a:xfrm>
          <a:prstGeom prst="rect">
            <a:avLst/>
          </a:prstGeom>
          <a:noFill/>
          <a:ln>
            <a:noFill/>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00"/>
              <a:buFont typeface="Arial"/>
              <a:buNone/>
            </a:pPr>
            <a:r>
              <a:rPr lang="en" sz="1300" b="0" i="0" u="none" strike="noStrike" cap="none">
                <a:solidFill>
                  <a:srgbClr val="333333"/>
                </a:solidFill>
                <a:latin typeface="Calibri"/>
                <a:ea typeface="Calibri"/>
                <a:cs typeface="Calibri"/>
                <a:sym typeface="Calibri"/>
              </a:rPr>
              <a:t>Features / Functionality Usage</a:t>
            </a:r>
            <a:endParaRPr sz="1300" b="0" i="0" u="none" strike="noStrike" cap="none">
              <a:solidFill>
                <a:srgbClr val="333333"/>
              </a:solidFill>
              <a:latin typeface="Calibri"/>
              <a:ea typeface="Calibri"/>
              <a:cs typeface="Calibri"/>
              <a:sym typeface="Calibri"/>
            </a:endParaRPr>
          </a:p>
        </p:txBody>
      </p:sp>
      <p:sp>
        <p:nvSpPr>
          <p:cNvPr id="546" name="Google Shape;546;p52"/>
          <p:cNvSpPr/>
          <p:nvPr/>
        </p:nvSpPr>
        <p:spPr>
          <a:xfrm>
            <a:off x="6163222" y="1119161"/>
            <a:ext cx="2835527" cy="2041333"/>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91225" tIns="91225" rIns="91225" bIns="912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547" name="Google Shape;547;p52"/>
          <p:cNvSpPr txBox="1"/>
          <p:nvPr/>
        </p:nvSpPr>
        <p:spPr>
          <a:xfrm>
            <a:off x="6322754" y="1134652"/>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0"/>
              </a:rPr>
              <a:t>Custom Compliance Frameworks</a:t>
            </a:r>
            <a:endParaRPr sz="900" b="0" i="0" u="none" strike="noStrike" cap="none">
              <a:solidFill>
                <a:srgbClr val="0254EC"/>
              </a:solidFill>
              <a:latin typeface="Calibri"/>
              <a:ea typeface="Calibri"/>
              <a:cs typeface="Calibri"/>
              <a:sym typeface="Calibri"/>
            </a:endParaRPr>
          </a:p>
        </p:txBody>
      </p:sp>
      <p:sp>
        <p:nvSpPr>
          <p:cNvPr id="548" name="Google Shape;548;p52"/>
          <p:cNvSpPr txBox="1"/>
          <p:nvPr/>
        </p:nvSpPr>
        <p:spPr>
          <a:xfrm>
            <a:off x="7250324" y="1133123"/>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{{F_FW}}</a:t>
            </a:r>
            <a:endParaRPr sz="900" b="1" i="0" u="none" strike="noStrike" cap="none">
              <a:solidFill>
                <a:srgbClr val="333333"/>
              </a:solidFill>
              <a:latin typeface="Calibri"/>
              <a:ea typeface="Calibri"/>
              <a:cs typeface="Calibri"/>
              <a:sym typeface="Calibri"/>
            </a:endParaRPr>
          </a:p>
        </p:txBody>
      </p:sp>
      <p:sp>
        <p:nvSpPr>
          <p:cNvPr id="549" name="Google Shape;549;p52"/>
          <p:cNvSpPr txBox="1"/>
          <p:nvPr/>
        </p:nvSpPr>
        <p:spPr>
          <a:xfrm>
            <a:off x="6322754" y="1334180"/>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1"/>
              </a:rPr>
              <a:t>Resource Tag Rules (On / Off)</a:t>
            </a:r>
            <a:endParaRPr sz="900" b="0" i="0" u="none" strike="noStrike" cap="none">
              <a:solidFill>
                <a:srgbClr val="0254EC"/>
              </a:solidFill>
              <a:latin typeface="Calibri"/>
              <a:ea typeface="Calibri"/>
              <a:cs typeface="Calibri"/>
              <a:sym typeface="Calibri"/>
            </a:endParaRPr>
          </a:p>
        </p:txBody>
      </p:sp>
      <p:sp>
        <p:nvSpPr>
          <p:cNvPr id="550" name="Google Shape;550;p52"/>
          <p:cNvSpPr txBox="1"/>
          <p:nvPr/>
        </p:nvSpPr>
        <p:spPr>
          <a:xfrm>
            <a:off x="7250324" y="1332651"/>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{{F_TR}}</a:t>
            </a:r>
            <a:endParaRPr sz="900" b="1" i="0" u="none" strike="noStrike" cap="none">
              <a:solidFill>
                <a:srgbClr val="333333"/>
              </a:solidFill>
              <a:latin typeface="Calibri"/>
              <a:ea typeface="Calibri"/>
              <a:cs typeface="Calibri"/>
              <a:sym typeface="Calibri"/>
            </a:endParaRPr>
          </a:p>
        </p:txBody>
      </p:sp>
      <p:sp>
        <p:nvSpPr>
          <p:cNvPr id="551" name="Google Shape;551;p52"/>
          <p:cNvSpPr txBox="1"/>
          <p:nvPr/>
        </p:nvSpPr>
        <p:spPr>
          <a:xfrm>
            <a:off x="6322754" y="1533709"/>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2"/>
              </a:rPr>
              <a:t>Service Catalog Discovery Rules</a:t>
            </a:r>
            <a:endParaRPr sz="900" b="0" i="0" u="none" strike="noStrike" cap="none">
              <a:solidFill>
                <a:srgbClr val="0254EC"/>
              </a:solidFill>
              <a:latin typeface="Calibri"/>
              <a:ea typeface="Calibri"/>
              <a:cs typeface="Calibri"/>
              <a:sym typeface="Calibri"/>
            </a:endParaRPr>
          </a:p>
        </p:txBody>
      </p:sp>
      <p:sp>
        <p:nvSpPr>
          <p:cNvPr id="552" name="Google Shape;552;p52"/>
          <p:cNvSpPr txBox="1"/>
          <p:nvPr/>
        </p:nvSpPr>
        <p:spPr>
          <a:xfrm>
            <a:off x="7250324" y="1532180"/>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{{F_DR}}</a:t>
            </a:r>
            <a:endParaRPr sz="900" b="1" i="0" u="none" strike="noStrike" cap="none">
              <a:solidFill>
                <a:srgbClr val="333333"/>
              </a:solidFill>
              <a:latin typeface="Calibri"/>
              <a:ea typeface="Calibri"/>
              <a:cs typeface="Calibri"/>
              <a:sym typeface="Calibri"/>
            </a:endParaRPr>
          </a:p>
        </p:txBody>
      </p:sp>
      <p:sp>
        <p:nvSpPr>
          <p:cNvPr id="553" name="Google Shape;553;p52"/>
          <p:cNvSpPr txBox="1"/>
          <p:nvPr/>
        </p:nvSpPr>
        <p:spPr>
          <a:xfrm>
            <a:off x="6322754" y="1726496"/>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3"/>
              </a:rPr>
              <a:t>Inventory Management Rules</a:t>
            </a:r>
            <a:endParaRPr sz="900" b="0" i="0" u="none" strike="noStrike" cap="none">
              <a:solidFill>
                <a:srgbClr val="0254EC"/>
              </a:solidFill>
              <a:latin typeface="Calibri"/>
              <a:ea typeface="Calibri"/>
              <a:cs typeface="Calibri"/>
              <a:sym typeface="Calibri"/>
            </a:endParaRPr>
          </a:p>
        </p:txBody>
      </p:sp>
      <p:sp>
        <p:nvSpPr>
          <p:cNvPr id="554" name="Google Shape;554;p52"/>
          <p:cNvSpPr txBox="1"/>
          <p:nvPr/>
        </p:nvSpPr>
        <p:spPr>
          <a:xfrm>
            <a:off x="7250324" y="1724967"/>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{{F_IR}}</a:t>
            </a:r>
            <a:endParaRPr sz="900" b="1" i="0" u="none" strike="noStrike" cap="none">
              <a:solidFill>
                <a:srgbClr val="333333"/>
              </a:solidFill>
              <a:latin typeface="Calibri"/>
              <a:ea typeface="Calibri"/>
              <a:cs typeface="Calibri"/>
              <a:sym typeface="Calibri"/>
            </a:endParaRPr>
          </a:p>
        </p:txBody>
      </p:sp>
      <p:sp>
        <p:nvSpPr>
          <p:cNvPr id="555" name="Google Shape;555;p52"/>
          <p:cNvSpPr txBox="1"/>
          <p:nvPr/>
        </p:nvSpPr>
        <p:spPr>
          <a:xfrm>
            <a:off x="6322754" y="1926024"/>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4"/>
              </a:rPr>
              <a:t>User Created Posture Policies</a:t>
            </a:r>
            <a:endParaRPr sz="900" b="0" i="0" u="none" strike="noStrike" cap="none">
              <a:solidFill>
                <a:srgbClr val="0254EC"/>
              </a:solidFill>
              <a:latin typeface="Calibri"/>
              <a:ea typeface="Calibri"/>
              <a:cs typeface="Calibri"/>
              <a:sym typeface="Calibri"/>
            </a:endParaRPr>
          </a:p>
        </p:txBody>
      </p:sp>
      <p:sp>
        <p:nvSpPr>
          <p:cNvPr id="556" name="Google Shape;556;p52"/>
          <p:cNvSpPr txBox="1"/>
          <p:nvPr/>
        </p:nvSpPr>
        <p:spPr>
          <a:xfrm>
            <a:off x="7250324" y="1924495"/>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{{F_PP}}</a:t>
            </a:r>
            <a:endParaRPr sz="900" b="1" i="0" u="none" strike="noStrike" cap="none">
              <a:solidFill>
                <a:srgbClr val="333333"/>
              </a:solidFill>
              <a:latin typeface="Calibri"/>
              <a:ea typeface="Calibri"/>
              <a:cs typeface="Calibri"/>
              <a:sym typeface="Calibri"/>
            </a:endParaRPr>
          </a:p>
        </p:txBody>
      </p:sp>
      <p:sp>
        <p:nvSpPr>
          <p:cNvPr id="557" name="Google Shape;557;p52"/>
          <p:cNvSpPr txBox="1"/>
          <p:nvPr/>
        </p:nvSpPr>
        <p:spPr>
          <a:xfrm>
            <a:off x="6322754" y="2125553"/>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5"/>
              </a:rPr>
              <a:t>User Created Monitored Metrics</a:t>
            </a:r>
            <a:endParaRPr sz="900" b="0" i="0" u="none" strike="noStrike" cap="none">
              <a:solidFill>
                <a:srgbClr val="0254EC"/>
              </a:solidFill>
              <a:latin typeface="Calibri"/>
              <a:ea typeface="Calibri"/>
              <a:cs typeface="Calibri"/>
              <a:sym typeface="Calibri"/>
            </a:endParaRPr>
          </a:p>
        </p:txBody>
      </p:sp>
      <p:sp>
        <p:nvSpPr>
          <p:cNvPr id="558" name="Google Shape;558;p52"/>
          <p:cNvSpPr txBox="1"/>
          <p:nvPr/>
        </p:nvSpPr>
        <p:spPr>
          <a:xfrm>
            <a:off x="7250324" y="2124024"/>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{{F_MM}}</a:t>
            </a:r>
            <a:endParaRPr sz="900" b="1" i="0" u="none" strike="noStrike" cap="none">
              <a:solidFill>
                <a:srgbClr val="333333"/>
              </a:solidFill>
              <a:latin typeface="Calibri"/>
              <a:ea typeface="Calibri"/>
              <a:cs typeface="Calibri"/>
              <a:sym typeface="Calibri"/>
            </a:endParaRPr>
          </a:p>
        </p:txBody>
      </p:sp>
      <p:sp>
        <p:nvSpPr>
          <p:cNvPr id="559" name="Google Shape;559;p52"/>
          <p:cNvSpPr txBox="1"/>
          <p:nvPr/>
        </p:nvSpPr>
        <p:spPr>
          <a:xfrm>
            <a:off x="6315488" y="2322082"/>
            <a:ext cx="3267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6"/>
              </a:rPr>
              <a:t>Champion Center Owners</a:t>
            </a:r>
            <a:endParaRPr sz="900" b="0" i="0" u="none" strike="noStrike" cap="none">
              <a:solidFill>
                <a:srgbClr val="0254EC"/>
              </a:solidFill>
              <a:latin typeface="Calibri"/>
              <a:ea typeface="Calibri"/>
              <a:cs typeface="Calibri"/>
              <a:sym typeface="Calibri"/>
            </a:endParaRPr>
          </a:p>
        </p:txBody>
      </p:sp>
      <p:sp>
        <p:nvSpPr>
          <p:cNvPr id="560" name="Google Shape;560;p52"/>
          <p:cNvSpPr txBox="1"/>
          <p:nvPr/>
        </p:nvSpPr>
        <p:spPr>
          <a:xfrm>
            <a:off x="7243057" y="2309149"/>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{{CC_TOT}}</a:t>
            </a:r>
            <a:endParaRPr sz="900" b="1" i="0" u="none" strike="noStrike" cap="none">
              <a:solidFill>
                <a:srgbClr val="333333"/>
              </a:solidFill>
              <a:latin typeface="Calibri"/>
              <a:ea typeface="Calibri"/>
              <a:cs typeface="Calibri"/>
              <a:sym typeface="Calibri"/>
            </a:endParaRPr>
          </a:p>
        </p:txBody>
      </p:sp>
      <p:sp>
        <p:nvSpPr>
          <p:cNvPr id="561" name="Google Shape;561;p52"/>
          <p:cNvSpPr txBox="1"/>
          <p:nvPr/>
        </p:nvSpPr>
        <p:spPr>
          <a:xfrm>
            <a:off x="6319629" y="2508697"/>
            <a:ext cx="2223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7"/>
              </a:rPr>
              <a:t>Using Wiz Browser Extension</a:t>
            </a:r>
            <a:endParaRPr sz="900" b="0" i="0" u="none" strike="noStrike" cap="none">
              <a:solidFill>
                <a:srgbClr val="0254EC"/>
              </a:solidFill>
              <a:latin typeface="Calibri"/>
              <a:ea typeface="Calibri"/>
              <a:cs typeface="Calibri"/>
              <a:sym typeface="Calibri"/>
            </a:endParaRPr>
          </a:p>
        </p:txBody>
      </p:sp>
      <p:sp>
        <p:nvSpPr>
          <p:cNvPr id="562" name="Google Shape;562;p52"/>
          <p:cNvSpPr txBox="1"/>
          <p:nvPr/>
        </p:nvSpPr>
        <p:spPr>
          <a:xfrm>
            <a:off x="7247197" y="2495763"/>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{{F_BE}}</a:t>
            </a:r>
            <a:endParaRPr sz="900" b="1" i="0" u="none" strike="noStrike" cap="none">
              <a:solidFill>
                <a:srgbClr val="333333"/>
              </a:solidFill>
              <a:latin typeface="Calibri"/>
              <a:ea typeface="Calibri"/>
              <a:cs typeface="Calibri"/>
              <a:sym typeface="Calibri"/>
            </a:endParaRPr>
          </a:p>
        </p:txBody>
      </p:sp>
      <p:pic>
        <p:nvPicPr>
          <p:cNvPr id="563" name="Google Shape;563;p52" title="Group 1000004640.png"/>
          <p:cNvPicPr preferRelativeResize="0"/>
          <p:nvPr/>
        </p:nvPicPr>
        <p:blipFill rotWithShape="1">
          <a:blip r:embed="rId18">
            <a:alphaModFix/>
          </a:blip>
          <a:srcRect/>
          <a:stretch/>
        </p:blipFill>
        <p:spPr>
          <a:xfrm>
            <a:off x="6701399" y="3945838"/>
            <a:ext cx="1202026" cy="1216270"/>
          </a:xfrm>
          <a:prstGeom prst="rect">
            <a:avLst/>
          </a:prstGeom>
          <a:noFill/>
          <a:ln>
            <a:noFill/>
          </a:ln>
        </p:spPr>
      </p:pic>
      <p:pic>
        <p:nvPicPr>
          <p:cNvPr id="564" name="Google Shape;564;p52" title="Group 1000004641.png"/>
          <p:cNvPicPr preferRelativeResize="0"/>
          <p:nvPr/>
        </p:nvPicPr>
        <p:blipFill rotWithShape="1">
          <a:blip r:embed="rId19">
            <a:alphaModFix/>
          </a:blip>
          <a:srcRect/>
          <a:stretch/>
        </p:blipFill>
        <p:spPr>
          <a:xfrm>
            <a:off x="4245479" y="3945838"/>
            <a:ext cx="1202026" cy="1216270"/>
          </a:xfrm>
          <a:prstGeom prst="rect">
            <a:avLst/>
          </a:prstGeom>
          <a:noFill/>
          <a:ln>
            <a:noFill/>
          </a:ln>
        </p:spPr>
      </p:pic>
      <p:pic>
        <p:nvPicPr>
          <p:cNvPr id="565" name="Google Shape;565;p52" title="Group 1000004639.png"/>
          <p:cNvPicPr preferRelativeResize="0"/>
          <p:nvPr/>
        </p:nvPicPr>
        <p:blipFill rotWithShape="1">
          <a:blip r:embed="rId20">
            <a:alphaModFix/>
          </a:blip>
          <a:srcRect/>
          <a:stretch/>
        </p:blipFill>
        <p:spPr>
          <a:xfrm>
            <a:off x="1789559" y="3945838"/>
            <a:ext cx="1202026" cy="1216270"/>
          </a:xfrm>
          <a:prstGeom prst="rect">
            <a:avLst/>
          </a:prstGeom>
          <a:noFill/>
          <a:ln>
            <a:noFill/>
          </a:ln>
        </p:spPr>
      </p:pic>
      <p:sp>
        <p:nvSpPr>
          <p:cNvPr id="566" name="Google Shape;566;p52"/>
          <p:cNvSpPr/>
          <p:nvPr/>
        </p:nvSpPr>
        <p:spPr>
          <a:xfrm>
            <a:off x="1826818" y="4593453"/>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800" b="1" i="0" u="none" strike="noStrike" cap="none">
                <a:solidFill>
                  <a:srgbClr val="0254EC"/>
                </a:solidFill>
                <a:latin typeface="Calibri"/>
                <a:ea typeface="Calibri"/>
                <a:cs typeface="Calibri"/>
                <a:sym typeface="Calibri"/>
              </a:rPr>
              <a:t>Green Agent</a:t>
            </a:r>
            <a:endParaRPr sz="800" b="1" i="0" u="none" strike="noStrike" cap="none">
              <a:solidFill>
                <a:srgbClr val="000000"/>
              </a:solidFill>
              <a:latin typeface="Calibri"/>
              <a:ea typeface="Calibri"/>
              <a:cs typeface="Calibri"/>
              <a:sym typeface="Calibri"/>
            </a:endParaRPr>
          </a:p>
        </p:txBody>
      </p:sp>
      <p:sp>
        <p:nvSpPr>
          <p:cNvPr id="567" name="Google Shape;567;p52"/>
          <p:cNvSpPr/>
          <p:nvPr/>
        </p:nvSpPr>
        <p:spPr>
          <a:xfrm>
            <a:off x="1837294" y="4876841"/>
            <a:ext cx="1093200" cy="176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1741"/>
              </a:buClr>
              <a:buSzPts val="631"/>
              <a:buFont typeface="DM Sans"/>
              <a:buNone/>
            </a:pPr>
            <a:r>
              <a:rPr lang="en" sz="1021" b="0" i="0" u="none" strike="noStrike" cap="none">
                <a:solidFill>
                  <a:srgbClr val="000000"/>
                </a:solidFill>
                <a:latin typeface="Calibri"/>
                <a:ea typeface="Calibri"/>
                <a:cs typeface="Calibri"/>
                <a:sym typeface="Calibri"/>
              </a:rPr>
              <a:t>Enabled</a:t>
            </a:r>
            <a:br>
              <a:rPr lang="en" sz="1021" b="0" i="0" u="none" strike="noStrike" cap="none">
                <a:solidFill>
                  <a:srgbClr val="000000"/>
                </a:solidFill>
                <a:latin typeface="Calibri"/>
                <a:ea typeface="Calibri"/>
                <a:cs typeface="Calibri"/>
                <a:sym typeface="Calibri"/>
              </a:rPr>
            </a:br>
            <a:r>
              <a:rPr lang="en" sz="1021" b="0" i="0" u="none" strike="noStrike" cap="none">
                <a:solidFill>
                  <a:srgbClr val="000000"/>
                </a:solidFill>
                <a:latin typeface="Calibri"/>
                <a:ea typeface="Calibri"/>
                <a:cs typeface="Calibri"/>
                <a:sym typeface="Calibri"/>
              </a:rPr>
              <a:t>{{F_GA}}</a:t>
            </a:r>
            <a:br>
              <a:rPr lang="en" sz="1021" b="0" i="0" u="none" strike="noStrike" cap="none">
                <a:solidFill>
                  <a:srgbClr val="000000"/>
                </a:solidFill>
                <a:latin typeface="Calibri"/>
                <a:ea typeface="Calibri"/>
                <a:cs typeface="Calibri"/>
                <a:sym typeface="Calibri"/>
              </a:rPr>
            </a:br>
            <a:endParaRPr sz="1021" b="0" i="0" u="none" strike="noStrike" cap="none">
              <a:solidFill>
                <a:srgbClr val="000000"/>
              </a:solidFill>
              <a:latin typeface="Calibri"/>
              <a:ea typeface="Calibri"/>
              <a:cs typeface="Calibri"/>
              <a:sym typeface="Calibri"/>
            </a:endParaRPr>
          </a:p>
        </p:txBody>
      </p:sp>
      <p:sp>
        <p:nvSpPr>
          <p:cNvPr id="568" name="Google Shape;568;p52"/>
          <p:cNvSpPr/>
          <p:nvPr/>
        </p:nvSpPr>
        <p:spPr>
          <a:xfrm>
            <a:off x="792658" y="4465733"/>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a:ea typeface="Calibri"/>
                <a:cs typeface="Calibri"/>
                <a:sym typeface="Calibri"/>
              </a:rPr>
              <a:t>Preventive Security</a:t>
            </a:r>
            <a:endParaRPr sz="900" b="1" i="0" u="none" strike="noStrike" cap="none">
              <a:solidFill>
                <a:srgbClr val="000000"/>
              </a:solidFill>
              <a:latin typeface="Calibri"/>
              <a:ea typeface="Calibri"/>
              <a:cs typeface="Calibri"/>
              <a:sym typeface="Calibri"/>
            </a:endParaRPr>
          </a:p>
        </p:txBody>
      </p:sp>
      <p:sp>
        <p:nvSpPr>
          <p:cNvPr id="569" name="Google Shape;569;p52"/>
          <p:cNvSpPr/>
          <p:nvPr/>
        </p:nvSpPr>
        <p:spPr>
          <a:xfrm>
            <a:off x="746564" y="4637698"/>
            <a:ext cx="10293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a:solidFill>
                  <a:srgbClr val="001741"/>
                </a:solidFill>
                <a:latin typeface="Calibri"/>
                <a:ea typeface="Calibri"/>
                <a:cs typeface="Calibri"/>
                <a:sym typeface="Calibri"/>
              </a:rPr>
              <a:t>Build securely and </a:t>
            </a:r>
            <a:br>
              <a:rPr lang="en" sz="730" b="0" i="0" u="none" strike="noStrike" cap="none">
                <a:solidFill>
                  <a:srgbClr val="001741"/>
                </a:solidFill>
                <a:latin typeface="Calibri"/>
                <a:ea typeface="Calibri"/>
                <a:cs typeface="Calibri"/>
                <a:sym typeface="Calibri"/>
              </a:rPr>
            </a:br>
            <a:r>
              <a:rPr lang="en" sz="730" b="0" i="0" u="none" strike="noStrike" cap="none">
                <a:solidFill>
                  <a:srgbClr val="001741"/>
                </a:solidFill>
                <a:latin typeface="Calibri"/>
                <a:ea typeface="Calibri"/>
                <a:cs typeface="Calibri"/>
                <a:sym typeface="Calibri"/>
              </a:rPr>
              <a:t>remediate at the source</a:t>
            </a:r>
            <a:endParaRPr sz="730" b="0" i="0" u="none" strike="noStrike" cap="none">
              <a:solidFill>
                <a:srgbClr val="000000"/>
              </a:solidFill>
              <a:latin typeface="Calibri"/>
              <a:ea typeface="Calibri"/>
              <a:cs typeface="Calibri"/>
              <a:sym typeface="Calibri"/>
            </a:endParaRPr>
          </a:p>
        </p:txBody>
      </p:sp>
      <p:sp>
        <p:nvSpPr>
          <p:cNvPr id="570" name="Google Shape;570;p52"/>
          <p:cNvSpPr/>
          <p:nvPr/>
        </p:nvSpPr>
        <p:spPr>
          <a:xfrm>
            <a:off x="3258006" y="4471049"/>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a:ea typeface="Calibri"/>
                <a:cs typeface="Calibri"/>
                <a:sym typeface="Calibri"/>
              </a:rPr>
              <a:t>Reactive Security</a:t>
            </a:r>
            <a:endParaRPr sz="900" b="1" i="0" u="none" strike="noStrike" cap="none">
              <a:solidFill>
                <a:srgbClr val="000000"/>
              </a:solidFill>
              <a:latin typeface="Calibri"/>
              <a:ea typeface="Calibri"/>
              <a:cs typeface="Calibri"/>
              <a:sym typeface="Calibri"/>
            </a:endParaRPr>
          </a:p>
        </p:txBody>
      </p:sp>
      <p:sp>
        <p:nvSpPr>
          <p:cNvPr id="571" name="Google Shape;571;p52"/>
          <p:cNvSpPr/>
          <p:nvPr/>
        </p:nvSpPr>
        <p:spPr>
          <a:xfrm>
            <a:off x="3173074" y="4650643"/>
            <a:ext cx="1117800" cy="3147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a:solidFill>
                  <a:srgbClr val="001741"/>
                </a:solidFill>
                <a:latin typeface="Calibri"/>
                <a:ea typeface="Calibri"/>
                <a:cs typeface="Calibri"/>
                <a:sym typeface="Calibri"/>
              </a:rPr>
              <a:t>Investigate and </a:t>
            </a:r>
            <a:br>
              <a:rPr lang="en" sz="730" b="0" i="0" u="none" strike="noStrike" cap="none">
                <a:solidFill>
                  <a:srgbClr val="001741"/>
                </a:solidFill>
                <a:latin typeface="Calibri"/>
                <a:ea typeface="Calibri"/>
                <a:cs typeface="Calibri"/>
                <a:sym typeface="Calibri"/>
              </a:rPr>
            </a:br>
            <a:r>
              <a:rPr lang="en" sz="730" b="0" i="0" u="none" strike="noStrike" cap="none">
                <a:solidFill>
                  <a:srgbClr val="001741"/>
                </a:solidFill>
                <a:latin typeface="Calibri"/>
                <a:ea typeface="Calibri"/>
                <a:cs typeface="Calibri"/>
                <a:sym typeface="Calibri"/>
              </a:rPr>
              <a:t>triage high-fidelity threats</a:t>
            </a:r>
            <a:endParaRPr sz="730" b="0" i="0" u="none" strike="noStrike" cap="none">
              <a:solidFill>
                <a:srgbClr val="000000"/>
              </a:solidFill>
              <a:latin typeface="Calibri"/>
              <a:ea typeface="Calibri"/>
              <a:cs typeface="Calibri"/>
              <a:sym typeface="Calibri"/>
            </a:endParaRPr>
          </a:p>
        </p:txBody>
      </p:sp>
      <p:sp>
        <p:nvSpPr>
          <p:cNvPr id="572" name="Google Shape;572;p52"/>
          <p:cNvSpPr/>
          <p:nvPr/>
        </p:nvSpPr>
        <p:spPr>
          <a:xfrm>
            <a:off x="5714491" y="4471049"/>
            <a:ext cx="9384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a:ea typeface="Calibri"/>
                <a:cs typeface="Calibri"/>
                <a:sym typeface="Calibri"/>
              </a:rPr>
              <a:t>Proactive Security</a:t>
            </a:r>
            <a:endParaRPr sz="900" b="1" i="0" u="none" strike="noStrike" cap="none">
              <a:solidFill>
                <a:srgbClr val="000000"/>
              </a:solidFill>
              <a:latin typeface="Calibri"/>
              <a:ea typeface="Calibri"/>
              <a:cs typeface="Calibri"/>
              <a:sym typeface="Calibri"/>
            </a:endParaRPr>
          </a:p>
        </p:txBody>
      </p:sp>
      <p:sp>
        <p:nvSpPr>
          <p:cNvPr id="573" name="Google Shape;573;p52"/>
          <p:cNvSpPr/>
          <p:nvPr/>
        </p:nvSpPr>
        <p:spPr>
          <a:xfrm>
            <a:off x="5629558" y="4738385"/>
            <a:ext cx="11178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30" b="0" i="0" u="none" strike="noStrike" cap="none">
                <a:solidFill>
                  <a:srgbClr val="001741"/>
                </a:solidFill>
                <a:latin typeface="Calibri"/>
                <a:ea typeface="Calibri"/>
                <a:cs typeface="Calibri"/>
                <a:sym typeface="Calibri"/>
              </a:rPr>
              <a:t>Identify high-risk </a:t>
            </a:r>
            <a:br>
              <a:rPr lang="en" sz="730" b="0" i="0" u="none" strike="noStrike" cap="none">
                <a:solidFill>
                  <a:srgbClr val="001741"/>
                </a:solidFill>
                <a:latin typeface="Calibri"/>
                <a:ea typeface="Calibri"/>
                <a:cs typeface="Calibri"/>
                <a:sym typeface="Calibri"/>
              </a:rPr>
            </a:br>
            <a:r>
              <a:rPr lang="en" sz="730" b="0" i="0" u="none" strike="noStrike" cap="none">
                <a:solidFill>
                  <a:srgbClr val="001741"/>
                </a:solidFill>
                <a:latin typeface="Calibri"/>
                <a:ea typeface="Calibri"/>
                <a:cs typeface="Calibri"/>
                <a:sym typeface="Calibri"/>
              </a:rPr>
              <a:t>issues before they </a:t>
            </a:r>
            <a:br>
              <a:rPr lang="en" sz="730" b="0" i="0" u="none" strike="noStrike" cap="none">
                <a:solidFill>
                  <a:srgbClr val="001741"/>
                </a:solidFill>
                <a:latin typeface="Calibri"/>
                <a:ea typeface="Calibri"/>
                <a:cs typeface="Calibri"/>
                <a:sym typeface="Calibri"/>
              </a:rPr>
            </a:br>
            <a:r>
              <a:rPr lang="en" sz="730" b="0" i="0" u="none" strike="noStrike" cap="none">
                <a:solidFill>
                  <a:srgbClr val="001741"/>
                </a:solidFill>
                <a:latin typeface="Calibri"/>
                <a:ea typeface="Calibri"/>
                <a:cs typeface="Calibri"/>
                <a:sym typeface="Calibri"/>
              </a:rPr>
              <a:t>can be exploited</a:t>
            </a:r>
            <a:endParaRPr sz="730" b="0" i="0" u="none" strike="noStrike" cap="none">
              <a:solidFill>
                <a:srgbClr val="000000"/>
              </a:solidFill>
              <a:latin typeface="Calibri"/>
              <a:ea typeface="Calibri"/>
              <a:cs typeface="Calibri"/>
              <a:sym typeface="Calibri"/>
            </a:endParaRPr>
          </a:p>
        </p:txBody>
      </p:sp>
      <p:sp>
        <p:nvSpPr>
          <p:cNvPr id="574" name="Google Shape;574;p52"/>
          <p:cNvSpPr/>
          <p:nvPr/>
        </p:nvSpPr>
        <p:spPr>
          <a:xfrm>
            <a:off x="4293866" y="4602589"/>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800" b="1" i="0" u="none" strike="noStrike" cap="none">
                <a:solidFill>
                  <a:srgbClr val="0254EC"/>
                </a:solidFill>
                <a:latin typeface="Calibri"/>
                <a:ea typeface="Calibri"/>
                <a:cs typeface="Calibri"/>
                <a:sym typeface="Calibri"/>
              </a:rPr>
              <a:t>Blue Agent</a:t>
            </a:r>
            <a:endParaRPr sz="800" b="1" i="0" u="none" strike="noStrike" cap="none">
              <a:solidFill>
                <a:srgbClr val="000000"/>
              </a:solidFill>
              <a:latin typeface="Calibri"/>
              <a:ea typeface="Calibri"/>
              <a:cs typeface="Calibri"/>
              <a:sym typeface="Calibri"/>
            </a:endParaRPr>
          </a:p>
        </p:txBody>
      </p:sp>
      <p:sp>
        <p:nvSpPr>
          <p:cNvPr id="575" name="Google Shape;575;p52"/>
          <p:cNvSpPr/>
          <p:nvPr/>
        </p:nvSpPr>
        <p:spPr>
          <a:xfrm>
            <a:off x="4304342" y="4885978"/>
            <a:ext cx="1093200" cy="176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1741"/>
              </a:buClr>
              <a:buSzPts val="631"/>
              <a:buFont typeface="DM Sans"/>
              <a:buNone/>
            </a:pPr>
            <a:r>
              <a:rPr lang="en" sz="1021" b="0" i="0" u="none" strike="noStrike" cap="none">
                <a:solidFill>
                  <a:srgbClr val="000000"/>
                </a:solidFill>
                <a:latin typeface="Calibri"/>
                <a:ea typeface="Calibri"/>
                <a:cs typeface="Calibri"/>
                <a:sym typeface="Calibri"/>
              </a:rPr>
              <a:t>Enabled</a:t>
            </a:r>
            <a:br>
              <a:rPr lang="en" sz="1021" b="0" i="0" u="none" strike="noStrike" cap="none">
                <a:solidFill>
                  <a:srgbClr val="000000"/>
                </a:solidFill>
                <a:latin typeface="Calibri"/>
                <a:ea typeface="Calibri"/>
                <a:cs typeface="Calibri"/>
                <a:sym typeface="Calibri"/>
              </a:rPr>
            </a:br>
            <a:r>
              <a:rPr lang="en" sz="1021" b="0" i="0" u="none" strike="noStrike" cap="none">
                <a:solidFill>
                  <a:srgbClr val="000000"/>
                </a:solidFill>
                <a:latin typeface="Calibri"/>
                <a:ea typeface="Calibri"/>
                <a:cs typeface="Calibri"/>
                <a:sym typeface="Calibri"/>
              </a:rPr>
              <a:t>{{F_BA}}</a:t>
            </a:r>
            <a:br>
              <a:rPr lang="en" sz="1021" b="0" i="0" u="none" strike="noStrike" cap="none">
                <a:solidFill>
                  <a:srgbClr val="000000"/>
                </a:solidFill>
                <a:latin typeface="Calibri"/>
                <a:ea typeface="Calibri"/>
                <a:cs typeface="Calibri"/>
                <a:sym typeface="Calibri"/>
              </a:rPr>
            </a:br>
            <a:endParaRPr sz="1021" b="0" i="0" u="none" strike="noStrike" cap="none">
              <a:solidFill>
                <a:srgbClr val="000000"/>
              </a:solidFill>
              <a:latin typeface="Calibri"/>
              <a:ea typeface="Calibri"/>
              <a:cs typeface="Calibri"/>
              <a:sym typeface="Calibri"/>
            </a:endParaRPr>
          </a:p>
        </p:txBody>
      </p:sp>
      <p:sp>
        <p:nvSpPr>
          <p:cNvPr id="576" name="Google Shape;576;p52"/>
          <p:cNvSpPr/>
          <p:nvPr/>
        </p:nvSpPr>
        <p:spPr>
          <a:xfrm>
            <a:off x="6751047" y="4611991"/>
            <a:ext cx="1115100" cy="1203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800" b="1" i="0" u="none" strike="noStrike" cap="none">
                <a:solidFill>
                  <a:srgbClr val="0254EC"/>
                </a:solidFill>
                <a:latin typeface="Calibri"/>
                <a:ea typeface="Calibri"/>
                <a:cs typeface="Calibri"/>
                <a:sym typeface="Calibri"/>
              </a:rPr>
              <a:t>Red Agent</a:t>
            </a:r>
            <a:endParaRPr sz="800" b="1" i="0" u="none" strike="noStrike" cap="none">
              <a:solidFill>
                <a:srgbClr val="000000"/>
              </a:solidFill>
              <a:latin typeface="Calibri"/>
              <a:ea typeface="Calibri"/>
              <a:cs typeface="Calibri"/>
              <a:sym typeface="Calibri"/>
            </a:endParaRPr>
          </a:p>
        </p:txBody>
      </p:sp>
      <p:sp>
        <p:nvSpPr>
          <p:cNvPr id="577" name="Google Shape;577;p52"/>
          <p:cNvSpPr/>
          <p:nvPr/>
        </p:nvSpPr>
        <p:spPr>
          <a:xfrm>
            <a:off x="6766839" y="4895379"/>
            <a:ext cx="1093200" cy="1761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1741"/>
              </a:buClr>
              <a:buSzPts val="631"/>
              <a:buFont typeface="DM Sans"/>
              <a:buNone/>
            </a:pPr>
            <a:r>
              <a:rPr lang="en" sz="1021" b="0" i="0" u="none" strike="noStrike" cap="none">
                <a:solidFill>
                  <a:srgbClr val="000000"/>
                </a:solidFill>
                <a:latin typeface="Calibri"/>
                <a:ea typeface="Calibri"/>
                <a:cs typeface="Calibri"/>
                <a:sym typeface="Calibri"/>
              </a:rPr>
              <a:t>Enabled</a:t>
            </a:r>
            <a:br>
              <a:rPr lang="en" sz="1021" b="0" i="0" u="none" strike="noStrike" cap="none">
                <a:solidFill>
                  <a:srgbClr val="000000"/>
                </a:solidFill>
                <a:latin typeface="Calibri"/>
                <a:ea typeface="Calibri"/>
                <a:cs typeface="Calibri"/>
                <a:sym typeface="Calibri"/>
              </a:rPr>
            </a:br>
            <a:r>
              <a:rPr lang="en" sz="1021" b="0" i="0" u="none" strike="noStrike" cap="none">
                <a:solidFill>
                  <a:srgbClr val="000000"/>
                </a:solidFill>
                <a:latin typeface="Calibri"/>
                <a:ea typeface="Calibri"/>
                <a:cs typeface="Calibri"/>
                <a:sym typeface="Calibri"/>
              </a:rPr>
              <a:t>{{F_RA}}</a:t>
            </a:r>
            <a:br>
              <a:rPr lang="en" sz="1021" b="0" i="0" u="none" strike="noStrike" cap="none">
                <a:solidFill>
                  <a:srgbClr val="000000"/>
                </a:solidFill>
                <a:latin typeface="Calibri"/>
                <a:ea typeface="Calibri"/>
                <a:cs typeface="Calibri"/>
                <a:sym typeface="Calibri"/>
              </a:rPr>
            </a:br>
            <a:endParaRPr sz="1021" b="0" i="0" u="none" strike="noStrike" cap="none">
              <a:solidFill>
                <a:srgbClr val="000000"/>
              </a:solidFill>
              <a:latin typeface="Calibri"/>
              <a:ea typeface="Calibri"/>
              <a:cs typeface="Calibri"/>
              <a:sym typeface="Calibri"/>
            </a:endParaRPr>
          </a:p>
        </p:txBody>
      </p:sp>
      <p:sp>
        <p:nvSpPr>
          <p:cNvPr id="578" name="Google Shape;578;p52"/>
          <p:cNvSpPr/>
          <p:nvPr/>
        </p:nvSpPr>
        <p:spPr>
          <a:xfrm>
            <a:off x="6241955" y="3251123"/>
            <a:ext cx="2673777" cy="563100"/>
          </a:xfrm>
          <a:prstGeom prst="roundRect">
            <a:avLst>
              <a:gd name="adj" fmla="val 16667"/>
            </a:avLst>
          </a:prstGeom>
          <a:noFill/>
          <a:ln w="9525" cap="flat" cmpd="sng">
            <a:solidFill>
              <a:schemeClr val="accent1"/>
            </a:solidFill>
            <a:prstDash val="solid"/>
            <a:round/>
            <a:headEnd type="none" w="sm" len="sm"/>
            <a:tailEnd type="none" w="sm" len="sm"/>
          </a:ln>
        </p:spPr>
        <p:txBody>
          <a:bodyPr spcFirstLastPara="1" wrap="square" lIns="87225" tIns="87225" rIns="87225" bIns="87225" anchor="ctr" anchorCtr="0">
            <a:noAutofit/>
          </a:bodyPr>
          <a:lstStyle/>
          <a:p>
            <a:pPr marL="0" marR="0" lvl="0" indent="0" algn="ctr" rtl="0">
              <a:lnSpc>
                <a:spcPct val="100000"/>
              </a:lnSpc>
              <a:spcBef>
                <a:spcPts val="0"/>
              </a:spcBef>
              <a:spcAft>
                <a:spcPts val="0"/>
              </a:spcAft>
              <a:buClr>
                <a:srgbClr val="000000"/>
              </a:buClr>
              <a:buSzPts val="1319"/>
              <a:buFont typeface="Arial"/>
              <a:buNone/>
            </a:pPr>
            <a:endParaRPr sz="1319" b="0" i="0" u="none" strike="noStrike" cap="none">
              <a:solidFill>
                <a:srgbClr val="000000"/>
              </a:solidFill>
              <a:latin typeface="Calibri"/>
              <a:ea typeface="Calibri"/>
              <a:cs typeface="Calibri"/>
              <a:sym typeface="Calibri"/>
            </a:endParaRPr>
          </a:p>
        </p:txBody>
      </p:sp>
      <p:sp>
        <p:nvSpPr>
          <p:cNvPr id="579" name="Google Shape;579;p52"/>
          <p:cNvSpPr txBox="1"/>
          <p:nvPr/>
        </p:nvSpPr>
        <p:spPr>
          <a:xfrm>
            <a:off x="6286917" y="3218322"/>
            <a:ext cx="26364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21"/>
              </a:rPr>
              <a:t>Automation Workflows</a:t>
            </a:r>
            <a:endParaRPr sz="900" b="0" i="0" u="none" strike="noStrike" cap="none">
              <a:solidFill>
                <a:srgbClr val="0254EC"/>
              </a:solidFill>
              <a:latin typeface="Calibri"/>
              <a:ea typeface="Calibri"/>
              <a:cs typeface="Calibri"/>
              <a:sym typeface="Calibri"/>
            </a:endParaRPr>
          </a:p>
        </p:txBody>
      </p:sp>
      <p:sp>
        <p:nvSpPr>
          <p:cNvPr id="580" name="Google Shape;580;p52"/>
          <p:cNvSpPr txBox="1"/>
          <p:nvPr/>
        </p:nvSpPr>
        <p:spPr>
          <a:xfrm>
            <a:off x="7177159" y="3232731"/>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{{F_WF}}</a:t>
            </a:r>
            <a:endParaRPr sz="900" b="1" i="0" u="none" strike="noStrike" cap="none">
              <a:solidFill>
                <a:srgbClr val="333333"/>
              </a:solidFill>
              <a:latin typeface="Calibri"/>
              <a:ea typeface="Calibri"/>
              <a:cs typeface="Calibri"/>
              <a:sym typeface="Calibri"/>
            </a:endParaRPr>
          </a:p>
        </p:txBody>
      </p:sp>
      <p:sp>
        <p:nvSpPr>
          <p:cNvPr id="581" name="Google Shape;581;p52"/>
          <p:cNvSpPr txBox="1"/>
          <p:nvPr/>
        </p:nvSpPr>
        <p:spPr>
          <a:xfrm>
            <a:off x="6286917" y="3417847"/>
            <a:ext cx="21714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22"/>
              </a:rPr>
              <a:t>Automation Rules (On / Off)</a:t>
            </a:r>
            <a:endParaRPr sz="900" b="0" i="0" u="none" strike="noStrike" cap="none">
              <a:solidFill>
                <a:srgbClr val="0254EC"/>
              </a:solidFill>
              <a:latin typeface="Calibri"/>
              <a:ea typeface="Calibri"/>
              <a:cs typeface="Calibri"/>
              <a:sym typeface="Calibri"/>
            </a:endParaRPr>
          </a:p>
        </p:txBody>
      </p:sp>
      <p:sp>
        <p:nvSpPr>
          <p:cNvPr id="582" name="Google Shape;582;p52"/>
          <p:cNvSpPr txBox="1"/>
          <p:nvPr/>
        </p:nvSpPr>
        <p:spPr>
          <a:xfrm>
            <a:off x="7177159" y="3432260"/>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{{F_AR}}</a:t>
            </a:r>
            <a:endParaRPr sz="900" b="1" i="0" u="none" strike="noStrike" cap="none">
              <a:solidFill>
                <a:srgbClr val="333333"/>
              </a:solidFill>
              <a:latin typeface="Calibri"/>
              <a:ea typeface="Calibri"/>
              <a:cs typeface="Calibri"/>
              <a:sym typeface="Calibri"/>
            </a:endParaRPr>
          </a:p>
        </p:txBody>
      </p:sp>
      <p:sp>
        <p:nvSpPr>
          <p:cNvPr id="583" name="Google Shape;583;p52"/>
          <p:cNvSpPr txBox="1"/>
          <p:nvPr/>
        </p:nvSpPr>
        <p:spPr>
          <a:xfrm>
            <a:off x="6326261" y="2702745"/>
            <a:ext cx="2223600" cy="1797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23"/>
              </a:rPr>
              <a:t>Wiz MCP Users</a:t>
            </a:r>
            <a:endParaRPr sz="900" b="0" i="0" u="none" strike="noStrike" cap="none">
              <a:solidFill>
                <a:srgbClr val="0254EC"/>
              </a:solidFill>
              <a:latin typeface="Calibri"/>
              <a:ea typeface="Calibri"/>
              <a:cs typeface="Calibri"/>
              <a:sym typeface="Calibri"/>
            </a:endParaRPr>
          </a:p>
        </p:txBody>
      </p:sp>
      <p:sp>
        <p:nvSpPr>
          <p:cNvPr id="584" name="Google Shape;584;p52"/>
          <p:cNvSpPr txBox="1"/>
          <p:nvPr/>
        </p:nvSpPr>
        <p:spPr>
          <a:xfrm>
            <a:off x="7253830" y="2689810"/>
            <a:ext cx="1596300" cy="1797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{{F_WMCP}}</a:t>
            </a:r>
            <a:endParaRPr sz="900" b="1" i="0" u="none" strike="noStrike" cap="none">
              <a:solidFill>
                <a:srgbClr val="333333"/>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60"/>
        <p:cNvGrpSpPr/>
        <p:nvPr/>
      </p:nvGrpSpPr>
      <p:grpSpPr>
        <a:xfrm>
          <a:off x="0" y="0"/>
          <a:ext cx="0" cy="0"/>
          <a:chOff x="0" y="0"/>
          <a:chExt cx="0" cy="0"/>
        </a:xfrm>
      </p:grpSpPr>
      <p:pic>
        <p:nvPicPr>
          <p:cNvPr id="1361" name="Google Shape;1361;p67" title="Rectangle 7854.png"/>
          <p:cNvPicPr preferRelativeResize="0"/>
          <p:nvPr/>
        </p:nvPicPr>
        <p:blipFill rotWithShape="1">
          <a:blip r:embed="rId3">
            <a:alphaModFix/>
          </a:blip>
          <a:srcRect/>
          <a:stretch/>
        </p:blipFill>
        <p:spPr>
          <a:xfrm>
            <a:off x="3237297" y="1445495"/>
            <a:ext cx="2669405" cy="2471275"/>
          </a:xfrm>
          <a:prstGeom prst="rect">
            <a:avLst/>
          </a:prstGeom>
          <a:noFill/>
          <a:ln>
            <a:noFill/>
          </a:ln>
        </p:spPr>
      </p:pic>
      <p:pic>
        <p:nvPicPr>
          <p:cNvPr id="1362" name="Google Shape;1362;p67" title="Rectangle 7854.png"/>
          <p:cNvPicPr preferRelativeResize="0"/>
          <p:nvPr/>
        </p:nvPicPr>
        <p:blipFill rotWithShape="1">
          <a:blip r:embed="rId3">
            <a:alphaModFix/>
          </a:blip>
          <a:srcRect/>
          <a:stretch/>
        </p:blipFill>
        <p:spPr>
          <a:xfrm>
            <a:off x="357122" y="1445495"/>
            <a:ext cx="2669405" cy="2471275"/>
          </a:xfrm>
          <a:prstGeom prst="rect">
            <a:avLst/>
          </a:prstGeom>
          <a:noFill/>
          <a:ln>
            <a:noFill/>
          </a:ln>
        </p:spPr>
      </p:pic>
      <p:cxnSp>
        <p:nvCxnSpPr>
          <p:cNvPr id="1363" name="Google Shape;1363;p67"/>
          <p:cNvCxnSpPr/>
          <p:nvPr/>
        </p:nvCxnSpPr>
        <p:spPr>
          <a:xfrm>
            <a:off x="630575"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64" name="Google Shape;1364;p67"/>
          <p:cNvSpPr txBox="1"/>
          <p:nvPr/>
        </p:nvSpPr>
        <p:spPr>
          <a:xfrm>
            <a:off x="522275" y="2210368"/>
            <a:ext cx="23391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Assigning Ownership</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1365" name="Google Shape;1365;p67"/>
          <p:cNvSpPr txBox="1"/>
          <p:nvPr/>
        </p:nvSpPr>
        <p:spPr>
          <a:xfrm>
            <a:off x="391576" y="2613904"/>
            <a:ext cx="2575800" cy="12225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Service Catalog democratizes ownership to developers. Auto-group resources by applications</a:t>
            </a:r>
            <a:endParaRPr sz="9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Resource Tag Rules convert Security Graph queries into auto-assigned tags, that can then be used as conditions to route tickets to the right owners</a:t>
            </a:r>
            <a:endParaRPr sz="9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cxnSp>
        <p:nvCxnSpPr>
          <p:cNvPr id="1366" name="Google Shape;1366;p67"/>
          <p:cNvCxnSpPr/>
          <p:nvPr/>
        </p:nvCxnSpPr>
        <p:spPr>
          <a:xfrm>
            <a:off x="3510750"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67" name="Google Shape;1367;p67"/>
          <p:cNvSpPr txBox="1"/>
          <p:nvPr/>
        </p:nvSpPr>
        <p:spPr>
          <a:xfrm>
            <a:off x="3362850" y="2210368"/>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chemeClr val="dk1"/>
              </a:buClr>
              <a:buSzPts val="11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Leverage Integrations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1368" name="Google Shape;1368;p67" title="Rectangle 7854.png"/>
          <p:cNvPicPr preferRelativeResize="0"/>
          <p:nvPr/>
        </p:nvPicPr>
        <p:blipFill rotWithShape="1">
          <a:blip r:embed="rId3">
            <a:alphaModFix/>
          </a:blip>
          <a:srcRect/>
          <a:stretch/>
        </p:blipFill>
        <p:spPr>
          <a:xfrm>
            <a:off x="6117472" y="1445495"/>
            <a:ext cx="2669405" cy="2471275"/>
          </a:xfrm>
          <a:prstGeom prst="rect">
            <a:avLst/>
          </a:prstGeom>
          <a:noFill/>
          <a:ln>
            <a:noFill/>
          </a:ln>
        </p:spPr>
      </p:pic>
      <p:cxnSp>
        <p:nvCxnSpPr>
          <p:cNvPr id="1369" name="Google Shape;1369;p67"/>
          <p:cNvCxnSpPr/>
          <p:nvPr/>
        </p:nvCxnSpPr>
        <p:spPr>
          <a:xfrm>
            <a:off x="6390925" y="2537417"/>
            <a:ext cx="2122500" cy="0"/>
          </a:xfrm>
          <a:prstGeom prst="straightConnector1">
            <a:avLst/>
          </a:prstGeom>
          <a:noFill/>
          <a:ln w="9525" cap="flat" cmpd="sng">
            <a:solidFill>
              <a:srgbClr val="0254EC"/>
            </a:solidFill>
            <a:prstDash val="solid"/>
            <a:round/>
            <a:headEnd type="none" w="sm" len="sm"/>
            <a:tailEnd type="none" w="sm" len="sm"/>
          </a:ln>
        </p:spPr>
      </p:cxnSp>
      <p:sp>
        <p:nvSpPr>
          <p:cNvPr id="1370" name="Google Shape;1370;p67"/>
          <p:cNvSpPr txBox="1"/>
          <p:nvPr/>
        </p:nvSpPr>
        <p:spPr>
          <a:xfrm>
            <a:off x="3218709" y="2613901"/>
            <a:ext cx="2655000" cy="972300"/>
          </a:xfrm>
          <a:prstGeom prst="rect">
            <a:avLst/>
          </a:prstGeom>
          <a:noFill/>
          <a:ln>
            <a:noFill/>
          </a:ln>
        </p:spPr>
        <p:txBody>
          <a:bodyPr spcFirstLastPara="1" wrap="square" lIns="68575" tIns="34275" rIns="68575" bIns="34275" anchor="t" anchorCtr="0">
            <a:no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Get Issues in front of the right people, using the tools they’re accustomed to. Jira, ServiceNow, Teams, etc.</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Send prescriptive data to SIEM / SOAR</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Route by team, severity or environment. Integration + per-team Action templates = Cutting the noise and operationalizing Wiz </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1371" name="Google Shape;1371;p67"/>
          <p:cNvSpPr txBox="1"/>
          <p:nvPr/>
        </p:nvSpPr>
        <p:spPr>
          <a:xfrm>
            <a:off x="6114876" y="2638600"/>
            <a:ext cx="2604000" cy="12783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Take the human out of the routing. Auto-assign Issues to the right owners and notify accordingly</a:t>
            </a:r>
            <a:endParaRPr sz="9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Enable self-service remediation with Worklows. Designed to offer more granular control around which context to include (i.e. Remediation steps, Investigation details, etc).</a:t>
            </a:r>
            <a:endParaRPr sz="900"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1372" name="Google Shape;1372;p67"/>
          <p:cNvSpPr txBox="1"/>
          <p:nvPr/>
        </p:nvSpPr>
        <p:spPr>
          <a:xfrm>
            <a:off x="6243025" y="2210368"/>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Automation (Workflows)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1373" name="Google Shape;1373;p67"/>
          <p:cNvPicPr preferRelativeResize="0"/>
          <p:nvPr/>
        </p:nvPicPr>
        <p:blipFill rotWithShape="1">
          <a:blip r:embed="rId4">
            <a:alphaModFix/>
          </a:blip>
          <a:srcRect/>
          <a:stretch/>
        </p:blipFill>
        <p:spPr>
          <a:xfrm>
            <a:off x="1337712" y="1516460"/>
            <a:ext cx="708225" cy="708225"/>
          </a:xfrm>
          <a:prstGeom prst="rect">
            <a:avLst/>
          </a:prstGeom>
          <a:noFill/>
          <a:ln>
            <a:noFill/>
          </a:ln>
        </p:spPr>
      </p:pic>
      <p:sp>
        <p:nvSpPr>
          <p:cNvPr id="1374" name="Google Shape;1374;p67"/>
          <p:cNvSpPr txBox="1">
            <a:spLocks noGrp="1"/>
          </p:cNvSpPr>
          <p:nvPr>
            <p:ph type="title" idx="4294967295"/>
          </p:nvPr>
        </p:nvSpPr>
        <p:spPr>
          <a:xfrm>
            <a:off x="-302400" y="535725"/>
            <a:ext cx="97488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Top Three Focus Areas to Mature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for Democratization Improvements</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1375" name="Google Shape;1375;p67" title="Group 1000002969.png"/>
          <p:cNvPicPr preferRelativeResize="0"/>
          <p:nvPr/>
        </p:nvPicPr>
        <p:blipFill rotWithShape="1">
          <a:blip r:embed="rId5">
            <a:alphaModFix/>
          </a:blip>
          <a:srcRect/>
          <a:stretch/>
        </p:blipFill>
        <p:spPr>
          <a:xfrm>
            <a:off x="4195263" y="1618451"/>
            <a:ext cx="753475" cy="504238"/>
          </a:xfrm>
          <a:prstGeom prst="rect">
            <a:avLst/>
          </a:prstGeom>
          <a:noFill/>
          <a:ln>
            <a:noFill/>
          </a:ln>
        </p:spPr>
      </p:pic>
      <p:pic>
        <p:nvPicPr>
          <p:cNvPr id="1376" name="Google Shape;1376;p67" title="Group 1000003039.png"/>
          <p:cNvPicPr preferRelativeResize="0"/>
          <p:nvPr/>
        </p:nvPicPr>
        <p:blipFill rotWithShape="1">
          <a:blip r:embed="rId6">
            <a:alphaModFix/>
          </a:blip>
          <a:srcRect/>
          <a:stretch/>
        </p:blipFill>
        <p:spPr>
          <a:xfrm>
            <a:off x="7196474" y="1601139"/>
            <a:ext cx="511400" cy="538875"/>
          </a:xfrm>
          <a:prstGeom prst="rect">
            <a:avLst/>
          </a:prstGeom>
          <a:noFill/>
          <a:ln>
            <a:noFill/>
          </a:ln>
        </p:spPr>
      </p:pic>
      <p:grpSp>
        <p:nvGrpSpPr>
          <p:cNvPr id="1377" name="Google Shape;1377;p67"/>
          <p:cNvGrpSpPr/>
          <p:nvPr/>
        </p:nvGrpSpPr>
        <p:grpSpPr>
          <a:xfrm>
            <a:off x="4726377" y="4145669"/>
            <a:ext cx="4010949" cy="832434"/>
            <a:chOff x="4726377" y="3456975"/>
            <a:chExt cx="4010949" cy="832434"/>
          </a:xfrm>
        </p:grpSpPr>
        <p:pic>
          <p:nvPicPr>
            <p:cNvPr id="1378" name="Google Shape;1378;p67" title="Rectangle 16310.png"/>
            <p:cNvPicPr preferRelativeResize="0"/>
            <p:nvPr/>
          </p:nvPicPr>
          <p:blipFill rotWithShape="1">
            <a:blip r:embed="rId7">
              <a:alphaModFix/>
            </a:blip>
            <a:srcRect/>
            <a:stretch/>
          </p:blipFill>
          <p:spPr>
            <a:xfrm>
              <a:off x="5072702" y="3456975"/>
              <a:ext cx="3664624" cy="832327"/>
            </a:xfrm>
            <a:prstGeom prst="rect">
              <a:avLst/>
            </a:prstGeom>
            <a:noFill/>
            <a:ln>
              <a:noFill/>
            </a:ln>
          </p:spPr>
        </p:pic>
        <p:sp>
          <p:nvSpPr>
            <p:cNvPr id="1379" name="Google Shape;1379;p67"/>
            <p:cNvSpPr txBox="1"/>
            <p:nvPr/>
          </p:nvSpPr>
          <p:spPr>
            <a:xfrm>
              <a:off x="5566125" y="3585438"/>
              <a:ext cx="3048900" cy="406108"/>
            </a:xfrm>
            <a:prstGeom prst="rect">
              <a:avLst/>
            </a:prstGeom>
            <a:noFill/>
            <a:ln>
              <a:noFill/>
            </a:ln>
          </p:spPr>
          <p:txBody>
            <a:bodyPr spcFirstLastPara="1" wrap="square" lIns="66950" tIns="33450" rIns="66950" bIns="33450" anchor="t" anchorCtr="0">
              <a:spAutoFit/>
            </a:bodyPr>
            <a:lstStyle/>
            <a:p>
              <a:pPr marL="0" marR="0" lvl="0" indent="0" algn="l" rtl="0">
                <a:lnSpc>
                  <a:spcPct val="100000"/>
                </a:lnSpc>
                <a:spcBef>
                  <a:spcPts val="0"/>
                </a:spcBef>
                <a:spcAft>
                  <a:spcPts val="0"/>
                </a:spcAft>
                <a:buClr>
                  <a:schemeClr val="dk1"/>
                </a:buClr>
                <a:buSzPts val="1200"/>
                <a:buFont typeface="Arial"/>
                <a:buNone/>
              </a:pPr>
              <a:r>
                <a:rPr lang="en"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Is Wiz completely integrated into your workflow? What could help make it part of day to day?</a:t>
              </a:r>
              <a:endParaRPr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1380" name="Google Shape;1380;p67" title="Ellipse icon_color.png"/>
            <p:cNvPicPr preferRelativeResize="0"/>
            <p:nvPr/>
          </p:nvPicPr>
          <p:blipFill rotWithShape="1">
            <a:blip r:embed="rId8">
              <a:alphaModFix/>
            </a:blip>
            <a:srcRect/>
            <a:stretch/>
          </p:blipFill>
          <p:spPr>
            <a:xfrm>
              <a:off x="4726377" y="3457087"/>
              <a:ext cx="839753" cy="832322"/>
            </a:xfrm>
            <a:prstGeom prst="rect">
              <a:avLst/>
            </a:prstGeom>
            <a:noFill/>
            <a:ln>
              <a:noFill/>
            </a:ln>
          </p:spPr>
        </p:pic>
      </p:grpSp>
      <p:grpSp>
        <p:nvGrpSpPr>
          <p:cNvPr id="1381" name="Google Shape;1381;p67"/>
          <p:cNvGrpSpPr/>
          <p:nvPr/>
        </p:nvGrpSpPr>
        <p:grpSpPr>
          <a:xfrm>
            <a:off x="434302" y="4145669"/>
            <a:ext cx="4010949" cy="832434"/>
            <a:chOff x="434302" y="3456975"/>
            <a:chExt cx="4010949" cy="832434"/>
          </a:xfrm>
        </p:grpSpPr>
        <p:pic>
          <p:nvPicPr>
            <p:cNvPr id="1382" name="Google Shape;1382;p67" title="Rectangle 16310.png"/>
            <p:cNvPicPr preferRelativeResize="0"/>
            <p:nvPr/>
          </p:nvPicPr>
          <p:blipFill rotWithShape="1">
            <a:blip r:embed="rId7">
              <a:alphaModFix/>
            </a:blip>
            <a:srcRect/>
            <a:stretch/>
          </p:blipFill>
          <p:spPr>
            <a:xfrm>
              <a:off x="780627" y="3456975"/>
              <a:ext cx="3664624" cy="832327"/>
            </a:xfrm>
            <a:prstGeom prst="rect">
              <a:avLst/>
            </a:prstGeom>
            <a:noFill/>
            <a:ln>
              <a:noFill/>
            </a:ln>
          </p:spPr>
        </p:pic>
        <p:sp>
          <p:nvSpPr>
            <p:cNvPr id="1383" name="Google Shape;1383;p67"/>
            <p:cNvSpPr txBox="1"/>
            <p:nvPr/>
          </p:nvSpPr>
          <p:spPr>
            <a:xfrm>
              <a:off x="1274050" y="3585438"/>
              <a:ext cx="3165300" cy="575400"/>
            </a:xfrm>
            <a:prstGeom prst="rect">
              <a:avLst/>
            </a:prstGeom>
            <a:noFill/>
            <a:ln>
              <a:noFill/>
            </a:ln>
          </p:spPr>
          <p:txBody>
            <a:bodyPr spcFirstLastPara="1" wrap="square" lIns="66950" tIns="33450" rIns="66950" bIns="33450" anchor="t" anchorCtr="0">
              <a:spAutoFit/>
            </a:bodyPr>
            <a:lstStyle/>
            <a:p>
              <a:pPr marL="0" marR="0" lvl="0" indent="0" algn="l" rtl="0">
                <a:lnSpc>
                  <a:spcPct val="100000"/>
                </a:lnSpc>
                <a:spcBef>
                  <a:spcPts val="0"/>
                </a:spcBef>
                <a:spcAft>
                  <a:spcPts val="0"/>
                </a:spcAft>
                <a:buClr>
                  <a:schemeClr val="dk1"/>
                </a:buClr>
                <a:buSzPts val="1171"/>
                <a:buFont typeface="Arial"/>
                <a:buNone/>
              </a:pPr>
              <a:r>
                <a:rPr lang="en"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rPr>
                <a:t>What is your current issues resolution flow? What is your ideal state? Is there anything blocking you from further democratization? </a:t>
              </a:r>
              <a:endParaRPr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grpSp>
          <p:nvGrpSpPr>
            <p:cNvPr id="1384" name="Google Shape;1384;p67"/>
            <p:cNvGrpSpPr/>
            <p:nvPr/>
          </p:nvGrpSpPr>
          <p:grpSpPr>
            <a:xfrm>
              <a:off x="434302" y="3457087"/>
              <a:ext cx="839753" cy="832322"/>
              <a:chOff x="434302" y="3457087"/>
              <a:chExt cx="839753" cy="832322"/>
            </a:xfrm>
          </p:grpSpPr>
          <p:pic>
            <p:nvPicPr>
              <p:cNvPr id="1385" name="Google Shape;1385;p67" title="Ellipse icon_color.png"/>
              <p:cNvPicPr preferRelativeResize="0"/>
              <p:nvPr/>
            </p:nvPicPr>
            <p:blipFill rotWithShape="1">
              <a:blip r:embed="rId8">
                <a:alphaModFix/>
              </a:blip>
              <a:srcRect/>
              <a:stretch/>
            </p:blipFill>
            <p:spPr>
              <a:xfrm>
                <a:off x="434302" y="3457087"/>
                <a:ext cx="839753" cy="832322"/>
              </a:xfrm>
              <a:prstGeom prst="rect">
                <a:avLst/>
              </a:prstGeom>
              <a:noFill/>
              <a:ln>
                <a:noFill/>
              </a:ln>
            </p:spPr>
          </p:pic>
          <p:pic>
            <p:nvPicPr>
              <p:cNvPr id="1386" name="Google Shape;1386;p67"/>
              <p:cNvPicPr preferRelativeResize="0"/>
              <p:nvPr/>
            </p:nvPicPr>
            <p:blipFill rotWithShape="1">
              <a:blip r:embed="rId9">
                <a:alphaModFix/>
              </a:blip>
              <a:srcRect/>
              <a:stretch/>
            </p:blipFill>
            <p:spPr>
              <a:xfrm>
                <a:off x="577339" y="3703834"/>
                <a:ext cx="553675" cy="338602"/>
              </a:xfrm>
              <a:prstGeom prst="rect">
                <a:avLst/>
              </a:prstGeom>
              <a:noFill/>
              <a:ln>
                <a:noFill/>
              </a:ln>
            </p:spPr>
          </p:pic>
        </p:grpSp>
      </p:grpSp>
      <p:pic>
        <p:nvPicPr>
          <p:cNvPr id="1387" name="Google Shape;1387;p67" title="Group 1000003678 (1).png"/>
          <p:cNvPicPr preferRelativeResize="0"/>
          <p:nvPr/>
        </p:nvPicPr>
        <p:blipFill rotWithShape="1">
          <a:blip r:embed="rId10">
            <a:alphaModFix/>
          </a:blip>
          <a:srcRect/>
          <a:stretch/>
        </p:blipFill>
        <p:spPr>
          <a:xfrm>
            <a:off x="4930184" y="4346632"/>
            <a:ext cx="430800" cy="4246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pic>
        <p:nvPicPr>
          <p:cNvPr id="590" name="Google Shape;590;p53"/>
          <p:cNvPicPr preferRelativeResize="0"/>
          <p:nvPr/>
        </p:nvPicPr>
        <p:blipFill rotWithShape="1">
          <a:blip r:embed="rId3">
            <a:alphaModFix/>
          </a:blip>
          <a:srcRect/>
          <a:stretch/>
        </p:blipFill>
        <p:spPr>
          <a:xfrm>
            <a:off x="110700" y="514955"/>
            <a:ext cx="4359173" cy="4230574"/>
          </a:xfrm>
          <a:prstGeom prst="rect">
            <a:avLst/>
          </a:prstGeom>
          <a:noFill/>
          <a:ln w="9525" cap="flat" cmpd="sng">
            <a:solidFill>
              <a:schemeClr val="accent1"/>
            </a:solidFill>
            <a:prstDash val="solid"/>
            <a:round/>
            <a:headEnd type="none" w="sm" len="sm"/>
            <a:tailEnd type="none" w="sm" len="sm"/>
          </a:ln>
        </p:spPr>
      </p:pic>
      <p:sp>
        <p:nvSpPr>
          <p:cNvPr id="591" name="Google Shape;591;p53"/>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Preview Hub Availability vs Usage</a:t>
            </a:r>
            <a:endParaRPr sz="2420">
              <a:latin typeface="Calibri"/>
              <a:ea typeface="Calibri"/>
              <a:cs typeface="Calibri"/>
              <a:sym typeface="Calibri"/>
            </a:endParaRPr>
          </a:p>
        </p:txBody>
      </p:sp>
      <p:sp>
        <p:nvSpPr>
          <p:cNvPr id="592" name="Google Shape;592;p53"/>
          <p:cNvSpPr txBox="1"/>
          <p:nvPr/>
        </p:nvSpPr>
        <p:spPr>
          <a:xfrm>
            <a:off x="110700" y="583584"/>
            <a:ext cx="4359000" cy="3462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chemeClr val="hlink"/>
                </a:solidFill>
                <a:latin typeface="Calibri"/>
                <a:ea typeface="Calibri"/>
                <a:cs typeface="Calibri"/>
                <a:sym typeface="Calibri"/>
                <a:hlinkClick r:id="rId4"/>
              </a:rPr>
              <a:t>Public Future-Billable Previews</a:t>
            </a:r>
            <a:r>
              <a:rPr lang="en" sz="1600" b="0" i="0" u="none" strike="noStrike" cap="none">
                <a:solidFill>
                  <a:schemeClr val="hlink"/>
                </a:solidFill>
                <a:uFill>
                  <a:noFill/>
                </a:uFill>
                <a:latin typeface="Calibri"/>
                <a:ea typeface="Calibri"/>
                <a:cs typeface="Calibri"/>
                <a:sym typeface="Calibri"/>
                <a:hlinkClick r:id="rId4"/>
              </a:rPr>
              <a:t> ↗</a:t>
            </a:r>
            <a:endParaRPr sz="1600" b="0" i="0" u="none" strike="noStrike" cap="none">
              <a:solidFill>
                <a:srgbClr val="0254EC"/>
              </a:solidFill>
              <a:latin typeface="Calibri"/>
              <a:ea typeface="Calibri"/>
              <a:cs typeface="Calibri"/>
              <a:sym typeface="Calibri"/>
            </a:endParaRPr>
          </a:p>
        </p:txBody>
      </p:sp>
      <p:sp>
        <p:nvSpPr>
          <p:cNvPr id="593" name="Google Shape;593;p53"/>
          <p:cNvSpPr/>
          <p:nvPr/>
        </p:nvSpPr>
        <p:spPr>
          <a:xfrm>
            <a:off x="165200" y="983157"/>
            <a:ext cx="4313400" cy="2096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100" b="0" i="0" u="none" strike="noStrike" cap="none">
                <a:solidFill>
                  <a:srgbClr val="4A4A4A"/>
                </a:solidFill>
                <a:latin typeface="Calibri"/>
                <a:ea typeface="Calibri"/>
                <a:cs typeface="Calibri"/>
                <a:sym typeface="Calibri"/>
              </a:rPr>
              <a:t>Advanced License:</a:t>
            </a:r>
            <a:br>
              <a:rPr lang="en" sz="1100" b="0" i="0" u="none" strike="noStrike" cap="none">
                <a:solidFill>
                  <a:srgbClr val="4A4A4A"/>
                </a:solidFill>
                <a:latin typeface="Calibri"/>
                <a:ea typeface="Calibri"/>
                <a:cs typeface="Calibri"/>
                <a:sym typeface="Calibri"/>
              </a:rPr>
            </a:br>
            <a:r>
              <a:rPr lang="en" sz="900" b="0" i="0" u="none" strike="noStrike" cap="none">
                <a:solidFill>
                  <a:srgbClr val="4A4A4A"/>
                </a:solidFill>
                <a:latin typeface="Calibri"/>
                <a:ea typeface="Calibri"/>
                <a:cs typeface="Calibri"/>
                <a:sym typeface="Calibri"/>
              </a:rPr>
              <a:t>{{BILLABLE_ADVANCED}}</a:t>
            </a:r>
            <a:br>
              <a:rPr lang="en" sz="1100" b="0" i="0" u="none" strike="noStrike" cap="none">
                <a:solidFill>
                  <a:srgbClr val="4A4A4A"/>
                </a:solidFill>
                <a:latin typeface="Calibri"/>
                <a:ea typeface="Calibri"/>
                <a:cs typeface="Calibri"/>
                <a:sym typeface="Calibri"/>
              </a:rPr>
            </a:br>
            <a:br>
              <a:rPr lang="en" sz="1100" b="0" i="0" u="none" strike="noStrike" cap="none">
                <a:solidFill>
                  <a:srgbClr val="4A4A4A"/>
                </a:solidFill>
                <a:latin typeface="Calibri"/>
                <a:ea typeface="Calibri"/>
                <a:cs typeface="Calibri"/>
                <a:sym typeface="Calibri"/>
              </a:rPr>
            </a:br>
            <a:r>
              <a:rPr lang="en" sz="1100" b="0" i="0" u="none" strike="noStrike" cap="none">
                <a:solidFill>
                  <a:srgbClr val="4A4A4A"/>
                </a:solidFill>
                <a:latin typeface="Calibri"/>
                <a:ea typeface="Calibri"/>
                <a:cs typeface="Calibri"/>
                <a:sym typeface="Calibri"/>
              </a:rPr>
              <a:t>Sensor / Defend License:</a:t>
            </a:r>
            <a:br>
              <a:rPr lang="en" sz="1100" b="0" i="0" u="none" strike="noStrike" cap="none">
                <a:solidFill>
                  <a:srgbClr val="4A4A4A"/>
                </a:solidFill>
                <a:latin typeface="Calibri"/>
                <a:ea typeface="Calibri"/>
                <a:cs typeface="Calibri"/>
                <a:sym typeface="Calibri"/>
              </a:rPr>
            </a:br>
            <a:r>
              <a:rPr lang="en" sz="900" b="0" i="0" u="none" strike="noStrike" cap="none">
                <a:solidFill>
                  <a:srgbClr val="4A4A4A"/>
                </a:solidFill>
                <a:latin typeface="Calibri"/>
                <a:ea typeface="Calibri"/>
                <a:cs typeface="Calibri"/>
                <a:sym typeface="Calibri"/>
              </a:rPr>
              <a:t>{{BILLABLE_SENSOR}}</a:t>
            </a:r>
            <a:br>
              <a:rPr lang="en" sz="900" b="0" i="0" u="none" strike="noStrike" cap="none">
                <a:solidFill>
                  <a:srgbClr val="4A4A4A"/>
                </a:solidFill>
                <a:latin typeface="Calibri"/>
                <a:ea typeface="Calibri"/>
                <a:cs typeface="Calibri"/>
                <a:sym typeface="Calibri"/>
              </a:rPr>
            </a:br>
            <a:r>
              <a:rPr lang="en" sz="900" b="0" i="0" u="none" strike="noStrike" cap="none">
                <a:solidFill>
                  <a:srgbClr val="4A4A4A"/>
                </a:solidFill>
                <a:latin typeface="Calibri"/>
                <a:ea typeface="Calibri"/>
                <a:cs typeface="Calibri"/>
                <a:sym typeface="Calibri"/>
              </a:rPr>
              <a:t>{{BILLABLE_DEFEND}}</a:t>
            </a:r>
            <a:endParaRPr sz="900" b="0" i="0" u="none" strike="noStrike" cap="none">
              <a:solidFill>
                <a:srgbClr val="4A4A4A"/>
              </a:solidFill>
              <a:latin typeface="Calibri"/>
              <a:ea typeface="Calibri"/>
              <a:cs typeface="Calibri"/>
              <a:sym typeface="Calibri"/>
            </a:endParaRPr>
          </a:p>
          <a:p>
            <a:pPr marL="0" marR="0" lvl="0" indent="0" algn="l" rtl="0">
              <a:lnSpc>
                <a:spcPct val="100000"/>
              </a:lnSpc>
              <a:spcBef>
                <a:spcPts val="0"/>
              </a:spcBef>
              <a:spcAft>
                <a:spcPts val="0"/>
              </a:spcAft>
              <a:buClr>
                <a:srgbClr val="4A4A4A"/>
              </a:buClr>
              <a:buSzPts val="1100"/>
              <a:buFont typeface="Arial"/>
              <a:buNone/>
            </a:pPr>
            <a:endParaRPr sz="1100" b="0" i="0" u="none" strike="noStrike" cap="none">
              <a:solidFill>
                <a:srgbClr val="4A4A4A"/>
              </a:solidFill>
              <a:latin typeface="Calibri"/>
              <a:ea typeface="Calibri"/>
              <a:cs typeface="Calibri"/>
              <a:sym typeface="Calibri"/>
            </a:endParaRPr>
          </a:p>
          <a:p>
            <a:pPr marL="0" marR="0" lvl="0" indent="0" algn="l" rtl="0">
              <a:lnSpc>
                <a:spcPct val="100000"/>
              </a:lnSpc>
              <a:spcBef>
                <a:spcPts val="0"/>
              </a:spcBef>
              <a:spcAft>
                <a:spcPts val="0"/>
              </a:spcAft>
              <a:buClr>
                <a:srgbClr val="4A4A4A"/>
              </a:buClr>
              <a:buSzPts val="1100"/>
              <a:buFont typeface="Arial"/>
              <a:buNone/>
            </a:pPr>
            <a:r>
              <a:rPr lang="en" sz="1100" b="0" i="0" u="none" strike="noStrike" cap="none">
                <a:solidFill>
                  <a:srgbClr val="4A4A4A"/>
                </a:solidFill>
                <a:latin typeface="Calibri"/>
                <a:ea typeface="Calibri"/>
                <a:cs typeface="Calibri"/>
                <a:sym typeface="Calibri"/>
              </a:rPr>
              <a:t>Wiz Code License:</a:t>
            </a:r>
            <a:br>
              <a:rPr lang="en" sz="1100" b="0" i="0" u="none" strike="noStrike" cap="none">
                <a:solidFill>
                  <a:srgbClr val="4A4A4A"/>
                </a:solidFill>
                <a:latin typeface="Calibri"/>
                <a:ea typeface="Calibri"/>
                <a:cs typeface="Calibri"/>
                <a:sym typeface="Calibri"/>
              </a:rPr>
            </a:br>
            <a:r>
              <a:rPr lang="en" sz="900" b="0" i="0" u="none" strike="noStrike" cap="none">
                <a:solidFill>
                  <a:srgbClr val="4A4A4A"/>
                </a:solidFill>
                <a:latin typeface="Calibri"/>
                <a:ea typeface="Calibri"/>
                <a:cs typeface="Calibri"/>
                <a:sym typeface="Calibri"/>
              </a:rPr>
              <a:t>{{BILLABLE_CODE}}</a:t>
            </a:r>
            <a:endParaRPr sz="900" b="0" i="0" u="none" strike="noStrike" cap="none">
              <a:solidFill>
                <a:srgbClr val="4A4A4A"/>
              </a:solidFill>
              <a:latin typeface="Calibri"/>
              <a:ea typeface="Calibri"/>
              <a:cs typeface="Calibri"/>
              <a:sym typeface="Calibri"/>
            </a:endParaRPr>
          </a:p>
        </p:txBody>
      </p:sp>
      <p:pic>
        <p:nvPicPr>
          <p:cNvPr id="594" name="Google Shape;594;p53"/>
          <p:cNvPicPr preferRelativeResize="0"/>
          <p:nvPr/>
        </p:nvPicPr>
        <p:blipFill rotWithShape="1">
          <a:blip r:embed="rId3">
            <a:alphaModFix/>
          </a:blip>
          <a:srcRect/>
          <a:stretch/>
        </p:blipFill>
        <p:spPr>
          <a:xfrm>
            <a:off x="4636225" y="519525"/>
            <a:ext cx="4359173" cy="4230574"/>
          </a:xfrm>
          <a:prstGeom prst="rect">
            <a:avLst/>
          </a:prstGeom>
          <a:noFill/>
          <a:ln w="9525" cap="flat" cmpd="sng">
            <a:solidFill>
              <a:schemeClr val="accent1"/>
            </a:solidFill>
            <a:prstDash val="solid"/>
            <a:round/>
            <a:headEnd type="none" w="sm" len="sm"/>
            <a:tailEnd type="none" w="sm" len="sm"/>
          </a:ln>
        </p:spPr>
      </p:pic>
      <p:sp>
        <p:nvSpPr>
          <p:cNvPr id="595" name="Google Shape;595;p53"/>
          <p:cNvSpPr txBox="1"/>
          <p:nvPr/>
        </p:nvSpPr>
        <p:spPr>
          <a:xfrm>
            <a:off x="4636222" y="584617"/>
            <a:ext cx="4359000" cy="357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chemeClr val="hlink"/>
                </a:solidFill>
                <a:latin typeface="Calibri"/>
                <a:ea typeface="Calibri"/>
                <a:cs typeface="Calibri"/>
                <a:sym typeface="Calibri"/>
                <a:hlinkClick r:id="rId4"/>
              </a:rPr>
              <a:t>Public Non-Billable Previews</a:t>
            </a:r>
            <a:r>
              <a:rPr lang="en" sz="1600" b="0" i="0" u="none" strike="noStrike" cap="none">
                <a:solidFill>
                  <a:schemeClr val="hlink"/>
                </a:solidFill>
                <a:uFill>
                  <a:noFill/>
                </a:uFill>
                <a:latin typeface="Calibri"/>
                <a:ea typeface="Calibri"/>
                <a:cs typeface="Calibri"/>
                <a:sym typeface="Calibri"/>
                <a:hlinkClick r:id="rId4"/>
              </a:rPr>
              <a:t> ↗</a:t>
            </a:r>
            <a:endParaRPr sz="1600" b="0" i="0" u="none" strike="noStrike" cap="none">
              <a:solidFill>
                <a:srgbClr val="0254EC"/>
              </a:solidFill>
              <a:latin typeface="Calibri"/>
              <a:ea typeface="Calibri"/>
              <a:cs typeface="Calibri"/>
              <a:sym typeface="Calibri"/>
            </a:endParaRPr>
          </a:p>
        </p:txBody>
      </p:sp>
      <p:sp>
        <p:nvSpPr>
          <p:cNvPr id="596" name="Google Shape;596;p53"/>
          <p:cNvSpPr/>
          <p:nvPr/>
        </p:nvSpPr>
        <p:spPr>
          <a:xfrm>
            <a:off x="4690701" y="997376"/>
            <a:ext cx="4313400" cy="2213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900" b="0" i="0" u="none" strike="noStrike" cap="none">
                <a:solidFill>
                  <a:srgbClr val="4A4A4A"/>
                </a:solidFill>
                <a:latin typeface="Calibri"/>
                <a:ea typeface="Calibri"/>
                <a:cs typeface="Calibri"/>
                <a:sym typeface="Calibri"/>
              </a:rPr>
              <a:t>{{ALL_NON_BILLABLE_PREVIEW}}</a:t>
            </a:r>
            <a:br>
              <a:rPr lang="en" sz="1000" b="0" i="0" u="none" strike="noStrike" cap="none">
                <a:solidFill>
                  <a:srgbClr val="4A4A4A"/>
                </a:solidFill>
                <a:latin typeface="Calibri"/>
                <a:ea typeface="Calibri"/>
                <a:cs typeface="Calibri"/>
                <a:sym typeface="Calibri"/>
              </a:rPr>
            </a:br>
            <a:endParaRPr sz="1000" b="0" i="0" u="none" strike="noStrike" cap="none">
              <a:solidFill>
                <a:srgbClr val="4A4A4A"/>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pic>
        <p:nvPicPr>
          <p:cNvPr id="602" name="Google Shape;602;p54"/>
          <p:cNvPicPr preferRelativeResize="0"/>
          <p:nvPr/>
        </p:nvPicPr>
        <p:blipFill rotWithShape="1">
          <a:blip r:embed="rId3">
            <a:alphaModFix/>
          </a:blip>
          <a:srcRect/>
          <a:stretch/>
        </p:blipFill>
        <p:spPr>
          <a:xfrm>
            <a:off x="110700" y="514953"/>
            <a:ext cx="4359173" cy="3657923"/>
          </a:xfrm>
          <a:prstGeom prst="rect">
            <a:avLst/>
          </a:prstGeom>
          <a:noFill/>
          <a:ln w="9525" cap="flat" cmpd="sng">
            <a:solidFill>
              <a:schemeClr val="accent1"/>
            </a:solidFill>
            <a:prstDash val="solid"/>
            <a:round/>
            <a:headEnd type="none" w="sm" len="sm"/>
            <a:tailEnd type="none" w="sm" len="sm"/>
          </a:ln>
        </p:spPr>
      </p:pic>
      <p:sp>
        <p:nvSpPr>
          <p:cNvPr id="603" name="Google Shape;603;p54"/>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Preview Hub Availability vs Usage</a:t>
            </a:r>
            <a:endParaRPr sz="2420">
              <a:latin typeface="Calibri"/>
              <a:ea typeface="Calibri"/>
              <a:cs typeface="Calibri"/>
              <a:sym typeface="Calibri"/>
            </a:endParaRPr>
          </a:p>
        </p:txBody>
      </p:sp>
      <p:sp>
        <p:nvSpPr>
          <p:cNvPr id="604" name="Google Shape;604;p54"/>
          <p:cNvSpPr txBox="1"/>
          <p:nvPr/>
        </p:nvSpPr>
        <p:spPr>
          <a:xfrm>
            <a:off x="110700" y="573172"/>
            <a:ext cx="4359000" cy="3462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chemeClr val="hlink"/>
                </a:solidFill>
                <a:latin typeface="Calibri"/>
                <a:ea typeface="Calibri"/>
                <a:cs typeface="Calibri"/>
                <a:sym typeface="Calibri"/>
                <a:hlinkClick r:id="rId4"/>
              </a:rPr>
              <a:t>Private Future-Billable Previews</a:t>
            </a:r>
            <a:r>
              <a:rPr lang="en" sz="1600" b="0" i="0" u="none" strike="noStrike" cap="none">
                <a:solidFill>
                  <a:schemeClr val="hlink"/>
                </a:solidFill>
                <a:uFill>
                  <a:noFill/>
                </a:uFill>
                <a:latin typeface="Calibri"/>
                <a:ea typeface="Calibri"/>
                <a:cs typeface="Calibri"/>
                <a:sym typeface="Calibri"/>
                <a:hlinkClick r:id="rId4"/>
              </a:rPr>
              <a:t> ↗</a:t>
            </a:r>
            <a:endParaRPr sz="1600" b="0" i="0" u="none" strike="noStrike" cap="none">
              <a:solidFill>
                <a:srgbClr val="0254EC"/>
              </a:solidFill>
              <a:latin typeface="Calibri"/>
              <a:ea typeface="Calibri"/>
              <a:cs typeface="Calibri"/>
              <a:sym typeface="Calibri"/>
            </a:endParaRPr>
          </a:p>
        </p:txBody>
      </p:sp>
      <p:sp>
        <p:nvSpPr>
          <p:cNvPr id="605" name="Google Shape;605;p54"/>
          <p:cNvSpPr/>
          <p:nvPr/>
        </p:nvSpPr>
        <p:spPr>
          <a:xfrm>
            <a:off x="165200" y="979468"/>
            <a:ext cx="4313400" cy="2127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000" b="0" i="0" u="none" strike="noStrike" cap="none">
                <a:solidFill>
                  <a:srgbClr val="4A4A4A"/>
                </a:solidFill>
                <a:latin typeface="Calibri"/>
                <a:ea typeface="Calibri"/>
                <a:cs typeface="Calibri"/>
                <a:sym typeface="Calibri"/>
              </a:rPr>
              <a:t>{{PRIVATE_BILLABLE}}</a:t>
            </a:r>
            <a:endParaRPr sz="1000" b="0" i="0" u="none" strike="noStrike" cap="none">
              <a:solidFill>
                <a:srgbClr val="4A4A4A"/>
              </a:solidFill>
              <a:latin typeface="Calibri"/>
              <a:ea typeface="Calibri"/>
              <a:cs typeface="Calibri"/>
              <a:sym typeface="Calibri"/>
            </a:endParaRPr>
          </a:p>
          <a:p>
            <a:pPr marL="0" marR="0" lvl="0" indent="0" algn="l" rtl="0">
              <a:lnSpc>
                <a:spcPct val="100000"/>
              </a:lnSpc>
              <a:spcBef>
                <a:spcPts val="0"/>
              </a:spcBef>
              <a:spcAft>
                <a:spcPts val="0"/>
              </a:spcAft>
              <a:buClr>
                <a:srgbClr val="4A4A4A"/>
              </a:buClr>
              <a:buSzPts val="1100"/>
              <a:buFont typeface="Arial"/>
              <a:buNone/>
            </a:pPr>
            <a:endParaRPr sz="1200" b="0" i="0" u="none" strike="noStrike" cap="none">
              <a:solidFill>
                <a:srgbClr val="4A4A4A"/>
              </a:solidFill>
              <a:latin typeface="Calibri"/>
              <a:ea typeface="Calibri"/>
              <a:cs typeface="Calibri"/>
              <a:sym typeface="Calibri"/>
            </a:endParaRPr>
          </a:p>
        </p:txBody>
      </p:sp>
      <p:pic>
        <p:nvPicPr>
          <p:cNvPr id="606" name="Google Shape;606;p54"/>
          <p:cNvPicPr preferRelativeResize="0"/>
          <p:nvPr/>
        </p:nvPicPr>
        <p:blipFill rotWithShape="1">
          <a:blip r:embed="rId3">
            <a:alphaModFix/>
          </a:blip>
          <a:srcRect/>
          <a:stretch/>
        </p:blipFill>
        <p:spPr>
          <a:xfrm>
            <a:off x="4636225" y="519525"/>
            <a:ext cx="4359173" cy="3657923"/>
          </a:xfrm>
          <a:prstGeom prst="rect">
            <a:avLst/>
          </a:prstGeom>
          <a:noFill/>
          <a:ln w="9525" cap="flat" cmpd="sng">
            <a:solidFill>
              <a:schemeClr val="accent1"/>
            </a:solidFill>
            <a:prstDash val="solid"/>
            <a:round/>
            <a:headEnd type="none" w="sm" len="sm"/>
            <a:tailEnd type="none" w="sm" len="sm"/>
          </a:ln>
        </p:spPr>
      </p:pic>
      <p:sp>
        <p:nvSpPr>
          <p:cNvPr id="607" name="Google Shape;607;p54"/>
          <p:cNvSpPr txBox="1"/>
          <p:nvPr/>
        </p:nvSpPr>
        <p:spPr>
          <a:xfrm>
            <a:off x="4636222" y="574205"/>
            <a:ext cx="4359000" cy="357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600" b="0" i="0" u="sng" strike="noStrike" cap="none">
                <a:solidFill>
                  <a:schemeClr val="hlink"/>
                </a:solidFill>
                <a:latin typeface="Calibri"/>
                <a:ea typeface="Calibri"/>
                <a:cs typeface="Calibri"/>
                <a:sym typeface="Calibri"/>
                <a:hlinkClick r:id="rId4"/>
              </a:rPr>
              <a:t>Private Non-Billable Previews</a:t>
            </a:r>
            <a:r>
              <a:rPr lang="en" sz="1600" b="0" i="0" u="none" strike="noStrike" cap="none">
                <a:solidFill>
                  <a:schemeClr val="hlink"/>
                </a:solidFill>
                <a:uFill>
                  <a:noFill/>
                </a:uFill>
                <a:latin typeface="Calibri"/>
                <a:ea typeface="Calibri"/>
                <a:cs typeface="Calibri"/>
                <a:sym typeface="Calibri"/>
                <a:hlinkClick r:id="rId4"/>
              </a:rPr>
              <a:t> ↗</a:t>
            </a:r>
            <a:endParaRPr sz="1600" b="0" i="0" u="none" strike="noStrike" cap="none">
              <a:solidFill>
                <a:srgbClr val="0254EC"/>
              </a:solidFill>
              <a:latin typeface="Calibri"/>
              <a:ea typeface="Calibri"/>
              <a:cs typeface="Calibri"/>
              <a:sym typeface="Calibri"/>
            </a:endParaRPr>
          </a:p>
        </p:txBody>
      </p:sp>
      <p:sp>
        <p:nvSpPr>
          <p:cNvPr id="608" name="Google Shape;608;p54"/>
          <p:cNvSpPr/>
          <p:nvPr/>
        </p:nvSpPr>
        <p:spPr>
          <a:xfrm>
            <a:off x="4690701" y="972864"/>
            <a:ext cx="4313400" cy="2213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000" b="0" i="0" u="none" strike="noStrike" cap="none">
                <a:solidFill>
                  <a:srgbClr val="4A4A4A"/>
                </a:solidFill>
                <a:latin typeface="Calibri"/>
                <a:ea typeface="Calibri"/>
                <a:cs typeface="Calibri"/>
                <a:sym typeface="Calibri"/>
              </a:rPr>
              <a:t>{{PRIVATE_NON_BILLABLE}}</a:t>
            </a:r>
            <a:endParaRPr sz="1000" b="0" i="0" u="none" strike="noStrike" cap="none">
              <a:solidFill>
                <a:srgbClr val="4A4A4A"/>
              </a:solidFill>
              <a:latin typeface="Calibri"/>
              <a:ea typeface="Calibri"/>
              <a:cs typeface="Calibri"/>
              <a:sym typeface="Calibri"/>
            </a:endParaRPr>
          </a:p>
          <a:p>
            <a:pPr marL="0" marR="0" lvl="0" indent="0" algn="l" rtl="0">
              <a:lnSpc>
                <a:spcPct val="100000"/>
              </a:lnSpc>
              <a:spcBef>
                <a:spcPts val="0"/>
              </a:spcBef>
              <a:spcAft>
                <a:spcPts val="0"/>
              </a:spcAft>
              <a:buClr>
                <a:srgbClr val="4A4A4A"/>
              </a:buClr>
              <a:buSzPts val="1100"/>
              <a:buFont typeface="Arial"/>
              <a:buNone/>
            </a:pPr>
            <a:endParaRPr sz="1000" b="0" i="0" u="none" strike="noStrike" cap="none">
              <a:solidFill>
                <a:srgbClr val="4A4A4A"/>
              </a:solidFill>
              <a:latin typeface="Calibri"/>
              <a:ea typeface="Calibri"/>
              <a:cs typeface="Calibri"/>
              <a:sym typeface="Calibri"/>
            </a:endParaRPr>
          </a:p>
        </p:txBody>
      </p:sp>
      <p:sp>
        <p:nvSpPr>
          <p:cNvPr id="609" name="Google Shape;609;p54"/>
          <p:cNvSpPr txBox="1"/>
          <p:nvPr/>
        </p:nvSpPr>
        <p:spPr>
          <a:xfrm>
            <a:off x="-100" y="4435475"/>
            <a:ext cx="9144000" cy="1899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100" b="1" i="0" u="none" strike="noStrike" cap="none">
                <a:solidFill>
                  <a:schemeClr val="dk1"/>
                </a:solidFill>
                <a:latin typeface="Calibri"/>
                <a:ea typeface="Calibri"/>
                <a:cs typeface="Calibri"/>
                <a:sym typeface="Calibri"/>
              </a:rPr>
              <a:t>**Private Features are typically only available upon request and approval</a:t>
            </a:r>
            <a:endParaRPr sz="1100" b="1" i="0" u="none" strike="noStrike" cap="non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14"/>
        <p:cNvGrpSpPr/>
        <p:nvPr/>
      </p:nvGrpSpPr>
      <p:grpSpPr>
        <a:xfrm>
          <a:off x="0" y="0"/>
          <a:ext cx="0" cy="0"/>
          <a:chOff x="0" y="0"/>
          <a:chExt cx="0" cy="0"/>
        </a:xfrm>
      </p:grpSpPr>
      <p:pic>
        <p:nvPicPr>
          <p:cNvPr id="615" name="Google Shape;615;p55"/>
          <p:cNvPicPr preferRelativeResize="0"/>
          <p:nvPr/>
        </p:nvPicPr>
        <p:blipFill rotWithShape="1">
          <a:blip r:embed="rId3">
            <a:alphaModFix/>
          </a:blip>
          <a:srcRect/>
          <a:stretch/>
        </p:blipFill>
        <p:spPr>
          <a:xfrm>
            <a:off x="329350" y="1194925"/>
            <a:ext cx="8466125" cy="3904599"/>
          </a:xfrm>
          <a:prstGeom prst="rect">
            <a:avLst/>
          </a:prstGeom>
          <a:noFill/>
          <a:ln w="9525" cap="flat" cmpd="sng">
            <a:solidFill>
              <a:schemeClr val="accent1"/>
            </a:solidFill>
            <a:prstDash val="solid"/>
            <a:round/>
            <a:headEnd type="none" w="sm" len="sm"/>
            <a:tailEnd type="none" w="sm" len="sm"/>
          </a:ln>
        </p:spPr>
      </p:pic>
      <p:sp>
        <p:nvSpPr>
          <p:cNvPr id="616" name="Google Shape;616;p55"/>
          <p:cNvSpPr txBox="1">
            <a:spLocks noGrp="1"/>
          </p:cNvSpPr>
          <p:nvPr>
            <p:ph type="title" idx="4294967295"/>
          </p:nvPr>
        </p:nvSpPr>
        <p:spPr>
          <a:xfrm>
            <a:off x="150" y="112783"/>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Roadmap Tracker Usage</a:t>
            </a:r>
            <a:endParaRPr sz="2420">
              <a:latin typeface="Calibri"/>
              <a:ea typeface="Calibri"/>
              <a:cs typeface="Calibri"/>
              <a:sym typeface="Calibri"/>
            </a:endParaRPr>
          </a:p>
        </p:txBody>
      </p:sp>
      <p:sp>
        <p:nvSpPr>
          <p:cNvPr id="617" name="Google Shape;617;p55"/>
          <p:cNvSpPr txBox="1"/>
          <p:nvPr/>
        </p:nvSpPr>
        <p:spPr>
          <a:xfrm>
            <a:off x="406975" y="1231821"/>
            <a:ext cx="8306406" cy="375600"/>
          </a:xfrm>
          <a:prstGeom prst="rect">
            <a:avLst/>
          </a:prstGeom>
          <a:noFill/>
          <a:ln>
            <a:noFill/>
          </a:ln>
        </p:spPr>
        <p:txBody>
          <a:bodyPr spcFirstLastPara="1" wrap="square" lIns="68575" tIns="34275" rIns="68575" bIns="34275" anchor="t" anchorCtr="0">
            <a:noAutofit/>
          </a:bodyPr>
          <a:lstStyle/>
          <a:p>
            <a:pPr marL="0" marR="0" lvl="0" indent="0" algn="ctr" rtl="0">
              <a:lnSpc>
                <a:spcPct val="90000"/>
              </a:lnSpc>
              <a:spcBef>
                <a:spcPts val="0"/>
              </a:spcBef>
              <a:spcAft>
                <a:spcPts val="0"/>
              </a:spcAft>
              <a:buClr>
                <a:schemeClr val="dk2"/>
              </a:buClr>
              <a:buSzPts val="1500"/>
              <a:buFont typeface="Arial"/>
              <a:buNone/>
            </a:pPr>
            <a:r>
              <a:rPr lang="en" sz="1800" b="0" i="0" u="sng" strike="noStrike" cap="none">
                <a:solidFill>
                  <a:schemeClr val="hlink"/>
                </a:solidFill>
                <a:latin typeface="Calibri"/>
                <a:ea typeface="Calibri"/>
                <a:cs typeface="Calibri"/>
                <a:sym typeface="Calibri"/>
                <a:hlinkClick r:id="rId4"/>
              </a:rPr>
              <a:t>Tracked Roadmap Items</a:t>
            </a:r>
            <a:r>
              <a:rPr lang="en" sz="1800" b="0" i="0" u="none" strike="noStrike" cap="none">
                <a:solidFill>
                  <a:schemeClr val="hlink"/>
                </a:solidFill>
                <a:uFill>
                  <a:noFill/>
                </a:uFill>
                <a:latin typeface="Calibri"/>
                <a:ea typeface="Calibri"/>
                <a:cs typeface="Calibri"/>
                <a:sym typeface="Calibri"/>
                <a:hlinkClick r:id="rId4"/>
              </a:rPr>
              <a:t> ↗</a:t>
            </a:r>
            <a:endParaRPr sz="1800" b="0" i="0" u="none" strike="noStrike" cap="none">
              <a:solidFill>
                <a:srgbClr val="0254EC"/>
              </a:solidFill>
              <a:latin typeface="Calibri"/>
              <a:ea typeface="Calibri"/>
              <a:cs typeface="Calibri"/>
              <a:sym typeface="Calibri"/>
            </a:endParaRPr>
          </a:p>
        </p:txBody>
      </p:sp>
      <p:sp>
        <p:nvSpPr>
          <p:cNvPr id="618" name="Google Shape;618;p55"/>
          <p:cNvSpPr/>
          <p:nvPr/>
        </p:nvSpPr>
        <p:spPr>
          <a:xfrm>
            <a:off x="435197" y="1658861"/>
            <a:ext cx="8377200" cy="2010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4A4A4A"/>
              </a:buClr>
              <a:buSzPts val="1100"/>
              <a:buFont typeface="Arial"/>
              <a:buNone/>
            </a:pPr>
            <a:r>
              <a:rPr lang="en" sz="1100" b="0" i="0" u="none" strike="noStrike" cap="none" dirty="0">
                <a:solidFill>
                  <a:srgbClr val="4A4A4A"/>
                </a:solidFill>
                <a:latin typeface="Calibri"/>
                <a:ea typeface="Calibri"/>
                <a:cs typeface="Calibri"/>
                <a:sym typeface="Calibri"/>
              </a:rPr>
              <a:t>{{ROADMAP_TRACKER}}</a:t>
            </a:r>
            <a:endParaRPr sz="1100" b="0" i="0" u="none" strike="noStrike" cap="none" dirty="0">
              <a:solidFill>
                <a:srgbClr val="4A4A4A"/>
              </a:solidFill>
              <a:latin typeface="Calibri"/>
              <a:ea typeface="Calibri"/>
              <a:cs typeface="Calibri"/>
              <a:sym typeface="Calibri"/>
            </a:endParaRPr>
          </a:p>
          <a:p>
            <a:pPr marL="0" marR="0" lvl="0" indent="0" algn="l" rtl="0">
              <a:lnSpc>
                <a:spcPct val="100000"/>
              </a:lnSpc>
              <a:spcBef>
                <a:spcPts val="0"/>
              </a:spcBef>
              <a:spcAft>
                <a:spcPts val="0"/>
              </a:spcAft>
              <a:buClr>
                <a:srgbClr val="4A4A4A"/>
              </a:buClr>
              <a:buSzPts val="1100"/>
              <a:buFont typeface="Arial"/>
              <a:buNone/>
            </a:pPr>
            <a:endParaRPr sz="1300" b="0" i="0" u="none" strike="noStrike" cap="none" dirty="0">
              <a:solidFill>
                <a:srgbClr val="4A4A4A"/>
              </a:solidFill>
              <a:latin typeface="Calibri"/>
              <a:ea typeface="Calibri"/>
              <a:cs typeface="Calibri"/>
              <a:sym typeface="Calibri"/>
            </a:endParaRPr>
          </a:p>
        </p:txBody>
      </p:sp>
      <p:sp>
        <p:nvSpPr>
          <p:cNvPr id="619" name="Google Shape;619;p55"/>
          <p:cNvSpPr txBox="1"/>
          <p:nvPr/>
        </p:nvSpPr>
        <p:spPr>
          <a:xfrm>
            <a:off x="150" y="498025"/>
            <a:ext cx="9144000" cy="696900"/>
          </a:xfrm>
          <a:prstGeom prst="rect">
            <a:avLst/>
          </a:prstGeom>
          <a:noFill/>
          <a:ln>
            <a:noFill/>
          </a:ln>
        </p:spPr>
        <p:txBody>
          <a:bodyPr spcFirstLastPara="1" wrap="square" lIns="68575" tIns="34275" rIns="68575" bIns="34275" anchor="t" anchorCtr="0">
            <a:noAutofit/>
          </a:bodyPr>
          <a:lstStyle/>
          <a:p>
            <a:pPr marL="0" marR="0" lvl="0" indent="0" algn="ctr" rtl="0">
              <a:lnSpc>
                <a:spcPct val="115000"/>
              </a:lnSpc>
              <a:spcBef>
                <a:spcPts val="0"/>
              </a:spcBef>
              <a:spcAft>
                <a:spcPts val="0"/>
              </a:spcAft>
              <a:buClr>
                <a:schemeClr val="dk1"/>
              </a:buClr>
              <a:buSzPts val="1100"/>
              <a:buFont typeface="Arial"/>
              <a:buNone/>
            </a:pPr>
            <a:r>
              <a:rPr lang="en" sz="800" b="0" i="0" u="none" strike="noStrike" cap="none">
                <a:solidFill>
                  <a:srgbClr val="60646C"/>
                </a:solidFill>
                <a:latin typeface="Calibri"/>
                <a:ea typeface="Calibri"/>
                <a:cs typeface="Calibri"/>
                <a:sym typeface="Calibri"/>
              </a:rPr>
              <a:t>Discover, track, and monitor roadmap features. All quarters listed refer to the calendar year, and represent Wiz goals,  meaning some features will be pushed to later quarters. Also, the quarters listed may reflect when features become available to preview, with general availability (GA) following. Some support tiers allow you to track up to 20 non-highlight features, of which 5 can be marked high priority. Product managers review the most popular features when deciding what to work on next, so your votes really count. Features remain trackable until one quarter after release. Some features may not have a timeline. A planned timeline is added once available.</a:t>
            </a:r>
            <a:endParaRPr sz="800" b="0" i="0" u="none" strike="noStrike" cap="none">
              <a:solidFill>
                <a:srgbClr val="60646C"/>
              </a:solidFill>
              <a:latin typeface="Calibri"/>
              <a:ea typeface="Calibri"/>
              <a:cs typeface="Calibri"/>
              <a:sym typeface="Calibri"/>
            </a:endParaRPr>
          </a:p>
          <a:p>
            <a:pPr marL="0" marR="0" lvl="0" indent="0" algn="ctr" rtl="0">
              <a:lnSpc>
                <a:spcPct val="90000"/>
              </a:lnSpc>
              <a:spcBef>
                <a:spcPts val="600"/>
              </a:spcBef>
              <a:spcAft>
                <a:spcPts val="0"/>
              </a:spcAft>
              <a:buClr>
                <a:schemeClr val="dk2"/>
              </a:buClr>
              <a:buSzPts val="1500"/>
              <a:buFont typeface="Arial"/>
              <a:buNone/>
            </a:pPr>
            <a:endParaRPr sz="800" b="0" i="0" u="none" strike="noStrike" cap="non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624"/>
        <p:cNvGrpSpPr/>
        <p:nvPr/>
      </p:nvGrpSpPr>
      <p:grpSpPr>
        <a:xfrm>
          <a:off x="0" y="0"/>
          <a:ext cx="0" cy="0"/>
          <a:chOff x="0" y="0"/>
          <a:chExt cx="0" cy="0"/>
        </a:xfrm>
      </p:grpSpPr>
      <p:sp>
        <p:nvSpPr>
          <p:cNvPr id="625" name="Google Shape;625;p56"/>
          <p:cNvSpPr txBox="1"/>
          <p:nvPr/>
        </p:nvSpPr>
        <p:spPr>
          <a:xfrm>
            <a:off x="468449" y="2215800"/>
            <a:ext cx="3273600" cy="9003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dirty="0">
                <a:solidFill>
                  <a:schemeClr val="lt1"/>
                </a:solidFill>
                <a:latin typeface="Calibri"/>
                <a:ea typeface="Calibri"/>
                <a:cs typeface="Calibri"/>
                <a:sym typeface="Calibri"/>
              </a:rPr>
              <a:t>Reducing Critical Risk and Beyond</a:t>
            </a:r>
            <a:endParaRPr sz="2700" b="0" i="0" u="none" strike="noStrike" cap="none" dirty="0">
              <a:solidFill>
                <a:schemeClr val="lt1"/>
              </a:solidFill>
              <a:latin typeface="Calibri"/>
              <a:ea typeface="Calibri"/>
              <a:cs typeface="Calibri"/>
              <a:sym typeface="Calibri"/>
            </a:endParaRPr>
          </a:p>
        </p:txBody>
      </p:sp>
      <p:pic>
        <p:nvPicPr>
          <p:cNvPr id="626" name="Google Shape;626;p56"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627" name="Google Shape;627;p56"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628" name="Google Shape;628;p56" title="logo.png"/>
          <p:cNvPicPr preferRelativeResize="0"/>
          <p:nvPr/>
        </p:nvPicPr>
        <p:blipFill rotWithShape="1">
          <a:blip r:embed="rId5">
            <a:alphaModFix/>
          </a:blip>
          <a:srcRect/>
          <a:stretch/>
        </p:blipFill>
        <p:spPr>
          <a:xfrm>
            <a:off x="553277" y="1726800"/>
            <a:ext cx="637001" cy="3041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633"/>
        <p:cNvGrpSpPr/>
        <p:nvPr/>
      </p:nvGrpSpPr>
      <p:grpSpPr>
        <a:xfrm>
          <a:off x="0" y="0"/>
          <a:ext cx="0" cy="0"/>
          <a:chOff x="0" y="0"/>
          <a:chExt cx="0" cy="0"/>
        </a:xfrm>
      </p:grpSpPr>
      <p:sp>
        <p:nvSpPr>
          <p:cNvPr id="634" name="Google Shape;634;p57"/>
          <p:cNvSpPr txBox="1"/>
          <p:nvPr/>
        </p:nvSpPr>
        <p:spPr>
          <a:xfrm>
            <a:off x="6799450" y="3138000"/>
            <a:ext cx="2010300" cy="2018161"/>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p:txBody>
      </p:sp>
      <p:sp>
        <p:nvSpPr>
          <p:cNvPr id="635" name="Google Shape;635;p57"/>
          <p:cNvSpPr txBox="1"/>
          <p:nvPr/>
        </p:nvSpPr>
        <p:spPr>
          <a:xfrm>
            <a:off x="799800" y="4324999"/>
            <a:ext cx="2010300" cy="8313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p:txBody>
      </p:sp>
      <p:sp>
        <p:nvSpPr>
          <p:cNvPr id="636" name="Google Shape;636;p57"/>
          <p:cNvSpPr txBox="1"/>
          <p:nvPr/>
        </p:nvSpPr>
        <p:spPr>
          <a:xfrm>
            <a:off x="4803550" y="3675175"/>
            <a:ext cx="2005200" cy="1468200"/>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p:txBody>
      </p:sp>
      <p:sp>
        <p:nvSpPr>
          <p:cNvPr id="637" name="Google Shape;637;p57"/>
          <p:cNvSpPr txBox="1"/>
          <p:nvPr/>
        </p:nvSpPr>
        <p:spPr>
          <a:xfrm>
            <a:off x="2815700" y="3916475"/>
            <a:ext cx="1987500" cy="1227025"/>
          </a:xfrm>
          <a:prstGeom prst="rect">
            <a:avLst/>
          </a:prstGeom>
          <a:gradFill>
            <a:gsLst>
              <a:gs pos="0">
                <a:srgbClr val="FFE0FF">
                  <a:alpha val="50196"/>
                </a:srgbClr>
              </a:gs>
              <a:gs pos="100000">
                <a:schemeClr val="lt1"/>
              </a:gs>
            </a:gsLst>
            <a:lin ang="5400012" scaled="0"/>
          </a:gradFill>
          <a:ln>
            <a:noFill/>
          </a:ln>
        </p:spPr>
        <p:txBody>
          <a:bodyPr spcFirstLastPara="1" wrap="square" lIns="68575" tIns="34275" rIns="68575" bIns="34275" anchor="t" anchorCtr="0">
            <a:noAutofit/>
          </a:bodyPr>
          <a:lstStyle/>
          <a:p>
            <a:pPr marL="0" marR="0" lvl="0" indent="0" algn="l" rtl="0">
              <a:lnSpc>
                <a:spcPct val="100000"/>
              </a:lnSpc>
              <a:spcBef>
                <a:spcPts val="0"/>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p:txBody>
      </p:sp>
      <p:cxnSp>
        <p:nvCxnSpPr>
          <p:cNvPr id="638" name="Google Shape;638;p57"/>
          <p:cNvCxnSpPr/>
          <p:nvPr/>
        </p:nvCxnSpPr>
        <p:spPr>
          <a:xfrm rot="10800000">
            <a:off x="2813100" y="2136400"/>
            <a:ext cx="0" cy="3019761"/>
          </a:xfrm>
          <a:prstGeom prst="straightConnector1">
            <a:avLst/>
          </a:prstGeom>
          <a:noFill/>
          <a:ln w="9525" cap="flat" cmpd="sng">
            <a:solidFill>
              <a:srgbClr val="0254EC"/>
            </a:solidFill>
            <a:prstDash val="solid"/>
            <a:round/>
            <a:headEnd type="none" w="sm" len="sm"/>
            <a:tailEnd type="none" w="sm" len="sm"/>
          </a:ln>
        </p:spPr>
      </p:cxnSp>
      <p:cxnSp>
        <p:nvCxnSpPr>
          <p:cNvPr id="639" name="Google Shape;639;p57"/>
          <p:cNvCxnSpPr/>
          <p:nvPr/>
        </p:nvCxnSpPr>
        <p:spPr>
          <a:xfrm rot="10800000">
            <a:off x="4804975" y="1525650"/>
            <a:ext cx="0" cy="3617850"/>
          </a:xfrm>
          <a:prstGeom prst="straightConnector1">
            <a:avLst/>
          </a:prstGeom>
          <a:noFill/>
          <a:ln w="9525" cap="flat" cmpd="sng">
            <a:solidFill>
              <a:srgbClr val="0254EC"/>
            </a:solidFill>
            <a:prstDash val="solid"/>
            <a:round/>
            <a:headEnd type="none" w="sm" len="sm"/>
            <a:tailEnd type="none" w="sm" len="sm"/>
          </a:ln>
        </p:spPr>
      </p:cxnSp>
      <p:cxnSp>
        <p:nvCxnSpPr>
          <p:cNvPr id="640" name="Google Shape;640;p57"/>
          <p:cNvCxnSpPr/>
          <p:nvPr/>
        </p:nvCxnSpPr>
        <p:spPr>
          <a:xfrm rot="10800000" flipH="1">
            <a:off x="6799450" y="910700"/>
            <a:ext cx="5225" cy="4232800"/>
          </a:xfrm>
          <a:prstGeom prst="straightConnector1">
            <a:avLst/>
          </a:prstGeom>
          <a:noFill/>
          <a:ln w="9525" cap="flat" cmpd="sng">
            <a:solidFill>
              <a:srgbClr val="0254EC"/>
            </a:solidFill>
            <a:prstDash val="solid"/>
            <a:round/>
            <a:headEnd type="none" w="sm" len="sm"/>
            <a:tailEnd type="none" w="sm" len="sm"/>
          </a:ln>
        </p:spPr>
      </p:cxnSp>
      <p:cxnSp>
        <p:nvCxnSpPr>
          <p:cNvPr id="641" name="Google Shape;641;p57"/>
          <p:cNvCxnSpPr/>
          <p:nvPr/>
        </p:nvCxnSpPr>
        <p:spPr>
          <a:xfrm rot="10800000" flipH="1">
            <a:off x="983850" y="193650"/>
            <a:ext cx="8194200" cy="2507100"/>
          </a:xfrm>
          <a:prstGeom prst="straightConnector1">
            <a:avLst/>
          </a:prstGeom>
          <a:noFill/>
          <a:ln w="9525" cap="flat" cmpd="sng">
            <a:solidFill>
              <a:srgbClr val="0254EC"/>
            </a:solidFill>
            <a:prstDash val="lgDash"/>
            <a:round/>
            <a:headEnd type="none" w="sm" len="sm"/>
            <a:tailEnd type="none" w="sm" len="sm"/>
          </a:ln>
        </p:spPr>
      </p:cxnSp>
      <p:cxnSp>
        <p:nvCxnSpPr>
          <p:cNvPr id="642" name="Google Shape;642;p57"/>
          <p:cNvCxnSpPr/>
          <p:nvPr/>
        </p:nvCxnSpPr>
        <p:spPr>
          <a:xfrm rot="10800000">
            <a:off x="807946" y="2756762"/>
            <a:ext cx="0" cy="2399400"/>
          </a:xfrm>
          <a:prstGeom prst="straightConnector1">
            <a:avLst/>
          </a:prstGeom>
          <a:noFill/>
          <a:ln w="9525" cap="flat" cmpd="sng">
            <a:solidFill>
              <a:srgbClr val="0254EC"/>
            </a:solidFill>
            <a:prstDash val="solid"/>
            <a:round/>
            <a:headEnd type="none" w="sm" len="sm"/>
            <a:tailEnd type="none" w="sm" len="sm"/>
          </a:ln>
        </p:spPr>
      </p:cxnSp>
      <p:pic>
        <p:nvPicPr>
          <p:cNvPr id="643" name="Google Shape;643;p57" title="Hardening_infinity.png"/>
          <p:cNvPicPr preferRelativeResize="0"/>
          <p:nvPr/>
        </p:nvPicPr>
        <p:blipFill rotWithShape="1">
          <a:blip r:embed="rId3">
            <a:alphaModFix/>
          </a:blip>
          <a:srcRect/>
          <a:stretch/>
        </p:blipFill>
        <p:spPr>
          <a:xfrm rot="-964393">
            <a:off x="4764150" y="359985"/>
            <a:ext cx="2802000" cy="1505395"/>
          </a:xfrm>
          <a:prstGeom prst="rect">
            <a:avLst/>
          </a:prstGeom>
          <a:noFill/>
          <a:ln>
            <a:noFill/>
          </a:ln>
        </p:spPr>
      </p:pic>
      <p:sp>
        <p:nvSpPr>
          <p:cNvPr id="644" name="Google Shape;644;p57"/>
          <p:cNvSpPr txBox="1">
            <a:spLocks noGrp="1"/>
          </p:cNvSpPr>
          <p:nvPr>
            <p:ph type="title" idx="4294967295"/>
          </p:nvPr>
        </p:nvSpPr>
        <p:spPr>
          <a:xfrm>
            <a:off x="304850" y="182250"/>
            <a:ext cx="7550100" cy="646500"/>
          </a:xfrm>
          <a:prstGeom prst="rect">
            <a:avLst/>
          </a:prstGeom>
          <a:noFill/>
          <a:ln>
            <a:noFill/>
          </a:ln>
        </p:spPr>
        <p:txBody>
          <a:bodyPr spcFirstLastPara="1" wrap="square" lIns="68575" tIns="34275" rIns="68575" bIns="34275" anchor="ctr" anchorCtr="0">
            <a:noAutofit/>
          </a:bodyPr>
          <a:lstStyle/>
          <a:p>
            <a:pPr marL="0" lvl="0" indent="0" algn="l" rtl="0">
              <a:lnSpc>
                <a:spcPct val="100000"/>
              </a:lnSpc>
              <a:spcBef>
                <a:spcPts val="0"/>
              </a:spcBef>
              <a:spcAft>
                <a:spcPts val="0"/>
              </a:spcAft>
              <a:buClr>
                <a:schemeClr val="dk1"/>
              </a:buClr>
              <a:buSzPts val="1800"/>
              <a:buFont typeface="DM Sans"/>
              <a:buNone/>
            </a:pPr>
            <a:r>
              <a:rPr lang="en" sz="2420">
                <a:latin typeface="Calibri"/>
                <a:ea typeface="Calibri"/>
                <a:cs typeface="Calibri"/>
                <a:sym typeface="Calibri"/>
              </a:rPr>
              <a:t>Wiz Security</a:t>
            </a:r>
            <a:endParaRPr sz="2420">
              <a:latin typeface="Calibri"/>
              <a:ea typeface="Calibri"/>
              <a:cs typeface="Calibri"/>
              <a:sym typeface="Calibri"/>
            </a:endParaRPr>
          </a:p>
          <a:p>
            <a:pPr marL="0" lvl="0" indent="0" algn="l" rtl="0">
              <a:lnSpc>
                <a:spcPct val="100000"/>
              </a:lnSpc>
              <a:spcBef>
                <a:spcPts val="0"/>
              </a:spcBef>
              <a:spcAft>
                <a:spcPts val="0"/>
              </a:spcAft>
              <a:buClr>
                <a:schemeClr val="dk1"/>
              </a:buClr>
              <a:buSzPts val="1800"/>
              <a:buFont typeface="DM Sans"/>
              <a:buNone/>
            </a:pPr>
            <a:r>
              <a:rPr lang="en" sz="2420">
                <a:latin typeface="Calibri"/>
                <a:ea typeface="Calibri"/>
                <a:cs typeface="Calibri"/>
                <a:sym typeface="Calibri"/>
              </a:rPr>
              <a:t>Maturity Model </a:t>
            </a:r>
            <a:endParaRPr sz="2420">
              <a:latin typeface="Calibri"/>
              <a:ea typeface="Calibri"/>
              <a:cs typeface="Calibri"/>
              <a:sym typeface="Calibri"/>
            </a:endParaRPr>
          </a:p>
        </p:txBody>
      </p:sp>
      <p:sp>
        <p:nvSpPr>
          <p:cNvPr id="645" name="Google Shape;645;p57"/>
          <p:cNvSpPr txBox="1"/>
          <p:nvPr/>
        </p:nvSpPr>
        <p:spPr>
          <a:xfrm>
            <a:off x="6914847" y="1709849"/>
            <a:ext cx="1575300" cy="3462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a:ea typeface="Calibri"/>
                <a:cs typeface="Calibri"/>
                <a:sym typeface="Calibri"/>
              </a:rPr>
              <a:t>BACKLOG PREVENTION - DEVELOP SECURELY</a:t>
            </a:r>
            <a:endParaRPr sz="900" b="0" i="0" u="none" strike="noStrike" cap="none">
              <a:solidFill>
                <a:schemeClr val="dk1"/>
              </a:solidFill>
              <a:latin typeface="Calibri"/>
              <a:ea typeface="Calibri"/>
              <a:cs typeface="Calibri"/>
              <a:sym typeface="Calibri"/>
            </a:endParaRPr>
          </a:p>
        </p:txBody>
      </p:sp>
      <p:sp>
        <p:nvSpPr>
          <p:cNvPr id="646" name="Google Shape;646;p57"/>
          <p:cNvSpPr txBox="1"/>
          <p:nvPr/>
        </p:nvSpPr>
        <p:spPr>
          <a:xfrm>
            <a:off x="6810807" y="2070332"/>
            <a:ext cx="1811700" cy="9723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Enforce code-to-cloud guardrails to prevent issues from ever being deployed with Wiz Code</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Give devs cloud context directly in IDEs and code for secure by design</a:t>
            </a:r>
            <a:endParaRPr sz="800" b="0" i="0" u="none" strike="noStrike" cap="none">
              <a:solidFill>
                <a:srgbClr val="01123F"/>
              </a:solidFill>
              <a:latin typeface="Calibri"/>
              <a:ea typeface="Calibri"/>
              <a:cs typeface="Calibri"/>
              <a:sym typeface="Calibri"/>
            </a:endParaRPr>
          </a:p>
        </p:txBody>
      </p:sp>
      <p:sp>
        <p:nvSpPr>
          <p:cNvPr id="647" name="Google Shape;647;p57"/>
          <p:cNvSpPr txBox="1"/>
          <p:nvPr/>
        </p:nvSpPr>
        <p:spPr>
          <a:xfrm>
            <a:off x="5006084" y="2154770"/>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rgbClr val="001741"/>
              </a:buClr>
              <a:buSzPts val="900"/>
              <a:buFont typeface="DM Sans Medium"/>
              <a:buNone/>
            </a:pPr>
            <a:r>
              <a:rPr lang="en" sz="900" b="0" i="0" u="none" strike="noStrike" cap="none">
                <a:solidFill>
                  <a:schemeClr val="dk1"/>
                </a:solidFill>
                <a:latin typeface="Calibri"/>
                <a:ea typeface="Calibri"/>
                <a:cs typeface="Calibri"/>
                <a:sym typeface="Calibri"/>
              </a:rPr>
              <a:t>POSTURE HARDENING</a:t>
            </a:r>
            <a:endParaRPr sz="900" b="0" i="0" u="none" strike="noStrike" cap="none">
              <a:solidFill>
                <a:schemeClr val="dk1"/>
              </a:solidFill>
              <a:latin typeface="Calibri"/>
              <a:ea typeface="Calibri"/>
              <a:cs typeface="Calibri"/>
              <a:sym typeface="Calibri"/>
            </a:endParaRPr>
          </a:p>
        </p:txBody>
      </p:sp>
      <p:sp>
        <p:nvSpPr>
          <p:cNvPr id="648" name="Google Shape;648;p57"/>
          <p:cNvSpPr txBox="1"/>
          <p:nvPr/>
        </p:nvSpPr>
        <p:spPr>
          <a:xfrm>
            <a:off x="4902050" y="2387075"/>
            <a:ext cx="1811700" cy="11499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Address non-urgent findings impacting overall security posture, including Posture Issues</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Manage exposures in the environment with Wiz XM</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Consolidate remediation for greater impact in a shorter      time frame</a:t>
            </a:r>
            <a:endParaRPr sz="800" b="0" i="0" u="none" strike="noStrike" cap="none">
              <a:solidFill>
                <a:srgbClr val="01123F"/>
              </a:solidFill>
              <a:latin typeface="Calibri"/>
              <a:ea typeface="Calibri"/>
              <a:cs typeface="Calibri"/>
              <a:sym typeface="Calibri"/>
            </a:endParaRPr>
          </a:p>
        </p:txBody>
      </p:sp>
      <p:sp>
        <p:nvSpPr>
          <p:cNvPr id="649" name="Google Shape;649;p57"/>
          <p:cNvSpPr txBox="1"/>
          <p:nvPr/>
        </p:nvSpPr>
        <p:spPr>
          <a:xfrm>
            <a:off x="3007222" y="2625304"/>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a:ea typeface="Calibri"/>
                <a:cs typeface="Calibri"/>
                <a:sym typeface="Calibri"/>
              </a:rPr>
              <a:t>REDUCE CRITICAL RISK</a:t>
            </a:r>
            <a:endParaRPr sz="900" b="0" i="0" u="none" strike="noStrike" cap="none">
              <a:solidFill>
                <a:schemeClr val="dk1"/>
              </a:solidFill>
              <a:latin typeface="Calibri"/>
              <a:ea typeface="Calibri"/>
              <a:cs typeface="Calibri"/>
              <a:sym typeface="Calibri"/>
            </a:endParaRPr>
          </a:p>
        </p:txBody>
      </p:sp>
      <p:sp>
        <p:nvSpPr>
          <p:cNvPr id="650" name="Google Shape;650;p57"/>
          <p:cNvSpPr txBox="1"/>
          <p:nvPr/>
        </p:nvSpPr>
        <p:spPr>
          <a:xfrm>
            <a:off x="2903188" y="2857610"/>
            <a:ext cx="18117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Prioritize immediately  exploitable attack paths   (validate with Wiz ASM)</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Achieve Zero Critical Risk Issues</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Prioritize external findings (UVM) with Wiz context</a:t>
            </a:r>
            <a:endParaRPr sz="800" b="0" i="0" u="none" strike="noStrike" cap="none">
              <a:solidFill>
                <a:srgbClr val="01123F"/>
              </a:solidFill>
              <a:latin typeface="Calibri"/>
              <a:ea typeface="Calibri"/>
              <a:cs typeface="Calibri"/>
              <a:sym typeface="Calibri"/>
            </a:endParaRPr>
          </a:p>
        </p:txBody>
      </p:sp>
      <p:sp>
        <p:nvSpPr>
          <p:cNvPr id="651" name="Google Shape;651;p57"/>
          <p:cNvSpPr txBox="1"/>
          <p:nvPr/>
        </p:nvSpPr>
        <p:spPr>
          <a:xfrm>
            <a:off x="1008697" y="3209104"/>
            <a:ext cx="1575300" cy="207900"/>
          </a:xfrm>
          <a:prstGeom prst="rect">
            <a:avLst/>
          </a:prstGeom>
          <a:noFill/>
          <a:ln>
            <a:noFill/>
          </a:ln>
        </p:spPr>
        <p:txBody>
          <a:bodyPr spcFirstLastPara="1" wrap="square" lIns="0"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a:ea typeface="Calibri"/>
                <a:cs typeface="Calibri"/>
                <a:sym typeface="Calibri"/>
              </a:rPr>
              <a:t>GAIN VISIBILITY</a:t>
            </a:r>
            <a:endParaRPr sz="900" b="0" i="0" u="none" strike="noStrike" cap="none">
              <a:solidFill>
                <a:schemeClr val="dk1"/>
              </a:solidFill>
              <a:latin typeface="Calibri"/>
              <a:ea typeface="Calibri"/>
              <a:cs typeface="Calibri"/>
              <a:sym typeface="Calibri"/>
            </a:endParaRPr>
          </a:p>
        </p:txBody>
      </p:sp>
      <p:sp>
        <p:nvSpPr>
          <p:cNvPr id="652" name="Google Shape;652;p57"/>
          <p:cNvSpPr txBox="1"/>
          <p:nvPr/>
        </p:nvSpPr>
        <p:spPr>
          <a:xfrm>
            <a:off x="904663" y="3441410"/>
            <a:ext cx="1811700" cy="1262400"/>
          </a:xfrm>
          <a:prstGeom prst="rect">
            <a:avLst/>
          </a:prstGeom>
          <a:noFill/>
          <a:ln>
            <a:noFill/>
          </a:ln>
        </p:spPr>
        <p:txBody>
          <a:bodyPr spcFirstLastPara="1" wrap="square" lIns="68575" tIns="34275" rIns="68575" bIns="34275" anchor="t" anchorCtr="0">
            <a:normAutofit/>
          </a:bodyPr>
          <a:lstStyle/>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100% code-to-cloud visibility into any repo, pipeline, or cloud</a:t>
            </a:r>
            <a:endParaRPr sz="800" b="0" i="0" u="none" strike="noStrike" cap="none">
              <a:solidFill>
                <a:srgbClr val="01123F"/>
              </a:solidFill>
              <a:latin typeface="Calibri"/>
              <a:ea typeface="Calibri"/>
              <a:cs typeface="Calibri"/>
              <a:sym typeface="Calibri"/>
            </a:endParaRPr>
          </a:p>
          <a:p>
            <a:pPr marL="0" marR="0" lvl="0" indent="0" algn="l" rtl="0">
              <a:lnSpc>
                <a:spcPct val="92000"/>
              </a:lnSpc>
              <a:spcBef>
                <a:spcPts val="0"/>
              </a:spcBef>
              <a:spcAft>
                <a:spcPts val="0"/>
              </a:spcAft>
              <a:buClr>
                <a:srgbClr val="000000"/>
              </a:buClr>
              <a:buSzPts val="500"/>
              <a:buFont typeface="Arial"/>
              <a:buNone/>
            </a:pPr>
            <a:endParaRPr sz="500" b="0" i="0" u="none" strike="noStrike" cap="none">
              <a:solidFill>
                <a:srgbClr val="01123F"/>
              </a:solidFill>
              <a:latin typeface="Calibri"/>
              <a:ea typeface="Calibri"/>
              <a:cs typeface="Calibri"/>
              <a:sym typeface="Calibri"/>
            </a:endParaRPr>
          </a:p>
          <a:p>
            <a:pPr marL="114300" marR="0" lvl="0" indent="-88900" algn="l" rtl="0">
              <a:lnSpc>
                <a:spcPct val="92000"/>
              </a:lnSpc>
              <a:spcBef>
                <a:spcPts val="0"/>
              </a:spcBef>
              <a:spcAft>
                <a:spcPts val="0"/>
              </a:spcAft>
              <a:buClr>
                <a:srgbClr val="01123F"/>
              </a:buClr>
              <a:buSzPts val="500"/>
              <a:buFont typeface="Poppins Light"/>
              <a:buChar char="●"/>
            </a:pPr>
            <a:r>
              <a:rPr lang="en" sz="800" b="0" i="0" u="none" strike="noStrike" cap="none">
                <a:solidFill>
                  <a:srgbClr val="01123F"/>
                </a:solidFill>
                <a:latin typeface="Calibri"/>
                <a:ea typeface="Calibri"/>
                <a:cs typeface="Calibri"/>
                <a:sym typeface="Calibri"/>
              </a:rPr>
              <a:t>Centralize visibility across on-prem, hybrid, cloud, code with UVM</a:t>
            </a:r>
            <a:endParaRPr sz="800" b="0" i="0" u="none" strike="noStrike" cap="none">
              <a:solidFill>
                <a:srgbClr val="01123F"/>
              </a:solidFill>
              <a:latin typeface="Calibri"/>
              <a:ea typeface="Calibri"/>
              <a:cs typeface="Calibri"/>
              <a:sym typeface="Calibri"/>
            </a:endParaRPr>
          </a:p>
        </p:txBody>
      </p:sp>
      <p:cxnSp>
        <p:nvCxnSpPr>
          <p:cNvPr id="653" name="Google Shape;653;p57"/>
          <p:cNvCxnSpPr/>
          <p:nvPr/>
        </p:nvCxnSpPr>
        <p:spPr>
          <a:xfrm rot="10800000" flipH="1">
            <a:off x="8809750" y="306800"/>
            <a:ext cx="100" cy="4836700"/>
          </a:xfrm>
          <a:prstGeom prst="straightConnector1">
            <a:avLst/>
          </a:prstGeom>
          <a:noFill/>
          <a:ln w="9525" cap="flat" cmpd="sng">
            <a:solidFill>
              <a:srgbClr val="0254EC"/>
            </a:solidFill>
            <a:prstDash val="solid"/>
            <a:round/>
            <a:headEnd type="none" w="sm" len="sm"/>
            <a:tailEnd type="none" w="sm" len="sm"/>
          </a:ln>
        </p:spPr>
      </p:cxnSp>
      <p:sp>
        <p:nvSpPr>
          <p:cNvPr id="654" name="Google Shape;654;p57"/>
          <p:cNvSpPr txBox="1"/>
          <p:nvPr/>
        </p:nvSpPr>
        <p:spPr>
          <a:xfrm>
            <a:off x="6929000" y="3214200"/>
            <a:ext cx="1732800" cy="800189"/>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Goal: Harden the SDLC while maintaining “Zero Criticals” and SLA compliance requirements</a:t>
            </a:r>
            <a:endParaRPr sz="1000" b="0" i="0" u="none" strike="noStrike" cap="none">
              <a:solidFill>
                <a:schemeClr val="dk1"/>
              </a:solidFill>
              <a:latin typeface="Calibri"/>
              <a:ea typeface="Calibri"/>
              <a:cs typeface="Calibri"/>
              <a:sym typeface="Calibri"/>
            </a:endParaRPr>
          </a:p>
        </p:txBody>
      </p:sp>
      <p:cxnSp>
        <p:nvCxnSpPr>
          <p:cNvPr id="655" name="Google Shape;655;p57"/>
          <p:cNvCxnSpPr/>
          <p:nvPr/>
        </p:nvCxnSpPr>
        <p:spPr>
          <a:xfrm>
            <a:off x="6804671" y="3138012"/>
            <a:ext cx="2005500" cy="0"/>
          </a:xfrm>
          <a:prstGeom prst="straightConnector1">
            <a:avLst/>
          </a:prstGeom>
          <a:noFill/>
          <a:ln w="9525" cap="flat" cmpd="sng">
            <a:solidFill>
              <a:srgbClr val="0254EC"/>
            </a:solidFill>
            <a:prstDash val="solid"/>
            <a:round/>
            <a:headEnd type="none" w="sm" len="sm"/>
            <a:tailEnd type="none" w="sm" len="sm"/>
          </a:ln>
        </p:spPr>
      </p:cxnSp>
      <p:cxnSp>
        <p:nvCxnSpPr>
          <p:cNvPr id="656" name="Google Shape;656;p57"/>
          <p:cNvCxnSpPr/>
          <p:nvPr/>
        </p:nvCxnSpPr>
        <p:spPr>
          <a:xfrm>
            <a:off x="805008" y="4325009"/>
            <a:ext cx="2005500" cy="0"/>
          </a:xfrm>
          <a:prstGeom prst="straightConnector1">
            <a:avLst/>
          </a:prstGeom>
          <a:noFill/>
          <a:ln w="9525" cap="flat" cmpd="sng">
            <a:solidFill>
              <a:srgbClr val="0254EC"/>
            </a:solidFill>
            <a:prstDash val="solid"/>
            <a:round/>
            <a:headEnd type="none" w="sm" len="sm"/>
            <a:tailEnd type="none" w="sm" len="sm"/>
          </a:ln>
        </p:spPr>
      </p:cxnSp>
      <p:cxnSp>
        <p:nvCxnSpPr>
          <p:cNvPr id="657" name="Google Shape;657;p57"/>
          <p:cNvCxnSpPr/>
          <p:nvPr/>
        </p:nvCxnSpPr>
        <p:spPr>
          <a:xfrm>
            <a:off x="4808759" y="3675191"/>
            <a:ext cx="2000400" cy="0"/>
          </a:xfrm>
          <a:prstGeom prst="straightConnector1">
            <a:avLst/>
          </a:prstGeom>
          <a:noFill/>
          <a:ln w="9525" cap="flat" cmpd="sng">
            <a:solidFill>
              <a:srgbClr val="0254EC"/>
            </a:solidFill>
            <a:prstDash val="solid"/>
            <a:round/>
            <a:headEnd type="none" w="sm" len="sm"/>
            <a:tailEnd type="none" w="sm" len="sm"/>
          </a:ln>
        </p:spPr>
      </p:cxnSp>
      <p:cxnSp>
        <p:nvCxnSpPr>
          <p:cNvPr id="658" name="Google Shape;658;p57"/>
          <p:cNvCxnSpPr/>
          <p:nvPr/>
        </p:nvCxnSpPr>
        <p:spPr>
          <a:xfrm>
            <a:off x="2820861" y="3916487"/>
            <a:ext cx="1982700" cy="0"/>
          </a:xfrm>
          <a:prstGeom prst="straightConnector1">
            <a:avLst/>
          </a:prstGeom>
          <a:noFill/>
          <a:ln w="9525" cap="flat" cmpd="sng">
            <a:solidFill>
              <a:srgbClr val="0254EC"/>
            </a:solidFill>
            <a:prstDash val="solid"/>
            <a:round/>
            <a:headEnd type="none" w="sm" len="sm"/>
            <a:tailEnd type="none" w="sm" len="sm"/>
          </a:ln>
        </p:spPr>
      </p:cxnSp>
      <p:sp>
        <p:nvSpPr>
          <p:cNvPr id="659" name="Google Shape;659;p57"/>
          <p:cNvSpPr txBox="1"/>
          <p:nvPr/>
        </p:nvSpPr>
        <p:spPr>
          <a:xfrm>
            <a:off x="904675" y="4416650"/>
            <a:ext cx="1732800" cy="6465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Goal: Full visibility into vulnerabilities across all environments</a:t>
            </a:r>
            <a:endParaRPr sz="1000" b="0" i="0" u="none" strike="noStrike" cap="none">
              <a:solidFill>
                <a:schemeClr val="dk1"/>
              </a:solidFill>
              <a:latin typeface="Calibri"/>
              <a:ea typeface="Calibri"/>
              <a:cs typeface="Calibri"/>
              <a:sym typeface="Calibri"/>
            </a:endParaRPr>
          </a:p>
        </p:txBody>
      </p:sp>
      <p:sp>
        <p:nvSpPr>
          <p:cNvPr id="660" name="Google Shape;660;p57"/>
          <p:cNvSpPr txBox="1"/>
          <p:nvPr/>
        </p:nvSpPr>
        <p:spPr>
          <a:xfrm>
            <a:off x="2942638" y="3992675"/>
            <a:ext cx="1732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Goal: Achieve “Zero Critical” Risk Issues</a:t>
            </a:r>
            <a:endParaRPr sz="1000" b="0" i="0" u="none" strike="noStrike" cap="none">
              <a:solidFill>
                <a:schemeClr val="dk1"/>
              </a:solidFill>
              <a:latin typeface="Calibri"/>
              <a:ea typeface="Calibri"/>
              <a:cs typeface="Calibri"/>
              <a:sym typeface="Calibri"/>
            </a:endParaRPr>
          </a:p>
        </p:txBody>
      </p:sp>
      <p:sp>
        <p:nvSpPr>
          <p:cNvPr id="661" name="Google Shape;661;p57"/>
          <p:cNvSpPr txBox="1"/>
          <p:nvPr/>
        </p:nvSpPr>
        <p:spPr>
          <a:xfrm>
            <a:off x="4934925" y="3751400"/>
            <a:ext cx="17328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Goal: Meet all SLAs for Posture Issues</a:t>
            </a:r>
            <a:endParaRPr sz="1000" b="0" i="0" u="none" strike="noStrike" cap="none">
              <a:solidFill>
                <a:schemeClr val="dk1"/>
              </a:solidFill>
              <a:latin typeface="Calibri"/>
              <a:ea typeface="Calibri"/>
              <a:cs typeface="Calibri"/>
              <a:sym typeface="Calibri"/>
            </a:endParaRPr>
          </a:p>
        </p:txBody>
      </p:sp>
      <p:pic>
        <p:nvPicPr>
          <p:cNvPr id="662" name="Google Shape;662;p57" title="Group 1000004546.png"/>
          <p:cNvPicPr preferRelativeResize="0"/>
          <p:nvPr/>
        </p:nvPicPr>
        <p:blipFill rotWithShape="1">
          <a:blip r:embed="rId4">
            <a:alphaModFix/>
          </a:blip>
          <a:srcRect/>
          <a:stretch/>
        </p:blipFill>
        <p:spPr>
          <a:xfrm>
            <a:off x="6717625" y="465775"/>
            <a:ext cx="883400" cy="883400"/>
          </a:xfrm>
          <a:prstGeom prst="rect">
            <a:avLst/>
          </a:prstGeom>
          <a:noFill/>
          <a:ln>
            <a:noFill/>
          </a:ln>
        </p:spPr>
      </p:pic>
      <p:pic>
        <p:nvPicPr>
          <p:cNvPr id="663" name="Google Shape;663;p57" title="Group 1000004545.png"/>
          <p:cNvPicPr preferRelativeResize="0"/>
          <p:nvPr/>
        </p:nvPicPr>
        <p:blipFill rotWithShape="1">
          <a:blip r:embed="rId5">
            <a:alphaModFix/>
          </a:blip>
          <a:srcRect/>
          <a:stretch/>
        </p:blipFill>
        <p:spPr>
          <a:xfrm>
            <a:off x="4685600" y="1077601"/>
            <a:ext cx="883400" cy="883400"/>
          </a:xfrm>
          <a:prstGeom prst="rect">
            <a:avLst/>
          </a:prstGeom>
          <a:noFill/>
          <a:ln>
            <a:noFill/>
          </a:ln>
        </p:spPr>
      </p:pic>
      <p:pic>
        <p:nvPicPr>
          <p:cNvPr id="664" name="Google Shape;664;p57" title="Group 1000004543_1.png"/>
          <p:cNvPicPr preferRelativeResize="0"/>
          <p:nvPr/>
        </p:nvPicPr>
        <p:blipFill rotWithShape="1">
          <a:blip r:embed="rId6">
            <a:alphaModFix/>
          </a:blip>
          <a:srcRect/>
          <a:stretch/>
        </p:blipFill>
        <p:spPr>
          <a:xfrm>
            <a:off x="685650" y="2277531"/>
            <a:ext cx="883400" cy="883400"/>
          </a:xfrm>
          <a:prstGeom prst="rect">
            <a:avLst/>
          </a:prstGeom>
          <a:noFill/>
          <a:ln>
            <a:noFill/>
          </a:ln>
        </p:spPr>
      </p:pic>
      <p:pic>
        <p:nvPicPr>
          <p:cNvPr id="665" name="Google Shape;665;p57" title="Group 1000004544.png"/>
          <p:cNvPicPr preferRelativeResize="0"/>
          <p:nvPr/>
        </p:nvPicPr>
        <p:blipFill rotWithShape="1">
          <a:blip r:embed="rId7">
            <a:alphaModFix/>
          </a:blip>
          <a:srcRect/>
          <a:stretch/>
        </p:blipFill>
        <p:spPr>
          <a:xfrm>
            <a:off x="2698497" y="1693375"/>
            <a:ext cx="883400" cy="883400"/>
          </a:xfrm>
          <a:prstGeom prst="rect">
            <a:avLst/>
          </a:prstGeom>
          <a:noFill/>
          <a:ln>
            <a:noFill/>
          </a:ln>
        </p:spPr>
      </p:pic>
      <p:sp>
        <p:nvSpPr>
          <p:cNvPr id="666" name="Google Shape;666;p57"/>
          <p:cNvSpPr/>
          <p:nvPr/>
        </p:nvSpPr>
        <p:spPr>
          <a:xfrm>
            <a:off x="3212396" y="629773"/>
            <a:ext cx="1453800" cy="252300"/>
          </a:xfrm>
          <a:prstGeom prst="roundRect">
            <a:avLst>
              <a:gd name="adj" fmla="val 50000"/>
            </a:avLst>
          </a:prstGeom>
          <a:solidFill>
            <a:srgbClr val="FFFFFF"/>
          </a:solidFill>
          <a:ln w="11350" cap="flat" cmpd="sng">
            <a:solidFill>
              <a:srgbClr val="CADAFF"/>
            </a:solidFill>
            <a:prstDash val="solid"/>
            <a:miter lim="0"/>
            <a:headEnd type="none" w="sm" len="sm"/>
            <a:tailEnd type="none" w="sm" len="sm"/>
          </a:ln>
        </p:spPr>
        <p:txBody>
          <a:bodyPr spcFirstLastPara="1" wrap="square" lIns="61300" tIns="30650" rIns="61300" bIns="30650" anchor="t" anchorCtr="0">
            <a:noAutofit/>
          </a:bodyPr>
          <a:lstStyle/>
          <a:p>
            <a:pPr marL="0" marR="0" lvl="0" indent="0" algn="ctr" rtl="0">
              <a:lnSpc>
                <a:spcPct val="100000"/>
              </a:lnSpc>
              <a:spcBef>
                <a:spcPts val="0"/>
              </a:spcBef>
              <a:spcAft>
                <a:spcPts val="0"/>
              </a:spcAft>
              <a:buClr>
                <a:srgbClr val="0153EB"/>
              </a:buClr>
              <a:buSzPts val="596"/>
              <a:buFont typeface="Calibri"/>
              <a:buNone/>
            </a:pPr>
            <a:endParaRPr sz="596" b="1" i="0" u="none" strike="noStrike" cap="none">
              <a:solidFill>
                <a:srgbClr val="000000"/>
              </a:solidFill>
              <a:latin typeface="Calibri"/>
              <a:ea typeface="Calibri"/>
              <a:cs typeface="Calibri"/>
              <a:sym typeface="Calibri"/>
            </a:endParaRPr>
          </a:p>
        </p:txBody>
      </p:sp>
      <p:sp>
        <p:nvSpPr>
          <p:cNvPr id="667" name="Google Shape;667;p57"/>
          <p:cNvSpPr txBox="1"/>
          <p:nvPr/>
        </p:nvSpPr>
        <p:spPr>
          <a:xfrm>
            <a:off x="3497502" y="635426"/>
            <a:ext cx="1289400" cy="247800"/>
          </a:xfrm>
          <a:prstGeom prst="rect">
            <a:avLst/>
          </a:prstGeom>
          <a:noFill/>
          <a:ln>
            <a:noFill/>
          </a:ln>
        </p:spPr>
        <p:txBody>
          <a:bodyPr spcFirstLastPara="1" wrap="square" lIns="0" tIns="40875" rIns="81750" bIns="40875" anchor="t" anchorCtr="0">
            <a:spAutoFit/>
          </a:bodyPr>
          <a:lstStyle/>
          <a:p>
            <a:pPr marL="0" marR="0" lvl="0" indent="0" algn="l" rtl="0">
              <a:lnSpc>
                <a:spcPct val="100000"/>
              </a:lnSpc>
              <a:spcBef>
                <a:spcPts val="0"/>
              </a:spcBef>
              <a:spcAft>
                <a:spcPts val="0"/>
              </a:spcAft>
              <a:buClr>
                <a:srgbClr val="0153EB"/>
              </a:buClr>
              <a:buSzPts val="1073"/>
              <a:buFont typeface="DM Sans Medium"/>
              <a:buNone/>
            </a:pPr>
            <a:r>
              <a:rPr lang="en" sz="1073" b="0" i="0" u="none" strike="noStrike" cap="none">
                <a:solidFill>
                  <a:srgbClr val="0153EB"/>
                </a:solidFill>
                <a:latin typeface="Calibri"/>
                <a:ea typeface="Calibri"/>
                <a:cs typeface="Calibri"/>
                <a:sym typeface="Calibri"/>
              </a:rPr>
              <a:t>Where are you?</a:t>
            </a:r>
            <a:endParaRPr sz="1311" b="0" i="0" u="none" strike="noStrike" cap="none">
              <a:solidFill>
                <a:srgbClr val="000000"/>
              </a:solidFill>
              <a:latin typeface="Calibri"/>
              <a:ea typeface="Calibri"/>
              <a:cs typeface="Calibri"/>
              <a:sym typeface="Calibri"/>
            </a:endParaRPr>
          </a:p>
        </p:txBody>
      </p:sp>
      <p:pic>
        <p:nvPicPr>
          <p:cNvPr id="668" name="Google Shape;668;p57" title="icon.png"/>
          <p:cNvPicPr preferRelativeResize="0"/>
          <p:nvPr/>
        </p:nvPicPr>
        <p:blipFill rotWithShape="1">
          <a:blip r:embed="rId8">
            <a:alphaModFix/>
          </a:blip>
          <a:srcRect/>
          <a:stretch/>
        </p:blipFill>
        <p:spPr>
          <a:xfrm>
            <a:off x="3149780" y="617823"/>
            <a:ext cx="272612" cy="27261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73"/>
        <p:cNvGrpSpPr/>
        <p:nvPr/>
      </p:nvGrpSpPr>
      <p:grpSpPr>
        <a:xfrm>
          <a:off x="0" y="0"/>
          <a:ext cx="0" cy="0"/>
          <a:chOff x="0" y="0"/>
          <a:chExt cx="0" cy="0"/>
        </a:xfrm>
      </p:grpSpPr>
      <p:sp>
        <p:nvSpPr>
          <p:cNvPr id="674" name="Google Shape;674;p58"/>
          <p:cNvSpPr txBox="1">
            <a:spLocks noGrp="1"/>
          </p:cNvSpPr>
          <p:nvPr>
            <p:ph type="title" idx="4294967295"/>
          </p:nvPr>
        </p:nvSpPr>
        <p:spPr>
          <a:xfrm>
            <a:off x="150" y="1666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Cloud Security Posture Snapshot</a:t>
            </a:r>
            <a:endParaRPr sz="2420">
              <a:latin typeface="Calibri"/>
              <a:ea typeface="Calibri"/>
              <a:cs typeface="Calibri"/>
              <a:sym typeface="Calibri"/>
            </a:endParaRPr>
          </a:p>
        </p:txBody>
      </p:sp>
      <p:pic>
        <p:nvPicPr>
          <p:cNvPr id="675" name="Google Shape;675;p58"/>
          <p:cNvPicPr preferRelativeResize="0"/>
          <p:nvPr/>
        </p:nvPicPr>
        <p:blipFill rotWithShape="1">
          <a:blip r:embed="rId3">
            <a:alphaModFix/>
          </a:blip>
          <a:srcRect/>
          <a:stretch/>
        </p:blipFill>
        <p:spPr>
          <a:xfrm>
            <a:off x="328386" y="891625"/>
            <a:ext cx="2104822" cy="1177356"/>
          </a:xfrm>
          <a:prstGeom prst="rect">
            <a:avLst/>
          </a:prstGeom>
          <a:noFill/>
          <a:ln w="9525" cap="flat" cmpd="sng">
            <a:solidFill>
              <a:schemeClr val="accent1"/>
            </a:solidFill>
            <a:prstDash val="solid"/>
            <a:round/>
            <a:headEnd type="none" w="sm" len="sm"/>
            <a:tailEnd type="none" w="sm" len="sm"/>
          </a:ln>
        </p:spPr>
      </p:pic>
      <p:sp>
        <p:nvSpPr>
          <p:cNvPr id="676" name="Google Shape;676;p58"/>
          <p:cNvSpPr txBox="1"/>
          <p:nvPr/>
        </p:nvSpPr>
        <p:spPr>
          <a:xfrm>
            <a:off x="328224" y="961165"/>
            <a:ext cx="21051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a:ea typeface="Calibri"/>
                <a:cs typeface="Calibri"/>
                <a:sym typeface="Calibri"/>
              </a:rPr>
              <a:t>Current Security Score</a:t>
            </a:r>
            <a:endParaRPr sz="1200" b="0" i="0" u="none" strike="noStrike" cap="none">
              <a:solidFill>
                <a:schemeClr val="dk1"/>
              </a:solidFill>
              <a:latin typeface="Calibri"/>
              <a:ea typeface="Calibri"/>
              <a:cs typeface="Calibri"/>
              <a:sym typeface="Calibri"/>
            </a:endParaRPr>
          </a:p>
        </p:txBody>
      </p:sp>
      <p:sp>
        <p:nvSpPr>
          <p:cNvPr id="677" name="Google Shape;677;p58"/>
          <p:cNvSpPr txBox="1"/>
          <p:nvPr/>
        </p:nvSpPr>
        <p:spPr>
          <a:xfrm>
            <a:off x="328682" y="1709240"/>
            <a:ext cx="21048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90 Day Trend {{s1d}}</a:t>
            </a:r>
            <a:endParaRPr sz="1000" b="0" i="0" u="none" strike="noStrike" cap="none">
              <a:solidFill>
                <a:schemeClr val="dk1"/>
              </a:solidFill>
              <a:latin typeface="Calibri"/>
              <a:ea typeface="Calibri"/>
              <a:cs typeface="Calibri"/>
              <a:sym typeface="Calibri"/>
            </a:endParaRPr>
          </a:p>
        </p:txBody>
      </p:sp>
      <p:sp>
        <p:nvSpPr>
          <p:cNvPr id="678" name="Google Shape;678;p58"/>
          <p:cNvSpPr txBox="1"/>
          <p:nvPr/>
        </p:nvSpPr>
        <p:spPr>
          <a:xfrm>
            <a:off x="325825" y="1275254"/>
            <a:ext cx="21048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a:ea typeface="Calibri"/>
                <a:cs typeface="Calibri"/>
                <a:sym typeface="Calibri"/>
              </a:rPr>
              <a:t>{{SS}}%</a:t>
            </a:r>
            <a:endParaRPr sz="2100" b="0" i="0" u="none" strike="noStrike" cap="none">
              <a:solidFill>
                <a:srgbClr val="1155CC"/>
              </a:solidFill>
              <a:latin typeface="Calibri"/>
              <a:ea typeface="Calibri"/>
              <a:cs typeface="Calibri"/>
              <a:sym typeface="Calibri"/>
            </a:endParaRPr>
          </a:p>
        </p:txBody>
      </p:sp>
      <p:pic>
        <p:nvPicPr>
          <p:cNvPr id="679" name="Google Shape;679;p58"/>
          <p:cNvPicPr preferRelativeResize="0"/>
          <p:nvPr/>
        </p:nvPicPr>
        <p:blipFill rotWithShape="1">
          <a:blip r:embed="rId3">
            <a:alphaModFix/>
          </a:blip>
          <a:srcRect/>
          <a:stretch/>
        </p:blipFill>
        <p:spPr>
          <a:xfrm>
            <a:off x="2581991" y="897686"/>
            <a:ext cx="2072709" cy="1177356"/>
          </a:xfrm>
          <a:prstGeom prst="rect">
            <a:avLst/>
          </a:prstGeom>
          <a:noFill/>
          <a:ln w="9525" cap="flat" cmpd="sng">
            <a:solidFill>
              <a:schemeClr val="accent1"/>
            </a:solidFill>
            <a:prstDash val="solid"/>
            <a:round/>
            <a:headEnd type="none" w="sm" len="sm"/>
            <a:tailEnd type="none" w="sm" len="sm"/>
          </a:ln>
        </p:spPr>
      </p:pic>
      <p:sp>
        <p:nvSpPr>
          <p:cNvPr id="680" name="Google Shape;680;p58"/>
          <p:cNvSpPr txBox="1"/>
          <p:nvPr/>
        </p:nvSpPr>
        <p:spPr>
          <a:xfrm>
            <a:off x="2581870" y="966862"/>
            <a:ext cx="2067300" cy="2610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a:ea typeface="Calibri"/>
                <a:cs typeface="Calibri"/>
                <a:sym typeface="Calibri"/>
              </a:rPr>
              <a:t>Industry Benchmark</a:t>
            </a:r>
            <a:endParaRPr sz="1200" b="0" i="0" u="none" strike="noStrike" cap="none">
              <a:solidFill>
                <a:schemeClr val="dk1"/>
              </a:solidFill>
              <a:latin typeface="Calibri"/>
              <a:ea typeface="Calibri"/>
              <a:cs typeface="Calibri"/>
              <a:sym typeface="Calibri"/>
            </a:endParaRPr>
          </a:p>
        </p:txBody>
      </p:sp>
      <p:sp>
        <p:nvSpPr>
          <p:cNvPr id="681" name="Google Shape;681;p58"/>
          <p:cNvSpPr txBox="1"/>
          <p:nvPr/>
        </p:nvSpPr>
        <p:spPr>
          <a:xfrm>
            <a:off x="2582409" y="1756556"/>
            <a:ext cx="2065500" cy="389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a:ea typeface="Calibri"/>
                <a:cs typeface="Calibri"/>
                <a:sym typeface="Calibri"/>
              </a:rPr>
              <a:t>Security Score Gap {{SG}}%</a:t>
            </a:r>
            <a:endParaRPr sz="900" b="0" i="0" u="none" strike="noStrike" cap="none">
              <a:solidFill>
                <a:schemeClr val="dk1"/>
              </a:solidFill>
              <a:latin typeface="Calibri"/>
              <a:ea typeface="Calibri"/>
              <a:cs typeface="Calibri"/>
              <a:sym typeface="Calibri"/>
            </a:endParaRPr>
          </a:p>
        </p:txBody>
      </p:sp>
      <p:sp>
        <p:nvSpPr>
          <p:cNvPr id="682" name="Google Shape;682;p58"/>
          <p:cNvSpPr txBox="1"/>
          <p:nvPr/>
        </p:nvSpPr>
        <p:spPr>
          <a:xfrm>
            <a:off x="2580848" y="1468922"/>
            <a:ext cx="2065500" cy="3318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700"/>
              <a:buFont typeface="Arial"/>
              <a:buNone/>
            </a:pPr>
            <a:r>
              <a:rPr lang="en" sz="1700" b="0" i="0" u="none" strike="noStrike" cap="none">
                <a:solidFill>
                  <a:srgbClr val="1155CC"/>
                </a:solidFill>
                <a:latin typeface="Calibri"/>
                <a:ea typeface="Calibri"/>
                <a:cs typeface="Calibri"/>
                <a:sym typeface="Calibri"/>
              </a:rPr>
              <a:t>{{SP}}%</a:t>
            </a:r>
            <a:endParaRPr sz="1700" b="0" i="0" u="none" strike="noStrike" cap="none">
              <a:solidFill>
                <a:srgbClr val="1155CC"/>
              </a:solidFill>
              <a:latin typeface="Calibri"/>
              <a:ea typeface="Calibri"/>
              <a:cs typeface="Calibri"/>
              <a:sym typeface="Calibri"/>
            </a:endParaRPr>
          </a:p>
        </p:txBody>
      </p:sp>
      <p:pic>
        <p:nvPicPr>
          <p:cNvPr id="683" name="Google Shape;683;p58"/>
          <p:cNvPicPr preferRelativeResize="0"/>
          <p:nvPr/>
        </p:nvPicPr>
        <p:blipFill rotWithShape="1">
          <a:blip r:embed="rId3">
            <a:alphaModFix/>
          </a:blip>
          <a:srcRect/>
          <a:stretch/>
        </p:blipFill>
        <p:spPr>
          <a:xfrm>
            <a:off x="4776020" y="897687"/>
            <a:ext cx="1951974" cy="1177356"/>
          </a:xfrm>
          <a:prstGeom prst="rect">
            <a:avLst/>
          </a:prstGeom>
          <a:noFill/>
          <a:ln w="9525" cap="flat" cmpd="sng">
            <a:solidFill>
              <a:schemeClr val="accent1"/>
            </a:solidFill>
            <a:prstDash val="solid"/>
            <a:round/>
            <a:headEnd type="none" w="sm" len="sm"/>
            <a:tailEnd type="none" w="sm" len="sm"/>
          </a:ln>
        </p:spPr>
      </p:pic>
      <p:sp>
        <p:nvSpPr>
          <p:cNvPr id="684" name="Google Shape;684;p58"/>
          <p:cNvSpPr txBox="1"/>
          <p:nvPr/>
        </p:nvSpPr>
        <p:spPr>
          <a:xfrm>
            <a:off x="4775870" y="955658"/>
            <a:ext cx="19521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chemeClr val="hlink"/>
                </a:solidFill>
                <a:latin typeface="Calibri"/>
                <a:ea typeface="Calibri"/>
                <a:cs typeface="Calibri"/>
                <a:sym typeface="Calibri"/>
                <a:hlinkClick r:id="rId4"/>
              </a:rPr>
              <a:t>Open Critical Issues</a:t>
            </a:r>
            <a:r>
              <a:rPr lang="en" sz="1200" b="0" i="0" u="none" strike="noStrike" cap="none">
                <a:solidFill>
                  <a:srgbClr val="0254EC"/>
                </a:solidFill>
                <a:latin typeface="Calibri"/>
                <a:ea typeface="Calibri"/>
                <a:cs typeface="Calibri"/>
                <a:sym typeface="Calibri"/>
              </a:rPr>
              <a:t> ↗</a:t>
            </a:r>
            <a:endParaRPr sz="1200" b="0" i="0" u="none" strike="noStrike" cap="none">
              <a:solidFill>
                <a:srgbClr val="0254EC"/>
              </a:solidFill>
              <a:latin typeface="Calibri"/>
              <a:ea typeface="Calibri"/>
              <a:cs typeface="Calibri"/>
              <a:sym typeface="Calibri"/>
            </a:endParaRPr>
          </a:p>
        </p:txBody>
      </p:sp>
      <p:sp>
        <p:nvSpPr>
          <p:cNvPr id="685" name="Google Shape;685;p58"/>
          <p:cNvSpPr txBox="1"/>
          <p:nvPr/>
        </p:nvSpPr>
        <p:spPr>
          <a:xfrm>
            <a:off x="4775970" y="1697930"/>
            <a:ext cx="19521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5"/>
              </a:rPr>
              <a:t>Resolved Criticals </a:t>
            </a:r>
            <a:r>
              <a:rPr lang="en" sz="1100" b="0" i="0" u="none" strike="noStrike" cap="none">
                <a:solidFill>
                  <a:schemeClr val="hlink"/>
                </a:solidFill>
                <a:uFill>
                  <a:noFill/>
                </a:uFill>
                <a:latin typeface="Calibri"/>
                <a:ea typeface="Calibri"/>
                <a:cs typeface="Calibri"/>
                <a:sym typeface="Calibri"/>
                <a:hlinkClick r:id="rId5"/>
              </a:rPr>
              <a:t>↗</a:t>
            </a:r>
            <a:r>
              <a:rPr lang="en" sz="1000" b="0" i="0" u="none" strike="noStrike" cap="none">
                <a:solidFill>
                  <a:srgbClr val="0254EC"/>
                </a:solidFill>
                <a:latin typeface="Calibri"/>
                <a:ea typeface="Calibri"/>
                <a:cs typeface="Calibri"/>
                <a:sym typeface="Calibri"/>
              </a:rPr>
              <a:t> </a:t>
            </a:r>
            <a:r>
              <a:rPr lang="en" sz="1000" b="1" i="0" u="none" strike="noStrike" cap="none">
                <a:solidFill>
                  <a:srgbClr val="0254EC"/>
                </a:solidFill>
                <a:latin typeface="Calibri"/>
                <a:ea typeface="Calibri"/>
                <a:cs typeface="Calibri"/>
                <a:sym typeface="Calibri"/>
              </a:rPr>
              <a:t>{{RC}}</a:t>
            </a:r>
            <a:endParaRPr sz="1000" b="1" i="0" u="none" strike="noStrike" cap="none">
              <a:solidFill>
                <a:srgbClr val="0254EC"/>
              </a:solidFill>
              <a:latin typeface="Calibri"/>
              <a:ea typeface="Calibri"/>
              <a:cs typeface="Calibri"/>
              <a:sym typeface="Calibri"/>
            </a:endParaRPr>
          </a:p>
        </p:txBody>
      </p:sp>
      <p:sp>
        <p:nvSpPr>
          <p:cNvPr id="686" name="Google Shape;686;p58"/>
          <p:cNvSpPr txBox="1"/>
          <p:nvPr/>
        </p:nvSpPr>
        <p:spPr>
          <a:xfrm>
            <a:off x="4773495" y="1274373"/>
            <a:ext cx="19518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a:ea typeface="Calibri"/>
                <a:cs typeface="Calibri"/>
                <a:sym typeface="Calibri"/>
              </a:rPr>
              <a:t>{{OC}}</a:t>
            </a:r>
            <a:endParaRPr sz="2100" b="0" i="0" u="none" strike="noStrike" cap="none">
              <a:solidFill>
                <a:srgbClr val="1155CC"/>
              </a:solidFill>
              <a:latin typeface="Calibri"/>
              <a:ea typeface="Calibri"/>
              <a:cs typeface="Calibri"/>
              <a:sym typeface="Calibri"/>
            </a:endParaRPr>
          </a:p>
        </p:txBody>
      </p:sp>
      <p:pic>
        <p:nvPicPr>
          <p:cNvPr id="687" name="Google Shape;687;p58"/>
          <p:cNvPicPr preferRelativeResize="0"/>
          <p:nvPr/>
        </p:nvPicPr>
        <p:blipFill rotWithShape="1">
          <a:blip r:embed="rId3">
            <a:alphaModFix/>
          </a:blip>
          <a:srcRect/>
          <a:stretch/>
        </p:blipFill>
        <p:spPr>
          <a:xfrm>
            <a:off x="6866110" y="897687"/>
            <a:ext cx="1951974" cy="1177356"/>
          </a:xfrm>
          <a:prstGeom prst="rect">
            <a:avLst/>
          </a:prstGeom>
          <a:noFill/>
          <a:ln w="9525" cap="flat" cmpd="sng">
            <a:solidFill>
              <a:schemeClr val="accent1"/>
            </a:solidFill>
            <a:prstDash val="solid"/>
            <a:round/>
            <a:headEnd type="none" w="sm" len="sm"/>
            <a:tailEnd type="none" w="sm" len="sm"/>
          </a:ln>
        </p:spPr>
      </p:pic>
      <p:sp>
        <p:nvSpPr>
          <p:cNvPr id="688" name="Google Shape;688;p58"/>
          <p:cNvSpPr txBox="1"/>
          <p:nvPr/>
        </p:nvSpPr>
        <p:spPr>
          <a:xfrm>
            <a:off x="6865973" y="948265"/>
            <a:ext cx="1952100" cy="2577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chemeClr val="hlink"/>
                </a:solidFill>
                <a:latin typeface="Calibri"/>
                <a:ea typeface="Calibri"/>
                <a:cs typeface="Calibri"/>
                <a:sym typeface="Calibri"/>
                <a:hlinkClick r:id="rId6"/>
              </a:rPr>
              <a:t>Open High Issues</a:t>
            </a:r>
            <a:r>
              <a:rPr lang="en" sz="1200" b="0" i="0" u="none" strike="noStrike" cap="none">
                <a:solidFill>
                  <a:srgbClr val="0254EC"/>
                </a:solidFill>
                <a:latin typeface="Calibri"/>
                <a:ea typeface="Calibri"/>
                <a:cs typeface="Calibri"/>
                <a:sym typeface="Calibri"/>
              </a:rPr>
              <a:t> ↗</a:t>
            </a:r>
            <a:endParaRPr sz="1200" b="0" i="0" u="none" strike="noStrike" cap="none">
              <a:solidFill>
                <a:srgbClr val="0254EC"/>
              </a:solidFill>
              <a:latin typeface="Calibri"/>
              <a:ea typeface="Calibri"/>
              <a:cs typeface="Calibri"/>
              <a:sym typeface="Calibri"/>
            </a:endParaRPr>
          </a:p>
        </p:txBody>
      </p:sp>
      <p:sp>
        <p:nvSpPr>
          <p:cNvPr id="689" name="Google Shape;689;p58"/>
          <p:cNvSpPr txBox="1"/>
          <p:nvPr/>
        </p:nvSpPr>
        <p:spPr>
          <a:xfrm>
            <a:off x="6866072" y="1682413"/>
            <a:ext cx="1952100" cy="3840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7"/>
              </a:rPr>
              <a:t>Resolved Highs</a:t>
            </a:r>
            <a:r>
              <a:rPr lang="en" sz="1000" b="0" i="0" u="none" strike="noStrike" cap="none">
                <a:solidFill>
                  <a:srgbClr val="0254EC"/>
                </a:solidFill>
                <a:latin typeface="Calibri"/>
                <a:ea typeface="Calibri"/>
                <a:cs typeface="Calibri"/>
                <a:sym typeface="Calibri"/>
              </a:rPr>
              <a:t> </a:t>
            </a:r>
            <a:r>
              <a:rPr lang="en" sz="1100" b="0" i="0" u="none" strike="noStrike" cap="none">
                <a:solidFill>
                  <a:schemeClr val="hlink"/>
                </a:solidFill>
                <a:uFill>
                  <a:noFill/>
                </a:uFill>
                <a:latin typeface="Calibri"/>
                <a:ea typeface="Calibri"/>
                <a:cs typeface="Calibri"/>
                <a:sym typeface="Calibri"/>
                <a:hlinkClick r:id="rId7"/>
              </a:rPr>
              <a:t>↗</a:t>
            </a:r>
            <a:r>
              <a:rPr lang="en" sz="1000" b="0" i="0" u="none" strike="noStrike" cap="none">
                <a:solidFill>
                  <a:srgbClr val="0254EC"/>
                </a:solidFill>
                <a:latin typeface="Calibri"/>
                <a:ea typeface="Calibri"/>
                <a:cs typeface="Calibri"/>
                <a:sym typeface="Calibri"/>
              </a:rPr>
              <a:t> </a:t>
            </a:r>
            <a:r>
              <a:rPr lang="en" sz="1000" b="1" i="0" u="none" strike="noStrike" cap="none">
                <a:solidFill>
                  <a:srgbClr val="0254EC"/>
                </a:solidFill>
                <a:latin typeface="Calibri"/>
                <a:ea typeface="Calibri"/>
                <a:cs typeface="Calibri"/>
                <a:sym typeface="Calibri"/>
              </a:rPr>
              <a:t>{{RH}}</a:t>
            </a:r>
            <a:endParaRPr sz="900" b="1" i="0" u="none" strike="noStrike" cap="none">
              <a:solidFill>
                <a:srgbClr val="0254EC"/>
              </a:solidFill>
              <a:latin typeface="Calibri"/>
              <a:ea typeface="Calibri"/>
              <a:cs typeface="Calibri"/>
              <a:sym typeface="Calibri"/>
            </a:endParaRPr>
          </a:p>
        </p:txBody>
      </p:sp>
      <p:sp>
        <p:nvSpPr>
          <p:cNvPr id="690" name="Google Shape;690;p58"/>
          <p:cNvSpPr txBox="1"/>
          <p:nvPr/>
        </p:nvSpPr>
        <p:spPr>
          <a:xfrm>
            <a:off x="6863397" y="1267303"/>
            <a:ext cx="1952100" cy="327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a:ea typeface="Calibri"/>
                <a:cs typeface="Calibri"/>
                <a:sym typeface="Calibri"/>
              </a:rPr>
              <a:t>{{OH}}</a:t>
            </a:r>
            <a:endParaRPr sz="2100" b="0" i="0" u="none" strike="noStrike" cap="none">
              <a:solidFill>
                <a:srgbClr val="1155CC"/>
              </a:solidFill>
              <a:latin typeface="Calibri"/>
              <a:ea typeface="Calibri"/>
              <a:cs typeface="Calibri"/>
              <a:sym typeface="Calibri"/>
            </a:endParaRPr>
          </a:p>
        </p:txBody>
      </p:sp>
      <p:pic>
        <p:nvPicPr>
          <p:cNvPr id="691" name="Google Shape;691;p58"/>
          <p:cNvPicPr preferRelativeResize="0"/>
          <p:nvPr/>
        </p:nvPicPr>
        <p:blipFill rotWithShape="1">
          <a:blip r:embed="rId3">
            <a:alphaModFix/>
          </a:blip>
          <a:srcRect/>
          <a:stretch/>
        </p:blipFill>
        <p:spPr>
          <a:xfrm>
            <a:off x="331250" y="2224649"/>
            <a:ext cx="2100500" cy="1268051"/>
          </a:xfrm>
          <a:prstGeom prst="rect">
            <a:avLst/>
          </a:prstGeom>
          <a:noFill/>
          <a:ln w="9525" cap="flat" cmpd="sng">
            <a:solidFill>
              <a:schemeClr val="accent1"/>
            </a:solidFill>
            <a:prstDash val="solid"/>
            <a:round/>
            <a:headEnd type="none" w="sm" len="sm"/>
            <a:tailEnd type="none" w="sm" len="sm"/>
          </a:ln>
        </p:spPr>
      </p:pic>
      <p:sp>
        <p:nvSpPr>
          <p:cNvPr id="692" name="Google Shape;692;p58"/>
          <p:cNvSpPr txBox="1"/>
          <p:nvPr/>
        </p:nvSpPr>
        <p:spPr>
          <a:xfrm>
            <a:off x="331089" y="2303994"/>
            <a:ext cx="2100600" cy="2691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none" strike="noStrike" cap="none">
                <a:solidFill>
                  <a:schemeClr val="dk1"/>
                </a:solidFill>
                <a:latin typeface="Calibri"/>
                <a:ea typeface="Calibri"/>
                <a:cs typeface="Calibri"/>
                <a:sym typeface="Calibri"/>
              </a:rPr>
              <a:t>Ignored Issues</a:t>
            </a:r>
            <a:endParaRPr sz="1200" b="0" i="0" u="none" strike="noStrike" cap="none">
              <a:solidFill>
                <a:schemeClr val="dk1"/>
              </a:solidFill>
              <a:latin typeface="Calibri"/>
              <a:ea typeface="Calibri"/>
              <a:cs typeface="Calibri"/>
              <a:sym typeface="Calibri"/>
            </a:endParaRPr>
          </a:p>
        </p:txBody>
      </p:sp>
      <p:sp>
        <p:nvSpPr>
          <p:cNvPr id="693" name="Google Shape;693;p58"/>
          <p:cNvSpPr txBox="1"/>
          <p:nvPr/>
        </p:nvSpPr>
        <p:spPr>
          <a:xfrm>
            <a:off x="331546" y="3000634"/>
            <a:ext cx="2100300" cy="401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8"/>
              </a:rPr>
              <a:t>Total Ignored Issues</a:t>
            </a:r>
            <a:endParaRPr sz="1000" b="0" i="0" u="none" strike="noStrike" cap="none">
              <a:solidFill>
                <a:srgbClr val="0254EC"/>
              </a:solidFill>
              <a:latin typeface="Calibri"/>
              <a:ea typeface="Calibri"/>
              <a:cs typeface="Calibri"/>
              <a:sym typeface="Calibri"/>
            </a:endParaRPr>
          </a:p>
        </p:txBody>
      </p:sp>
      <p:sp>
        <p:nvSpPr>
          <p:cNvPr id="694" name="Google Shape;694;p58"/>
          <p:cNvSpPr txBox="1"/>
          <p:nvPr/>
        </p:nvSpPr>
        <p:spPr>
          <a:xfrm>
            <a:off x="328694" y="2629117"/>
            <a:ext cx="2100300" cy="3423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a:ea typeface="Calibri"/>
                <a:cs typeface="Calibri"/>
                <a:sym typeface="Calibri"/>
              </a:rPr>
              <a:t>{{RJ}}</a:t>
            </a:r>
            <a:endParaRPr sz="2100" b="0" i="0" u="none" strike="noStrike" cap="none">
              <a:solidFill>
                <a:srgbClr val="1155CC"/>
              </a:solidFill>
              <a:latin typeface="Calibri"/>
              <a:ea typeface="Calibri"/>
              <a:cs typeface="Calibri"/>
              <a:sym typeface="Calibri"/>
            </a:endParaRPr>
          </a:p>
        </p:txBody>
      </p:sp>
      <p:pic>
        <p:nvPicPr>
          <p:cNvPr id="695" name="Google Shape;695;p58"/>
          <p:cNvPicPr preferRelativeResize="0"/>
          <p:nvPr/>
        </p:nvPicPr>
        <p:blipFill rotWithShape="1">
          <a:blip r:embed="rId3">
            <a:alphaModFix/>
          </a:blip>
          <a:srcRect/>
          <a:stretch/>
        </p:blipFill>
        <p:spPr>
          <a:xfrm>
            <a:off x="2586575" y="2230725"/>
            <a:ext cx="2100372" cy="1268051"/>
          </a:xfrm>
          <a:prstGeom prst="rect">
            <a:avLst/>
          </a:prstGeom>
          <a:noFill/>
          <a:ln w="9525" cap="flat" cmpd="sng">
            <a:solidFill>
              <a:schemeClr val="accent1"/>
            </a:solidFill>
            <a:prstDash val="solid"/>
            <a:round/>
            <a:headEnd type="none" w="sm" len="sm"/>
            <a:tailEnd type="none" w="sm" len="sm"/>
          </a:ln>
        </p:spPr>
      </p:pic>
      <p:sp>
        <p:nvSpPr>
          <p:cNvPr id="696" name="Google Shape;696;p58"/>
          <p:cNvSpPr txBox="1"/>
          <p:nvPr/>
        </p:nvSpPr>
        <p:spPr>
          <a:xfrm>
            <a:off x="2586459" y="2311150"/>
            <a:ext cx="2100300" cy="2772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200" b="0" i="0" u="sng" strike="noStrike" cap="none">
                <a:solidFill>
                  <a:schemeClr val="hlink"/>
                </a:solidFill>
                <a:latin typeface="Calibri"/>
                <a:ea typeface="Calibri"/>
                <a:cs typeface="Calibri"/>
                <a:sym typeface="Calibri"/>
                <a:hlinkClick r:id="rId9"/>
              </a:rPr>
              <a:t>AI Findings</a:t>
            </a:r>
            <a:r>
              <a:rPr lang="en" sz="1200" b="0" i="0" u="none" strike="noStrike" cap="none">
                <a:solidFill>
                  <a:srgbClr val="0254EC"/>
                </a:solidFill>
                <a:latin typeface="Calibri"/>
                <a:ea typeface="Calibri"/>
                <a:cs typeface="Calibri"/>
                <a:sym typeface="Calibri"/>
              </a:rPr>
              <a:t> ↗</a:t>
            </a:r>
            <a:endParaRPr sz="1200" b="0" i="0" u="none" strike="noStrike" cap="none">
              <a:solidFill>
                <a:srgbClr val="0254EC"/>
              </a:solidFill>
              <a:latin typeface="Calibri"/>
              <a:ea typeface="Calibri"/>
              <a:cs typeface="Calibri"/>
              <a:sym typeface="Calibri"/>
            </a:endParaRPr>
          </a:p>
        </p:txBody>
      </p:sp>
      <p:sp>
        <p:nvSpPr>
          <p:cNvPr id="697" name="Google Shape;697;p58"/>
          <p:cNvSpPr txBox="1"/>
          <p:nvPr/>
        </p:nvSpPr>
        <p:spPr>
          <a:xfrm>
            <a:off x="2583825" y="2481279"/>
            <a:ext cx="2100300" cy="1018800"/>
          </a:xfrm>
          <a:prstGeom prst="rect">
            <a:avLst/>
          </a:prstGeom>
          <a:noFill/>
          <a:ln>
            <a:noFill/>
          </a:ln>
        </p:spPr>
        <p:txBody>
          <a:bodyPr spcFirstLastPara="1" wrap="square" lIns="91425" tIns="91425" rIns="91425" bIns="91425" anchor="t" anchorCtr="0">
            <a:noAutofit/>
          </a:bodyPr>
          <a:lstStyle/>
          <a:p>
            <a:pPr marL="0" marR="0" lvl="0" indent="0" algn="l" rtl="0">
              <a:lnSpc>
                <a:spcPct val="150000"/>
              </a:lnSpc>
              <a:spcAft>
                <a:spcPts val="145"/>
              </a:spcAft>
              <a:buClr>
                <a:srgbClr val="000000"/>
              </a:buClr>
              <a:buSzPts val="1000"/>
              <a:buFont typeface="Arial"/>
              <a:buNone/>
            </a:pPr>
            <a:r>
              <a:rPr lang="en" sz="1000" b="0" i="0" u="none" strike="noStrike" cap="none" dirty="0">
                <a:solidFill>
                  <a:srgbClr val="1155CC"/>
                </a:solidFill>
                <a:latin typeface="Calibri"/>
                <a:ea typeface="Calibri"/>
                <a:cs typeface="Calibri"/>
                <a:sym typeface="Calibri"/>
              </a:rPr>
              <a:t>Security Findings: {{AI_SF}}</a:t>
            </a:r>
            <a:br>
              <a:rPr lang="en" sz="1000" b="0" i="0" u="none" strike="noStrike" cap="none" dirty="0">
                <a:solidFill>
                  <a:srgbClr val="1155CC"/>
                </a:solidFill>
                <a:latin typeface="Calibri"/>
                <a:ea typeface="Calibri"/>
                <a:cs typeface="Calibri"/>
                <a:sym typeface="Calibri"/>
              </a:rPr>
            </a:br>
            <a:r>
              <a:rPr lang="en" sz="1000" b="0" i="0" u="none" strike="noStrike" cap="none" dirty="0">
                <a:solidFill>
                  <a:srgbClr val="1155CC"/>
                </a:solidFill>
                <a:latin typeface="Calibri"/>
                <a:ea typeface="Calibri"/>
                <a:cs typeface="Calibri"/>
                <a:sym typeface="Calibri"/>
              </a:rPr>
              <a:t>Configuration Findings: {{AI_MF}}</a:t>
            </a:r>
            <a:endParaRPr sz="1000" b="0" i="0" u="none" strike="noStrike" cap="none" dirty="0">
              <a:solidFill>
                <a:srgbClr val="1155CC"/>
              </a:solidFill>
              <a:latin typeface="Calibri"/>
              <a:ea typeface="Calibri"/>
              <a:cs typeface="Calibri"/>
              <a:sym typeface="Calibri"/>
            </a:endParaRPr>
          </a:p>
          <a:p>
            <a:pPr marL="0" marR="0" lvl="0" indent="0" algn="l" rtl="0">
              <a:lnSpc>
                <a:spcPct val="150000"/>
              </a:lnSpc>
              <a:spcAft>
                <a:spcPts val="135"/>
              </a:spcAft>
              <a:buClr>
                <a:srgbClr val="000000"/>
              </a:buClr>
              <a:buSzPts val="1000"/>
              <a:buFont typeface="Arial"/>
              <a:buNone/>
            </a:pPr>
            <a:r>
              <a:rPr lang="en" sz="1000" b="0" i="0" u="none" strike="noStrike" cap="none" dirty="0">
                <a:solidFill>
                  <a:srgbClr val="1155CC"/>
                </a:solidFill>
                <a:latin typeface="Calibri"/>
                <a:ea typeface="Calibri"/>
                <a:cs typeface="Calibri"/>
                <a:sym typeface="Calibri"/>
              </a:rPr>
              <a:t>AI Inventory Findings: {{AI_IF}}</a:t>
            </a:r>
          </a:p>
          <a:p>
            <a:pPr marL="0" marR="0" lvl="0" indent="0" algn="l" rtl="0">
              <a:lnSpc>
                <a:spcPct val="150000"/>
              </a:lnSpc>
              <a:spcAft>
                <a:spcPts val="135"/>
              </a:spcAft>
              <a:buClr>
                <a:srgbClr val="000000"/>
              </a:buClr>
              <a:buSzPts val="1000"/>
              <a:buFont typeface="Arial"/>
              <a:buNone/>
            </a:pPr>
            <a:r>
              <a:rPr lang="en" sz="1000" dirty="0">
                <a:solidFill>
                  <a:srgbClr val="1155CC"/>
                </a:solidFill>
                <a:latin typeface="Calibri"/>
                <a:ea typeface="Calibri"/>
                <a:cs typeface="Calibri"/>
                <a:sym typeface="Calibri"/>
              </a:rPr>
              <a:t>AI Risk Issues: {{AI_RI}}</a:t>
            </a:r>
            <a:endParaRPr sz="1000" b="0" i="0" u="none" strike="noStrike" cap="none" dirty="0">
              <a:solidFill>
                <a:srgbClr val="1155CC"/>
              </a:solidFill>
              <a:latin typeface="Calibri"/>
              <a:ea typeface="Calibri"/>
              <a:cs typeface="Calibri"/>
              <a:sym typeface="Calibri"/>
            </a:endParaRPr>
          </a:p>
        </p:txBody>
      </p:sp>
      <p:pic>
        <p:nvPicPr>
          <p:cNvPr id="698" name="Google Shape;698;p58"/>
          <p:cNvPicPr preferRelativeResize="0"/>
          <p:nvPr/>
        </p:nvPicPr>
        <p:blipFill rotWithShape="1">
          <a:blip r:embed="rId10">
            <a:alphaModFix/>
          </a:blip>
          <a:srcRect/>
          <a:stretch/>
        </p:blipFill>
        <p:spPr>
          <a:xfrm>
            <a:off x="334850" y="3601610"/>
            <a:ext cx="2100726" cy="1404216"/>
          </a:xfrm>
          <a:prstGeom prst="rect">
            <a:avLst/>
          </a:prstGeom>
          <a:noFill/>
          <a:ln w="9525" cap="flat" cmpd="sng">
            <a:solidFill>
              <a:schemeClr val="accent1"/>
            </a:solidFill>
            <a:prstDash val="solid"/>
            <a:round/>
            <a:headEnd type="none" w="sm" len="sm"/>
            <a:tailEnd type="none" w="sm" len="sm"/>
          </a:ln>
        </p:spPr>
      </p:pic>
      <p:sp>
        <p:nvSpPr>
          <p:cNvPr id="699" name="Google Shape;699;p58"/>
          <p:cNvSpPr txBox="1"/>
          <p:nvPr/>
        </p:nvSpPr>
        <p:spPr>
          <a:xfrm>
            <a:off x="377423" y="3721314"/>
            <a:ext cx="2028884" cy="3846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300" b="0" i="0" u="sng" strike="noStrike" cap="none">
                <a:solidFill>
                  <a:schemeClr val="hlink"/>
                </a:solidFill>
                <a:latin typeface="Calibri"/>
                <a:ea typeface="Calibri"/>
                <a:cs typeface="Calibri"/>
                <a:sym typeface="Calibri"/>
                <a:hlinkClick r:id="rId11"/>
              </a:rPr>
              <a:t>Threats MTTR </a:t>
            </a:r>
            <a:r>
              <a:rPr lang="en" sz="1300" b="0" i="0" u="none" strike="noStrike" cap="none">
                <a:solidFill>
                  <a:schemeClr val="hlink"/>
                </a:solidFill>
                <a:uFill>
                  <a:noFill/>
                </a:uFill>
                <a:latin typeface="Calibri"/>
                <a:ea typeface="Calibri"/>
                <a:cs typeface="Calibri"/>
                <a:sym typeface="Calibri"/>
                <a:hlinkClick r:id="rId11"/>
              </a:rPr>
              <a:t>↗</a:t>
            </a:r>
            <a:endParaRPr sz="1300" b="0" i="0" u="none" strike="noStrike" cap="none">
              <a:solidFill>
                <a:srgbClr val="0254EC"/>
              </a:solidFill>
              <a:latin typeface="Calibri"/>
              <a:ea typeface="Calibri"/>
              <a:cs typeface="Calibri"/>
              <a:sym typeface="Calibri"/>
            </a:endParaRPr>
          </a:p>
        </p:txBody>
      </p:sp>
      <p:sp>
        <p:nvSpPr>
          <p:cNvPr id="700" name="Google Shape;700;p58"/>
          <p:cNvSpPr txBox="1"/>
          <p:nvPr/>
        </p:nvSpPr>
        <p:spPr>
          <a:xfrm>
            <a:off x="368756" y="4062355"/>
            <a:ext cx="2028884" cy="382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a:ea typeface="Calibri"/>
                <a:cs typeface="Calibri"/>
                <a:sym typeface="Calibri"/>
              </a:rPr>
              <a:t>{{MTTR_O}}</a:t>
            </a:r>
            <a:endParaRPr sz="2100" b="0" i="0" u="none" strike="noStrike" cap="none">
              <a:solidFill>
                <a:srgbClr val="1155CC"/>
              </a:solidFill>
              <a:latin typeface="Calibri"/>
              <a:ea typeface="Calibri"/>
              <a:cs typeface="Calibri"/>
              <a:sym typeface="Calibri"/>
            </a:endParaRPr>
          </a:p>
        </p:txBody>
      </p:sp>
      <p:sp>
        <p:nvSpPr>
          <p:cNvPr id="701" name="Google Shape;701;p58"/>
          <p:cNvSpPr txBox="1"/>
          <p:nvPr/>
        </p:nvSpPr>
        <p:spPr>
          <a:xfrm>
            <a:off x="368756" y="4505977"/>
            <a:ext cx="2028884" cy="23013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alibri"/>
                <a:ea typeface="Calibri"/>
                <a:cs typeface="Calibri"/>
                <a:sym typeface="Calibri"/>
              </a:rPr>
              <a:t>Days</a:t>
            </a:r>
            <a:endParaRPr sz="1200" b="0" i="0" u="none" strike="noStrike" cap="none">
              <a:solidFill>
                <a:schemeClr val="dk1"/>
              </a:solidFill>
              <a:latin typeface="Calibri"/>
              <a:ea typeface="Calibri"/>
              <a:cs typeface="Calibri"/>
              <a:sym typeface="Calibri"/>
            </a:endParaRPr>
          </a:p>
        </p:txBody>
      </p:sp>
      <p:pic>
        <p:nvPicPr>
          <p:cNvPr id="702" name="Google Shape;702;p58"/>
          <p:cNvPicPr preferRelativeResize="0"/>
          <p:nvPr/>
        </p:nvPicPr>
        <p:blipFill rotWithShape="1">
          <a:blip r:embed="rId10">
            <a:alphaModFix/>
          </a:blip>
          <a:srcRect/>
          <a:stretch/>
        </p:blipFill>
        <p:spPr>
          <a:xfrm>
            <a:off x="2585906" y="3601600"/>
            <a:ext cx="2100895" cy="1404216"/>
          </a:xfrm>
          <a:prstGeom prst="rect">
            <a:avLst/>
          </a:prstGeom>
          <a:noFill/>
          <a:ln w="9525" cap="flat" cmpd="sng">
            <a:solidFill>
              <a:schemeClr val="accent1"/>
            </a:solidFill>
            <a:prstDash val="solid"/>
            <a:round/>
            <a:headEnd type="none" w="sm" len="sm"/>
            <a:tailEnd type="none" w="sm" len="sm"/>
          </a:ln>
        </p:spPr>
      </p:pic>
      <p:sp>
        <p:nvSpPr>
          <p:cNvPr id="703" name="Google Shape;703;p58"/>
          <p:cNvSpPr txBox="1"/>
          <p:nvPr/>
        </p:nvSpPr>
        <p:spPr>
          <a:xfrm>
            <a:off x="2644411" y="3707460"/>
            <a:ext cx="1986065" cy="384600"/>
          </a:xfrm>
          <a:prstGeom prst="rect">
            <a:avLst/>
          </a:prstGeom>
          <a:noFill/>
          <a:ln>
            <a:noFill/>
          </a:ln>
        </p:spPr>
        <p:txBody>
          <a:bodyPr spcFirstLastPara="1" wrap="square" lIns="68575" tIns="34275" rIns="68575" bIns="34275" anchor="t" anchorCtr="0">
            <a:normAutofit/>
          </a:bodyPr>
          <a:lstStyle/>
          <a:p>
            <a:pPr marL="0" marR="0" lvl="0" indent="0" algn="ctr" rtl="0">
              <a:lnSpc>
                <a:spcPct val="90000"/>
              </a:lnSpc>
              <a:spcBef>
                <a:spcPts val="0"/>
              </a:spcBef>
              <a:spcAft>
                <a:spcPts val="0"/>
              </a:spcAft>
              <a:buClr>
                <a:schemeClr val="dk2"/>
              </a:buClr>
              <a:buSzPts val="1500"/>
              <a:buFont typeface="Arial"/>
              <a:buNone/>
            </a:pPr>
            <a:r>
              <a:rPr lang="en" sz="1300" b="0" i="0" u="sng" strike="noStrike" cap="none">
                <a:solidFill>
                  <a:schemeClr val="hlink"/>
                </a:solidFill>
                <a:latin typeface="Calibri"/>
                <a:ea typeface="Calibri"/>
                <a:cs typeface="Calibri"/>
                <a:sym typeface="Calibri"/>
                <a:hlinkClick r:id="rId12"/>
              </a:rPr>
              <a:t>Open Threats</a:t>
            </a:r>
            <a:r>
              <a:rPr lang="en" sz="1300" b="0" i="0" u="none" strike="noStrike" cap="none">
                <a:solidFill>
                  <a:srgbClr val="0254EC"/>
                </a:solidFill>
                <a:latin typeface="Calibri"/>
                <a:ea typeface="Calibri"/>
                <a:cs typeface="Calibri"/>
                <a:sym typeface="Calibri"/>
              </a:rPr>
              <a:t> ↗</a:t>
            </a:r>
            <a:endParaRPr sz="1300" b="0" i="0" u="none" strike="noStrike" cap="none">
              <a:solidFill>
                <a:srgbClr val="0254EC"/>
              </a:solidFill>
              <a:latin typeface="Calibri"/>
              <a:ea typeface="Calibri"/>
              <a:cs typeface="Calibri"/>
              <a:sym typeface="Calibri"/>
            </a:endParaRPr>
          </a:p>
        </p:txBody>
      </p:sp>
      <p:sp>
        <p:nvSpPr>
          <p:cNvPr id="704" name="Google Shape;704;p58"/>
          <p:cNvSpPr txBox="1"/>
          <p:nvPr/>
        </p:nvSpPr>
        <p:spPr>
          <a:xfrm>
            <a:off x="2609187" y="4107445"/>
            <a:ext cx="2047876" cy="382200"/>
          </a:xfrm>
          <a:prstGeom prst="rect">
            <a:avLst/>
          </a:prstGeom>
          <a:noFill/>
          <a:ln>
            <a:noFill/>
          </a:ln>
          <a:effectLst>
            <a:outerShdw blurRad="57150" dist="19050" dir="5400000" algn="bl" rotWithShape="0">
              <a:srgbClr val="674EA7">
                <a:alpha val="56078"/>
              </a:srgbClr>
            </a:outerShdw>
          </a:effectLst>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2100"/>
              <a:buFont typeface="Arial"/>
              <a:buNone/>
            </a:pPr>
            <a:r>
              <a:rPr lang="en" sz="2100" b="0" i="0" u="none" strike="noStrike" cap="none">
                <a:solidFill>
                  <a:srgbClr val="1155CC"/>
                </a:solidFill>
                <a:latin typeface="Calibri"/>
                <a:ea typeface="Calibri"/>
                <a:cs typeface="Calibri"/>
                <a:sym typeface="Calibri"/>
              </a:rPr>
              <a:t>{{OT}}</a:t>
            </a:r>
            <a:endParaRPr sz="2100" b="0" i="0" u="none" strike="noStrike" cap="none">
              <a:solidFill>
                <a:srgbClr val="1155CC"/>
              </a:solidFill>
              <a:latin typeface="Calibri"/>
              <a:ea typeface="Calibri"/>
              <a:cs typeface="Calibri"/>
              <a:sym typeface="Calibri"/>
            </a:endParaRPr>
          </a:p>
        </p:txBody>
      </p:sp>
      <p:sp>
        <p:nvSpPr>
          <p:cNvPr id="705" name="Google Shape;705;p58"/>
          <p:cNvSpPr txBox="1"/>
          <p:nvPr/>
        </p:nvSpPr>
        <p:spPr>
          <a:xfrm>
            <a:off x="2609180" y="4597077"/>
            <a:ext cx="2047876" cy="327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chemeClr val="dk1"/>
                </a:solidFill>
                <a:latin typeface="Calibri"/>
                <a:ea typeface="Calibri"/>
                <a:cs typeface="Calibri"/>
                <a:sym typeface="Calibri"/>
              </a:rPr>
              <a:t>Resolved Threats: {{RT}}</a:t>
            </a:r>
            <a:br>
              <a:rPr lang="en" sz="1200" b="0" i="0" u="none" strike="noStrike" cap="none">
                <a:solidFill>
                  <a:schemeClr val="dk1"/>
                </a:solidFill>
                <a:latin typeface="Calibri"/>
                <a:ea typeface="Calibri"/>
                <a:cs typeface="Calibri"/>
                <a:sym typeface="Calibri"/>
              </a:rPr>
            </a:br>
            <a:r>
              <a:rPr lang="en" sz="1200" b="0" i="0" u="none" strike="noStrike" cap="none">
                <a:solidFill>
                  <a:schemeClr val="dk1"/>
                </a:solidFill>
                <a:latin typeface="Calibri"/>
                <a:ea typeface="Calibri"/>
                <a:cs typeface="Calibri"/>
                <a:sym typeface="Calibri"/>
              </a:rPr>
              <a:t>Past 90 Days</a:t>
            </a:r>
            <a:endParaRPr sz="1200" b="0" i="0" u="none" strike="noStrike" cap="none">
              <a:solidFill>
                <a:schemeClr val="dk1"/>
              </a:solidFill>
              <a:latin typeface="Calibri"/>
              <a:ea typeface="Calibri"/>
              <a:cs typeface="Calibri"/>
              <a:sym typeface="Calibri"/>
            </a:endParaRPr>
          </a:p>
        </p:txBody>
      </p:sp>
      <p:sp>
        <p:nvSpPr>
          <p:cNvPr id="706" name="Google Shape;706;p58"/>
          <p:cNvSpPr txBox="1"/>
          <p:nvPr/>
        </p:nvSpPr>
        <p:spPr>
          <a:xfrm>
            <a:off x="2587908" y="1206673"/>
            <a:ext cx="2067000" cy="3318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chemeClr val="dk1"/>
                </a:solidFill>
                <a:latin typeface="Calibri"/>
                <a:ea typeface="Calibri"/>
                <a:cs typeface="Calibri"/>
                <a:sym typeface="Calibri"/>
              </a:rPr>
              <a:t>Industry: {{SS_I}}</a:t>
            </a:r>
            <a:endParaRPr sz="800" b="0" i="0" u="none" strike="noStrike" cap="none">
              <a:solidFill>
                <a:schemeClr val="dk1"/>
              </a:solidFill>
              <a:latin typeface="Calibri"/>
              <a:ea typeface="Calibri"/>
              <a:cs typeface="Calibri"/>
              <a:sym typeface="Calibri"/>
            </a:endParaRPr>
          </a:p>
        </p:txBody>
      </p:sp>
      <p:pic>
        <p:nvPicPr>
          <p:cNvPr id="707" name="Google Shape;707;p58"/>
          <p:cNvPicPr preferRelativeResize="0"/>
          <p:nvPr/>
        </p:nvPicPr>
        <p:blipFill rotWithShape="1">
          <a:blip r:embed="rId13">
            <a:alphaModFix/>
          </a:blip>
          <a:srcRect/>
          <a:stretch/>
        </p:blipFill>
        <p:spPr>
          <a:xfrm>
            <a:off x="4848909" y="2345935"/>
            <a:ext cx="3994750" cy="1755250"/>
          </a:xfrm>
          <a:prstGeom prst="rect">
            <a:avLst/>
          </a:prstGeom>
          <a:noFill/>
          <a:ln w="9525" cap="flat" cmpd="sng">
            <a:solidFill>
              <a:schemeClr val="accent1"/>
            </a:solidFill>
            <a:prstDash val="solid"/>
            <a:round/>
            <a:headEnd type="none" w="sm" len="sm"/>
            <a:tailEnd type="none" w="sm" len="sm"/>
          </a:ln>
        </p:spPr>
      </p:pic>
      <p:pic>
        <p:nvPicPr>
          <p:cNvPr id="708" name="Google Shape;708;p58"/>
          <p:cNvPicPr preferRelativeResize="0"/>
          <p:nvPr/>
        </p:nvPicPr>
        <p:blipFill rotWithShape="1">
          <a:blip r:embed="rId14">
            <a:alphaModFix/>
          </a:blip>
          <a:srcRect/>
          <a:stretch/>
        </p:blipFill>
        <p:spPr>
          <a:xfrm>
            <a:off x="5470184" y="3177785"/>
            <a:ext cx="687200" cy="382200"/>
          </a:xfrm>
          <a:prstGeom prst="rect">
            <a:avLst/>
          </a:prstGeom>
          <a:noFill/>
          <a:ln>
            <a:noFill/>
          </a:ln>
        </p:spPr>
      </p:pic>
      <p:sp>
        <p:nvSpPr>
          <p:cNvPr id="709" name="Google Shape;709;p58"/>
          <p:cNvSpPr txBox="1"/>
          <p:nvPr/>
        </p:nvSpPr>
        <p:spPr>
          <a:xfrm>
            <a:off x="5161247" y="2989098"/>
            <a:ext cx="1306500" cy="363900"/>
          </a:xfrm>
          <a:prstGeom prst="rect">
            <a:avLst/>
          </a:prstGeom>
          <a:noFill/>
          <a:ln>
            <a:noFill/>
          </a:ln>
        </p:spPr>
        <p:txBody>
          <a:bodyPr spcFirstLastPara="1" wrap="square" lIns="101700" tIns="101700" rIns="101700" bIns="101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chemeClr val="dk1"/>
                </a:solidFill>
                <a:latin typeface="Calibri"/>
                <a:ea typeface="Calibri"/>
                <a:cs typeface="Calibri"/>
                <a:sym typeface="Calibri"/>
              </a:rPr>
              <a:t>{{AVG_AGEC}}</a:t>
            </a:r>
            <a:r>
              <a:rPr lang="en" sz="1200" b="1" i="0" u="none" strike="noStrike" cap="none">
                <a:solidFill>
                  <a:schemeClr val="dk1"/>
                </a:solidFill>
                <a:latin typeface="Calibri"/>
                <a:ea typeface="Calibri"/>
                <a:cs typeface="Calibri"/>
                <a:sym typeface="Calibri"/>
              </a:rPr>
              <a:t> </a:t>
            </a:r>
            <a:br>
              <a:rPr lang="en" sz="1200" b="1" i="0" u="none" strike="noStrike" cap="none">
                <a:solidFill>
                  <a:schemeClr val="dk1"/>
                </a:solidFill>
                <a:latin typeface="Calibri"/>
                <a:ea typeface="Calibri"/>
                <a:cs typeface="Calibri"/>
                <a:sym typeface="Calibri"/>
              </a:rPr>
            </a:br>
            <a:r>
              <a:rPr lang="en" sz="1300" b="1" i="0" u="none" strike="noStrike" cap="none">
                <a:solidFill>
                  <a:schemeClr val="dk1"/>
                </a:solidFill>
                <a:latin typeface="Calibri"/>
                <a:ea typeface="Calibri"/>
                <a:cs typeface="Calibri"/>
                <a:sym typeface="Calibri"/>
              </a:rPr>
              <a:t>Days</a:t>
            </a:r>
            <a:endParaRPr sz="1101" b="1" i="0" u="none" strike="noStrike" cap="none">
              <a:solidFill>
                <a:srgbClr val="1155CC"/>
              </a:solidFill>
              <a:latin typeface="Calibri"/>
              <a:ea typeface="Calibri"/>
              <a:cs typeface="Calibri"/>
              <a:sym typeface="Calibri"/>
            </a:endParaRPr>
          </a:p>
        </p:txBody>
      </p:sp>
      <p:pic>
        <p:nvPicPr>
          <p:cNvPr id="710" name="Google Shape;710;p58"/>
          <p:cNvPicPr preferRelativeResize="0"/>
          <p:nvPr/>
        </p:nvPicPr>
        <p:blipFill rotWithShape="1">
          <a:blip r:embed="rId14">
            <a:alphaModFix/>
          </a:blip>
          <a:srcRect/>
          <a:stretch/>
        </p:blipFill>
        <p:spPr>
          <a:xfrm>
            <a:off x="7458900" y="3219400"/>
            <a:ext cx="760050" cy="382200"/>
          </a:xfrm>
          <a:prstGeom prst="rect">
            <a:avLst/>
          </a:prstGeom>
          <a:noFill/>
          <a:ln>
            <a:noFill/>
          </a:ln>
        </p:spPr>
      </p:pic>
      <p:sp>
        <p:nvSpPr>
          <p:cNvPr id="711" name="Google Shape;711;p58"/>
          <p:cNvSpPr txBox="1"/>
          <p:nvPr/>
        </p:nvSpPr>
        <p:spPr>
          <a:xfrm>
            <a:off x="7188866" y="2990088"/>
            <a:ext cx="1306500" cy="363900"/>
          </a:xfrm>
          <a:prstGeom prst="rect">
            <a:avLst/>
          </a:prstGeom>
          <a:noFill/>
          <a:ln>
            <a:noFill/>
          </a:ln>
        </p:spPr>
        <p:txBody>
          <a:bodyPr spcFirstLastPara="1" wrap="square" lIns="101700" tIns="101700" rIns="101700" bIns="101700" anchor="t" anchorCtr="0">
            <a:noAutofit/>
          </a:bodyPr>
          <a:lstStyle/>
          <a:p>
            <a:pPr marL="0" marR="0" lvl="0" indent="0" algn="ctr" rtl="0">
              <a:lnSpc>
                <a:spcPct val="100000"/>
              </a:lnSpc>
              <a:spcBef>
                <a:spcPts val="0"/>
              </a:spcBef>
              <a:spcAft>
                <a:spcPts val="0"/>
              </a:spcAft>
              <a:buClr>
                <a:srgbClr val="000000"/>
              </a:buClr>
              <a:buSzPts val="1600"/>
              <a:buFont typeface="Arial"/>
              <a:buNone/>
            </a:pPr>
            <a:r>
              <a:rPr lang="en" sz="1600" b="1" i="0" u="none" strike="noStrike" cap="none">
                <a:solidFill>
                  <a:schemeClr val="dk1"/>
                </a:solidFill>
                <a:latin typeface="Calibri"/>
                <a:ea typeface="Calibri"/>
                <a:cs typeface="Calibri"/>
                <a:sym typeface="Calibri"/>
              </a:rPr>
              <a:t>{{AVG_AGEH}} </a:t>
            </a:r>
            <a:br>
              <a:rPr lang="en" sz="1212" b="1" i="0" u="none" strike="noStrike" cap="none">
                <a:solidFill>
                  <a:schemeClr val="dk1"/>
                </a:solidFill>
                <a:latin typeface="Calibri"/>
                <a:ea typeface="Calibri"/>
                <a:cs typeface="Calibri"/>
                <a:sym typeface="Calibri"/>
              </a:rPr>
            </a:br>
            <a:r>
              <a:rPr lang="en" sz="1324" b="1" i="0" u="none" strike="noStrike" cap="none">
                <a:solidFill>
                  <a:schemeClr val="dk1"/>
                </a:solidFill>
                <a:latin typeface="Calibri"/>
                <a:ea typeface="Calibri"/>
                <a:cs typeface="Calibri"/>
                <a:sym typeface="Calibri"/>
              </a:rPr>
              <a:t>Days</a:t>
            </a:r>
            <a:endParaRPr sz="1101" b="1" i="0" u="none" strike="noStrike" cap="none">
              <a:solidFill>
                <a:srgbClr val="1155CC"/>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16"/>
        <p:cNvGrpSpPr/>
        <p:nvPr/>
      </p:nvGrpSpPr>
      <p:grpSpPr>
        <a:xfrm>
          <a:off x="0" y="0"/>
          <a:ext cx="0" cy="0"/>
          <a:chOff x="0" y="0"/>
          <a:chExt cx="0" cy="0"/>
        </a:xfrm>
      </p:grpSpPr>
      <p:sp>
        <p:nvSpPr>
          <p:cNvPr id="717" name="Google Shape;717;p59"/>
          <p:cNvSpPr txBox="1">
            <a:spLocks noGrp="1"/>
          </p:cNvSpPr>
          <p:nvPr>
            <p:ph type="title" idx="4294967295"/>
          </p:nvPr>
        </p:nvSpPr>
        <p:spPr>
          <a:xfrm>
            <a:off x="150" y="166650"/>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Cloud Security Risk Snapshot</a:t>
            </a:r>
            <a:endParaRPr sz="2420">
              <a:latin typeface="Calibri"/>
              <a:ea typeface="Calibri"/>
              <a:cs typeface="Calibri"/>
              <a:sym typeface="Calibri"/>
            </a:endParaRPr>
          </a:p>
        </p:txBody>
      </p:sp>
      <p:pic>
        <p:nvPicPr>
          <p:cNvPr id="718" name="Google Shape;718;p59"/>
          <p:cNvPicPr preferRelativeResize="0"/>
          <p:nvPr/>
        </p:nvPicPr>
        <p:blipFill rotWithShape="1">
          <a:blip r:embed="rId3">
            <a:alphaModFix/>
          </a:blip>
          <a:srcRect/>
          <a:stretch/>
        </p:blipFill>
        <p:spPr>
          <a:xfrm>
            <a:off x="107950" y="673900"/>
            <a:ext cx="7440046" cy="1064875"/>
          </a:xfrm>
          <a:prstGeom prst="rect">
            <a:avLst/>
          </a:prstGeom>
          <a:noFill/>
          <a:ln w="9525" cap="flat" cmpd="sng">
            <a:solidFill>
              <a:schemeClr val="accent1"/>
            </a:solidFill>
            <a:prstDash val="solid"/>
            <a:round/>
            <a:headEnd type="none" w="sm" len="sm"/>
            <a:tailEnd type="none" w="sm" len="sm"/>
          </a:ln>
        </p:spPr>
      </p:pic>
      <p:sp>
        <p:nvSpPr>
          <p:cNvPr id="719" name="Google Shape;719;p59"/>
          <p:cNvSpPr txBox="1"/>
          <p:nvPr/>
        </p:nvSpPr>
        <p:spPr>
          <a:xfrm>
            <a:off x="259724" y="709330"/>
            <a:ext cx="1928400" cy="361500"/>
          </a:xfrm>
          <a:prstGeom prst="rect">
            <a:avLst/>
          </a:prstGeom>
          <a:noFill/>
          <a:ln>
            <a:noFill/>
          </a:ln>
        </p:spPr>
        <p:txBody>
          <a:bodyPr spcFirstLastPara="1" wrap="square" lIns="68575" tIns="34275" rIns="68575" bIns="34275" anchor="t" anchorCtr="0">
            <a:normAutofit/>
          </a:bodyPr>
          <a:lstStyle/>
          <a:p>
            <a:pPr marL="0" marR="0" lvl="0" indent="0" algn="l" rtl="0">
              <a:lnSpc>
                <a:spcPct val="90000"/>
              </a:lnSpc>
              <a:spcBef>
                <a:spcPts val="0"/>
              </a:spcBef>
              <a:spcAft>
                <a:spcPts val="0"/>
              </a:spcAft>
              <a:buClr>
                <a:schemeClr val="dk2"/>
              </a:buClr>
              <a:buSzPts val="1500"/>
              <a:buFont typeface="Arial"/>
              <a:buNone/>
            </a:pPr>
            <a:r>
              <a:rPr lang="en" sz="1600" b="0" i="0" u="none" strike="noStrike" cap="none">
                <a:solidFill>
                  <a:schemeClr val="dk1"/>
                </a:solidFill>
                <a:latin typeface="Calibri"/>
                <a:ea typeface="Calibri"/>
                <a:cs typeface="Calibri"/>
                <a:sym typeface="Calibri"/>
              </a:rPr>
              <a:t>External Exposure</a:t>
            </a:r>
            <a:endParaRPr sz="1600" b="0" i="0" u="none" strike="noStrike" cap="none">
              <a:solidFill>
                <a:schemeClr val="dk1"/>
              </a:solidFill>
              <a:latin typeface="Calibri"/>
              <a:ea typeface="Calibri"/>
              <a:cs typeface="Calibri"/>
              <a:sym typeface="Calibri"/>
            </a:endParaRPr>
          </a:p>
        </p:txBody>
      </p:sp>
      <p:sp>
        <p:nvSpPr>
          <p:cNvPr id="720" name="Google Shape;720;p59"/>
          <p:cNvSpPr txBox="1"/>
          <p:nvPr/>
        </p:nvSpPr>
        <p:spPr>
          <a:xfrm>
            <a:off x="269504" y="1081747"/>
            <a:ext cx="3964500" cy="359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1155CC"/>
                </a:solidFill>
                <a:latin typeface="Calibri"/>
                <a:ea typeface="Calibri"/>
                <a:cs typeface="Calibri"/>
                <a:sym typeface="Calibri"/>
              </a:rPr>
              <a:t>HTTP Application Endpoints  {{AE_HTTP}}</a:t>
            </a:r>
            <a:endParaRPr sz="1000" b="0" i="0" u="none" strike="noStrike" cap="none">
              <a:solidFill>
                <a:srgbClr val="1155CC"/>
              </a:solidFill>
              <a:latin typeface="Calibri"/>
              <a:ea typeface="Calibri"/>
              <a:cs typeface="Calibri"/>
              <a:sym typeface="Calibri"/>
            </a:endParaRPr>
          </a:p>
        </p:txBody>
      </p:sp>
      <p:sp>
        <p:nvSpPr>
          <p:cNvPr id="721" name="Google Shape;721;p59"/>
          <p:cNvSpPr txBox="1"/>
          <p:nvPr/>
        </p:nvSpPr>
        <p:spPr>
          <a:xfrm>
            <a:off x="273692" y="1374797"/>
            <a:ext cx="3964500" cy="359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1155CC"/>
                </a:solidFill>
                <a:latin typeface="Calibri"/>
                <a:ea typeface="Calibri"/>
                <a:cs typeface="Calibri"/>
                <a:sym typeface="Calibri"/>
              </a:rPr>
              <a:t>Non-HTTP Application Endpoints  {{AE_NHTTP}}</a:t>
            </a:r>
            <a:endParaRPr sz="1000" b="0" i="0" u="none" strike="noStrike" cap="none">
              <a:solidFill>
                <a:srgbClr val="1155CC"/>
              </a:solidFill>
              <a:latin typeface="Calibri"/>
              <a:ea typeface="Calibri"/>
              <a:cs typeface="Calibri"/>
              <a:sym typeface="Calibri"/>
            </a:endParaRPr>
          </a:p>
        </p:txBody>
      </p:sp>
      <p:sp>
        <p:nvSpPr>
          <p:cNvPr id="722" name="Google Shape;722;p59"/>
          <p:cNvSpPr txBox="1"/>
          <p:nvPr/>
        </p:nvSpPr>
        <p:spPr>
          <a:xfrm>
            <a:off x="3083442" y="1130944"/>
            <a:ext cx="2183325" cy="462300"/>
          </a:xfrm>
          <a:prstGeom prst="rect">
            <a:avLst/>
          </a:prstGeom>
          <a:no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a:ea typeface="Calibri"/>
                <a:cs typeface="Calibri"/>
                <a:sym typeface="Calibri"/>
              </a:rPr>
              <a:t>Estimated # of Additional Workloads to Scan via Advanced ASM</a:t>
            </a:r>
            <a:endParaRPr sz="1000" b="0" i="0" u="none" strike="noStrike" cap="none">
              <a:solidFill>
                <a:schemeClr val="dk1"/>
              </a:solidFill>
              <a:latin typeface="Calibri"/>
              <a:ea typeface="Calibri"/>
              <a:cs typeface="Calibri"/>
              <a:sym typeface="Calibri"/>
            </a:endParaRPr>
          </a:p>
        </p:txBody>
      </p:sp>
      <p:sp>
        <p:nvSpPr>
          <p:cNvPr id="723" name="Google Shape;723;p59"/>
          <p:cNvSpPr txBox="1"/>
          <p:nvPr/>
        </p:nvSpPr>
        <p:spPr>
          <a:xfrm>
            <a:off x="5446564" y="1141854"/>
            <a:ext cx="2395200" cy="407700"/>
          </a:xfrm>
          <a:prstGeom prst="rect">
            <a:avLst/>
          </a:prstGeom>
          <a:noFill/>
          <a:ln>
            <a:noFill/>
          </a:ln>
        </p:spPr>
        <p:txBody>
          <a:bodyPr spcFirstLastPara="1" wrap="square" lIns="0" tIns="0" rIns="0" bIns="0" anchor="ctr" anchorCtr="0">
            <a:noAutofit/>
          </a:bodyPr>
          <a:lstStyle/>
          <a:p>
            <a:pPr marL="0" marR="0" lvl="0" indent="0" algn="l" rtl="0">
              <a:lnSpc>
                <a:spcPct val="150000"/>
              </a:lnSpc>
              <a:spcBef>
                <a:spcPts val="0"/>
              </a:spcBef>
              <a:spcAft>
                <a:spcPts val="0"/>
              </a:spcAft>
              <a:buClr>
                <a:schemeClr val="dk1"/>
              </a:buClr>
              <a:buSzPts val="1100"/>
              <a:buFont typeface="Arial"/>
              <a:buNone/>
            </a:pPr>
            <a:r>
              <a:rPr lang="en" sz="1300" b="0" i="0" u="none" strike="noStrike" cap="none">
                <a:solidFill>
                  <a:schemeClr val="dk1"/>
                </a:solidFill>
                <a:latin typeface="Calibri"/>
                <a:ea typeface="Calibri"/>
                <a:cs typeface="Calibri"/>
                <a:sym typeface="Calibri"/>
              </a:rPr>
              <a:t>=  </a:t>
            </a:r>
            <a:r>
              <a:rPr lang="en" sz="1300" b="0" i="0" u="none" strike="noStrike" cap="none">
                <a:solidFill>
                  <a:srgbClr val="333333"/>
                </a:solidFill>
                <a:latin typeface="Calibri"/>
                <a:ea typeface="Calibri"/>
                <a:cs typeface="Calibri"/>
                <a:sym typeface="Calibri"/>
              </a:rPr>
              <a:t>{{AE_TOT}} Workloads</a:t>
            </a:r>
            <a:endParaRPr sz="1400" b="0" i="0" u="none" strike="noStrike" cap="none">
              <a:solidFill>
                <a:schemeClr val="dk1"/>
              </a:solidFill>
              <a:latin typeface="Calibri"/>
              <a:ea typeface="Calibri"/>
              <a:cs typeface="Calibri"/>
              <a:sym typeface="Calibri"/>
            </a:endParaRPr>
          </a:p>
        </p:txBody>
      </p:sp>
      <p:pic>
        <p:nvPicPr>
          <p:cNvPr id="724" name="Google Shape;724;p59" title="Group 1000004640.png"/>
          <p:cNvPicPr preferRelativeResize="0"/>
          <p:nvPr/>
        </p:nvPicPr>
        <p:blipFill rotWithShape="1">
          <a:blip r:embed="rId4">
            <a:alphaModFix/>
          </a:blip>
          <a:srcRect/>
          <a:stretch/>
        </p:blipFill>
        <p:spPr>
          <a:xfrm>
            <a:off x="7961878" y="1035264"/>
            <a:ext cx="923544" cy="950976"/>
          </a:xfrm>
          <a:prstGeom prst="rect">
            <a:avLst/>
          </a:prstGeom>
          <a:noFill/>
          <a:ln>
            <a:noFill/>
          </a:ln>
        </p:spPr>
      </p:pic>
      <p:pic>
        <p:nvPicPr>
          <p:cNvPr id="725" name="Google Shape;725;p59" title="Group 1000004641.png"/>
          <p:cNvPicPr preferRelativeResize="0"/>
          <p:nvPr/>
        </p:nvPicPr>
        <p:blipFill rotWithShape="1">
          <a:blip r:embed="rId5">
            <a:alphaModFix/>
          </a:blip>
          <a:srcRect/>
          <a:stretch/>
        </p:blipFill>
        <p:spPr>
          <a:xfrm>
            <a:off x="7964424" y="4118017"/>
            <a:ext cx="923544" cy="950976"/>
          </a:xfrm>
          <a:prstGeom prst="rect">
            <a:avLst/>
          </a:prstGeom>
          <a:noFill/>
          <a:ln>
            <a:noFill/>
          </a:ln>
        </p:spPr>
      </p:pic>
      <p:pic>
        <p:nvPicPr>
          <p:cNvPr id="726" name="Google Shape;726;p59" title="Group 1000004639.png"/>
          <p:cNvPicPr preferRelativeResize="0"/>
          <p:nvPr/>
        </p:nvPicPr>
        <p:blipFill rotWithShape="1">
          <a:blip r:embed="rId6">
            <a:alphaModFix/>
          </a:blip>
          <a:srcRect/>
          <a:stretch/>
        </p:blipFill>
        <p:spPr>
          <a:xfrm>
            <a:off x="7964424" y="2520408"/>
            <a:ext cx="924766" cy="946984"/>
          </a:xfrm>
          <a:prstGeom prst="rect">
            <a:avLst/>
          </a:prstGeom>
          <a:noFill/>
          <a:ln>
            <a:noFill/>
          </a:ln>
        </p:spPr>
      </p:pic>
      <p:sp>
        <p:nvSpPr>
          <p:cNvPr id="727" name="Google Shape;727;p59"/>
          <p:cNvSpPr/>
          <p:nvPr/>
        </p:nvSpPr>
        <p:spPr>
          <a:xfrm>
            <a:off x="7955120" y="3041698"/>
            <a:ext cx="963600" cy="939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574"/>
              <a:buFont typeface="DM Sans"/>
              <a:buNone/>
            </a:pPr>
            <a:r>
              <a:rPr lang="en" sz="700" b="1" i="0" u="none" strike="noStrike" cap="none">
                <a:solidFill>
                  <a:srgbClr val="0254EC"/>
                </a:solidFill>
                <a:latin typeface="Calibri"/>
                <a:ea typeface="Calibri"/>
                <a:cs typeface="Calibri"/>
                <a:sym typeface="Calibri"/>
              </a:rPr>
              <a:t>Green Agent</a:t>
            </a:r>
            <a:endParaRPr sz="700" b="1" i="0" u="none" strike="noStrike" cap="none">
              <a:solidFill>
                <a:srgbClr val="000000"/>
              </a:solidFill>
              <a:latin typeface="Calibri"/>
              <a:ea typeface="Calibri"/>
              <a:cs typeface="Calibri"/>
              <a:sym typeface="Calibri"/>
            </a:endParaRPr>
          </a:p>
        </p:txBody>
      </p:sp>
      <p:sp>
        <p:nvSpPr>
          <p:cNvPr id="728" name="Google Shape;728;p59"/>
          <p:cNvSpPr/>
          <p:nvPr/>
        </p:nvSpPr>
        <p:spPr>
          <a:xfrm>
            <a:off x="7954004" y="3191175"/>
            <a:ext cx="944700" cy="137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1741"/>
              </a:buClr>
              <a:buSzPts val="492"/>
              <a:buFont typeface="DM Sans"/>
              <a:buNone/>
            </a:pPr>
            <a:r>
              <a:rPr lang="en" sz="800" b="0" i="0" u="none" strike="noStrike" cap="none">
                <a:solidFill>
                  <a:srgbClr val="000000"/>
                </a:solidFill>
                <a:latin typeface="Calibri"/>
                <a:ea typeface="Calibri"/>
                <a:cs typeface="Calibri"/>
                <a:sym typeface="Calibri"/>
              </a:rPr>
              <a:t>Enabled</a:t>
            </a:r>
            <a:br>
              <a:rPr lang="en" sz="800" b="0" i="0" u="none" strike="noStrike" cap="none">
                <a:solidFill>
                  <a:srgbClr val="000000"/>
                </a:solidFill>
                <a:latin typeface="Calibri"/>
                <a:ea typeface="Calibri"/>
                <a:cs typeface="Calibri"/>
                <a:sym typeface="Calibri"/>
              </a:rPr>
            </a:br>
            <a:r>
              <a:rPr lang="en" sz="800" b="0" i="0" u="none" strike="noStrike" cap="none">
                <a:solidFill>
                  <a:srgbClr val="000000"/>
                </a:solidFill>
                <a:latin typeface="Calibri"/>
                <a:ea typeface="Calibri"/>
                <a:cs typeface="Calibri"/>
                <a:sym typeface="Calibri"/>
              </a:rPr>
              <a:t>{{F_GA}}</a:t>
            </a:r>
            <a:endParaRPr sz="800" b="0" i="0" u="none" strike="noStrike" cap="none">
              <a:solidFill>
                <a:srgbClr val="000000"/>
              </a:solidFill>
              <a:latin typeface="Calibri"/>
              <a:ea typeface="Calibri"/>
              <a:cs typeface="Calibri"/>
              <a:sym typeface="Calibri"/>
            </a:endParaRPr>
          </a:p>
        </p:txBody>
      </p:sp>
      <p:sp>
        <p:nvSpPr>
          <p:cNvPr id="729" name="Google Shape;729;p59"/>
          <p:cNvSpPr/>
          <p:nvPr/>
        </p:nvSpPr>
        <p:spPr>
          <a:xfrm>
            <a:off x="7906406" y="2038924"/>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a:ea typeface="Calibri"/>
                <a:cs typeface="Calibri"/>
                <a:sym typeface="Calibri"/>
              </a:rPr>
              <a:t>Preventive Security</a:t>
            </a:r>
            <a:endParaRPr sz="900" b="1" i="0" u="none" strike="noStrike" cap="none">
              <a:solidFill>
                <a:srgbClr val="000000"/>
              </a:solidFill>
              <a:latin typeface="Calibri"/>
              <a:ea typeface="Calibri"/>
              <a:cs typeface="Calibri"/>
              <a:sym typeface="Calibri"/>
            </a:endParaRPr>
          </a:p>
        </p:txBody>
      </p:sp>
      <p:sp>
        <p:nvSpPr>
          <p:cNvPr id="730" name="Google Shape;730;p59"/>
          <p:cNvSpPr/>
          <p:nvPr/>
        </p:nvSpPr>
        <p:spPr>
          <a:xfrm>
            <a:off x="7719100" y="2144544"/>
            <a:ext cx="14250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a:solidFill>
                  <a:srgbClr val="001741"/>
                </a:solidFill>
                <a:latin typeface="Calibri"/>
                <a:ea typeface="Calibri"/>
                <a:cs typeface="Calibri"/>
                <a:sym typeface="Calibri"/>
              </a:rPr>
              <a:t>Build securely and </a:t>
            </a:r>
            <a:br>
              <a:rPr lang="en" sz="726" b="0" i="0" u="none" strike="noStrike" cap="none">
                <a:solidFill>
                  <a:srgbClr val="001741"/>
                </a:solidFill>
                <a:latin typeface="Calibri"/>
                <a:ea typeface="Calibri"/>
                <a:cs typeface="Calibri"/>
                <a:sym typeface="Calibri"/>
              </a:rPr>
            </a:br>
            <a:r>
              <a:rPr lang="en" sz="726" b="0" i="0" u="none" strike="noStrike" cap="none">
                <a:solidFill>
                  <a:srgbClr val="001741"/>
                </a:solidFill>
                <a:latin typeface="Calibri"/>
                <a:ea typeface="Calibri"/>
                <a:cs typeface="Calibri"/>
                <a:sym typeface="Calibri"/>
              </a:rPr>
              <a:t>remediate at the source</a:t>
            </a:r>
            <a:endParaRPr sz="621" b="0" i="0" u="none" strike="noStrike" cap="none">
              <a:solidFill>
                <a:srgbClr val="000000"/>
              </a:solidFill>
              <a:latin typeface="Calibri"/>
              <a:ea typeface="Calibri"/>
              <a:cs typeface="Calibri"/>
              <a:sym typeface="Calibri"/>
            </a:endParaRPr>
          </a:p>
        </p:txBody>
      </p:sp>
      <p:sp>
        <p:nvSpPr>
          <p:cNvPr id="731" name="Google Shape;731;p59"/>
          <p:cNvSpPr/>
          <p:nvPr/>
        </p:nvSpPr>
        <p:spPr>
          <a:xfrm>
            <a:off x="7936234" y="3618692"/>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a:ea typeface="Calibri"/>
                <a:cs typeface="Calibri"/>
                <a:sym typeface="Calibri"/>
              </a:rPr>
              <a:t>Reactive Security</a:t>
            </a:r>
            <a:endParaRPr sz="900" b="1" i="0" u="none" strike="noStrike" cap="none">
              <a:solidFill>
                <a:srgbClr val="000000"/>
              </a:solidFill>
              <a:latin typeface="Calibri"/>
              <a:ea typeface="Calibri"/>
              <a:cs typeface="Calibri"/>
              <a:sym typeface="Calibri"/>
            </a:endParaRPr>
          </a:p>
        </p:txBody>
      </p:sp>
      <p:sp>
        <p:nvSpPr>
          <p:cNvPr id="732" name="Google Shape;732;p59"/>
          <p:cNvSpPr/>
          <p:nvPr/>
        </p:nvSpPr>
        <p:spPr>
          <a:xfrm>
            <a:off x="7718900" y="3785755"/>
            <a:ext cx="1425000" cy="314700"/>
          </a:xfrm>
          <a:prstGeom prst="rect">
            <a:avLst/>
          </a:prstGeom>
          <a:noFill/>
          <a:ln>
            <a:noFill/>
          </a:ln>
        </p:spPr>
        <p:txBody>
          <a:bodyPr spcFirstLastPara="1" wrap="square" lIns="0" tIns="0" rIns="0" bIns="0" anchor="ctr"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a:solidFill>
                  <a:srgbClr val="001741"/>
                </a:solidFill>
                <a:latin typeface="Calibri"/>
                <a:ea typeface="Calibri"/>
                <a:cs typeface="Calibri"/>
                <a:sym typeface="Calibri"/>
              </a:rPr>
              <a:t>Investigate and triage high-fidelity threats</a:t>
            </a:r>
            <a:endParaRPr sz="621" b="0" i="0" u="none" strike="noStrike" cap="none">
              <a:solidFill>
                <a:srgbClr val="000000"/>
              </a:solidFill>
              <a:latin typeface="Calibri"/>
              <a:ea typeface="Calibri"/>
              <a:cs typeface="Calibri"/>
              <a:sym typeface="Calibri"/>
            </a:endParaRPr>
          </a:p>
        </p:txBody>
      </p:sp>
      <p:sp>
        <p:nvSpPr>
          <p:cNvPr id="733" name="Google Shape;733;p59"/>
          <p:cNvSpPr/>
          <p:nvPr/>
        </p:nvSpPr>
        <p:spPr>
          <a:xfrm>
            <a:off x="7916398" y="550119"/>
            <a:ext cx="1038900" cy="205800"/>
          </a:xfrm>
          <a:prstGeom prst="rect">
            <a:avLst/>
          </a:prstGeom>
          <a:noFill/>
          <a:ln>
            <a:noFill/>
          </a:ln>
        </p:spPr>
        <p:txBody>
          <a:bodyPr spcFirstLastPara="1" wrap="square" lIns="0" tIns="0" rIns="0" bIns="0" anchor="ctr" anchorCtr="0">
            <a:noAutofit/>
          </a:bodyPr>
          <a:lstStyle/>
          <a:p>
            <a:pPr marL="0" marR="0" lvl="0" indent="0" algn="ctr" rtl="0">
              <a:lnSpc>
                <a:spcPct val="112255"/>
              </a:lnSpc>
              <a:spcBef>
                <a:spcPts val="0"/>
              </a:spcBef>
              <a:spcAft>
                <a:spcPts val="0"/>
              </a:spcAft>
              <a:buClr>
                <a:srgbClr val="0254EC"/>
              </a:buClr>
              <a:buSzPts val="736"/>
              <a:buFont typeface="DM Sans"/>
              <a:buNone/>
            </a:pPr>
            <a:r>
              <a:rPr lang="en" sz="900" b="1" i="0" u="none" strike="noStrike" cap="none">
                <a:solidFill>
                  <a:srgbClr val="0254EC"/>
                </a:solidFill>
                <a:latin typeface="Calibri"/>
                <a:ea typeface="Calibri"/>
                <a:cs typeface="Calibri"/>
                <a:sym typeface="Calibri"/>
              </a:rPr>
              <a:t>Proactive Security</a:t>
            </a:r>
            <a:endParaRPr sz="900" b="1" i="0" u="none" strike="noStrike" cap="none">
              <a:solidFill>
                <a:srgbClr val="000000"/>
              </a:solidFill>
              <a:latin typeface="Calibri"/>
              <a:ea typeface="Calibri"/>
              <a:cs typeface="Calibri"/>
              <a:sym typeface="Calibri"/>
            </a:endParaRPr>
          </a:p>
        </p:txBody>
      </p:sp>
      <p:sp>
        <p:nvSpPr>
          <p:cNvPr id="734" name="Google Shape;734;p59"/>
          <p:cNvSpPr/>
          <p:nvPr/>
        </p:nvSpPr>
        <p:spPr>
          <a:xfrm>
            <a:off x="7661455" y="656976"/>
            <a:ext cx="1425000" cy="314700"/>
          </a:xfrm>
          <a:prstGeom prst="rect">
            <a:avLst/>
          </a:prstGeom>
          <a:noFill/>
          <a:ln>
            <a:noFill/>
          </a:ln>
        </p:spPr>
        <p:txBody>
          <a:bodyPr spcFirstLastPara="1" wrap="square" lIns="0" tIns="0" rIns="0" bIns="0" anchor="b" anchorCtr="0">
            <a:noAutofit/>
          </a:bodyPr>
          <a:lstStyle/>
          <a:p>
            <a:pPr marL="0" marR="0" lvl="0" indent="0" algn="ctr" rtl="0">
              <a:lnSpc>
                <a:spcPct val="110576"/>
              </a:lnSpc>
              <a:spcBef>
                <a:spcPts val="0"/>
              </a:spcBef>
              <a:spcAft>
                <a:spcPts val="0"/>
              </a:spcAft>
              <a:buClr>
                <a:srgbClr val="001741"/>
              </a:buClr>
              <a:buSzPts val="631"/>
              <a:buFont typeface="DM Sans"/>
              <a:buNone/>
            </a:pPr>
            <a:r>
              <a:rPr lang="en" sz="726" b="0" i="0" u="none" strike="noStrike" cap="none">
                <a:solidFill>
                  <a:srgbClr val="001741"/>
                </a:solidFill>
                <a:latin typeface="Calibri"/>
                <a:ea typeface="Calibri"/>
                <a:cs typeface="Calibri"/>
                <a:sym typeface="Calibri"/>
              </a:rPr>
              <a:t>Identify high-risk issues before they </a:t>
            </a:r>
            <a:br>
              <a:rPr lang="en" sz="726" b="0" i="0" u="none" strike="noStrike" cap="none">
                <a:solidFill>
                  <a:srgbClr val="001741"/>
                </a:solidFill>
                <a:latin typeface="Calibri"/>
                <a:ea typeface="Calibri"/>
                <a:cs typeface="Calibri"/>
                <a:sym typeface="Calibri"/>
              </a:rPr>
            </a:br>
            <a:r>
              <a:rPr lang="en" sz="726" b="0" i="0" u="none" strike="noStrike" cap="none">
                <a:solidFill>
                  <a:srgbClr val="001741"/>
                </a:solidFill>
                <a:latin typeface="Calibri"/>
                <a:ea typeface="Calibri"/>
                <a:cs typeface="Calibri"/>
                <a:sym typeface="Calibri"/>
              </a:rPr>
              <a:t>can be exploited</a:t>
            </a:r>
            <a:endParaRPr sz="621" b="0" i="0" u="none" strike="noStrike" cap="none">
              <a:solidFill>
                <a:srgbClr val="000000"/>
              </a:solidFill>
              <a:latin typeface="Calibri"/>
              <a:ea typeface="Calibri"/>
              <a:cs typeface="Calibri"/>
              <a:sym typeface="Calibri"/>
            </a:endParaRPr>
          </a:p>
        </p:txBody>
      </p:sp>
      <p:sp>
        <p:nvSpPr>
          <p:cNvPr id="735" name="Google Shape;735;p59"/>
          <p:cNvSpPr/>
          <p:nvPr/>
        </p:nvSpPr>
        <p:spPr>
          <a:xfrm>
            <a:off x="7961878" y="4624264"/>
            <a:ext cx="966900" cy="945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736"/>
              <a:buFont typeface="DM Sans"/>
              <a:buNone/>
            </a:pPr>
            <a:r>
              <a:rPr lang="en" sz="731" b="1" i="0" u="none" strike="noStrike" cap="none">
                <a:solidFill>
                  <a:srgbClr val="0254EC"/>
                </a:solidFill>
                <a:latin typeface="Calibri"/>
                <a:ea typeface="Calibri"/>
                <a:cs typeface="Calibri"/>
                <a:sym typeface="Calibri"/>
              </a:rPr>
              <a:t>Blue Agent</a:t>
            </a:r>
            <a:endParaRPr sz="626" b="1" i="0" u="none" strike="noStrike" cap="none">
              <a:solidFill>
                <a:srgbClr val="000000"/>
              </a:solidFill>
              <a:latin typeface="Calibri"/>
              <a:ea typeface="Calibri"/>
              <a:cs typeface="Calibri"/>
              <a:sym typeface="Calibri"/>
            </a:endParaRPr>
          </a:p>
        </p:txBody>
      </p:sp>
      <p:sp>
        <p:nvSpPr>
          <p:cNvPr id="736" name="Google Shape;736;p59"/>
          <p:cNvSpPr/>
          <p:nvPr/>
        </p:nvSpPr>
        <p:spPr>
          <a:xfrm>
            <a:off x="7965161" y="4851627"/>
            <a:ext cx="948000" cy="138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1741"/>
              </a:buClr>
              <a:buSzPts val="631"/>
              <a:buFont typeface="DM Sans"/>
              <a:buNone/>
            </a:pPr>
            <a:r>
              <a:rPr lang="en" sz="800" b="0" i="0" u="none" strike="noStrike" cap="none">
                <a:solidFill>
                  <a:srgbClr val="000000"/>
                </a:solidFill>
                <a:latin typeface="Calibri"/>
                <a:ea typeface="Calibri"/>
                <a:cs typeface="Calibri"/>
                <a:sym typeface="Calibri"/>
              </a:rPr>
              <a:t>Enabled</a:t>
            </a:r>
            <a:br>
              <a:rPr lang="en" sz="800" b="0" i="0" u="none" strike="noStrike" cap="none">
                <a:solidFill>
                  <a:srgbClr val="000000"/>
                </a:solidFill>
                <a:latin typeface="Calibri"/>
                <a:ea typeface="Calibri"/>
                <a:cs typeface="Calibri"/>
                <a:sym typeface="Calibri"/>
              </a:rPr>
            </a:br>
            <a:r>
              <a:rPr lang="en" sz="800" b="0" i="0" u="none" strike="noStrike" cap="none">
                <a:solidFill>
                  <a:srgbClr val="000000"/>
                </a:solidFill>
                <a:latin typeface="Calibri"/>
                <a:ea typeface="Calibri"/>
                <a:cs typeface="Calibri"/>
                <a:sym typeface="Calibri"/>
              </a:rPr>
              <a:t>{{F_BA}}</a:t>
            </a:r>
            <a:br>
              <a:rPr lang="en" sz="800" b="0" i="0" u="none" strike="noStrike" cap="none">
                <a:solidFill>
                  <a:srgbClr val="000000"/>
                </a:solidFill>
                <a:latin typeface="Calibri"/>
                <a:ea typeface="Calibri"/>
                <a:cs typeface="Calibri"/>
                <a:sym typeface="Calibri"/>
              </a:rPr>
            </a:br>
            <a:endParaRPr sz="800" b="0" i="0" u="none" strike="noStrike" cap="none">
              <a:solidFill>
                <a:srgbClr val="000000"/>
              </a:solidFill>
              <a:latin typeface="Calibri"/>
              <a:ea typeface="Calibri"/>
              <a:cs typeface="Calibri"/>
              <a:sym typeface="Calibri"/>
            </a:endParaRPr>
          </a:p>
        </p:txBody>
      </p:sp>
      <p:sp>
        <p:nvSpPr>
          <p:cNvPr id="737" name="Google Shape;737;p59"/>
          <p:cNvSpPr/>
          <p:nvPr/>
        </p:nvSpPr>
        <p:spPr>
          <a:xfrm>
            <a:off x="7964150" y="1548816"/>
            <a:ext cx="948000" cy="96900"/>
          </a:xfrm>
          <a:prstGeom prst="rect">
            <a:avLst/>
          </a:prstGeom>
          <a:noFill/>
          <a:ln>
            <a:noFill/>
          </a:ln>
        </p:spPr>
        <p:txBody>
          <a:bodyPr spcFirstLastPara="1" wrap="square" lIns="0" tIns="0" rIns="0" bIns="0" anchor="ctr" anchorCtr="0">
            <a:noAutofit/>
          </a:bodyPr>
          <a:lstStyle/>
          <a:p>
            <a:pPr marL="0" marR="0" lvl="0" indent="0" algn="ctr" rtl="0">
              <a:lnSpc>
                <a:spcPct val="112258"/>
              </a:lnSpc>
              <a:spcBef>
                <a:spcPts val="0"/>
              </a:spcBef>
              <a:spcAft>
                <a:spcPts val="0"/>
              </a:spcAft>
              <a:buClr>
                <a:srgbClr val="0254EC"/>
              </a:buClr>
              <a:buSzPts val="592"/>
              <a:buFont typeface="DM Sans"/>
              <a:buNone/>
            </a:pPr>
            <a:r>
              <a:rPr lang="en" sz="700" b="1" i="0" u="none" strike="noStrike" cap="none">
                <a:solidFill>
                  <a:srgbClr val="0254EC"/>
                </a:solidFill>
                <a:latin typeface="Calibri"/>
                <a:ea typeface="Calibri"/>
                <a:cs typeface="Calibri"/>
                <a:sym typeface="Calibri"/>
              </a:rPr>
              <a:t>Red Agent</a:t>
            </a:r>
            <a:endParaRPr sz="700" b="1" i="0" u="none" strike="noStrike" cap="none">
              <a:solidFill>
                <a:srgbClr val="000000"/>
              </a:solidFill>
              <a:latin typeface="Calibri"/>
              <a:ea typeface="Calibri"/>
              <a:cs typeface="Calibri"/>
              <a:sym typeface="Calibri"/>
            </a:endParaRPr>
          </a:p>
        </p:txBody>
      </p:sp>
      <p:sp>
        <p:nvSpPr>
          <p:cNvPr id="738" name="Google Shape;738;p59"/>
          <p:cNvSpPr/>
          <p:nvPr/>
        </p:nvSpPr>
        <p:spPr>
          <a:xfrm>
            <a:off x="7968735" y="1766529"/>
            <a:ext cx="944700" cy="141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1741"/>
              </a:buClr>
              <a:buSzPts val="508"/>
              <a:buFont typeface="DM Sans"/>
              <a:buNone/>
            </a:pPr>
            <a:r>
              <a:rPr lang="en" sz="821" b="0" i="0" u="none" strike="noStrike" cap="none">
                <a:solidFill>
                  <a:srgbClr val="000000"/>
                </a:solidFill>
                <a:latin typeface="Calibri"/>
                <a:ea typeface="Calibri"/>
                <a:cs typeface="Calibri"/>
                <a:sym typeface="Calibri"/>
              </a:rPr>
              <a:t>Enabled</a:t>
            </a:r>
            <a:br>
              <a:rPr lang="en" sz="821" b="0" i="0" u="none" strike="noStrike" cap="none">
                <a:solidFill>
                  <a:srgbClr val="000000"/>
                </a:solidFill>
                <a:latin typeface="Calibri"/>
                <a:ea typeface="Calibri"/>
                <a:cs typeface="Calibri"/>
                <a:sym typeface="Calibri"/>
              </a:rPr>
            </a:br>
            <a:r>
              <a:rPr lang="en" sz="821" b="0" i="0" u="none" strike="noStrike" cap="none">
                <a:solidFill>
                  <a:srgbClr val="000000"/>
                </a:solidFill>
                <a:latin typeface="Calibri"/>
                <a:ea typeface="Calibri"/>
                <a:cs typeface="Calibri"/>
                <a:sym typeface="Calibri"/>
              </a:rPr>
              <a:t>{{F_RA}}</a:t>
            </a:r>
            <a:br>
              <a:rPr lang="en" sz="821" b="0" i="0" u="none" strike="noStrike" cap="none">
                <a:solidFill>
                  <a:srgbClr val="000000"/>
                </a:solidFill>
                <a:latin typeface="Calibri"/>
                <a:ea typeface="Calibri"/>
                <a:cs typeface="Calibri"/>
                <a:sym typeface="Calibri"/>
              </a:rPr>
            </a:br>
            <a:endParaRPr sz="821" b="0" i="0" u="none" strike="noStrike" cap="none">
              <a:solidFill>
                <a:srgbClr val="000000"/>
              </a:solidFill>
              <a:latin typeface="Calibri"/>
              <a:ea typeface="Calibri"/>
              <a:cs typeface="Calibri"/>
              <a:sym typeface="Calibri"/>
            </a:endParaRPr>
          </a:p>
        </p:txBody>
      </p:sp>
      <p:pic>
        <p:nvPicPr>
          <p:cNvPr id="739" name="Google Shape;739;p59"/>
          <p:cNvPicPr preferRelativeResize="0"/>
          <p:nvPr/>
        </p:nvPicPr>
        <p:blipFill rotWithShape="1">
          <a:blip r:embed="rId3">
            <a:alphaModFix/>
          </a:blip>
          <a:srcRect/>
          <a:stretch/>
        </p:blipFill>
        <p:spPr>
          <a:xfrm>
            <a:off x="107954" y="1893191"/>
            <a:ext cx="7613696" cy="1578100"/>
          </a:xfrm>
          <a:prstGeom prst="rect">
            <a:avLst/>
          </a:prstGeom>
          <a:noFill/>
          <a:ln w="9525" cap="flat" cmpd="sng">
            <a:solidFill>
              <a:schemeClr val="accent1"/>
            </a:solidFill>
            <a:prstDash val="solid"/>
            <a:round/>
            <a:headEnd type="none" w="sm" len="sm"/>
            <a:tailEnd type="none" w="sm" len="sm"/>
          </a:ln>
        </p:spPr>
      </p:pic>
      <p:sp>
        <p:nvSpPr>
          <p:cNvPr id="740" name="Google Shape;740;p59"/>
          <p:cNvSpPr txBox="1"/>
          <p:nvPr/>
        </p:nvSpPr>
        <p:spPr>
          <a:xfrm>
            <a:off x="155254" y="2004575"/>
            <a:ext cx="4782900" cy="361500"/>
          </a:xfrm>
          <a:prstGeom prst="rect">
            <a:avLst/>
          </a:prstGeom>
          <a:noFill/>
          <a:ln>
            <a:noFill/>
          </a:ln>
        </p:spPr>
        <p:txBody>
          <a:bodyPr spcFirstLastPara="1" wrap="square" lIns="68575" tIns="34275" rIns="68575" bIns="34275" anchor="t" anchorCtr="0">
            <a:noAutofit/>
          </a:bodyPr>
          <a:lstStyle/>
          <a:p>
            <a:pPr marL="0" marR="0" lvl="0" indent="0" algn="l" rtl="0">
              <a:lnSpc>
                <a:spcPct val="90000"/>
              </a:lnSpc>
              <a:spcBef>
                <a:spcPts val="0"/>
              </a:spcBef>
              <a:spcAft>
                <a:spcPts val="0"/>
              </a:spcAft>
              <a:buClr>
                <a:schemeClr val="dk2"/>
              </a:buClr>
              <a:buSzPts val="1500"/>
              <a:buFont typeface="Arial"/>
              <a:buNone/>
            </a:pPr>
            <a:r>
              <a:rPr lang="en" sz="1500" b="0" i="0" u="sng" strike="noStrike" cap="none">
                <a:solidFill>
                  <a:schemeClr val="hlink"/>
                </a:solidFill>
                <a:latin typeface="Calibri"/>
                <a:ea typeface="Calibri"/>
                <a:cs typeface="Calibri"/>
                <a:sym typeface="Calibri"/>
                <a:hlinkClick r:id="rId7"/>
              </a:rPr>
              <a:t>Top 3 Wiz Critical Risk Issues by Count</a:t>
            </a:r>
            <a:r>
              <a:rPr lang="en" sz="1500" b="0" i="0" u="none" strike="noStrike" cap="none">
                <a:solidFill>
                  <a:srgbClr val="0254EC"/>
                </a:solidFill>
                <a:latin typeface="Calibri"/>
                <a:ea typeface="Calibri"/>
                <a:cs typeface="Calibri"/>
                <a:sym typeface="Calibri"/>
              </a:rPr>
              <a:t> </a:t>
            </a:r>
            <a:r>
              <a:rPr lang="en" sz="1500" b="0" i="0" u="none" strike="noStrike" cap="none">
                <a:solidFill>
                  <a:schemeClr val="hlink"/>
                </a:solidFill>
                <a:uFill>
                  <a:noFill/>
                </a:uFill>
                <a:latin typeface="Calibri"/>
                <a:ea typeface="Calibri"/>
                <a:cs typeface="Calibri"/>
                <a:sym typeface="Calibri"/>
                <a:hlinkClick r:id="rId8"/>
              </a:rPr>
              <a:t>↗</a:t>
            </a:r>
            <a:endParaRPr sz="1500" b="0" i="0" u="none" strike="noStrike" cap="none">
              <a:solidFill>
                <a:srgbClr val="0254EC"/>
              </a:solidFill>
              <a:latin typeface="Calibri"/>
              <a:ea typeface="Calibri"/>
              <a:cs typeface="Calibri"/>
              <a:sym typeface="Calibri"/>
            </a:endParaRPr>
          </a:p>
        </p:txBody>
      </p:sp>
      <p:sp>
        <p:nvSpPr>
          <p:cNvPr id="741" name="Google Shape;741;p59"/>
          <p:cNvSpPr txBox="1"/>
          <p:nvPr/>
        </p:nvSpPr>
        <p:spPr>
          <a:xfrm>
            <a:off x="112373" y="2363761"/>
            <a:ext cx="6979500" cy="1244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a:ea typeface="Calibri"/>
                <a:cs typeface="Calibri"/>
                <a:sym typeface="Calibri"/>
              </a:rPr>
              <a:t>{{CI_CONTROL_1}}</a:t>
            </a:r>
            <a:endParaRPr sz="900" b="0" i="0" u="sng" strike="noStrike" cap="none">
              <a:solidFill>
                <a:srgbClr val="0254EC"/>
              </a:solidFill>
              <a:highlight>
                <a:srgbClr val="F9FAFB"/>
              </a:highlight>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800" b="0" i="0" u="none" strike="noStrike" cap="none">
                <a:solidFill>
                  <a:srgbClr val="991B1B"/>
                </a:solidFill>
                <a:highlight>
                  <a:srgbClr val="FEE2E2"/>
                </a:highlight>
                <a:latin typeface="Calibri"/>
                <a:ea typeface="Calibri"/>
                <a:cs typeface="Calibri"/>
                <a:sym typeface="Calibri"/>
              </a:rPr>
              <a:t>CRITICAL</a:t>
            </a:r>
            <a:endParaRPr sz="800" b="0" i="0" u="none" strike="noStrike" cap="none">
              <a:solidFill>
                <a:srgbClr val="991B1B"/>
              </a:solidFill>
              <a:highlight>
                <a:srgbClr val="FEE2E2"/>
              </a:highlight>
              <a:latin typeface="Calibri"/>
              <a:ea typeface="Calibri"/>
              <a:cs typeface="Calibri"/>
              <a:sym typeface="Calibri"/>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a:ea typeface="Calibri"/>
                <a:cs typeface="Calibri"/>
                <a:sym typeface="Calibri"/>
              </a:rPr>
              <a:t>{{CI_CONTROL_2}}</a:t>
            </a:r>
            <a:br>
              <a:rPr lang="en" sz="800" b="0" i="0" u="sng" strike="noStrike" cap="none">
                <a:solidFill>
                  <a:schemeClr val="hlink"/>
                </a:solidFill>
                <a:highlight>
                  <a:srgbClr val="FFFFFF"/>
                </a:highlight>
                <a:latin typeface="Calibri"/>
                <a:ea typeface="Calibri"/>
                <a:cs typeface="Calibri"/>
                <a:sym typeface="Calibri"/>
              </a:rPr>
            </a:br>
            <a:r>
              <a:rPr lang="en" sz="800" b="0" i="0" u="none" strike="noStrike" cap="none">
                <a:solidFill>
                  <a:srgbClr val="991B1B"/>
                </a:solidFill>
                <a:highlight>
                  <a:srgbClr val="FEE2E2"/>
                </a:highlight>
                <a:latin typeface="Calibri"/>
                <a:ea typeface="Calibri"/>
                <a:cs typeface="Calibri"/>
                <a:sym typeface="Calibri"/>
              </a:rPr>
              <a:t>CRITICAL</a:t>
            </a:r>
            <a:endParaRPr sz="800" b="0" i="0" u="none" strike="noStrike" cap="none">
              <a:solidFill>
                <a:srgbClr val="991B1B"/>
              </a:solidFill>
              <a:highlight>
                <a:srgbClr val="FEE2E2"/>
              </a:highlight>
              <a:latin typeface="Calibri"/>
              <a:ea typeface="Calibri"/>
              <a:cs typeface="Calibri"/>
              <a:sym typeface="Calibri"/>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a:ea typeface="Calibri"/>
                <a:cs typeface="Calibri"/>
                <a:sym typeface="Calibri"/>
              </a:rPr>
              <a:t>{{CI_CONTROL_3}}</a:t>
            </a:r>
            <a:br>
              <a:rPr lang="en" sz="800" b="0" i="0" u="sng" strike="noStrike" cap="none">
                <a:solidFill>
                  <a:schemeClr val="hlink"/>
                </a:solidFill>
                <a:highlight>
                  <a:srgbClr val="FFFFFF"/>
                </a:highlight>
                <a:latin typeface="Calibri"/>
                <a:ea typeface="Calibri"/>
                <a:cs typeface="Calibri"/>
                <a:sym typeface="Calibri"/>
              </a:rPr>
            </a:br>
            <a:r>
              <a:rPr lang="en" sz="800" b="0" i="0" u="none" strike="noStrike" cap="none">
                <a:solidFill>
                  <a:srgbClr val="991B1B"/>
                </a:solidFill>
                <a:highlight>
                  <a:srgbClr val="FEE2E2"/>
                </a:highlight>
                <a:latin typeface="Calibri"/>
                <a:ea typeface="Calibri"/>
                <a:cs typeface="Calibri"/>
                <a:sym typeface="Calibri"/>
              </a:rPr>
              <a:t>CRITICAL</a:t>
            </a:r>
            <a:endParaRPr sz="800" b="0" i="0" u="none" strike="noStrike" cap="none">
              <a:solidFill>
                <a:srgbClr val="991B1B"/>
              </a:solidFill>
              <a:highlight>
                <a:srgbClr val="FEE2E2"/>
              </a:highlight>
              <a:latin typeface="Calibri"/>
              <a:ea typeface="Calibri"/>
              <a:cs typeface="Calibri"/>
              <a:sym typeface="Calibri"/>
            </a:endParaRPr>
          </a:p>
          <a:p>
            <a:pPr marL="0" marR="0" lvl="0" indent="0" algn="r" rtl="0">
              <a:lnSpc>
                <a:spcPct val="115000"/>
              </a:lnSpc>
              <a:spcBef>
                <a:spcPts val="700"/>
              </a:spcBef>
              <a:spcAft>
                <a:spcPts val="0"/>
              </a:spcAft>
              <a:buClr>
                <a:srgbClr val="000000"/>
              </a:buClr>
              <a:buSzPts val="200"/>
              <a:buFont typeface="Arial"/>
              <a:buNone/>
            </a:pPr>
            <a:endParaRPr sz="200" b="0" i="0" u="none" strike="noStrike" cap="none">
              <a:solidFill>
                <a:srgbClr val="1155CC"/>
              </a:solidFill>
              <a:latin typeface="Calibri"/>
              <a:ea typeface="Calibri"/>
              <a:cs typeface="Calibri"/>
              <a:sym typeface="Calibri"/>
            </a:endParaRPr>
          </a:p>
        </p:txBody>
      </p:sp>
      <p:pic>
        <p:nvPicPr>
          <p:cNvPr id="742" name="Google Shape;742;p59"/>
          <p:cNvPicPr preferRelativeResize="0"/>
          <p:nvPr/>
        </p:nvPicPr>
        <p:blipFill rotWithShape="1">
          <a:blip r:embed="rId3">
            <a:alphaModFix/>
          </a:blip>
          <a:srcRect/>
          <a:stretch/>
        </p:blipFill>
        <p:spPr>
          <a:xfrm>
            <a:off x="107950" y="3625724"/>
            <a:ext cx="7613696" cy="1474550"/>
          </a:xfrm>
          <a:prstGeom prst="rect">
            <a:avLst/>
          </a:prstGeom>
          <a:noFill/>
          <a:ln w="9525" cap="flat" cmpd="sng">
            <a:solidFill>
              <a:schemeClr val="accent1"/>
            </a:solidFill>
            <a:prstDash val="solid"/>
            <a:round/>
            <a:headEnd type="none" w="sm" len="sm"/>
            <a:tailEnd type="none" w="sm" len="sm"/>
          </a:ln>
        </p:spPr>
      </p:pic>
      <p:sp>
        <p:nvSpPr>
          <p:cNvPr id="743" name="Google Shape;743;p59"/>
          <p:cNvSpPr txBox="1"/>
          <p:nvPr/>
        </p:nvSpPr>
        <p:spPr>
          <a:xfrm>
            <a:off x="192197" y="3700461"/>
            <a:ext cx="4735500" cy="314700"/>
          </a:xfrm>
          <a:prstGeom prst="rect">
            <a:avLst/>
          </a:prstGeom>
          <a:noFill/>
          <a:ln>
            <a:noFill/>
          </a:ln>
        </p:spPr>
        <p:txBody>
          <a:bodyPr spcFirstLastPara="1" wrap="square" lIns="68575" tIns="34275" rIns="68575" bIns="34275" anchor="t" anchorCtr="0">
            <a:noAutofit/>
          </a:bodyPr>
          <a:lstStyle/>
          <a:p>
            <a:pPr marL="0" marR="0" lvl="0" indent="0" algn="l" rtl="0">
              <a:lnSpc>
                <a:spcPct val="90000"/>
              </a:lnSpc>
              <a:spcBef>
                <a:spcPts val="0"/>
              </a:spcBef>
              <a:spcAft>
                <a:spcPts val="0"/>
              </a:spcAft>
              <a:buClr>
                <a:schemeClr val="dk2"/>
              </a:buClr>
              <a:buSzPts val="1500"/>
              <a:buFont typeface="Arial"/>
              <a:buNone/>
            </a:pPr>
            <a:r>
              <a:rPr lang="en" sz="1500" b="0" i="0" u="sng" strike="noStrike" cap="none">
                <a:solidFill>
                  <a:schemeClr val="hlink"/>
                </a:solidFill>
                <a:latin typeface="Calibri"/>
                <a:ea typeface="Calibri"/>
                <a:cs typeface="Calibri"/>
                <a:sym typeface="Calibri"/>
                <a:hlinkClick r:id="rId9"/>
              </a:rPr>
              <a:t>Top 3 Wiz High Risk Issues by Count</a:t>
            </a:r>
            <a:r>
              <a:rPr lang="en" sz="1500" b="0" i="0" u="none" strike="noStrike" cap="none">
                <a:solidFill>
                  <a:srgbClr val="0254EC"/>
                </a:solidFill>
                <a:latin typeface="Calibri"/>
                <a:ea typeface="Calibri"/>
                <a:cs typeface="Calibri"/>
                <a:sym typeface="Calibri"/>
              </a:rPr>
              <a:t> </a:t>
            </a:r>
            <a:r>
              <a:rPr lang="en" sz="1500" b="0" i="0" u="none" strike="noStrike" cap="none">
                <a:solidFill>
                  <a:schemeClr val="hlink"/>
                </a:solidFill>
                <a:uFill>
                  <a:noFill/>
                </a:uFill>
                <a:latin typeface="Calibri"/>
                <a:ea typeface="Calibri"/>
                <a:cs typeface="Calibri"/>
                <a:sym typeface="Calibri"/>
                <a:hlinkClick r:id="rId8"/>
              </a:rPr>
              <a:t>↗</a:t>
            </a:r>
            <a:endParaRPr sz="1700" b="0" i="0" u="none" strike="noStrike" cap="none">
              <a:solidFill>
                <a:srgbClr val="0254EC"/>
              </a:solidFill>
              <a:latin typeface="Calibri"/>
              <a:ea typeface="Calibri"/>
              <a:cs typeface="Calibri"/>
              <a:sym typeface="Calibri"/>
            </a:endParaRPr>
          </a:p>
        </p:txBody>
      </p:sp>
      <p:sp>
        <p:nvSpPr>
          <p:cNvPr id="744" name="Google Shape;744;p59"/>
          <p:cNvSpPr txBox="1"/>
          <p:nvPr/>
        </p:nvSpPr>
        <p:spPr>
          <a:xfrm>
            <a:off x="6213626" y="3912215"/>
            <a:ext cx="1425000" cy="1368000"/>
          </a:xfrm>
          <a:prstGeom prst="rect">
            <a:avLst/>
          </a:prstGeom>
          <a:noFill/>
          <a:ln>
            <a:noFill/>
          </a:ln>
        </p:spPr>
        <p:txBody>
          <a:bodyPr spcFirstLastPara="1" wrap="square" lIns="0" tIns="91425" rIns="0" bIns="91425" anchor="ctr" anchorCtr="0">
            <a:noAutofit/>
          </a:bodyPr>
          <a:lstStyle/>
          <a:p>
            <a:pPr marL="0" marR="0" lvl="0" indent="0" algn="r" rtl="0">
              <a:lnSpc>
                <a:spcPct val="100000"/>
              </a:lnSpc>
              <a:spcBef>
                <a:spcPts val="0"/>
              </a:spcBef>
              <a:spcAft>
                <a:spcPts val="0"/>
              </a:spcAft>
              <a:buClr>
                <a:schemeClr val="dk1"/>
              </a:buClr>
              <a:buSzPts val="1100"/>
              <a:buFont typeface="Arial"/>
              <a:buNone/>
            </a:pPr>
            <a:r>
              <a:rPr lang="en" sz="900" b="0" i="0" u="none" strike="noStrike" cap="none">
                <a:solidFill>
                  <a:schemeClr val="dk1"/>
                </a:solidFill>
                <a:latin typeface="Calibri"/>
                <a:ea typeface="Calibri"/>
                <a:cs typeface="Calibri"/>
                <a:sym typeface="Calibri"/>
              </a:rPr>
              <a:t>{{HI_CBC_1}} Issues</a:t>
            </a:r>
            <a:endParaRPr sz="900" b="0" i="0" u="none" strike="noStrike" cap="none">
              <a:solidFill>
                <a:schemeClr val="dk1"/>
              </a:solidFill>
              <a:latin typeface="Calibri"/>
              <a:ea typeface="Calibri"/>
              <a:cs typeface="Calibri"/>
              <a:sym typeface="Calibri"/>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a:ea typeface="Calibri"/>
              <a:cs typeface="Calibri"/>
              <a:sym typeface="Calibri"/>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a:ea typeface="Calibri"/>
                <a:cs typeface="Calibri"/>
                <a:sym typeface="Calibri"/>
              </a:rPr>
              <a:t>{{HI_CBC_2}} Issues</a:t>
            </a:r>
            <a:endParaRPr sz="900" b="0" i="0" u="none" strike="noStrike" cap="none">
              <a:solidFill>
                <a:schemeClr val="dk1"/>
              </a:solidFill>
              <a:latin typeface="Calibri"/>
              <a:ea typeface="Calibri"/>
              <a:cs typeface="Calibri"/>
              <a:sym typeface="Calibri"/>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a:ea typeface="Calibri"/>
              <a:cs typeface="Calibri"/>
              <a:sym typeface="Calibri"/>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a:ea typeface="Calibri"/>
                <a:cs typeface="Calibri"/>
                <a:sym typeface="Calibri"/>
              </a:rPr>
              <a:t>{{HI_CBC_3}} Issues</a:t>
            </a:r>
            <a:endParaRPr sz="900" b="0" i="0" u="none" strike="noStrike" cap="none">
              <a:solidFill>
                <a:schemeClr val="dk1"/>
              </a:solidFill>
              <a:latin typeface="Calibri"/>
              <a:ea typeface="Calibri"/>
              <a:cs typeface="Calibri"/>
              <a:sym typeface="Calibri"/>
            </a:endParaRPr>
          </a:p>
        </p:txBody>
      </p:sp>
      <p:sp>
        <p:nvSpPr>
          <p:cNvPr id="745" name="Google Shape;745;p59"/>
          <p:cNvSpPr txBox="1"/>
          <p:nvPr/>
        </p:nvSpPr>
        <p:spPr>
          <a:xfrm>
            <a:off x="6198064" y="2230298"/>
            <a:ext cx="1425000" cy="1368000"/>
          </a:xfrm>
          <a:prstGeom prst="rect">
            <a:avLst/>
          </a:prstGeom>
          <a:noFill/>
          <a:ln>
            <a:noFill/>
          </a:ln>
        </p:spPr>
        <p:txBody>
          <a:bodyPr spcFirstLastPara="1" wrap="square" lIns="0" tIns="91425" rIns="0" bIns="91425" anchor="ctr" anchorCtr="0">
            <a:noAutofit/>
          </a:bodyPr>
          <a:lstStyle/>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a:ea typeface="Calibri"/>
                <a:cs typeface="Calibri"/>
                <a:sym typeface="Calibri"/>
              </a:rPr>
              <a:t>{{CI_CBC_1}} Issues</a:t>
            </a:r>
            <a:endParaRPr sz="900" b="0" i="0" u="none" strike="noStrike" cap="none">
              <a:solidFill>
                <a:schemeClr val="dk1"/>
              </a:solidFill>
              <a:latin typeface="Calibri"/>
              <a:ea typeface="Calibri"/>
              <a:cs typeface="Calibri"/>
              <a:sym typeface="Calibri"/>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a:ea typeface="Calibri"/>
              <a:cs typeface="Calibri"/>
              <a:sym typeface="Calibri"/>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a:ea typeface="Calibri"/>
                <a:cs typeface="Calibri"/>
                <a:sym typeface="Calibri"/>
              </a:rPr>
              <a:t>{{CI_CBC_2}} Issues</a:t>
            </a:r>
            <a:endParaRPr sz="900" b="0" i="0" u="none" strike="noStrike" cap="none">
              <a:solidFill>
                <a:schemeClr val="dk1"/>
              </a:solidFill>
              <a:latin typeface="Calibri"/>
              <a:ea typeface="Calibri"/>
              <a:cs typeface="Calibri"/>
              <a:sym typeface="Calibri"/>
            </a:endParaRPr>
          </a:p>
          <a:p>
            <a:pPr marL="0" marR="0" lvl="0" indent="0" algn="r" rtl="0">
              <a:lnSpc>
                <a:spcPct val="100000"/>
              </a:lnSpc>
              <a:spcBef>
                <a:spcPts val="0"/>
              </a:spcBef>
              <a:spcAft>
                <a:spcPts val="0"/>
              </a:spcAft>
              <a:buClr>
                <a:srgbClr val="000000"/>
              </a:buClr>
              <a:buSzPts val="1500"/>
              <a:buFont typeface="Arial"/>
              <a:buNone/>
            </a:pPr>
            <a:endParaRPr sz="1500" b="0" i="0" u="none" strike="noStrike" cap="none">
              <a:solidFill>
                <a:schemeClr val="dk1"/>
              </a:solidFill>
              <a:latin typeface="Calibri"/>
              <a:ea typeface="Calibri"/>
              <a:cs typeface="Calibri"/>
              <a:sym typeface="Calibri"/>
            </a:endParaRPr>
          </a:p>
          <a:p>
            <a:pPr marL="0" marR="0" lvl="0" indent="0" algn="r" rtl="0">
              <a:lnSpc>
                <a:spcPct val="100000"/>
              </a:lnSpc>
              <a:spcBef>
                <a:spcPts val="0"/>
              </a:spcBef>
              <a:spcAft>
                <a:spcPts val="0"/>
              </a:spcAft>
              <a:buClr>
                <a:srgbClr val="000000"/>
              </a:buClr>
              <a:buSzPts val="900"/>
              <a:buFont typeface="Arial"/>
              <a:buNone/>
            </a:pPr>
            <a:r>
              <a:rPr lang="en" sz="900" b="0" i="0" u="none" strike="noStrike" cap="none">
                <a:solidFill>
                  <a:schemeClr val="dk1"/>
                </a:solidFill>
                <a:latin typeface="Calibri"/>
                <a:ea typeface="Calibri"/>
                <a:cs typeface="Calibri"/>
                <a:sym typeface="Calibri"/>
              </a:rPr>
              <a:t>{{CI_CBC_3}} Issues</a:t>
            </a:r>
            <a:endParaRPr sz="900" b="0" i="0" u="none" strike="noStrike" cap="none">
              <a:solidFill>
                <a:schemeClr val="dk1"/>
              </a:solidFill>
              <a:latin typeface="Calibri"/>
              <a:ea typeface="Calibri"/>
              <a:cs typeface="Calibri"/>
              <a:sym typeface="Calibri"/>
            </a:endParaRPr>
          </a:p>
        </p:txBody>
      </p:sp>
      <p:sp>
        <p:nvSpPr>
          <p:cNvPr id="746" name="Google Shape;746;p59"/>
          <p:cNvSpPr txBox="1"/>
          <p:nvPr/>
        </p:nvSpPr>
        <p:spPr>
          <a:xfrm>
            <a:off x="112748" y="4015785"/>
            <a:ext cx="6979500" cy="1273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a:ea typeface="Calibri"/>
                <a:cs typeface="Calibri"/>
                <a:sym typeface="Calibri"/>
              </a:rPr>
              <a:t>{{HI_CONTROL_1}}</a:t>
            </a:r>
            <a:endParaRPr sz="900" b="0" i="0" u="sng" strike="noStrike" cap="none">
              <a:solidFill>
                <a:srgbClr val="0254EC"/>
              </a:solidFill>
              <a:highlight>
                <a:srgbClr val="F9FAFB"/>
              </a:highlight>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800" b="0" i="0" u="none" strike="noStrike" cap="none">
                <a:solidFill>
                  <a:srgbClr val="D97706"/>
                </a:solidFill>
                <a:highlight>
                  <a:srgbClr val="F9CB9C"/>
                </a:highlight>
                <a:latin typeface="Calibri"/>
                <a:ea typeface="Calibri"/>
                <a:cs typeface="Calibri"/>
                <a:sym typeface="Calibri"/>
              </a:rPr>
              <a:t>HIGH</a:t>
            </a:r>
            <a:endParaRPr sz="800" b="0" i="0" u="none" strike="noStrike" cap="none">
              <a:solidFill>
                <a:srgbClr val="D97706"/>
              </a:solidFill>
              <a:highlight>
                <a:srgbClr val="F9CB9C"/>
              </a:highlight>
              <a:latin typeface="Calibri"/>
              <a:ea typeface="Calibri"/>
              <a:cs typeface="Calibri"/>
              <a:sym typeface="Calibri"/>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a:ea typeface="Calibri"/>
                <a:cs typeface="Calibri"/>
                <a:sym typeface="Calibri"/>
              </a:rPr>
              <a:t>{{HI_CONTROL_2}}</a:t>
            </a:r>
            <a:br>
              <a:rPr lang="en" sz="800" b="0" i="0" u="sng" strike="noStrike" cap="none">
                <a:solidFill>
                  <a:schemeClr val="hlink"/>
                </a:solidFill>
                <a:highlight>
                  <a:srgbClr val="FFFFFF"/>
                </a:highlight>
                <a:latin typeface="Calibri"/>
                <a:ea typeface="Calibri"/>
                <a:cs typeface="Calibri"/>
                <a:sym typeface="Calibri"/>
              </a:rPr>
            </a:br>
            <a:r>
              <a:rPr lang="en" sz="800" b="0" i="0" u="none" strike="noStrike" cap="none">
                <a:solidFill>
                  <a:srgbClr val="D97706"/>
                </a:solidFill>
                <a:highlight>
                  <a:srgbClr val="F9CB9C"/>
                </a:highlight>
                <a:latin typeface="Calibri"/>
                <a:ea typeface="Calibri"/>
                <a:cs typeface="Calibri"/>
                <a:sym typeface="Calibri"/>
              </a:rPr>
              <a:t>HIGH</a:t>
            </a:r>
            <a:endParaRPr sz="800" b="0" i="0" u="none" strike="noStrike" cap="none">
              <a:solidFill>
                <a:srgbClr val="991B1B"/>
              </a:solidFill>
              <a:highlight>
                <a:srgbClr val="FEE2E2"/>
              </a:highlight>
              <a:latin typeface="Calibri"/>
              <a:ea typeface="Calibri"/>
              <a:cs typeface="Calibri"/>
              <a:sym typeface="Calibri"/>
            </a:endParaRPr>
          </a:p>
          <a:p>
            <a:pPr marL="0" marR="0" lvl="0" indent="0" algn="l" rtl="0">
              <a:lnSpc>
                <a:spcPct val="100000"/>
              </a:lnSpc>
              <a:spcBef>
                <a:spcPts val="700"/>
              </a:spcBef>
              <a:spcAft>
                <a:spcPts val="0"/>
              </a:spcAft>
              <a:buClr>
                <a:schemeClr val="dk1"/>
              </a:buClr>
              <a:buSzPts val="1100"/>
              <a:buFont typeface="Arial"/>
              <a:buNone/>
            </a:pPr>
            <a:r>
              <a:rPr lang="en" sz="900" b="0" i="0" u="sng" strike="noStrike" cap="none">
                <a:solidFill>
                  <a:srgbClr val="0254EC"/>
                </a:solidFill>
                <a:highlight>
                  <a:srgbClr val="F9FAFB"/>
                </a:highlight>
                <a:latin typeface="Calibri"/>
                <a:ea typeface="Calibri"/>
                <a:cs typeface="Calibri"/>
                <a:sym typeface="Calibri"/>
              </a:rPr>
              <a:t>{{HI_CONTROL_3}}</a:t>
            </a:r>
            <a:br>
              <a:rPr lang="en" sz="800" b="0" i="0" u="sng" strike="noStrike" cap="none">
                <a:solidFill>
                  <a:schemeClr val="hlink"/>
                </a:solidFill>
                <a:highlight>
                  <a:srgbClr val="FFFFFF"/>
                </a:highlight>
                <a:latin typeface="Calibri"/>
                <a:ea typeface="Calibri"/>
                <a:cs typeface="Calibri"/>
                <a:sym typeface="Calibri"/>
              </a:rPr>
            </a:br>
            <a:r>
              <a:rPr lang="en" sz="800" b="0" i="0" u="none" strike="noStrike" cap="none">
                <a:solidFill>
                  <a:srgbClr val="D97706"/>
                </a:solidFill>
                <a:highlight>
                  <a:srgbClr val="F9CB9C"/>
                </a:highlight>
                <a:latin typeface="Calibri"/>
                <a:ea typeface="Calibri"/>
                <a:cs typeface="Calibri"/>
                <a:sym typeface="Calibri"/>
              </a:rPr>
              <a:t>HIGH</a:t>
            </a:r>
            <a:endParaRPr sz="800" b="0" i="0" u="none" strike="noStrike" cap="none">
              <a:solidFill>
                <a:srgbClr val="991B1B"/>
              </a:solidFill>
              <a:highlight>
                <a:srgbClr val="FEE2E2"/>
              </a:highlight>
              <a:latin typeface="Calibri"/>
              <a:ea typeface="Calibri"/>
              <a:cs typeface="Calibri"/>
              <a:sym typeface="Calibri"/>
            </a:endParaRPr>
          </a:p>
          <a:p>
            <a:pPr marL="0" marR="0" lvl="0" indent="0" algn="r" rtl="0">
              <a:lnSpc>
                <a:spcPct val="115000"/>
              </a:lnSpc>
              <a:spcBef>
                <a:spcPts val="700"/>
              </a:spcBef>
              <a:spcAft>
                <a:spcPts val="0"/>
              </a:spcAft>
              <a:buClr>
                <a:srgbClr val="000000"/>
              </a:buClr>
              <a:buSzPts val="200"/>
              <a:buFont typeface="Arial"/>
              <a:buNone/>
            </a:pPr>
            <a:endParaRPr sz="200" b="0" i="0" u="none" strike="noStrike" cap="none">
              <a:solidFill>
                <a:srgbClr val="1155CC"/>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392"/>
        <p:cNvGrpSpPr/>
        <p:nvPr/>
      </p:nvGrpSpPr>
      <p:grpSpPr>
        <a:xfrm>
          <a:off x="0" y="0"/>
          <a:ext cx="0" cy="0"/>
          <a:chOff x="0" y="0"/>
          <a:chExt cx="0" cy="0"/>
        </a:xfrm>
      </p:grpSpPr>
      <p:pic>
        <p:nvPicPr>
          <p:cNvPr id="1393" name="Google Shape;1393;p68" title="Rectangle 7854.png"/>
          <p:cNvPicPr preferRelativeResize="0"/>
          <p:nvPr/>
        </p:nvPicPr>
        <p:blipFill rotWithShape="1">
          <a:blip r:embed="rId3">
            <a:alphaModFix/>
          </a:blip>
          <a:srcRect/>
          <a:stretch/>
        </p:blipFill>
        <p:spPr>
          <a:xfrm>
            <a:off x="3237298" y="1837850"/>
            <a:ext cx="2669404" cy="3050125"/>
          </a:xfrm>
          <a:prstGeom prst="rect">
            <a:avLst/>
          </a:prstGeom>
          <a:noFill/>
          <a:ln>
            <a:noFill/>
          </a:ln>
        </p:spPr>
      </p:pic>
      <p:pic>
        <p:nvPicPr>
          <p:cNvPr id="1394" name="Google Shape;1394;p68" title="Rectangle 7854.png"/>
          <p:cNvPicPr preferRelativeResize="0"/>
          <p:nvPr/>
        </p:nvPicPr>
        <p:blipFill rotWithShape="1">
          <a:blip r:embed="rId3">
            <a:alphaModFix/>
          </a:blip>
          <a:srcRect/>
          <a:stretch/>
        </p:blipFill>
        <p:spPr>
          <a:xfrm>
            <a:off x="357125" y="1837850"/>
            <a:ext cx="2669404" cy="3050125"/>
          </a:xfrm>
          <a:prstGeom prst="rect">
            <a:avLst/>
          </a:prstGeom>
          <a:noFill/>
          <a:ln>
            <a:noFill/>
          </a:ln>
        </p:spPr>
      </p:pic>
      <p:cxnSp>
        <p:nvCxnSpPr>
          <p:cNvPr id="1395" name="Google Shape;1395;p68"/>
          <p:cNvCxnSpPr/>
          <p:nvPr/>
        </p:nvCxnSpPr>
        <p:spPr>
          <a:xfrm>
            <a:off x="63057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396" name="Google Shape;1396;p68"/>
          <p:cNvSpPr txBox="1"/>
          <p:nvPr/>
        </p:nvSpPr>
        <p:spPr>
          <a:xfrm>
            <a:off x="325228" y="3203849"/>
            <a:ext cx="2641800" cy="1684123"/>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How do you determine what to work on first?</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indent="-95250">
              <a:lnSpc>
                <a:spcPct val="112000"/>
              </a:lnSpc>
              <a:buClr>
                <a:srgbClr val="01123F"/>
              </a:buClr>
              <a:buSzPts val="600"/>
              <a:buFont typeface="Poppins Light"/>
              <a:buChar char="●"/>
            </a:pPr>
            <a:r>
              <a:rPr lang="en-US"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How are you alerted on Critical Issues, when they arise?</a:t>
            </a:r>
          </a:p>
          <a:p>
            <a:pPr marL="285750" marR="0" lvl="0" indent="-95250" algn="l" rtl="0">
              <a:lnSpc>
                <a:spcPct val="112000"/>
              </a:lnSpc>
              <a:spcBef>
                <a:spcPts val="0"/>
              </a:spcBef>
              <a:spcAft>
                <a:spcPts val="0"/>
              </a:spcAft>
              <a:buClr>
                <a:srgbClr val="01123F"/>
              </a:buClr>
              <a:buSzPts val="600"/>
              <a:buFont typeface="Poppins Light"/>
              <a:buChar char="●"/>
            </a:pPr>
            <a:r>
              <a:rPr lang="en-US"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Do</a:t>
            </a:r>
            <a:r>
              <a:rPr lang="en" sz="900"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 you have any custom Graph Controls which are adding to your counts? Are they still relevant?</a:t>
            </a:r>
          </a:p>
          <a:p>
            <a:pPr marL="285750" indent="-95250">
              <a:lnSpc>
                <a:spcPct val="112000"/>
              </a:lnSpc>
              <a:buClr>
                <a:srgbClr val="01123F"/>
              </a:buClr>
              <a:buSzPts val="600"/>
              <a:buFont typeface="Poppins Light"/>
              <a:buChar char="●"/>
            </a:pPr>
            <a:r>
              <a:rPr lang="en-US"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Are you utilizing the Project Business Impact definitions to help identify and prioritize high business impact resources?</a:t>
            </a:r>
            <a:b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b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cxnSp>
        <p:nvCxnSpPr>
          <p:cNvPr id="1397" name="Google Shape;1397;p68"/>
          <p:cNvCxnSpPr/>
          <p:nvPr/>
        </p:nvCxnSpPr>
        <p:spPr>
          <a:xfrm>
            <a:off x="3510750" y="3063399"/>
            <a:ext cx="2122500" cy="0"/>
          </a:xfrm>
          <a:prstGeom prst="straightConnector1">
            <a:avLst/>
          </a:prstGeom>
          <a:noFill/>
          <a:ln w="9525" cap="flat" cmpd="sng">
            <a:solidFill>
              <a:srgbClr val="0254EC"/>
            </a:solidFill>
            <a:prstDash val="solid"/>
            <a:round/>
            <a:headEnd type="none" w="sm" len="sm"/>
            <a:tailEnd type="none" w="sm" len="sm"/>
          </a:ln>
        </p:spPr>
      </p:cxnSp>
      <p:pic>
        <p:nvPicPr>
          <p:cNvPr id="1398" name="Google Shape;1398;p68" title="Rectangle 7854.png"/>
          <p:cNvPicPr preferRelativeResize="0"/>
          <p:nvPr/>
        </p:nvPicPr>
        <p:blipFill rotWithShape="1">
          <a:blip r:embed="rId3">
            <a:alphaModFix/>
          </a:blip>
          <a:srcRect/>
          <a:stretch/>
        </p:blipFill>
        <p:spPr>
          <a:xfrm>
            <a:off x="6117471" y="1837850"/>
            <a:ext cx="2669404" cy="3050125"/>
          </a:xfrm>
          <a:prstGeom prst="rect">
            <a:avLst/>
          </a:prstGeom>
          <a:noFill/>
          <a:ln>
            <a:noFill/>
          </a:ln>
        </p:spPr>
      </p:pic>
      <p:cxnSp>
        <p:nvCxnSpPr>
          <p:cNvPr id="1399" name="Google Shape;1399;p68"/>
          <p:cNvCxnSpPr/>
          <p:nvPr/>
        </p:nvCxnSpPr>
        <p:spPr>
          <a:xfrm>
            <a:off x="6390925" y="3063399"/>
            <a:ext cx="2122500" cy="0"/>
          </a:xfrm>
          <a:prstGeom prst="straightConnector1">
            <a:avLst/>
          </a:prstGeom>
          <a:noFill/>
          <a:ln w="9525" cap="flat" cmpd="sng">
            <a:solidFill>
              <a:srgbClr val="0254EC"/>
            </a:solidFill>
            <a:prstDash val="solid"/>
            <a:round/>
            <a:headEnd type="none" w="sm" len="sm"/>
            <a:tailEnd type="none" w="sm" len="sm"/>
          </a:ln>
        </p:spPr>
      </p:cxnSp>
      <p:sp>
        <p:nvSpPr>
          <p:cNvPr id="1400" name="Google Shape;1400;p68"/>
          <p:cNvSpPr txBox="1"/>
          <p:nvPr/>
        </p:nvSpPr>
        <p:spPr>
          <a:xfrm>
            <a:off x="3219405" y="3203849"/>
            <a:ext cx="2599800" cy="1591433"/>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Grouping filters or queries to identify the “low hanging fruit” Issues (i.e. resources exhibiting the same Issue)</a:t>
            </a:r>
          </a:p>
          <a:p>
            <a:pPr marL="285750" marR="0" lvl="0" indent="-95250" algn="l" rtl="0">
              <a:lnSpc>
                <a:spcPct val="112000"/>
              </a:lnSpc>
              <a:spcBef>
                <a:spcPts val="0"/>
              </a:spcBef>
              <a:spcAft>
                <a:spcPts val="0"/>
              </a:spcAft>
              <a:buClr>
                <a:srgbClr val="01123F"/>
              </a:buClr>
              <a:buSzPts val="600"/>
              <a:buFont typeface="Poppins Light"/>
              <a:buChar char="●"/>
            </a:pPr>
            <a:r>
              <a:rPr lang="en-US"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Are you using Posture Policies to identify and group high-profile threat vulnerabilities?</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1401" name="Google Shape;1401;p68"/>
          <p:cNvSpPr txBox="1"/>
          <p:nvPr/>
        </p:nvSpPr>
        <p:spPr>
          <a:xfrm>
            <a:off x="6097826" y="3203850"/>
            <a:ext cx="2641800" cy="16842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Utilize Green Agent for automated investigation and remediation context</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Utilize Advanced ASM to validate which external exposures are truly exploitable</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Utilize Red Agent to actively probe your web apps and APIS to proactively identify high-impact exposures</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1402" name="Google Shape;1402;p68"/>
          <p:cNvSpPr txBox="1"/>
          <p:nvPr/>
        </p:nvSpPr>
        <p:spPr>
          <a:xfrm>
            <a:off x="6243025" y="2624673"/>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Using Wiz Tools to Remediate</a:t>
            </a:r>
            <a:b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b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More Efficiently</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1403" name="Google Shape;1403;p68"/>
          <p:cNvSpPr txBox="1">
            <a:spLocks noGrp="1"/>
          </p:cNvSpPr>
          <p:nvPr>
            <p:ph type="title" idx="4294967295"/>
          </p:nvPr>
        </p:nvSpPr>
        <p:spPr>
          <a:xfrm>
            <a:off x="-302400" y="535725"/>
            <a:ext cx="97488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Top Three Focus Areas to Improve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Security Posture &amp; Risk Reduction</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1404" name="Google Shape;1404;p68"/>
          <p:cNvPicPr preferRelativeResize="0"/>
          <p:nvPr/>
        </p:nvPicPr>
        <p:blipFill rotWithShape="1">
          <a:blip r:embed="rId4">
            <a:alphaModFix/>
          </a:blip>
          <a:srcRect/>
          <a:stretch/>
        </p:blipFill>
        <p:spPr>
          <a:xfrm>
            <a:off x="1326966" y="1926775"/>
            <a:ext cx="729718" cy="693550"/>
          </a:xfrm>
          <a:prstGeom prst="rect">
            <a:avLst/>
          </a:prstGeom>
          <a:noFill/>
          <a:ln>
            <a:noFill/>
          </a:ln>
        </p:spPr>
      </p:pic>
      <p:pic>
        <p:nvPicPr>
          <p:cNvPr id="1405" name="Google Shape;1405;p68"/>
          <p:cNvPicPr preferRelativeResize="0"/>
          <p:nvPr/>
        </p:nvPicPr>
        <p:blipFill rotWithShape="1">
          <a:blip r:embed="rId5">
            <a:alphaModFix/>
          </a:blip>
          <a:srcRect/>
          <a:stretch/>
        </p:blipFill>
        <p:spPr>
          <a:xfrm>
            <a:off x="4225225" y="1913375"/>
            <a:ext cx="693550" cy="693550"/>
          </a:xfrm>
          <a:prstGeom prst="rect">
            <a:avLst/>
          </a:prstGeom>
          <a:noFill/>
          <a:ln>
            <a:noFill/>
          </a:ln>
        </p:spPr>
      </p:pic>
      <p:pic>
        <p:nvPicPr>
          <p:cNvPr id="1406" name="Google Shape;1406;p68" title="Group 1000002779.png"/>
          <p:cNvPicPr preferRelativeResize="0"/>
          <p:nvPr/>
        </p:nvPicPr>
        <p:blipFill rotWithShape="1">
          <a:blip r:embed="rId6">
            <a:alphaModFix/>
          </a:blip>
          <a:srcRect/>
          <a:stretch/>
        </p:blipFill>
        <p:spPr>
          <a:xfrm>
            <a:off x="7043298" y="1991749"/>
            <a:ext cx="817750" cy="563600"/>
          </a:xfrm>
          <a:prstGeom prst="rect">
            <a:avLst/>
          </a:prstGeom>
          <a:noFill/>
          <a:ln>
            <a:noFill/>
          </a:ln>
        </p:spPr>
      </p:pic>
      <p:sp>
        <p:nvSpPr>
          <p:cNvPr id="1407" name="Google Shape;1407;p68"/>
          <p:cNvSpPr txBox="1"/>
          <p:nvPr/>
        </p:nvSpPr>
        <p:spPr>
          <a:xfrm>
            <a:off x="482675" y="2627143"/>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Prioritize Investigation by</a:t>
            </a:r>
            <a:b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b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Severity &amp; Criticality</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1408" name="Google Shape;1408;p68"/>
          <p:cNvSpPr txBox="1"/>
          <p:nvPr/>
        </p:nvSpPr>
        <p:spPr>
          <a:xfrm>
            <a:off x="3362850" y="2627164"/>
            <a:ext cx="2418300" cy="273300"/>
          </a:xfrm>
          <a:prstGeom prst="rect">
            <a:avLst/>
          </a:prstGeom>
          <a:noFill/>
          <a:ln>
            <a:noFill/>
          </a:ln>
        </p:spPr>
        <p:txBody>
          <a:bodyPr spcFirstLastPara="1" wrap="square" lIns="68575" tIns="34275" rIns="68575" bIns="34275" anchor="t"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Prioritize Remediation by</a:t>
            </a:r>
            <a:b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b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Greatest Impact </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2" name="Google Shape;752;p60"/>
          <p:cNvSpPr txBox="1"/>
          <p:nvPr/>
        </p:nvSpPr>
        <p:spPr>
          <a:xfrm>
            <a:off x="468449" y="2483713"/>
            <a:ext cx="3273600" cy="4848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dirty="0">
                <a:solidFill>
                  <a:schemeClr val="lt1"/>
                </a:solidFill>
                <a:latin typeface="Calibri"/>
                <a:ea typeface="Calibri"/>
                <a:cs typeface="Calibri"/>
                <a:sym typeface="Calibri"/>
              </a:rPr>
              <a:t>Develop Securely</a:t>
            </a:r>
            <a:endParaRPr sz="2700" b="0" i="0" u="none" strike="noStrike" cap="none" dirty="0">
              <a:solidFill>
                <a:schemeClr val="lt1"/>
              </a:solidFill>
              <a:latin typeface="Calibri"/>
              <a:ea typeface="Calibri"/>
              <a:cs typeface="Calibri"/>
              <a:sym typeface="Calibri"/>
            </a:endParaRPr>
          </a:p>
        </p:txBody>
      </p:sp>
      <p:pic>
        <p:nvPicPr>
          <p:cNvPr id="753" name="Google Shape;753;p60"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754" name="Google Shape;754;p60"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755" name="Google Shape;755;p60" title="logo.png"/>
          <p:cNvPicPr preferRelativeResize="0"/>
          <p:nvPr/>
        </p:nvPicPr>
        <p:blipFill rotWithShape="1">
          <a:blip r:embed="rId5">
            <a:alphaModFix/>
          </a:blip>
          <a:srcRect/>
          <a:stretch/>
        </p:blipFill>
        <p:spPr>
          <a:xfrm>
            <a:off x="553277" y="1994713"/>
            <a:ext cx="637001" cy="3041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760"/>
        <p:cNvGrpSpPr/>
        <p:nvPr/>
      </p:nvGrpSpPr>
      <p:grpSpPr>
        <a:xfrm>
          <a:off x="0" y="0"/>
          <a:ext cx="0" cy="0"/>
          <a:chOff x="0" y="0"/>
          <a:chExt cx="0" cy="0"/>
        </a:xfrm>
      </p:grpSpPr>
      <p:sp>
        <p:nvSpPr>
          <p:cNvPr id="761" name="Google Shape;761;p61"/>
          <p:cNvSpPr txBox="1">
            <a:spLocks noGrp="1"/>
          </p:cNvSpPr>
          <p:nvPr>
            <p:ph type="title" idx="4294967295"/>
          </p:nvPr>
        </p:nvSpPr>
        <p:spPr>
          <a:xfrm>
            <a:off x="150" y="122125"/>
            <a:ext cx="9144000" cy="367200"/>
          </a:xfrm>
          <a:prstGeom prst="rect">
            <a:avLst/>
          </a:prstGeom>
          <a:noFill/>
          <a:ln>
            <a:noFill/>
          </a:ln>
        </p:spPr>
        <p:txBody>
          <a:bodyPr spcFirstLastPara="1" wrap="square" lIns="68575" tIns="34275" rIns="68575" bIns="34275" anchor="ctr" anchorCtr="0">
            <a:noAutofit/>
          </a:bodyPr>
          <a:lstStyle/>
          <a:p>
            <a:pPr marL="0" lvl="0" indent="0" algn="ctr" rtl="0">
              <a:lnSpc>
                <a:spcPct val="90000"/>
              </a:lnSpc>
              <a:spcBef>
                <a:spcPts val="0"/>
              </a:spcBef>
              <a:spcAft>
                <a:spcPts val="0"/>
              </a:spcAft>
              <a:buClr>
                <a:schemeClr val="dk1"/>
              </a:buClr>
              <a:buSzPts val="1800"/>
              <a:buFont typeface="DM Sans"/>
              <a:buNone/>
            </a:pPr>
            <a:r>
              <a:rPr lang="en" sz="2420">
                <a:latin typeface="Calibri"/>
                <a:ea typeface="Calibri"/>
                <a:cs typeface="Calibri"/>
                <a:sym typeface="Calibri"/>
              </a:rPr>
              <a:t>Secure Development Snapshot</a:t>
            </a:r>
            <a:endParaRPr sz="2420">
              <a:latin typeface="Calibri"/>
              <a:ea typeface="Calibri"/>
              <a:cs typeface="Calibri"/>
              <a:sym typeface="Calibri"/>
            </a:endParaRPr>
          </a:p>
        </p:txBody>
      </p:sp>
      <p:sp>
        <p:nvSpPr>
          <p:cNvPr id="762" name="Google Shape;762;p61"/>
          <p:cNvSpPr/>
          <p:nvPr/>
        </p:nvSpPr>
        <p:spPr>
          <a:xfrm>
            <a:off x="219075" y="2736094"/>
            <a:ext cx="3229200" cy="23163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763" name="Google Shape;763;p61"/>
          <p:cNvSpPr/>
          <p:nvPr/>
        </p:nvSpPr>
        <p:spPr>
          <a:xfrm>
            <a:off x="6193748" y="909833"/>
            <a:ext cx="2688900" cy="14109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764" name="Google Shape;764;p61"/>
          <p:cNvSpPr/>
          <p:nvPr/>
        </p:nvSpPr>
        <p:spPr>
          <a:xfrm>
            <a:off x="3199649" y="894648"/>
            <a:ext cx="2688900" cy="14109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765" name="Google Shape;765;p61"/>
          <p:cNvSpPr/>
          <p:nvPr/>
        </p:nvSpPr>
        <p:spPr>
          <a:xfrm>
            <a:off x="205550" y="886120"/>
            <a:ext cx="2688900" cy="14109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766" name="Google Shape;766;p61"/>
          <p:cNvSpPr txBox="1"/>
          <p:nvPr/>
        </p:nvSpPr>
        <p:spPr>
          <a:xfrm>
            <a:off x="205550" y="635739"/>
            <a:ext cx="2688900" cy="2790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chemeClr val="hlink"/>
                </a:solidFill>
                <a:latin typeface="Calibri"/>
                <a:ea typeface="Calibri"/>
                <a:cs typeface="Calibri"/>
                <a:sym typeface="Calibri"/>
                <a:hlinkClick r:id="rId3"/>
              </a:rPr>
              <a:t>Kubernetes Clusters </a:t>
            </a:r>
            <a:r>
              <a:rPr lang="en" sz="1300" b="0" i="0" u="none" strike="noStrike" cap="none">
                <a:solidFill>
                  <a:schemeClr val="hlink"/>
                </a:solidFill>
                <a:uFill>
                  <a:noFill/>
                </a:uFill>
                <a:latin typeface="Calibri"/>
                <a:ea typeface="Calibri"/>
                <a:cs typeface="Calibri"/>
                <a:sym typeface="Calibri"/>
                <a:hlinkClick r:id="rId3"/>
              </a:rPr>
              <a:t>↗</a:t>
            </a:r>
            <a:r>
              <a:rPr lang="en" sz="1300" b="0" i="0" u="sng" strike="noStrike" cap="none">
                <a:solidFill>
                  <a:schemeClr val="hlink"/>
                </a:solidFill>
                <a:latin typeface="Calibri"/>
                <a:ea typeface="Calibri"/>
                <a:cs typeface="Calibri"/>
                <a:sym typeface="Calibri"/>
                <a:hlinkClick r:id="rId3"/>
              </a:rPr>
              <a:t> </a:t>
            </a:r>
            <a:endParaRPr sz="1100" b="0" i="0" u="none" strike="noStrike" cap="none">
              <a:solidFill>
                <a:srgbClr val="0254EC"/>
              </a:solidFill>
              <a:latin typeface="Calibri"/>
              <a:ea typeface="Calibri"/>
              <a:cs typeface="Calibri"/>
              <a:sym typeface="Calibri"/>
            </a:endParaRPr>
          </a:p>
        </p:txBody>
      </p:sp>
      <p:sp>
        <p:nvSpPr>
          <p:cNvPr id="767" name="Google Shape;767;p61"/>
          <p:cNvSpPr txBox="1"/>
          <p:nvPr/>
        </p:nvSpPr>
        <p:spPr>
          <a:xfrm>
            <a:off x="385090" y="909480"/>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{{K8S_1}}</a:t>
            </a:r>
            <a:endParaRPr sz="900" b="0" i="0" u="none" strike="noStrike" cap="none">
              <a:solidFill>
                <a:srgbClr val="333333"/>
              </a:solidFill>
              <a:latin typeface="Calibri"/>
              <a:ea typeface="Calibri"/>
              <a:cs typeface="Calibri"/>
              <a:sym typeface="Calibri"/>
            </a:endParaRPr>
          </a:p>
        </p:txBody>
      </p:sp>
      <p:sp>
        <p:nvSpPr>
          <p:cNvPr id="768" name="Google Shape;768;p61"/>
          <p:cNvSpPr txBox="1"/>
          <p:nvPr/>
        </p:nvSpPr>
        <p:spPr>
          <a:xfrm>
            <a:off x="1633470" y="909480"/>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{{K8C_1}}</a:t>
            </a:r>
            <a:endParaRPr sz="900" b="1" i="0" u="none" strike="noStrike" cap="none">
              <a:solidFill>
                <a:srgbClr val="333333"/>
              </a:solidFill>
              <a:latin typeface="Calibri"/>
              <a:ea typeface="Calibri"/>
              <a:cs typeface="Calibri"/>
              <a:sym typeface="Calibri"/>
            </a:endParaRPr>
          </a:p>
        </p:txBody>
      </p:sp>
      <p:sp>
        <p:nvSpPr>
          <p:cNvPr id="769" name="Google Shape;769;p61"/>
          <p:cNvSpPr txBox="1"/>
          <p:nvPr/>
        </p:nvSpPr>
        <p:spPr>
          <a:xfrm>
            <a:off x="385090" y="1075974"/>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a:ea typeface="Calibri"/>
                <a:cs typeface="Calibri"/>
                <a:sym typeface="Calibri"/>
              </a:rPr>
              <a:t>{{K8S_2}}</a:t>
            </a:r>
            <a:endParaRPr sz="900" b="0" i="0" u="none" strike="noStrike" cap="none">
              <a:solidFill>
                <a:srgbClr val="333333"/>
              </a:solidFill>
              <a:latin typeface="Calibri"/>
              <a:ea typeface="Calibri"/>
              <a:cs typeface="Calibri"/>
              <a:sym typeface="Calibri"/>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a:ea typeface="Calibri"/>
              <a:cs typeface="Calibri"/>
              <a:sym typeface="Calibri"/>
            </a:endParaRPr>
          </a:p>
        </p:txBody>
      </p:sp>
      <p:sp>
        <p:nvSpPr>
          <p:cNvPr id="770" name="Google Shape;770;p61"/>
          <p:cNvSpPr txBox="1"/>
          <p:nvPr/>
        </p:nvSpPr>
        <p:spPr>
          <a:xfrm>
            <a:off x="1633470" y="1073429"/>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{{K8C_2}}</a:t>
            </a:r>
            <a:endParaRPr sz="900" b="1" i="0" u="none" strike="noStrike" cap="none">
              <a:solidFill>
                <a:srgbClr val="333333"/>
              </a:solidFill>
              <a:latin typeface="Calibri"/>
              <a:ea typeface="Calibri"/>
              <a:cs typeface="Calibri"/>
              <a:sym typeface="Calibri"/>
            </a:endParaRPr>
          </a:p>
        </p:txBody>
      </p:sp>
      <p:sp>
        <p:nvSpPr>
          <p:cNvPr id="771" name="Google Shape;771;p61"/>
          <p:cNvSpPr txBox="1"/>
          <p:nvPr/>
        </p:nvSpPr>
        <p:spPr>
          <a:xfrm>
            <a:off x="385090" y="1242467"/>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a:ea typeface="Calibri"/>
                <a:cs typeface="Calibri"/>
                <a:sym typeface="Calibri"/>
              </a:rPr>
              <a:t>{{K8S_3}}</a:t>
            </a:r>
            <a:endParaRPr sz="900" b="0" i="0" u="none" strike="noStrike" cap="none">
              <a:solidFill>
                <a:srgbClr val="333333"/>
              </a:solidFill>
              <a:latin typeface="Calibri"/>
              <a:ea typeface="Calibri"/>
              <a:cs typeface="Calibri"/>
              <a:sym typeface="Calibri"/>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a:ea typeface="Calibri"/>
              <a:cs typeface="Calibri"/>
              <a:sym typeface="Calibri"/>
            </a:endParaRPr>
          </a:p>
        </p:txBody>
      </p:sp>
      <p:sp>
        <p:nvSpPr>
          <p:cNvPr id="772" name="Google Shape;772;p61"/>
          <p:cNvSpPr txBox="1"/>
          <p:nvPr/>
        </p:nvSpPr>
        <p:spPr>
          <a:xfrm>
            <a:off x="1633470" y="1237378"/>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{{K8C_3}}</a:t>
            </a:r>
            <a:endParaRPr sz="900" b="1" i="0" u="none" strike="noStrike" cap="none">
              <a:solidFill>
                <a:srgbClr val="333333"/>
              </a:solidFill>
              <a:latin typeface="Calibri"/>
              <a:ea typeface="Calibri"/>
              <a:cs typeface="Calibri"/>
              <a:sym typeface="Calibri"/>
            </a:endParaRPr>
          </a:p>
        </p:txBody>
      </p:sp>
      <p:sp>
        <p:nvSpPr>
          <p:cNvPr id="773" name="Google Shape;773;p61"/>
          <p:cNvSpPr txBox="1"/>
          <p:nvPr/>
        </p:nvSpPr>
        <p:spPr>
          <a:xfrm>
            <a:off x="385090" y="1408961"/>
            <a:ext cx="16059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a:ea typeface="Calibri"/>
                <a:cs typeface="Calibri"/>
                <a:sym typeface="Calibri"/>
              </a:rPr>
              <a:t>{{K8S_4}}</a:t>
            </a:r>
            <a:endParaRPr sz="900" b="0" i="0" u="none" strike="noStrike" cap="none">
              <a:solidFill>
                <a:srgbClr val="333333"/>
              </a:solidFill>
              <a:latin typeface="Calibri"/>
              <a:ea typeface="Calibri"/>
              <a:cs typeface="Calibri"/>
              <a:sym typeface="Calibri"/>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a:ea typeface="Calibri"/>
              <a:cs typeface="Calibri"/>
              <a:sym typeface="Calibri"/>
            </a:endParaRPr>
          </a:p>
        </p:txBody>
      </p:sp>
      <p:sp>
        <p:nvSpPr>
          <p:cNvPr id="774" name="Google Shape;774;p61"/>
          <p:cNvSpPr txBox="1"/>
          <p:nvPr/>
        </p:nvSpPr>
        <p:spPr>
          <a:xfrm>
            <a:off x="1633470" y="1401326"/>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{{K8C_4}}</a:t>
            </a:r>
            <a:endParaRPr sz="900" b="1" i="0" u="none" strike="noStrike" cap="none">
              <a:solidFill>
                <a:srgbClr val="333333"/>
              </a:solidFill>
              <a:latin typeface="Calibri"/>
              <a:ea typeface="Calibri"/>
              <a:cs typeface="Calibri"/>
              <a:sym typeface="Calibri"/>
            </a:endParaRPr>
          </a:p>
        </p:txBody>
      </p:sp>
      <p:sp>
        <p:nvSpPr>
          <p:cNvPr id="775" name="Google Shape;775;p61"/>
          <p:cNvSpPr txBox="1"/>
          <p:nvPr/>
        </p:nvSpPr>
        <p:spPr>
          <a:xfrm>
            <a:off x="385090" y="1575455"/>
            <a:ext cx="21138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a:ea typeface="Calibri"/>
                <a:cs typeface="Calibri"/>
                <a:sym typeface="Calibri"/>
              </a:rPr>
              <a:t>{{K8S_5}}</a:t>
            </a:r>
            <a:endParaRPr sz="9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rgbClr val="333333"/>
              </a:solidFill>
              <a:latin typeface="Calibri"/>
              <a:ea typeface="Calibri"/>
              <a:cs typeface="Calibri"/>
              <a:sym typeface="Calibri"/>
            </a:endParaRPr>
          </a:p>
        </p:txBody>
      </p:sp>
      <p:sp>
        <p:nvSpPr>
          <p:cNvPr id="776" name="Google Shape;776;p61"/>
          <p:cNvSpPr txBox="1"/>
          <p:nvPr/>
        </p:nvSpPr>
        <p:spPr>
          <a:xfrm>
            <a:off x="1633470" y="1565275"/>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{{K8C_5}}</a:t>
            </a:r>
            <a:endParaRPr sz="900" b="1" i="0" u="none" strike="noStrike" cap="none">
              <a:solidFill>
                <a:srgbClr val="333333"/>
              </a:solidFill>
              <a:latin typeface="Calibri"/>
              <a:ea typeface="Calibri"/>
              <a:cs typeface="Calibri"/>
              <a:sym typeface="Calibri"/>
            </a:endParaRPr>
          </a:p>
        </p:txBody>
      </p:sp>
      <p:sp>
        <p:nvSpPr>
          <p:cNvPr id="777" name="Google Shape;777;p61"/>
          <p:cNvSpPr txBox="1"/>
          <p:nvPr/>
        </p:nvSpPr>
        <p:spPr>
          <a:xfrm>
            <a:off x="217670" y="1937845"/>
            <a:ext cx="2676900" cy="1581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a:ea typeface="Calibri"/>
                <a:cs typeface="Calibri"/>
                <a:sym typeface="Calibri"/>
              </a:rPr>
              <a:t>Total {{K8C_TOT}}</a:t>
            </a:r>
            <a:endParaRPr sz="1100" b="0" i="0" u="none" strike="noStrike" cap="none">
              <a:solidFill>
                <a:srgbClr val="333333"/>
              </a:solidFill>
              <a:latin typeface="Calibri"/>
              <a:ea typeface="Calibri"/>
              <a:cs typeface="Calibri"/>
              <a:sym typeface="Calibri"/>
            </a:endParaRPr>
          </a:p>
        </p:txBody>
      </p:sp>
      <p:sp>
        <p:nvSpPr>
          <p:cNvPr id="778" name="Google Shape;778;p61"/>
          <p:cNvSpPr txBox="1"/>
          <p:nvPr/>
        </p:nvSpPr>
        <p:spPr>
          <a:xfrm>
            <a:off x="3238087" y="1038052"/>
            <a:ext cx="1680900" cy="1530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4"/>
              </a:rPr>
              <a:t>Wiz Connector Deployed</a:t>
            </a:r>
            <a:endParaRPr sz="900" b="0" i="0" u="none" strike="noStrike" cap="none">
              <a:solidFill>
                <a:srgbClr val="0254EC"/>
              </a:solidFill>
              <a:latin typeface="Calibri"/>
              <a:ea typeface="Calibri"/>
              <a:cs typeface="Calibri"/>
              <a:sym typeface="Calibri"/>
            </a:endParaRPr>
          </a:p>
        </p:txBody>
      </p:sp>
      <p:sp>
        <p:nvSpPr>
          <p:cNvPr id="779" name="Google Shape;779;p61"/>
          <p:cNvSpPr txBox="1"/>
          <p:nvPr/>
        </p:nvSpPr>
        <p:spPr>
          <a:xfrm>
            <a:off x="4766331" y="1038062"/>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{{KC_WC}}</a:t>
            </a:r>
            <a:endParaRPr sz="1000" b="1" i="0" u="none" strike="noStrike" cap="none">
              <a:solidFill>
                <a:srgbClr val="333333"/>
              </a:solidFill>
              <a:latin typeface="Calibri"/>
              <a:ea typeface="Calibri"/>
              <a:cs typeface="Calibri"/>
              <a:sym typeface="Calibri"/>
            </a:endParaRPr>
          </a:p>
        </p:txBody>
      </p:sp>
      <p:sp>
        <p:nvSpPr>
          <p:cNvPr id="780" name="Google Shape;780;p61"/>
          <p:cNvSpPr txBox="1"/>
          <p:nvPr/>
        </p:nvSpPr>
        <p:spPr>
          <a:xfrm>
            <a:off x="3238089" y="1213479"/>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5"/>
              </a:rPr>
              <a:t>Admission Controller</a:t>
            </a:r>
            <a:endParaRPr sz="900" b="0" i="0" u="none" strike="noStrike" cap="none">
              <a:solidFill>
                <a:srgbClr val="0254EC"/>
              </a:solidFill>
              <a:latin typeface="Calibri"/>
              <a:ea typeface="Calibri"/>
              <a:cs typeface="Calibri"/>
              <a:sym typeface="Calibri"/>
            </a:endParaRPr>
          </a:p>
        </p:txBody>
      </p:sp>
      <p:sp>
        <p:nvSpPr>
          <p:cNvPr id="781" name="Google Shape;781;p61"/>
          <p:cNvSpPr txBox="1"/>
          <p:nvPr/>
        </p:nvSpPr>
        <p:spPr>
          <a:xfrm>
            <a:off x="4764913" y="1211115"/>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{{KC_AC}}</a:t>
            </a:r>
            <a:endParaRPr sz="1000" b="1" i="0" u="none" strike="noStrike" cap="none">
              <a:solidFill>
                <a:srgbClr val="333333"/>
              </a:solidFill>
              <a:latin typeface="Calibri"/>
              <a:ea typeface="Calibri"/>
              <a:cs typeface="Calibri"/>
              <a:sym typeface="Calibri"/>
            </a:endParaRPr>
          </a:p>
        </p:txBody>
      </p:sp>
      <p:cxnSp>
        <p:nvCxnSpPr>
          <p:cNvPr id="782" name="Google Shape;782;p61"/>
          <p:cNvCxnSpPr/>
          <p:nvPr/>
        </p:nvCxnSpPr>
        <p:spPr>
          <a:xfrm>
            <a:off x="150000" y="2399129"/>
            <a:ext cx="8776500" cy="0"/>
          </a:xfrm>
          <a:prstGeom prst="straightConnector1">
            <a:avLst/>
          </a:prstGeom>
          <a:noFill/>
          <a:ln w="14300" cap="flat" cmpd="sng">
            <a:solidFill>
              <a:srgbClr val="0054EC"/>
            </a:solidFill>
            <a:prstDash val="solid"/>
            <a:round/>
            <a:headEnd type="none" w="sm" len="sm"/>
            <a:tailEnd type="none" w="sm" len="sm"/>
          </a:ln>
        </p:spPr>
      </p:cxnSp>
      <p:sp>
        <p:nvSpPr>
          <p:cNvPr id="783" name="Google Shape;783;p61"/>
          <p:cNvSpPr txBox="1"/>
          <p:nvPr/>
        </p:nvSpPr>
        <p:spPr>
          <a:xfrm>
            <a:off x="300000" y="2950479"/>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Cloud (Workload/K8s)</a:t>
            </a:r>
            <a:endParaRPr sz="900" b="0" i="0" u="none" strike="noStrike" cap="none">
              <a:solidFill>
                <a:srgbClr val="333333"/>
              </a:solidFill>
              <a:latin typeface="Calibri"/>
              <a:ea typeface="Calibri"/>
              <a:cs typeface="Calibri"/>
              <a:sym typeface="Calibri"/>
            </a:endParaRPr>
          </a:p>
        </p:txBody>
      </p:sp>
      <p:sp>
        <p:nvSpPr>
          <p:cNvPr id="784" name="Google Shape;784;p61"/>
          <p:cNvSpPr txBox="1"/>
          <p:nvPr/>
        </p:nvSpPr>
        <p:spPr>
          <a:xfrm>
            <a:off x="1751486" y="2964986"/>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{{CL_CLD}}</a:t>
            </a:r>
            <a:endParaRPr sz="900" b="1" i="0" u="none" strike="noStrike" cap="none">
              <a:solidFill>
                <a:srgbClr val="333333"/>
              </a:solidFill>
              <a:latin typeface="Calibri"/>
              <a:ea typeface="Calibri"/>
              <a:cs typeface="Calibri"/>
              <a:sym typeface="Calibri"/>
            </a:endParaRPr>
          </a:p>
        </p:txBody>
      </p:sp>
      <p:sp>
        <p:nvSpPr>
          <p:cNvPr id="785" name="Google Shape;785;p61"/>
          <p:cNvSpPr txBox="1"/>
          <p:nvPr/>
        </p:nvSpPr>
        <p:spPr>
          <a:xfrm>
            <a:off x="300000" y="3152930"/>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Store (Registry Scans)</a:t>
            </a:r>
            <a:endParaRPr sz="900" b="0" i="0" u="none" strike="noStrike" cap="none">
              <a:solidFill>
                <a:srgbClr val="333333"/>
              </a:solidFill>
              <a:latin typeface="Calibri"/>
              <a:ea typeface="Calibri"/>
              <a:cs typeface="Calibri"/>
              <a:sym typeface="Calibri"/>
            </a:endParaRPr>
          </a:p>
        </p:txBody>
      </p:sp>
      <p:sp>
        <p:nvSpPr>
          <p:cNvPr id="786" name="Google Shape;786;p61"/>
          <p:cNvSpPr txBox="1"/>
          <p:nvPr/>
        </p:nvSpPr>
        <p:spPr>
          <a:xfrm>
            <a:off x="1751486" y="3167437"/>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{{CL_STR}}</a:t>
            </a:r>
            <a:endParaRPr sz="900" b="1" i="0" u="none" strike="noStrike" cap="none">
              <a:solidFill>
                <a:srgbClr val="333333"/>
              </a:solidFill>
              <a:latin typeface="Calibri"/>
              <a:ea typeface="Calibri"/>
              <a:cs typeface="Calibri"/>
              <a:sym typeface="Calibri"/>
            </a:endParaRPr>
          </a:p>
        </p:txBody>
      </p:sp>
      <p:sp>
        <p:nvSpPr>
          <p:cNvPr id="787" name="Google Shape;787;p61"/>
          <p:cNvSpPr txBox="1"/>
          <p:nvPr/>
        </p:nvSpPr>
        <p:spPr>
          <a:xfrm>
            <a:off x="300000" y="3355380"/>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Runtime (Sensor)</a:t>
            </a:r>
            <a:endParaRPr sz="900" b="0" i="0" u="none" strike="noStrike" cap="none">
              <a:solidFill>
                <a:srgbClr val="333333"/>
              </a:solidFill>
              <a:latin typeface="Calibri"/>
              <a:ea typeface="Calibri"/>
              <a:cs typeface="Calibri"/>
              <a:sym typeface="Calibri"/>
            </a:endParaRPr>
          </a:p>
        </p:txBody>
      </p:sp>
      <p:sp>
        <p:nvSpPr>
          <p:cNvPr id="788" name="Google Shape;788;p61"/>
          <p:cNvSpPr txBox="1"/>
          <p:nvPr/>
        </p:nvSpPr>
        <p:spPr>
          <a:xfrm>
            <a:off x="1751486" y="3369887"/>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{{CL_RT}}</a:t>
            </a:r>
            <a:endParaRPr sz="900" b="1" i="0" u="none" strike="noStrike" cap="none">
              <a:solidFill>
                <a:srgbClr val="333333"/>
              </a:solidFill>
              <a:latin typeface="Calibri"/>
              <a:ea typeface="Calibri"/>
              <a:cs typeface="Calibri"/>
              <a:sym typeface="Calibri"/>
            </a:endParaRPr>
          </a:p>
        </p:txBody>
      </p:sp>
      <p:sp>
        <p:nvSpPr>
          <p:cNvPr id="789" name="Google Shape;789;p61"/>
          <p:cNvSpPr txBox="1"/>
          <p:nvPr/>
        </p:nvSpPr>
        <p:spPr>
          <a:xfrm>
            <a:off x="300000" y="3557831"/>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Code (Wiz Code)</a:t>
            </a:r>
            <a:endParaRPr sz="900" b="0" i="0" u="none" strike="noStrike" cap="none">
              <a:solidFill>
                <a:srgbClr val="333333"/>
              </a:solidFill>
              <a:latin typeface="Calibri"/>
              <a:ea typeface="Calibri"/>
              <a:cs typeface="Calibri"/>
              <a:sym typeface="Calibri"/>
            </a:endParaRPr>
          </a:p>
        </p:txBody>
      </p:sp>
      <p:sp>
        <p:nvSpPr>
          <p:cNvPr id="790" name="Google Shape;790;p61"/>
          <p:cNvSpPr txBox="1"/>
          <p:nvPr/>
        </p:nvSpPr>
        <p:spPr>
          <a:xfrm>
            <a:off x="1751486" y="3572338"/>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{{CL_CODE}}</a:t>
            </a:r>
            <a:endParaRPr sz="900" b="1" i="0" u="none" strike="noStrike" cap="none">
              <a:solidFill>
                <a:srgbClr val="333333"/>
              </a:solidFill>
              <a:latin typeface="Calibri"/>
              <a:ea typeface="Calibri"/>
              <a:cs typeface="Calibri"/>
              <a:sym typeface="Calibri"/>
            </a:endParaRPr>
          </a:p>
        </p:txBody>
      </p:sp>
      <p:sp>
        <p:nvSpPr>
          <p:cNvPr id="791" name="Google Shape;791;p61"/>
          <p:cNvSpPr txBox="1"/>
          <p:nvPr/>
        </p:nvSpPr>
        <p:spPr>
          <a:xfrm>
            <a:off x="300000" y="3760282"/>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Build (Wiz CLI + Tagged Images)</a:t>
            </a:r>
            <a:endParaRPr sz="900" b="0" i="0" u="none" strike="noStrike" cap="none">
              <a:solidFill>
                <a:srgbClr val="333333"/>
              </a:solidFill>
              <a:latin typeface="Calibri"/>
              <a:ea typeface="Calibri"/>
              <a:cs typeface="Calibri"/>
              <a:sym typeface="Calibri"/>
            </a:endParaRPr>
          </a:p>
        </p:txBody>
      </p:sp>
      <p:sp>
        <p:nvSpPr>
          <p:cNvPr id="792" name="Google Shape;792;p61"/>
          <p:cNvSpPr txBox="1"/>
          <p:nvPr/>
        </p:nvSpPr>
        <p:spPr>
          <a:xfrm>
            <a:off x="1751486" y="3774789"/>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{{CL_BLD}}</a:t>
            </a:r>
            <a:endParaRPr sz="900" b="1" i="0" u="none" strike="noStrike" cap="none">
              <a:solidFill>
                <a:srgbClr val="333333"/>
              </a:solidFill>
              <a:latin typeface="Calibri"/>
              <a:ea typeface="Calibri"/>
              <a:cs typeface="Calibri"/>
              <a:sym typeface="Calibri"/>
            </a:endParaRPr>
          </a:p>
        </p:txBody>
      </p:sp>
      <p:sp>
        <p:nvSpPr>
          <p:cNvPr id="793" name="Google Shape;793;p61"/>
          <p:cNvSpPr txBox="1"/>
          <p:nvPr/>
        </p:nvSpPr>
        <p:spPr>
          <a:xfrm>
            <a:off x="300000" y="3962733"/>
            <a:ext cx="3287400" cy="1806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Deploy (Admission Controller)</a:t>
            </a:r>
            <a:endParaRPr sz="900" b="0" i="0" u="none" strike="noStrike" cap="none">
              <a:solidFill>
                <a:srgbClr val="333333"/>
              </a:solidFill>
              <a:latin typeface="Calibri"/>
              <a:ea typeface="Calibri"/>
              <a:cs typeface="Calibri"/>
              <a:sym typeface="Calibri"/>
            </a:endParaRPr>
          </a:p>
        </p:txBody>
      </p:sp>
      <p:sp>
        <p:nvSpPr>
          <p:cNvPr id="794" name="Google Shape;794;p61"/>
          <p:cNvSpPr txBox="1"/>
          <p:nvPr/>
        </p:nvSpPr>
        <p:spPr>
          <a:xfrm>
            <a:off x="1751486" y="3977239"/>
            <a:ext cx="1605900" cy="1806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{{CL_DEP}}</a:t>
            </a:r>
            <a:endParaRPr sz="900" b="1" i="0" u="none" strike="noStrike" cap="none">
              <a:solidFill>
                <a:srgbClr val="333333"/>
              </a:solidFill>
              <a:latin typeface="Calibri"/>
              <a:ea typeface="Calibri"/>
              <a:cs typeface="Calibri"/>
              <a:sym typeface="Calibri"/>
            </a:endParaRPr>
          </a:p>
        </p:txBody>
      </p:sp>
      <p:sp>
        <p:nvSpPr>
          <p:cNvPr id="795" name="Google Shape;795;p61"/>
          <p:cNvSpPr txBox="1"/>
          <p:nvPr/>
        </p:nvSpPr>
        <p:spPr>
          <a:xfrm>
            <a:off x="223925" y="4650100"/>
            <a:ext cx="32019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a:ea typeface="Calibri"/>
                <a:cs typeface="Calibri"/>
                <a:sym typeface="Calibri"/>
              </a:rPr>
              <a:t>Total Images {{TI}}</a:t>
            </a:r>
            <a:endParaRPr sz="1100" b="0" i="0" u="none" strike="noStrike" cap="none">
              <a:solidFill>
                <a:srgbClr val="333333"/>
              </a:solidFill>
              <a:latin typeface="Calibri"/>
              <a:ea typeface="Calibri"/>
              <a:cs typeface="Calibri"/>
              <a:sym typeface="Calibri"/>
            </a:endParaRPr>
          </a:p>
        </p:txBody>
      </p:sp>
      <p:sp>
        <p:nvSpPr>
          <p:cNvPr id="796" name="Google Shape;796;p61"/>
          <p:cNvSpPr txBox="1"/>
          <p:nvPr/>
        </p:nvSpPr>
        <p:spPr>
          <a:xfrm>
            <a:off x="3199649" y="653779"/>
            <a:ext cx="2688900" cy="2790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333333"/>
                </a:solidFill>
                <a:latin typeface="Calibri"/>
                <a:ea typeface="Calibri"/>
                <a:cs typeface="Calibri"/>
                <a:sym typeface="Calibri"/>
              </a:rPr>
              <a:t>Kubernetes Coverage</a:t>
            </a:r>
            <a:endParaRPr sz="1100" b="0" i="0" u="none" strike="noStrike" cap="none">
              <a:solidFill>
                <a:srgbClr val="333333"/>
              </a:solidFill>
              <a:latin typeface="Calibri"/>
              <a:ea typeface="Calibri"/>
              <a:cs typeface="Calibri"/>
              <a:sym typeface="Calibri"/>
            </a:endParaRPr>
          </a:p>
        </p:txBody>
      </p:sp>
      <p:sp>
        <p:nvSpPr>
          <p:cNvPr id="797" name="Google Shape;797;p61"/>
          <p:cNvSpPr txBox="1"/>
          <p:nvPr/>
        </p:nvSpPr>
        <p:spPr>
          <a:xfrm>
            <a:off x="6193748" y="649827"/>
            <a:ext cx="2688900" cy="3009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none" strike="noStrike" cap="none">
                <a:solidFill>
                  <a:srgbClr val="333333"/>
                </a:solidFill>
                <a:latin typeface="Calibri"/>
                <a:ea typeface="Calibri"/>
                <a:cs typeface="Calibri"/>
                <a:sym typeface="Calibri"/>
              </a:rPr>
              <a:t>Gaps &amp; Exposure</a:t>
            </a:r>
            <a:endParaRPr sz="1100" b="0" i="0" u="none" strike="noStrike" cap="none">
              <a:solidFill>
                <a:srgbClr val="333333"/>
              </a:solidFill>
              <a:latin typeface="Calibri"/>
              <a:ea typeface="Calibri"/>
              <a:cs typeface="Calibri"/>
              <a:sym typeface="Calibri"/>
            </a:endParaRPr>
          </a:p>
        </p:txBody>
      </p:sp>
      <p:sp>
        <p:nvSpPr>
          <p:cNvPr id="798" name="Google Shape;798;p61"/>
          <p:cNvSpPr txBox="1"/>
          <p:nvPr/>
        </p:nvSpPr>
        <p:spPr>
          <a:xfrm>
            <a:off x="205545" y="2441805"/>
            <a:ext cx="3287400" cy="3012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chemeClr val="hlink"/>
                </a:solidFill>
                <a:latin typeface="Calibri"/>
                <a:ea typeface="Calibri"/>
                <a:cs typeface="Calibri"/>
                <a:sym typeface="Calibri"/>
                <a:hlinkClick r:id="rId6"/>
              </a:rPr>
              <a:t>Container Images Lifecycle </a:t>
            </a:r>
            <a:r>
              <a:rPr lang="en" sz="1300" b="0" i="0" u="none" strike="noStrike" cap="none">
                <a:solidFill>
                  <a:schemeClr val="hlink"/>
                </a:solidFill>
                <a:uFill>
                  <a:noFill/>
                </a:uFill>
                <a:latin typeface="Calibri"/>
                <a:ea typeface="Calibri"/>
                <a:cs typeface="Calibri"/>
                <a:sym typeface="Calibri"/>
                <a:hlinkClick r:id="rId6"/>
              </a:rPr>
              <a:t>↗</a:t>
            </a:r>
            <a:r>
              <a:rPr lang="en" sz="1100" b="0" i="0" u="none" strike="noStrike" cap="none">
                <a:solidFill>
                  <a:schemeClr val="hlink"/>
                </a:solidFill>
                <a:uFill>
                  <a:noFill/>
                </a:uFill>
                <a:latin typeface="Calibri"/>
                <a:ea typeface="Calibri"/>
                <a:cs typeface="Calibri"/>
                <a:sym typeface="Calibri"/>
                <a:hlinkClick r:id="rId6"/>
              </a:rPr>
              <a:t> </a:t>
            </a:r>
            <a:endParaRPr sz="1100" b="0" i="0" u="none" strike="noStrike" cap="none">
              <a:solidFill>
                <a:srgbClr val="0254EC"/>
              </a:solidFill>
              <a:latin typeface="Calibri"/>
              <a:ea typeface="Calibri"/>
              <a:cs typeface="Calibri"/>
              <a:sym typeface="Calibri"/>
            </a:endParaRPr>
          </a:p>
        </p:txBody>
      </p:sp>
      <p:sp>
        <p:nvSpPr>
          <p:cNvPr id="799" name="Google Shape;799;p61"/>
          <p:cNvSpPr/>
          <p:nvPr/>
        </p:nvSpPr>
        <p:spPr>
          <a:xfrm>
            <a:off x="6419250" y="2723725"/>
            <a:ext cx="2579100" cy="2316300"/>
          </a:xfrm>
          <a:prstGeom prst="roundRect">
            <a:avLst>
              <a:gd name="adj" fmla="val 16667"/>
            </a:avLst>
          </a:prstGeom>
          <a:noFill/>
          <a:ln w="9575" cap="flat" cmpd="sng">
            <a:solidFill>
              <a:schemeClr val="accent1"/>
            </a:solidFill>
            <a:prstDash val="solid"/>
            <a:round/>
            <a:headEnd type="none" w="sm" len="sm"/>
            <a:tailEnd type="none" w="sm" len="sm"/>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800" name="Google Shape;800;p61"/>
          <p:cNvSpPr txBox="1"/>
          <p:nvPr/>
        </p:nvSpPr>
        <p:spPr>
          <a:xfrm>
            <a:off x="6421350" y="4112573"/>
            <a:ext cx="25710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1000"/>
              <a:buFont typeface="Arial"/>
              <a:buNone/>
            </a:pPr>
            <a:r>
              <a:rPr lang="en" sz="1000" b="0" i="0" u="none" strike="noStrike" cap="none">
                <a:solidFill>
                  <a:srgbClr val="333333"/>
                </a:solidFill>
                <a:latin typeface="Calibri"/>
                <a:ea typeface="Calibri"/>
                <a:cs typeface="Calibri"/>
                <a:sym typeface="Calibri"/>
              </a:rPr>
              <a:t>Total Registries  {{R_TOT}}</a:t>
            </a:r>
            <a:endParaRPr sz="1000" b="0" i="0" u="none" strike="noStrike" cap="none">
              <a:solidFill>
                <a:srgbClr val="333333"/>
              </a:solidFill>
              <a:latin typeface="Calibri"/>
              <a:ea typeface="Calibri"/>
              <a:cs typeface="Calibri"/>
              <a:sym typeface="Calibri"/>
            </a:endParaRPr>
          </a:p>
        </p:txBody>
      </p:sp>
      <p:sp>
        <p:nvSpPr>
          <p:cNvPr id="801" name="Google Shape;801;p61"/>
          <p:cNvSpPr txBox="1"/>
          <p:nvPr/>
        </p:nvSpPr>
        <p:spPr>
          <a:xfrm>
            <a:off x="6482720" y="3090648"/>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a:ea typeface="Calibri"/>
                <a:cs typeface="Calibri"/>
                <a:sym typeface="Calibri"/>
              </a:rPr>
              <a:t>{{R_2}}</a:t>
            </a:r>
            <a:endParaRPr sz="900" b="0" i="0" u="none" strike="noStrike" cap="none">
              <a:solidFill>
                <a:srgbClr val="333333"/>
              </a:solidFill>
              <a:latin typeface="Calibri"/>
              <a:ea typeface="Calibri"/>
              <a:cs typeface="Calibri"/>
              <a:sym typeface="Calibri"/>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a:ea typeface="Calibri"/>
              <a:cs typeface="Calibri"/>
              <a:sym typeface="Calibri"/>
            </a:endParaRPr>
          </a:p>
        </p:txBody>
      </p:sp>
      <p:sp>
        <p:nvSpPr>
          <p:cNvPr id="802" name="Google Shape;802;p61"/>
          <p:cNvSpPr txBox="1"/>
          <p:nvPr/>
        </p:nvSpPr>
        <p:spPr>
          <a:xfrm>
            <a:off x="6595982" y="3077858"/>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{{RC_2}}</a:t>
            </a:r>
            <a:endParaRPr sz="900" b="0" i="0" u="none" strike="noStrike" cap="none">
              <a:solidFill>
                <a:srgbClr val="333333"/>
              </a:solidFill>
              <a:latin typeface="Calibri"/>
              <a:ea typeface="Calibri"/>
              <a:cs typeface="Calibri"/>
              <a:sym typeface="Calibri"/>
            </a:endParaRPr>
          </a:p>
        </p:txBody>
      </p:sp>
      <p:sp>
        <p:nvSpPr>
          <p:cNvPr id="803" name="Google Shape;803;p61"/>
          <p:cNvSpPr txBox="1"/>
          <p:nvPr/>
        </p:nvSpPr>
        <p:spPr>
          <a:xfrm>
            <a:off x="6482720" y="3275456"/>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a:ea typeface="Calibri"/>
                <a:cs typeface="Calibri"/>
                <a:sym typeface="Calibri"/>
              </a:rPr>
              <a:t>{{R_3}}</a:t>
            </a:r>
            <a:endParaRPr sz="900" b="0" i="0" u="none" strike="noStrike" cap="none">
              <a:solidFill>
                <a:srgbClr val="333333"/>
              </a:solidFill>
              <a:latin typeface="Calibri"/>
              <a:ea typeface="Calibri"/>
              <a:cs typeface="Calibri"/>
              <a:sym typeface="Calibri"/>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a:ea typeface="Calibri"/>
              <a:cs typeface="Calibri"/>
              <a:sym typeface="Calibri"/>
            </a:endParaRPr>
          </a:p>
        </p:txBody>
      </p:sp>
      <p:sp>
        <p:nvSpPr>
          <p:cNvPr id="804" name="Google Shape;804;p61"/>
          <p:cNvSpPr txBox="1"/>
          <p:nvPr/>
        </p:nvSpPr>
        <p:spPr>
          <a:xfrm>
            <a:off x="6595982" y="3263116"/>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{{RC_3}}</a:t>
            </a:r>
            <a:endParaRPr sz="900" b="0" i="0" u="none" strike="noStrike" cap="none">
              <a:solidFill>
                <a:srgbClr val="333333"/>
              </a:solidFill>
              <a:latin typeface="Calibri"/>
              <a:ea typeface="Calibri"/>
              <a:cs typeface="Calibri"/>
              <a:sym typeface="Calibri"/>
            </a:endParaRPr>
          </a:p>
        </p:txBody>
      </p:sp>
      <p:sp>
        <p:nvSpPr>
          <p:cNvPr id="805" name="Google Shape;805;p61"/>
          <p:cNvSpPr txBox="1"/>
          <p:nvPr/>
        </p:nvSpPr>
        <p:spPr>
          <a:xfrm>
            <a:off x="6482720" y="3460264"/>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1100"/>
              <a:buFont typeface="Arial"/>
              <a:buNone/>
            </a:pPr>
            <a:r>
              <a:rPr lang="en" sz="900" b="0" i="0" u="none" strike="noStrike" cap="none">
                <a:solidFill>
                  <a:srgbClr val="333333"/>
                </a:solidFill>
                <a:latin typeface="Calibri"/>
                <a:ea typeface="Calibri"/>
                <a:cs typeface="Calibri"/>
                <a:sym typeface="Calibri"/>
              </a:rPr>
              <a:t>{{R_4}}</a:t>
            </a:r>
            <a:endParaRPr sz="900" b="0" i="0" u="none" strike="noStrike" cap="none">
              <a:solidFill>
                <a:srgbClr val="333333"/>
              </a:solidFill>
              <a:latin typeface="Calibri"/>
              <a:ea typeface="Calibri"/>
              <a:cs typeface="Calibri"/>
              <a:sym typeface="Calibri"/>
            </a:endParaRPr>
          </a:p>
          <a:p>
            <a:pPr marL="0" marR="0" lvl="0" indent="0" algn="l" rtl="0">
              <a:lnSpc>
                <a:spcPct val="150000"/>
              </a:lnSpc>
              <a:spcBef>
                <a:spcPts val="0"/>
              </a:spcBef>
              <a:spcAft>
                <a:spcPts val="0"/>
              </a:spcAft>
              <a:buClr>
                <a:srgbClr val="000000"/>
              </a:buClr>
              <a:buSzPts val="900"/>
              <a:buFont typeface="Arial"/>
              <a:buNone/>
            </a:pPr>
            <a:endParaRPr sz="900" b="0" i="0" u="none" strike="noStrike" cap="none">
              <a:solidFill>
                <a:srgbClr val="333333"/>
              </a:solidFill>
              <a:latin typeface="Calibri"/>
              <a:ea typeface="Calibri"/>
              <a:cs typeface="Calibri"/>
              <a:sym typeface="Calibri"/>
            </a:endParaRPr>
          </a:p>
        </p:txBody>
      </p:sp>
      <p:sp>
        <p:nvSpPr>
          <p:cNvPr id="806" name="Google Shape;806;p61"/>
          <p:cNvSpPr txBox="1"/>
          <p:nvPr/>
        </p:nvSpPr>
        <p:spPr>
          <a:xfrm>
            <a:off x="6595982" y="3448374"/>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{{RC_4}}</a:t>
            </a:r>
            <a:endParaRPr sz="900" b="0" i="0" u="none" strike="noStrike" cap="none">
              <a:solidFill>
                <a:srgbClr val="333333"/>
              </a:solidFill>
              <a:latin typeface="Calibri"/>
              <a:ea typeface="Calibri"/>
              <a:cs typeface="Calibri"/>
              <a:sym typeface="Calibri"/>
            </a:endParaRPr>
          </a:p>
        </p:txBody>
      </p:sp>
      <p:sp>
        <p:nvSpPr>
          <p:cNvPr id="807" name="Google Shape;807;p61"/>
          <p:cNvSpPr txBox="1"/>
          <p:nvPr/>
        </p:nvSpPr>
        <p:spPr>
          <a:xfrm>
            <a:off x="6482720" y="3645072"/>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{{R_5}}</a:t>
            </a:r>
            <a:endParaRPr sz="900" b="0" i="0" u="none" strike="noStrike" cap="none">
              <a:solidFill>
                <a:srgbClr val="333333"/>
              </a:solidFill>
              <a:latin typeface="Calibri"/>
              <a:ea typeface="Calibri"/>
              <a:cs typeface="Calibri"/>
              <a:sym typeface="Calibri"/>
            </a:endParaRPr>
          </a:p>
        </p:txBody>
      </p:sp>
      <p:sp>
        <p:nvSpPr>
          <p:cNvPr id="808" name="Google Shape;808;p61"/>
          <p:cNvSpPr txBox="1"/>
          <p:nvPr/>
        </p:nvSpPr>
        <p:spPr>
          <a:xfrm>
            <a:off x="6595982" y="3633632"/>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{{RC_5}}</a:t>
            </a:r>
            <a:endParaRPr sz="900" b="0" i="0" u="none" strike="noStrike" cap="none">
              <a:solidFill>
                <a:srgbClr val="333333"/>
              </a:solidFill>
              <a:latin typeface="Calibri"/>
              <a:ea typeface="Calibri"/>
              <a:cs typeface="Calibri"/>
              <a:sym typeface="Calibri"/>
            </a:endParaRPr>
          </a:p>
        </p:txBody>
      </p:sp>
      <p:sp>
        <p:nvSpPr>
          <p:cNvPr id="809" name="Google Shape;809;p61"/>
          <p:cNvSpPr txBox="1"/>
          <p:nvPr/>
        </p:nvSpPr>
        <p:spPr>
          <a:xfrm>
            <a:off x="6482720" y="3829881"/>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{{R_6}}</a:t>
            </a:r>
            <a:endParaRPr sz="900" b="0" i="0" u="none" strike="noStrike" cap="none">
              <a:solidFill>
                <a:srgbClr val="333333"/>
              </a:solidFill>
              <a:latin typeface="Calibri"/>
              <a:ea typeface="Calibri"/>
              <a:cs typeface="Calibri"/>
              <a:sym typeface="Calibri"/>
            </a:endParaRPr>
          </a:p>
        </p:txBody>
      </p:sp>
      <p:sp>
        <p:nvSpPr>
          <p:cNvPr id="810" name="Google Shape;810;p61"/>
          <p:cNvSpPr txBox="1"/>
          <p:nvPr/>
        </p:nvSpPr>
        <p:spPr>
          <a:xfrm>
            <a:off x="6595982" y="3818890"/>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{{RC_6}}</a:t>
            </a:r>
            <a:endParaRPr sz="900" b="0" i="0" u="none" strike="noStrike" cap="none">
              <a:solidFill>
                <a:srgbClr val="333333"/>
              </a:solidFill>
              <a:latin typeface="Calibri"/>
              <a:ea typeface="Calibri"/>
              <a:cs typeface="Calibri"/>
              <a:sym typeface="Calibri"/>
            </a:endParaRPr>
          </a:p>
        </p:txBody>
      </p:sp>
      <p:sp>
        <p:nvSpPr>
          <p:cNvPr id="811" name="Google Shape;811;p61"/>
          <p:cNvSpPr txBox="1"/>
          <p:nvPr/>
        </p:nvSpPr>
        <p:spPr>
          <a:xfrm>
            <a:off x="6427050" y="2431400"/>
            <a:ext cx="2563500" cy="301200"/>
          </a:xfrm>
          <a:prstGeom prst="rect">
            <a:avLst/>
          </a:prstGeom>
          <a:noFill/>
          <a:ln>
            <a:noFill/>
          </a:ln>
        </p:spPr>
        <p:txBody>
          <a:bodyPr spcFirstLastPara="1" wrap="square" lIns="91775" tIns="91775" rIns="91775" bIns="91775" anchor="ctr" anchorCtr="0">
            <a:noAutofit/>
          </a:bodyPr>
          <a:lstStyle/>
          <a:p>
            <a:pPr marL="0" marR="0" lvl="0" indent="0" algn="ctr" rtl="0">
              <a:lnSpc>
                <a:spcPct val="100000"/>
              </a:lnSpc>
              <a:spcBef>
                <a:spcPts val="0"/>
              </a:spcBef>
              <a:spcAft>
                <a:spcPts val="0"/>
              </a:spcAft>
              <a:buClr>
                <a:srgbClr val="000000"/>
              </a:buClr>
              <a:buSzPts val="1100"/>
              <a:buFont typeface="Arial"/>
              <a:buNone/>
            </a:pPr>
            <a:r>
              <a:rPr lang="en" sz="1100" b="0" i="0" u="sng" strike="noStrike" cap="none">
                <a:solidFill>
                  <a:schemeClr val="hlink"/>
                </a:solidFill>
                <a:latin typeface="Calibri"/>
                <a:ea typeface="Calibri"/>
                <a:cs typeface="Calibri"/>
                <a:sym typeface="Calibri"/>
                <a:hlinkClick r:id="rId7"/>
              </a:rPr>
              <a:t>Container Registries </a:t>
            </a:r>
            <a:r>
              <a:rPr lang="en" sz="1300" b="0" i="0" u="none" strike="noStrike" cap="none">
                <a:solidFill>
                  <a:schemeClr val="hlink"/>
                </a:solidFill>
                <a:uFill>
                  <a:noFill/>
                </a:uFill>
                <a:latin typeface="Calibri"/>
                <a:ea typeface="Calibri"/>
                <a:cs typeface="Calibri"/>
                <a:sym typeface="Calibri"/>
                <a:hlinkClick r:id="rId7"/>
              </a:rPr>
              <a:t>↗</a:t>
            </a:r>
            <a:endParaRPr sz="1100" b="0" i="0" u="none" strike="noStrike" cap="none">
              <a:solidFill>
                <a:srgbClr val="0254EC"/>
              </a:solidFill>
              <a:latin typeface="Calibri"/>
              <a:ea typeface="Calibri"/>
              <a:cs typeface="Calibri"/>
              <a:sym typeface="Calibri"/>
            </a:endParaRPr>
          </a:p>
        </p:txBody>
      </p:sp>
      <p:sp>
        <p:nvSpPr>
          <p:cNvPr id="812" name="Google Shape;812;p61"/>
          <p:cNvSpPr txBox="1"/>
          <p:nvPr/>
        </p:nvSpPr>
        <p:spPr>
          <a:xfrm>
            <a:off x="6480125" y="2905839"/>
            <a:ext cx="1101300" cy="17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{{R_1}}</a:t>
            </a:r>
            <a:endParaRPr sz="900" b="0" i="0" u="none" strike="noStrike" cap="none">
              <a:solidFill>
                <a:srgbClr val="333333"/>
              </a:solidFill>
              <a:latin typeface="Calibri"/>
              <a:ea typeface="Calibri"/>
              <a:cs typeface="Calibri"/>
              <a:sym typeface="Calibri"/>
            </a:endParaRPr>
          </a:p>
        </p:txBody>
      </p:sp>
      <p:sp>
        <p:nvSpPr>
          <p:cNvPr id="813" name="Google Shape;813;p61"/>
          <p:cNvSpPr txBox="1"/>
          <p:nvPr/>
        </p:nvSpPr>
        <p:spPr>
          <a:xfrm>
            <a:off x="6597131" y="2892600"/>
            <a:ext cx="1104000" cy="1743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{{RC_1}}</a:t>
            </a:r>
            <a:endParaRPr sz="900" b="0" i="0" u="none" strike="noStrike" cap="none">
              <a:solidFill>
                <a:srgbClr val="333333"/>
              </a:solidFill>
              <a:latin typeface="Calibri"/>
              <a:ea typeface="Calibri"/>
              <a:cs typeface="Calibri"/>
              <a:sym typeface="Calibri"/>
            </a:endParaRPr>
          </a:p>
        </p:txBody>
      </p:sp>
      <p:sp>
        <p:nvSpPr>
          <p:cNvPr id="814" name="Google Shape;814;p61"/>
          <p:cNvSpPr txBox="1"/>
          <p:nvPr/>
        </p:nvSpPr>
        <p:spPr>
          <a:xfrm>
            <a:off x="6419250" y="4423386"/>
            <a:ext cx="2579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0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Do you have visibility into </a:t>
            </a:r>
            <a:r>
              <a:rPr lang="en" sz="900" b="0" i="1" u="none" strike="noStrike" cap="none">
                <a:solidFill>
                  <a:srgbClr val="333333"/>
                </a:solidFill>
                <a:latin typeface="Calibri"/>
                <a:ea typeface="Calibri"/>
                <a:cs typeface="Calibri"/>
                <a:sym typeface="Calibri"/>
              </a:rPr>
              <a:t>all </a:t>
            </a:r>
            <a:br>
              <a:rPr lang="en" sz="900" b="0" i="1" u="none" strike="noStrike" cap="none">
                <a:solidFill>
                  <a:srgbClr val="333333"/>
                </a:solidFill>
                <a:latin typeface="Calibri"/>
                <a:ea typeface="Calibri"/>
                <a:cs typeface="Calibri"/>
                <a:sym typeface="Calibri"/>
              </a:rPr>
            </a:br>
            <a:r>
              <a:rPr lang="en" sz="900" b="0" i="0" u="none" strike="noStrike" cap="none">
                <a:solidFill>
                  <a:srgbClr val="333333"/>
                </a:solidFill>
                <a:latin typeface="Calibri"/>
                <a:ea typeface="Calibri"/>
                <a:cs typeface="Calibri"/>
                <a:sym typeface="Calibri"/>
              </a:rPr>
              <a:t>of your Registries?</a:t>
            </a:r>
            <a:br>
              <a:rPr lang="en" sz="900" b="0" i="0" u="none" strike="noStrike" cap="none">
                <a:solidFill>
                  <a:srgbClr val="333333"/>
                </a:solidFill>
                <a:latin typeface="Calibri"/>
                <a:ea typeface="Calibri"/>
                <a:cs typeface="Calibri"/>
                <a:sym typeface="Calibri"/>
              </a:rPr>
            </a:br>
            <a:r>
              <a:rPr lang="en" sz="900" b="0" i="0" u="none" strike="noStrike" cap="none">
                <a:solidFill>
                  <a:srgbClr val="333333"/>
                </a:solidFill>
                <a:latin typeface="Calibri"/>
                <a:ea typeface="Calibri"/>
                <a:cs typeface="Calibri"/>
                <a:sym typeface="Calibri"/>
              </a:rPr>
              <a:t>jFrog, Sonatype Nexus, etc. </a:t>
            </a:r>
            <a:endParaRPr sz="900" b="0" i="0" u="none" strike="noStrike" cap="none">
              <a:solidFill>
                <a:srgbClr val="333333"/>
              </a:solidFill>
              <a:latin typeface="Calibri"/>
              <a:ea typeface="Calibri"/>
              <a:cs typeface="Calibri"/>
              <a:sym typeface="Calibri"/>
            </a:endParaRPr>
          </a:p>
        </p:txBody>
      </p:sp>
      <p:sp>
        <p:nvSpPr>
          <p:cNvPr id="815" name="Google Shape;815;p61"/>
          <p:cNvSpPr txBox="1"/>
          <p:nvPr/>
        </p:nvSpPr>
        <p:spPr>
          <a:xfrm>
            <a:off x="388145" y="1741949"/>
            <a:ext cx="21138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Other</a:t>
            </a:r>
            <a:endParaRPr sz="900" b="0" i="0" u="none" strike="noStrike" cap="none">
              <a:solidFill>
                <a:srgbClr val="333333"/>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rgbClr val="333333"/>
              </a:solidFill>
              <a:latin typeface="Calibri"/>
              <a:ea typeface="Calibri"/>
              <a:cs typeface="Calibri"/>
              <a:sym typeface="Calibri"/>
            </a:endParaRPr>
          </a:p>
        </p:txBody>
      </p:sp>
      <p:sp>
        <p:nvSpPr>
          <p:cNvPr id="816" name="Google Shape;816;p61"/>
          <p:cNvSpPr txBox="1"/>
          <p:nvPr/>
        </p:nvSpPr>
        <p:spPr>
          <a:xfrm>
            <a:off x="1631697" y="1729224"/>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{{K8C_OTH}}</a:t>
            </a:r>
            <a:endParaRPr sz="900" b="1" i="0" u="none" strike="noStrike" cap="none">
              <a:solidFill>
                <a:srgbClr val="333333"/>
              </a:solidFill>
              <a:latin typeface="Calibri"/>
              <a:ea typeface="Calibri"/>
              <a:cs typeface="Calibri"/>
              <a:sym typeface="Calibri"/>
            </a:endParaRPr>
          </a:p>
        </p:txBody>
      </p:sp>
      <p:sp>
        <p:nvSpPr>
          <p:cNvPr id="817" name="Google Shape;817;p61"/>
          <p:cNvSpPr txBox="1"/>
          <p:nvPr/>
        </p:nvSpPr>
        <p:spPr>
          <a:xfrm>
            <a:off x="3236233" y="1390756"/>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8"/>
              </a:rPr>
              <a:t>K8S Audit Logs Onboarded</a:t>
            </a:r>
            <a:endParaRPr sz="900" b="0" i="0" u="none" strike="noStrike" cap="none">
              <a:solidFill>
                <a:srgbClr val="0254EC"/>
              </a:solidFill>
              <a:latin typeface="Calibri"/>
              <a:ea typeface="Calibri"/>
              <a:cs typeface="Calibri"/>
              <a:sym typeface="Calibri"/>
            </a:endParaRPr>
          </a:p>
        </p:txBody>
      </p:sp>
      <p:sp>
        <p:nvSpPr>
          <p:cNvPr id="818" name="Google Shape;818;p61"/>
          <p:cNvSpPr txBox="1"/>
          <p:nvPr/>
        </p:nvSpPr>
        <p:spPr>
          <a:xfrm>
            <a:off x="3239438" y="1568033"/>
            <a:ext cx="1909200" cy="1548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9"/>
              </a:rPr>
              <a:t>Sensor Active (Runtime)</a:t>
            </a:r>
            <a:endParaRPr sz="900" b="0" i="0" u="none" strike="noStrike" cap="none">
              <a:solidFill>
                <a:srgbClr val="0254EC"/>
              </a:solidFill>
              <a:latin typeface="Calibri"/>
              <a:ea typeface="Calibri"/>
              <a:cs typeface="Calibri"/>
              <a:sym typeface="Calibri"/>
            </a:endParaRPr>
          </a:p>
        </p:txBody>
      </p:sp>
      <p:sp>
        <p:nvSpPr>
          <p:cNvPr id="819" name="Google Shape;819;p61"/>
          <p:cNvSpPr txBox="1"/>
          <p:nvPr/>
        </p:nvSpPr>
        <p:spPr>
          <a:xfrm>
            <a:off x="4763494" y="1384168"/>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{{KC_SE}}</a:t>
            </a:r>
            <a:endParaRPr sz="1000" b="1" i="0" u="none" strike="noStrike" cap="none">
              <a:solidFill>
                <a:srgbClr val="333333"/>
              </a:solidFill>
              <a:latin typeface="Calibri"/>
              <a:ea typeface="Calibri"/>
              <a:cs typeface="Calibri"/>
              <a:sym typeface="Calibri"/>
            </a:endParaRPr>
          </a:p>
        </p:txBody>
      </p:sp>
      <p:sp>
        <p:nvSpPr>
          <p:cNvPr id="820" name="Google Shape;820;p61"/>
          <p:cNvSpPr txBox="1"/>
          <p:nvPr/>
        </p:nvSpPr>
        <p:spPr>
          <a:xfrm>
            <a:off x="4762076" y="1557221"/>
            <a:ext cx="1003500" cy="1530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{{KC_CLI}}</a:t>
            </a:r>
            <a:endParaRPr sz="1000" b="1" i="0" u="none" strike="noStrike" cap="none">
              <a:solidFill>
                <a:srgbClr val="333333"/>
              </a:solidFill>
              <a:latin typeface="Calibri"/>
              <a:ea typeface="Calibri"/>
              <a:cs typeface="Calibri"/>
              <a:sym typeface="Calibri"/>
            </a:endParaRPr>
          </a:p>
        </p:txBody>
      </p:sp>
      <p:sp>
        <p:nvSpPr>
          <p:cNvPr id="821" name="Google Shape;821;p61"/>
          <p:cNvSpPr txBox="1"/>
          <p:nvPr/>
        </p:nvSpPr>
        <p:spPr>
          <a:xfrm>
            <a:off x="6233046" y="1113294"/>
            <a:ext cx="1720500" cy="1581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0"/>
              </a:rPr>
              <a:t>Internet-Accessible</a:t>
            </a:r>
            <a:endParaRPr sz="900" b="0" i="0" u="none" strike="noStrike" cap="none">
              <a:solidFill>
                <a:srgbClr val="0254EC"/>
              </a:solidFill>
              <a:latin typeface="Calibri"/>
              <a:ea typeface="Calibri"/>
              <a:cs typeface="Calibri"/>
              <a:sym typeface="Calibri"/>
            </a:endParaRPr>
          </a:p>
        </p:txBody>
      </p:sp>
      <p:sp>
        <p:nvSpPr>
          <p:cNvPr id="822" name="Google Shape;822;p61"/>
          <p:cNvSpPr txBox="1"/>
          <p:nvPr/>
        </p:nvSpPr>
        <p:spPr>
          <a:xfrm>
            <a:off x="7853359" y="1113282"/>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{{KG_IA}}</a:t>
            </a:r>
            <a:endParaRPr sz="1000" b="1" i="0" u="none" strike="noStrike" cap="none">
              <a:solidFill>
                <a:srgbClr val="333333"/>
              </a:solidFill>
              <a:latin typeface="Calibri"/>
              <a:ea typeface="Calibri"/>
              <a:cs typeface="Calibri"/>
              <a:sym typeface="Calibri"/>
            </a:endParaRPr>
          </a:p>
        </p:txBody>
      </p:sp>
      <p:sp>
        <p:nvSpPr>
          <p:cNvPr id="823" name="Google Shape;823;p61"/>
          <p:cNvSpPr txBox="1"/>
          <p:nvPr/>
        </p:nvSpPr>
        <p:spPr>
          <a:xfrm>
            <a:off x="6233048" y="1280583"/>
            <a:ext cx="19539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1"/>
              </a:rPr>
              <a:t>No Wiz Connector Deployed</a:t>
            </a:r>
            <a:endParaRPr sz="900" b="0" i="0" u="none" strike="noStrike" cap="none">
              <a:solidFill>
                <a:srgbClr val="0254EC"/>
              </a:solidFill>
              <a:latin typeface="Calibri"/>
              <a:ea typeface="Calibri"/>
              <a:cs typeface="Calibri"/>
              <a:sym typeface="Calibri"/>
            </a:endParaRPr>
          </a:p>
        </p:txBody>
      </p:sp>
      <p:sp>
        <p:nvSpPr>
          <p:cNvPr id="824" name="Google Shape;824;p61"/>
          <p:cNvSpPr txBox="1"/>
          <p:nvPr/>
        </p:nvSpPr>
        <p:spPr>
          <a:xfrm>
            <a:off x="7853359" y="1281379"/>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{{KG_NC}}</a:t>
            </a:r>
            <a:endParaRPr sz="1000" b="1" i="0" u="none" strike="noStrike" cap="none">
              <a:solidFill>
                <a:srgbClr val="333333"/>
              </a:solidFill>
              <a:latin typeface="Calibri"/>
              <a:ea typeface="Calibri"/>
              <a:cs typeface="Calibri"/>
              <a:sym typeface="Calibri"/>
            </a:endParaRPr>
          </a:p>
        </p:txBody>
      </p:sp>
      <p:sp>
        <p:nvSpPr>
          <p:cNvPr id="825" name="Google Shape;825;p61"/>
          <p:cNvSpPr txBox="1"/>
          <p:nvPr/>
        </p:nvSpPr>
        <p:spPr>
          <a:xfrm>
            <a:off x="6231149" y="1453558"/>
            <a:ext cx="19539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2"/>
              </a:rPr>
              <a:t>No K8S Audit Logs</a:t>
            </a:r>
            <a:endParaRPr sz="900" b="0" i="0" u="none" strike="noStrike" cap="none">
              <a:solidFill>
                <a:srgbClr val="0254EC"/>
              </a:solidFill>
              <a:latin typeface="Calibri"/>
              <a:ea typeface="Calibri"/>
              <a:cs typeface="Calibri"/>
              <a:sym typeface="Calibri"/>
            </a:endParaRPr>
          </a:p>
        </p:txBody>
      </p:sp>
      <p:sp>
        <p:nvSpPr>
          <p:cNvPr id="826" name="Google Shape;826;p61"/>
          <p:cNvSpPr txBox="1"/>
          <p:nvPr/>
        </p:nvSpPr>
        <p:spPr>
          <a:xfrm>
            <a:off x="6234434" y="1622052"/>
            <a:ext cx="2297400" cy="144300"/>
          </a:xfrm>
          <a:prstGeom prst="rect">
            <a:avLst/>
          </a:prstGeom>
          <a:noFill/>
          <a:ln>
            <a:noFill/>
          </a:ln>
        </p:spPr>
        <p:txBody>
          <a:bodyPr spcFirstLastPara="1" wrap="square" lIns="91775" tIns="91775" rIns="91775" bIns="9177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3"/>
              </a:rPr>
              <a:t>No Runtime Sensor</a:t>
            </a:r>
            <a:endParaRPr sz="900" b="0" i="0" u="none" strike="noStrike" cap="none">
              <a:solidFill>
                <a:srgbClr val="0254EC"/>
              </a:solidFill>
              <a:latin typeface="Calibri"/>
              <a:ea typeface="Calibri"/>
              <a:cs typeface="Calibri"/>
              <a:sym typeface="Calibri"/>
            </a:endParaRPr>
          </a:p>
        </p:txBody>
      </p:sp>
      <p:sp>
        <p:nvSpPr>
          <p:cNvPr id="827" name="Google Shape;827;p61"/>
          <p:cNvSpPr txBox="1"/>
          <p:nvPr/>
        </p:nvSpPr>
        <p:spPr>
          <a:xfrm>
            <a:off x="7851586" y="1449476"/>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{{KG_NA}}</a:t>
            </a:r>
            <a:endParaRPr sz="1000" b="1" i="0" u="none" strike="noStrike" cap="none">
              <a:solidFill>
                <a:srgbClr val="333333"/>
              </a:solidFill>
              <a:latin typeface="Calibri"/>
              <a:ea typeface="Calibri"/>
              <a:cs typeface="Calibri"/>
              <a:sym typeface="Calibri"/>
            </a:endParaRPr>
          </a:p>
        </p:txBody>
      </p:sp>
      <p:sp>
        <p:nvSpPr>
          <p:cNvPr id="828" name="Google Shape;828;p61"/>
          <p:cNvSpPr txBox="1"/>
          <p:nvPr/>
        </p:nvSpPr>
        <p:spPr>
          <a:xfrm>
            <a:off x="7849813" y="1617573"/>
            <a:ext cx="1003500" cy="158100"/>
          </a:xfrm>
          <a:prstGeom prst="rect">
            <a:avLst/>
          </a:prstGeom>
          <a:noFill/>
          <a:ln>
            <a:noFill/>
          </a:ln>
        </p:spPr>
        <p:txBody>
          <a:bodyPr spcFirstLastPara="1" wrap="square" lIns="91775" tIns="91775" rIns="91775" bIns="91775" anchor="t" anchorCtr="0">
            <a:noAutofit/>
          </a:bodyPr>
          <a:lstStyle/>
          <a:p>
            <a:pPr marL="0" marR="0" lvl="0" indent="0" algn="r" rtl="0">
              <a:lnSpc>
                <a:spcPct val="150000"/>
              </a:lnSpc>
              <a:spcBef>
                <a:spcPts val="0"/>
              </a:spcBef>
              <a:spcAft>
                <a:spcPts val="0"/>
              </a:spcAft>
              <a:buClr>
                <a:srgbClr val="000000"/>
              </a:buClr>
              <a:buSzPts val="1000"/>
              <a:buFont typeface="Arial"/>
              <a:buNone/>
            </a:pPr>
            <a:r>
              <a:rPr lang="en" sz="1000" b="1" i="0" u="none" strike="noStrike" cap="none">
                <a:solidFill>
                  <a:srgbClr val="333333"/>
                </a:solidFill>
                <a:latin typeface="Calibri"/>
                <a:ea typeface="Calibri"/>
                <a:cs typeface="Calibri"/>
                <a:sym typeface="Calibri"/>
              </a:rPr>
              <a:t>{{KG_NS}}</a:t>
            </a:r>
            <a:endParaRPr sz="1000" b="1" i="0" u="none" strike="noStrike" cap="none">
              <a:solidFill>
                <a:srgbClr val="333333"/>
              </a:solidFill>
              <a:latin typeface="Calibri"/>
              <a:ea typeface="Calibri"/>
              <a:cs typeface="Calibri"/>
              <a:sym typeface="Calibri"/>
            </a:endParaRPr>
          </a:p>
        </p:txBody>
      </p:sp>
      <p:sp>
        <p:nvSpPr>
          <p:cNvPr id="829" name="Google Shape;829;p61"/>
          <p:cNvSpPr txBox="1"/>
          <p:nvPr/>
        </p:nvSpPr>
        <p:spPr>
          <a:xfrm>
            <a:off x="3205665" y="2023737"/>
            <a:ext cx="2676900" cy="204300"/>
          </a:xfrm>
          <a:prstGeom prst="rect">
            <a:avLst/>
          </a:prstGeom>
          <a:noFill/>
          <a:ln>
            <a:noFill/>
          </a:ln>
        </p:spPr>
        <p:txBody>
          <a:bodyPr spcFirstLastPara="1" wrap="square" lIns="91775" tIns="91775" rIns="91775" bIns="91775" anchor="ctr" anchorCtr="0">
            <a:noAutofit/>
          </a:bodyPr>
          <a:lstStyle/>
          <a:p>
            <a:pPr marL="0" marR="0" lvl="0" indent="0" algn="ctr" rtl="0">
              <a:lnSpc>
                <a:spcPct val="150000"/>
              </a:lnSpc>
              <a:spcBef>
                <a:spcPts val="0"/>
              </a:spcBef>
              <a:spcAft>
                <a:spcPts val="0"/>
              </a:spcAft>
              <a:buClr>
                <a:srgbClr val="000000"/>
              </a:buClr>
              <a:buSzPts val="1100"/>
              <a:buFont typeface="Arial"/>
              <a:buNone/>
            </a:pPr>
            <a:r>
              <a:rPr lang="en" sz="1100" b="0" i="0" u="none" strike="noStrike" cap="none">
                <a:solidFill>
                  <a:srgbClr val="333333"/>
                </a:solidFill>
                <a:latin typeface="Calibri"/>
                <a:ea typeface="Calibri"/>
                <a:cs typeface="Calibri"/>
                <a:sym typeface="Calibri"/>
              </a:rPr>
              <a:t>Do you have </a:t>
            </a:r>
            <a:r>
              <a:rPr lang="en" sz="1100" b="0" i="1" u="none" strike="noStrike" cap="none">
                <a:solidFill>
                  <a:srgbClr val="333333"/>
                </a:solidFill>
                <a:latin typeface="Calibri"/>
                <a:ea typeface="Calibri"/>
                <a:cs typeface="Calibri"/>
                <a:sym typeface="Calibri"/>
              </a:rPr>
              <a:t>full</a:t>
            </a:r>
            <a:r>
              <a:rPr lang="en" sz="1100" b="0" i="0" u="none" strike="noStrike" cap="none">
                <a:solidFill>
                  <a:srgbClr val="333333"/>
                </a:solidFill>
                <a:latin typeface="Calibri"/>
                <a:ea typeface="Calibri"/>
                <a:cs typeface="Calibri"/>
                <a:sym typeface="Calibri"/>
              </a:rPr>
              <a:t> visibility?</a:t>
            </a:r>
            <a:endParaRPr sz="1100" b="0" i="0" u="none" strike="noStrike" cap="none">
              <a:solidFill>
                <a:srgbClr val="333333"/>
              </a:solidFill>
              <a:latin typeface="Calibri"/>
              <a:ea typeface="Calibri"/>
              <a:cs typeface="Calibri"/>
              <a:sym typeface="Calibri"/>
            </a:endParaRPr>
          </a:p>
        </p:txBody>
      </p:sp>
      <p:pic>
        <p:nvPicPr>
          <p:cNvPr id="830" name="Google Shape;830;p61"/>
          <p:cNvPicPr preferRelativeResize="0"/>
          <p:nvPr/>
        </p:nvPicPr>
        <p:blipFill rotWithShape="1">
          <a:blip r:embed="rId14">
            <a:alphaModFix/>
          </a:blip>
          <a:srcRect/>
          <a:stretch/>
        </p:blipFill>
        <p:spPr>
          <a:xfrm>
            <a:off x="3550644" y="2777812"/>
            <a:ext cx="2785632" cy="527016"/>
          </a:xfrm>
          <a:prstGeom prst="rect">
            <a:avLst/>
          </a:prstGeom>
          <a:noFill/>
          <a:ln w="9525" cap="flat" cmpd="sng">
            <a:solidFill>
              <a:schemeClr val="accent1"/>
            </a:solidFill>
            <a:prstDash val="solid"/>
            <a:round/>
            <a:headEnd type="none" w="sm" len="sm"/>
            <a:tailEnd type="none" w="sm" len="sm"/>
          </a:ln>
        </p:spPr>
      </p:pic>
      <p:sp>
        <p:nvSpPr>
          <p:cNvPr id="831" name="Google Shape;831;p61"/>
          <p:cNvSpPr/>
          <p:nvPr/>
        </p:nvSpPr>
        <p:spPr>
          <a:xfrm>
            <a:off x="3595375" y="3607213"/>
            <a:ext cx="2676900" cy="1338600"/>
          </a:xfrm>
          <a:prstGeom prst="rect">
            <a:avLst/>
          </a:prstGeom>
          <a:noFill/>
          <a:ln>
            <a:noFill/>
          </a:ln>
        </p:spPr>
        <p:txBody>
          <a:bodyPr spcFirstLastPara="1" wrap="square" lIns="0" tIns="0" rIns="0" bIns="0" anchor="t" anchorCtr="0">
            <a:noAutofit/>
          </a:bodyPr>
          <a:lstStyle/>
          <a:p>
            <a:pPr marL="0" marR="0" lvl="0" indent="0" algn="ctr" rtl="0">
              <a:lnSpc>
                <a:spcPct val="90000"/>
              </a:lnSpc>
              <a:spcBef>
                <a:spcPts val="0"/>
              </a:spcBef>
              <a:spcAft>
                <a:spcPts val="0"/>
              </a:spcAft>
              <a:buClr>
                <a:srgbClr val="6B7280"/>
              </a:buClr>
              <a:buSzPts val="800"/>
              <a:buFont typeface="DM Sans"/>
              <a:buNone/>
            </a:pPr>
            <a:r>
              <a:rPr lang="en" sz="800" b="0" i="0" u="none" strike="noStrike" cap="none">
                <a:solidFill>
                  <a:srgbClr val="222222"/>
                </a:solidFill>
                <a:latin typeface="Calibri"/>
                <a:ea typeface="Calibri"/>
                <a:cs typeface="Calibri"/>
                <a:sym typeface="Calibri"/>
              </a:rPr>
              <a:t>Understanding where your images are scanned allows you to pinpoint and intercept vulnerabilities at the earliest possible moment. Identifying these specific scan sources is the key to an effective "shift left" strategy, ensuring you apply fixes where they have the most impact before they ever reach production.</a:t>
            </a:r>
            <a:endParaRPr sz="800" b="0" i="0" u="none" strike="noStrike" cap="none">
              <a:solidFill>
                <a:srgbClr val="222222"/>
              </a:solidFill>
              <a:latin typeface="Calibri"/>
              <a:ea typeface="Calibri"/>
              <a:cs typeface="Calibri"/>
              <a:sym typeface="Calibri"/>
            </a:endParaRPr>
          </a:p>
          <a:p>
            <a:pPr marL="0" marR="0" lvl="0" indent="0" algn="ctr" rtl="0">
              <a:lnSpc>
                <a:spcPct val="90000"/>
              </a:lnSpc>
              <a:spcBef>
                <a:spcPts val="0"/>
              </a:spcBef>
              <a:spcAft>
                <a:spcPts val="0"/>
              </a:spcAft>
              <a:buClr>
                <a:srgbClr val="6B7280"/>
              </a:buClr>
              <a:buSzPts val="800"/>
              <a:buFont typeface="DM Sans"/>
              <a:buNone/>
            </a:pPr>
            <a:endParaRPr sz="800" b="0" i="0" u="none" strike="noStrike" cap="none">
              <a:solidFill>
                <a:srgbClr val="222222"/>
              </a:solidFill>
              <a:latin typeface="Calibri"/>
              <a:ea typeface="Calibri"/>
              <a:cs typeface="Calibri"/>
              <a:sym typeface="Calibri"/>
            </a:endParaRPr>
          </a:p>
          <a:p>
            <a:pPr marL="0" marR="0" lvl="0" indent="0" algn="ctr" rtl="0">
              <a:lnSpc>
                <a:spcPct val="100000"/>
              </a:lnSpc>
              <a:spcBef>
                <a:spcPts val="0"/>
              </a:spcBef>
              <a:spcAft>
                <a:spcPts val="0"/>
              </a:spcAft>
              <a:buClr>
                <a:srgbClr val="1F2937"/>
              </a:buClr>
              <a:buSzPts val="800"/>
              <a:buFont typeface="Arial"/>
              <a:buNone/>
            </a:pPr>
            <a:r>
              <a:rPr lang="en" sz="800" b="0" i="0" u="none" strike="noStrike" cap="none">
                <a:solidFill>
                  <a:srgbClr val="222222"/>
                </a:solidFill>
                <a:latin typeface="Calibri"/>
                <a:ea typeface="Calibri"/>
                <a:cs typeface="Calibri"/>
                <a:sym typeface="Calibri"/>
              </a:rPr>
              <a:t>Are you tagging your Images? Correlate the Docker image to the CI phase, gain further insights, and potentially improve your CI/CD pipeline conduct</a:t>
            </a:r>
            <a:endParaRPr sz="800" b="0" i="0" u="none" strike="noStrike" cap="none">
              <a:solidFill>
                <a:srgbClr val="222222"/>
              </a:solidFill>
              <a:latin typeface="Calibri"/>
              <a:ea typeface="Calibri"/>
              <a:cs typeface="Calibri"/>
              <a:sym typeface="Calibri"/>
            </a:endParaRPr>
          </a:p>
        </p:txBody>
      </p:sp>
      <p:sp>
        <p:nvSpPr>
          <p:cNvPr id="832" name="Google Shape;832;p61"/>
          <p:cNvSpPr txBox="1"/>
          <p:nvPr/>
        </p:nvSpPr>
        <p:spPr>
          <a:xfrm>
            <a:off x="5372947" y="3261513"/>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{{CL_CLD}}</a:t>
            </a:r>
            <a:endParaRPr sz="900" b="1" i="0" u="none" strike="noStrike" cap="none">
              <a:solidFill>
                <a:srgbClr val="333333"/>
              </a:solidFill>
              <a:latin typeface="Calibri"/>
              <a:ea typeface="Calibri"/>
              <a:cs typeface="Calibri"/>
              <a:sym typeface="Calibri"/>
            </a:endParaRPr>
          </a:p>
        </p:txBody>
      </p:sp>
      <p:sp>
        <p:nvSpPr>
          <p:cNvPr id="833" name="Google Shape;833;p61"/>
          <p:cNvSpPr txBox="1"/>
          <p:nvPr/>
        </p:nvSpPr>
        <p:spPr>
          <a:xfrm>
            <a:off x="5845145" y="3267116"/>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{{CL_RT}}</a:t>
            </a:r>
            <a:endParaRPr sz="900" b="1" i="0" u="none" strike="noStrike" cap="none">
              <a:solidFill>
                <a:srgbClr val="333333"/>
              </a:solidFill>
              <a:latin typeface="Calibri"/>
              <a:ea typeface="Calibri"/>
              <a:cs typeface="Calibri"/>
              <a:sym typeface="Calibri"/>
            </a:endParaRPr>
          </a:p>
        </p:txBody>
      </p:sp>
      <p:sp>
        <p:nvSpPr>
          <p:cNvPr id="834" name="Google Shape;834;p61"/>
          <p:cNvSpPr txBox="1"/>
          <p:nvPr/>
        </p:nvSpPr>
        <p:spPr>
          <a:xfrm>
            <a:off x="4900748" y="3268983"/>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{{CL_DEP}}</a:t>
            </a:r>
            <a:endParaRPr sz="900" b="1" i="0" u="none" strike="noStrike" cap="none">
              <a:solidFill>
                <a:srgbClr val="333333"/>
              </a:solidFill>
              <a:latin typeface="Calibri"/>
              <a:ea typeface="Calibri"/>
              <a:cs typeface="Calibri"/>
              <a:sym typeface="Calibri"/>
            </a:endParaRPr>
          </a:p>
        </p:txBody>
      </p:sp>
      <p:sp>
        <p:nvSpPr>
          <p:cNvPr id="835" name="Google Shape;835;p61"/>
          <p:cNvSpPr txBox="1"/>
          <p:nvPr/>
        </p:nvSpPr>
        <p:spPr>
          <a:xfrm>
            <a:off x="3956352" y="3259646"/>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{{CL_BLD}}</a:t>
            </a:r>
            <a:endParaRPr sz="900" b="1" i="0" u="none" strike="noStrike" cap="none">
              <a:solidFill>
                <a:srgbClr val="333333"/>
              </a:solidFill>
              <a:latin typeface="Calibri"/>
              <a:ea typeface="Calibri"/>
              <a:cs typeface="Calibri"/>
              <a:sym typeface="Calibri"/>
            </a:endParaRPr>
          </a:p>
        </p:txBody>
      </p:sp>
      <p:sp>
        <p:nvSpPr>
          <p:cNvPr id="836" name="Google Shape;836;p61"/>
          <p:cNvSpPr txBox="1"/>
          <p:nvPr/>
        </p:nvSpPr>
        <p:spPr>
          <a:xfrm>
            <a:off x="4428550" y="3263381"/>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{{CL_STR}}</a:t>
            </a:r>
            <a:endParaRPr sz="900" b="1" i="0" u="none" strike="noStrike" cap="none">
              <a:solidFill>
                <a:srgbClr val="333333"/>
              </a:solidFill>
              <a:latin typeface="Calibri"/>
              <a:ea typeface="Calibri"/>
              <a:cs typeface="Calibri"/>
              <a:sym typeface="Calibri"/>
            </a:endParaRPr>
          </a:p>
        </p:txBody>
      </p:sp>
      <p:sp>
        <p:nvSpPr>
          <p:cNvPr id="837" name="Google Shape;837;p61"/>
          <p:cNvSpPr txBox="1"/>
          <p:nvPr/>
        </p:nvSpPr>
        <p:spPr>
          <a:xfrm>
            <a:off x="3484154" y="3265248"/>
            <a:ext cx="512100" cy="220800"/>
          </a:xfrm>
          <a:prstGeom prst="rect">
            <a:avLst/>
          </a:prstGeom>
          <a:noFill/>
          <a:ln>
            <a:noFill/>
          </a:ln>
        </p:spPr>
        <p:txBody>
          <a:bodyPr spcFirstLastPara="1" wrap="square" lIns="91775" tIns="91775" rIns="91775" bIns="91775" anchor="t" anchorCtr="0">
            <a:noAutofit/>
          </a:bodyPr>
          <a:lstStyle/>
          <a:p>
            <a:pPr marL="0" marR="0" lvl="0" indent="0" algn="ctr" rtl="0">
              <a:lnSpc>
                <a:spcPct val="150000"/>
              </a:lnSpc>
              <a:spcBef>
                <a:spcPts val="0"/>
              </a:spcBef>
              <a:spcAft>
                <a:spcPts val="0"/>
              </a:spcAft>
              <a:buClr>
                <a:srgbClr val="000000"/>
              </a:buClr>
              <a:buSzPts val="900"/>
              <a:buFont typeface="Arial"/>
              <a:buNone/>
            </a:pPr>
            <a:r>
              <a:rPr lang="en" sz="900" b="1" i="0" u="none" strike="noStrike" cap="none">
                <a:solidFill>
                  <a:srgbClr val="333333"/>
                </a:solidFill>
                <a:latin typeface="Calibri"/>
                <a:ea typeface="Calibri"/>
                <a:cs typeface="Calibri"/>
                <a:sym typeface="Calibri"/>
              </a:rPr>
              <a:t>{{CL_CODE}}</a:t>
            </a:r>
            <a:endParaRPr sz="900" b="1" i="0" u="none" strike="noStrike" cap="none">
              <a:solidFill>
                <a:srgbClr val="333333"/>
              </a:solidFill>
              <a:latin typeface="Calibri"/>
              <a:ea typeface="Calibri"/>
              <a:cs typeface="Calibri"/>
              <a:sym typeface="Calibri"/>
            </a:endParaRPr>
          </a:p>
        </p:txBody>
      </p:sp>
      <p:sp>
        <p:nvSpPr>
          <p:cNvPr id="838" name="Google Shape;838;p61"/>
          <p:cNvSpPr txBox="1"/>
          <p:nvPr/>
        </p:nvSpPr>
        <p:spPr>
          <a:xfrm>
            <a:off x="7851954" y="3368391"/>
            <a:ext cx="1139700" cy="1548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{{R_CON}}</a:t>
            </a:r>
            <a:endParaRPr sz="900" b="0" i="0" u="none" strike="noStrike" cap="none">
              <a:solidFill>
                <a:srgbClr val="333333"/>
              </a:solidFill>
              <a:latin typeface="Calibri"/>
              <a:ea typeface="Calibri"/>
              <a:cs typeface="Calibri"/>
              <a:sym typeface="Calibri"/>
            </a:endParaRPr>
          </a:p>
        </p:txBody>
      </p:sp>
      <p:sp>
        <p:nvSpPr>
          <p:cNvPr id="839" name="Google Shape;839;p61"/>
          <p:cNvSpPr txBox="1"/>
          <p:nvPr/>
        </p:nvSpPr>
        <p:spPr>
          <a:xfrm>
            <a:off x="7847951" y="3544289"/>
            <a:ext cx="1143000" cy="1548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{{R_AUT}}</a:t>
            </a:r>
            <a:endParaRPr sz="900" b="0" i="0" u="none" strike="noStrike" cap="none">
              <a:solidFill>
                <a:srgbClr val="333333"/>
              </a:solidFill>
              <a:latin typeface="Calibri"/>
              <a:ea typeface="Calibri"/>
              <a:cs typeface="Calibri"/>
              <a:sym typeface="Calibri"/>
            </a:endParaRPr>
          </a:p>
        </p:txBody>
      </p:sp>
      <p:sp>
        <p:nvSpPr>
          <p:cNvPr id="840" name="Google Shape;840;p61"/>
          <p:cNvSpPr txBox="1"/>
          <p:nvPr/>
        </p:nvSpPr>
        <p:spPr>
          <a:xfrm>
            <a:off x="7743278" y="3375563"/>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5"/>
              </a:rPr>
              <a:t>Connector</a:t>
            </a:r>
            <a:endParaRPr sz="900" b="0" i="0" u="none" strike="noStrike" cap="none">
              <a:solidFill>
                <a:srgbClr val="0254EC"/>
              </a:solidFill>
              <a:latin typeface="Calibri"/>
              <a:ea typeface="Calibri"/>
              <a:cs typeface="Calibri"/>
              <a:sym typeface="Calibri"/>
            </a:endParaRPr>
          </a:p>
        </p:txBody>
      </p:sp>
      <p:sp>
        <p:nvSpPr>
          <p:cNvPr id="841" name="Google Shape;841;p61"/>
          <p:cNvSpPr txBox="1"/>
          <p:nvPr/>
        </p:nvSpPr>
        <p:spPr>
          <a:xfrm>
            <a:off x="7743278" y="3544276"/>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6"/>
              </a:rPr>
              <a:t>Global</a:t>
            </a:r>
            <a:endParaRPr sz="900" b="0" i="0" u="none" strike="noStrike" cap="none">
              <a:solidFill>
                <a:srgbClr val="0254EC"/>
              </a:solidFill>
              <a:latin typeface="Calibri"/>
              <a:ea typeface="Calibri"/>
              <a:cs typeface="Calibri"/>
              <a:sym typeface="Calibri"/>
            </a:endParaRPr>
          </a:p>
        </p:txBody>
      </p:sp>
      <p:sp>
        <p:nvSpPr>
          <p:cNvPr id="842" name="Google Shape;842;p61"/>
          <p:cNvSpPr txBox="1"/>
          <p:nvPr/>
        </p:nvSpPr>
        <p:spPr>
          <a:xfrm>
            <a:off x="7743747" y="3712990"/>
            <a:ext cx="914700" cy="154800"/>
          </a:xfrm>
          <a:prstGeom prst="rect">
            <a:avLst/>
          </a:prstGeom>
          <a:noFill/>
          <a:ln>
            <a:noFill/>
          </a:ln>
        </p:spPr>
        <p:txBody>
          <a:bodyPr spcFirstLastPara="1" wrap="square" lIns="91225" tIns="91225" rIns="91225" bIns="91225" anchor="t" anchorCtr="0">
            <a:noAutofit/>
          </a:bodyPr>
          <a:lstStyle/>
          <a:p>
            <a:pPr marL="0" marR="0" lvl="0" indent="0" algn="l" rtl="0">
              <a:lnSpc>
                <a:spcPct val="150000"/>
              </a:lnSpc>
              <a:spcBef>
                <a:spcPts val="0"/>
              </a:spcBef>
              <a:spcAft>
                <a:spcPts val="0"/>
              </a:spcAft>
              <a:buClr>
                <a:srgbClr val="000000"/>
              </a:buClr>
              <a:buSzPts val="900"/>
              <a:buFont typeface="Arial"/>
              <a:buNone/>
            </a:pPr>
            <a:r>
              <a:rPr lang="en" sz="900" b="0" i="0" u="sng" strike="noStrike" cap="none">
                <a:solidFill>
                  <a:schemeClr val="hlink"/>
                </a:solidFill>
                <a:latin typeface="Calibri"/>
                <a:ea typeface="Calibri"/>
                <a:cs typeface="Calibri"/>
                <a:sym typeface="Calibri"/>
                <a:hlinkClick r:id="rId17"/>
              </a:rPr>
              <a:t>Custom</a:t>
            </a:r>
            <a:endParaRPr sz="900" b="0" i="0" u="none" strike="noStrike" cap="none">
              <a:solidFill>
                <a:srgbClr val="0254EC"/>
              </a:solidFill>
              <a:latin typeface="Calibri"/>
              <a:ea typeface="Calibri"/>
              <a:cs typeface="Calibri"/>
              <a:sym typeface="Calibri"/>
            </a:endParaRPr>
          </a:p>
        </p:txBody>
      </p:sp>
      <p:sp>
        <p:nvSpPr>
          <p:cNvPr id="843" name="Google Shape;843;p61"/>
          <p:cNvSpPr txBox="1"/>
          <p:nvPr/>
        </p:nvSpPr>
        <p:spPr>
          <a:xfrm>
            <a:off x="7847336" y="3720187"/>
            <a:ext cx="1143000" cy="155400"/>
          </a:xfrm>
          <a:prstGeom prst="rect">
            <a:avLst/>
          </a:prstGeom>
          <a:noFill/>
          <a:ln>
            <a:noFill/>
          </a:ln>
        </p:spPr>
        <p:txBody>
          <a:bodyPr spcFirstLastPara="1" wrap="square" lIns="91225" tIns="91225" rIns="91225" bIns="91225" anchor="t" anchorCtr="0">
            <a:noAutofit/>
          </a:bodyPr>
          <a:lstStyle/>
          <a:p>
            <a:pPr marL="0" marR="0" lvl="0" indent="0" algn="r" rtl="0">
              <a:lnSpc>
                <a:spcPct val="150000"/>
              </a:lnSpc>
              <a:spcBef>
                <a:spcPts val="0"/>
              </a:spcBef>
              <a:spcAft>
                <a:spcPts val="0"/>
              </a:spcAft>
              <a:buClr>
                <a:srgbClr val="000000"/>
              </a:buClr>
              <a:buSzPts val="900"/>
              <a:buFont typeface="Arial"/>
              <a:buNone/>
            </a:pPr>
            <a:r>
              <a:rPr lang="en" sz="900" b="0" i="0" u="none" strike="noStrike" cap="none">
                <a:solidFill>
                  <a:srgbClr val="333333"/>
                </a:solidFill>
                <a:latin typeface="Calibri"/>
                <a:ea typeface="Calibri"/>
                <a:cs typeface="Calibri"/>
                <a:sym typeface="Calibri"/>
              </a:rPr>
              <a:t>{{R_CUS}}</a:t>
            </a:r>
            <a:endParaRPr sz="900" b="0" i="0" u="none" strike="noStrike" cap="none">
              <a:solidFill>
                <a:srgbClr val="333333"/>
              </a:solidFill>
              <a:latin typeface="Calibri"/>
              <a:ea typeface="Calibri"/>
              <a:cs typeface="Calibri"/>
              <a:sym typeface="Calibri"/>
            </a:endParaRPr>
          </a:p>
        </p:txBody>
      </p:sp>
      <p:sp>
        <p:nvSpPr>
          <p:cNvPr id="844" name="Google Shape;844;p61"/>
          <p:cNvSpPr txBox="1"/>
          <p:nvPr/>
        </p:nvSpPr>
        <p:spPr>
          <a:xfrm>
            <a:off x="7683303" y="2828294"/>
            <a:ext cx="1275600" cy="219300"/>
          </a:xfrm>
          <a:prstGeom prst="rect">
            <a:avLst/>
          </a:prstGeom>
          <a:noFill/>
          <a:ln>
            <a:noFill/>
          </a:ln>
        </p:spPr>
        <p:txBody>
          <a:bodyPr spcFirstLastPara="1" wrap="square" lIns="91225" tIns="91225" rIns="91225" bIns="91225" anchor="t" anchorCtr="0">
            <a:noAutofit/>
          </a:bodyPr>
          <a:lstStyle/>
          <a:p>
            <a:pPr marL="0" marR="0" lvl="0" indent="0" algn="ctr" rtl="0">
              <a:lnSpc>
                <a:spcPct val="100000"/>
              </a:lnSpc>
              <a:spcBef>
                <a:spcPts val="0"/>
              </a:spcBef>
              <a:spcAft>
                <a:spcPts val="0"/>
              </a:spcAft>
              <a:buClr>
                <a:srgbClr val="000000"/>
              </a:buClr>
              <a:buSzPts val="1200"/>
              <a:buFont typeface="Arial"/>
              <a:buNone/>
            </a:pPr>
            <a:r>
              <a:rPr lang="en" sz="1200" b="0" i="0" u="none" strike="noStrike" cap="none">
                <a:solidFill>
                  <a:srgbClr val="333333"/>
                </a:solidFill>
                <a:latin typeface="Calibri"/>
                <a:ea typeface="Calibri"/>
                <a:cs typeface="Calibri"/>
                <a:sym typeface="Calibri"/>
              </a:rPr>
              <a:t>Scanning Config Type</a:t>
            </a:r>
            <a:endParaRPr sz="1200" b="0" i="0" u="none" strike="noStrike" cap="none">
              <a:solidFill>
                <a:srgbClr val="333333"/>
              </a:solidFill>
              <a:latin typeface="Calibri"/>
              <a:ea typeface="Calibri"/>
              <a:cs typeface="Calibri"/>
              <a:sym typeface="Calibri"/>
            </a:endParaRPr>
          </a:p>
        </p:txBody>
      </p:sp>
      <p:cxnSp>
        <p:nvCxnSpPr>
          <p:cNvPr id="845" name="Google Shape;845;p61"/>
          <p:cNvCxnSpPr/>
          <p:nvPr/>
        </p:nvCxnSpPr>
        <p:spPr>
          <a:xfrm rot="10800000" flipH="1">
            <a:off x="7699350" y="2976423"/>
            <a:ext cx="15900" cy="1091400"/>
          </a:xfrm>
          <a:prstGeom prst="straightConnector1">
            <a:avLst/>
          </a:prstGeom>
          <a:noFill/>
          <a:ln w="9525" cap="flat" cmpd="sng">
            <a:solidFill>
              <a:srgbClr val="595959"/>
            </a:solidFill>
            <a:prstDash val="solid"/>
            <a:round/>
            <a:headEnd type="none" w="sm" len="sm"/>
            <a:tailEnd type="none" w="sm" len="sm"/>
          </a:ln>
        </p:spPr>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413"/>
        <p:cNvGrpSpPr/>
        <p:nvPr/>
      </p:nvGrpSpPr>
      <p:grpSpPr>
        <a:xfrm>
          <a:off x="0" y="0"/>
          <a:ext cx="0" cy="0"/>
          <a:chOff x="0" y="0"/>
          <a:chExt cx="0" cy="0"/>
        </a:xfrm>
      </p:grpSpPr>
      <p:pic>
        <p:nvPicPr>
          <p:cNvPr id="1414" name="Google Shape;1414;p69" title="Rectangle 7854.png"/>
          <p:cNvPicPr preferRelativeResize="0"/>
          <p:nvPr/>
        </p:nvPicPr>
        <p:blipFill rotWithShape="1">
          <a:blip r:embed="rId3">
            <a:alphaModFix/>
          </a:blip>
          <a:srcRect/>
          <a:stretch/>
        </p:blipFill>
        <p:spPr>
          <a:xfrm>
            <a:off x="3237298" y="1837849"/>
            <a:ext cx="2669404" cy="2703664"/>
          </a:xfrm>
          <a:prstGeom prst="rect">
            <a:avLst/>
          </a:prstGeom>
          <a:noFill/>
          <a:ln>
            <a:noFill/>
          </a:ln>
        </p:spPr>
      </p:pic>
      <p:pic>
        <p:nvPicPr>
          <p:cNvPr id="1415" name="Google Shape;1415;p69" title="Rectangle 7854.png"/>
          <p:cNvPicPr preferRelativeResize="0"/>
          <p:nvPr/>
        </p:nvPicPr>
        <p:blipFill rotWithShape="1">
          <a:blip r:embed="rId3">
            <a:alphaModFix/>
          </a:blip>
          <a:srcRect/>
          <a:stretch/>
        </p:blipFill>
        <p:spPr>
          <a:xfrm>
            <a:off x="357125" y="1837849"/>
            <a:ext cx="2669404" cy="2703664"/>
          </a:xfrm>
          <a:prstGeom prst="rect">
            <a:avLst/>
          </a:prstGeom>
          <a:noFill/>
          <a:ln>
            <a:noFill/>
          </a:ln>
        </p:spPr>
      </p:pic>
      <p:cxnSp>
        <p:nvCxnSpPr>
          <p:cNvPr id="1416" name="Google Shape;1416;p69"/>
          <p:cNvCxnSpPr/>
          <p:nvPr/>
        </p:nvCxnSpPr>
        <p:spPr>
          <a:xfrm>
            <a:off x="630575"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17" name="Google Shape;1417;p69"/>
          <p:cNvSpPr txBox="1"/>
          <p:nvPr/>
        </p:nvSpPr>
        <p:spPr>
          <a:xfrm>
            <a:off x="522275" y="2664476"/>
            <a:ext cx="23391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70000"/>
              </a:lnSpc>
              <a:spcBef>
                <a:spcPts val="0"/>
              </a:spcBef>
              <a:spcAft>
                <a:spcPts val="0"/>
              </a:spcAft>
              <a:buClr>
                <a:srgbClr val="000000"/>
              </a:buClr>
              <a:buSzPts val="1000"/>
              <a:buFont typeface="Arial"/>
              <a:buNone/>
            </a:pPr>
            <a:r>
              <a:rPr lang="en"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Kubernetes Connector Rollout</a:t>
            </a:r>
            <a:endParaRPr sz="1000" b="0" i="0" u="none" strike="noStrike" cap="none" dirty="0">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sp>
        <p:nvSpPr>
          <p:cNvPr id="1418" name="Google Shape;1418;p69"/>
          <p:cNvSpPr txBox="1"/>
          <p:nvPr/>
        </p:nvSpPr>
        <p:spPr>
          <a:xfrm>
            <a:off x="343146" y="3092700"/>
            <a:ext cx="2575800" cy="13674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Map Cluster architectures more effectively in Wiz.</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Allows Wiz to assess K8S clusters directly via the Kubernetes API, to identify risks associated with K8S specific identities, secretes, configs, etc.</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cxnSp>
        <p:nvCxnSpPr>
          <p:cNvPr id="1419" name="Google Shape;1419;p69"/>
          <p:cNvCxnSpPr/>
          <p:nvPr/>
        </p:nvCxnSpPr>
        <p:spPr>
          <a:xfrm>
            <a:off x="3510750"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20" name="Google Shape;1420;p69"/>
          <p:cNvSpPr txBox="1"/>
          <p:nvPr/>
        </p:nvSpPr>
        <p:spPr>
          <a:xfrm>
            <a:off x="3362850" y="2664476"/>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WizOS &amp; Image Tagging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1421" name="Google Shape;1421;p69" title="Rectangle 7854.png"/>
          <p:cNvPicPr preferRelativeResize="0"/>
          <p:nvPr/>
        </p:nvPicPr>
        <p:blipFill rotWithShape="1">
          <a:blip r:embed="rId3">
            <a:alphaModFix/>
          </a:blip>
          <a:srcRect/>
          <a:stretch/>
        </p:blipFill>
        <p:spPr>
          <a:xfrm>
            <a:off x="6117471" y="1837849"/>
            <a:ext cx="2669404" cy="2703664"/>
          </a:xfrm>
          <a:prstGeom prst="rect">
            <a:avLst/>
          </a:prstGeom>
          <a:noFill/>
          <a:ln>
            <a:noFill/>
          </a:ln>
        </p:spPr>
      </p:pic>
      <p:cxnSp>
        <p:nvCxnSpPr>
          <p:cNvPr id="1422" name="Google Shape;1422;p69"/>
          <p:cNvCxnSpPr/>
          <p:nvPr/>
        </p:nvCxnSpPr>
        <p:spPr>
          <a:xfrm>
            <a:off x="6390925" y="2954477"/>
            <a:ext cx="2122500" cy="0"/>
          </a:xfrm>
          <a:prstGeom prst="straightConnector1">
            <a:avLst/>
          </a:prstGeom>
          <a:noFill/>
          <a:ln w="9525" cap="flat" cmpd="sng">
            <a:solidFill>
              <a:srgbClr val="0254EC"/>
            </a:solidFill>
            <a:prstDash val="solid"/>
            <a:round/>
            <a:headEnd type="none" w="sm" len="sm"/>
            <a:tailEnd type="none" w="sm" len="sm"/>
          </a:ln>
        </p:spPr>
      </p:cxnSp>
      <p:sp>
        <p:nvSpPr>
          <p:cNvPr id="1423" name="Google Shape;1423;p69"/>
          <p:cNvSpPr txBox="1"/>
          <p:nvPr/>
        </p:nvSpPr>
        <p:spPr>
          <a:xfrm>
            <a:off x="6132378" y="3066795"/>
            <a:ext cx="2575800" cy="15006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Scan your repos for vulnerabilities, SAST flaws, IaC misconfigurations, secrets and Malware</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Allow Developers to scan their code at the IDE</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Scan PRs and (optionally) block merges that introduce risk </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Trace every risk back to its origin. Catch risks at the source, before they ship.</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0" marR="0" lvl="0" indent="0" algn="l" rtl="0">
              <a:lnSpc>
                <a:spcPct val="112000"/>
              </a:lnSpc>
              <a:spcBef>
                <a:spcPts val="0"/>
              </a:spcBef>
              <a:spcAft>
                <a:spcPts val="0"/>
              </a:spcAft>
              <a:buClr>
                <a:srgbClr val="000000"/>
              </a:buClr>
              <a:buSzPts val="900"/>
              <a:buFont typeface="Arial"/>
              <a:buNone/>
            </a:pP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
        <p:nvSpPr>
          <p:cNvPr id="1424" name="Google Shape;1424;p69"/>
          <p:cNvSpPr txBox="1"/>
          <p:nvPr/>
        </p:nvSpPr>
        <p:spPr>
          <a:xfrm>
            <a:off x="6243025" y="2644820"/>
            <a:ext cx="2418300" cy="273300"/>
          </a:xfrm>
          <a:prstGeom prst="rect">
            <a:avLst/>
          </a:prstGeom>
          <a:noFill/>
          <a:ln>
            <a:noFill/>
          </a:ln>
        </p:spPr>
        <p:txBody>
          <a:bodyPr spcFirstLastPara="1" wrap="square" lIns="68575" tIns="34275" rIns="68575" bIns="34275" anchor="ctr" anchorCtr="0">
            <a:noAutofit/>
          </a:bodyPr>
          <a:lstStyle/>
          <a:p>
            <a:pPr marL="0" marR="0" lvl="0" indent="0" algn="ctr" rtl="0">
              <a:lnSpc>
                <a:spcPct val="90000"/>
              </a:lnSpc>
              <a:spcBef>
                <a:spcPts val="0"/>
              </a:spcBef>
              <a:spcAft>
                <a:spcPts val="0"/>
              </a:spcAft>
              <a:buClr>
                <a:srgbClr val="000000"/>
              </a:buClr>
              <a:buSzPts val="1000"/>
              <a:buFont typeface="Arial"/>
              <a:buNone/>
            </a:pP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Full Code-to-Cloud Context </a:t>
            </a:r>
            <a:b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br>
            <a:r>
              <a:rPr lang="en"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rPr>
              <a:t>Wiz Code POV</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Poppins SemiBold"/>
            </a:endParaRPr>
          </a:p>
        </p:txBody>
      </p:sp>
      <p:pic>
        <p:nvPicPr>
          <p:cNvPr id="1425" name="Google Shape;1425;p69"/>
          <p:cNvPicPr preferRelativeResize="0"/>
          <p:nvPr/>
        </p:nvPicPr>
        <p:blipFill rotWithShape="1">
          <a:blip r:embed="rId4">
            <a:alphaModFix/>
          </a:blip>
          <a:srcRect/>
          <a:stretch/>
        </p:blipFill>
        <p:spPr>
          <a:xfrm>
            <a:off x="1337712" y="1908821"/>
            <a:ext cx="708225" cy="708225"/>
          </a:xfrm>
          <a:prstGeom prst="rect">
            <a:avLst/>
          </a:prstGeom>
          <a:noFill/>
          <a:ln>
            <a:noFill/>
          </a:ln>
        </p:spPr>
      </p:pic>
      <p:sp>
        <p:nvSpPr>
          <p:cNvPr id="1426" name="Google Shape;1426;p69"/>
          <p:cNvSpPr txBox="1">
            <a:spLocks noGrp="1"/>
          </p:cNvSpPr>
          <p:nvPr>
            <p:ph type="title" idx="4294967295"/>
          </p:nvPr>
        </p:nvSpPr>
        <p:spPr>
          <a:xfrm>
            <a:off x="0" y="535725"/>
            <a:ext cx="9144000" cy="684000"/>
          </a:xfrm>
          <a:prstGeom prst="rect">
            <a:avLst/>
          </a:prstGeom>
          <a:noFill/>
          <a:ln>
            <a:noFill/>
          </a:ln>
        </p:spPr>
        <p:txBody>
          <a:bodyPr spcFirstLastPara="1" wrap="square" lIns="68575" tIns="34275" rIns="68575" bIns="34275" anchor="ctr" anchorCtr="0">
            <a:noAutofit/>
          </a:bodyPr>
          <a:lstStyle/>
          <a:p>
            <a:pPr marL="0" lvl="0" indent="0" algn="ctr" rtl="0">
              <a:lnSpc>
                <a:spcPct val="100000"/>
              </a:lnSpc>
              <a:spcBef>
                <a:spcPts val="0"/>
              </a:spcBef>
              <a:spcAft>
                <a:spcPts val="0"/>
              </a:spcAft>
              <a:buClr>
                <a:schemeClr val="dk1"/>
              </a:buClr>
              <a:buSzPts val="1100"/>
              <a:buFont typeface="Arial"/>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Top Three Focus Areas to Mature</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a:p>
            <a:pPr marL="0" lvl="0" indent="0" algn="ctr" rtl="0">
              <a:lnSpc>
                <a:spcPct val="100000"/>
              </a:lnSpc>
              <a:spcBef>
                <a:spcPts val="0"/>
              </a:spcBef>
              <a:spcAft>
                <a:spcPts val="0"/>
              </a:spcAft>
              <a:buClr>
                <a:schemeClr val="dk1"/>
              </a:buClr>
              <a:buSzPts val="1100"/>
              <a:buFont typeface="Arial"/>
              <a:buNone/>
            </a:pPr>
            <a:r>
              <a:rPr lang="en" sz="2420">
                <a:latin typeface="Calibri" panose="020F0502020204030204" pitchFamily="34" charset="0"/>
                <a:ea typeface="Calibri" panose="020F0502020204030204" pitchFamily="34" charset="0"/>
                <a:cs typeface="Calibri" panose="020F0502020204030204" pitchFamily="34" charset="0"/>
                <a:sym typeface="Poppins Light"/>
              </a:rPr>
              <a:t>for Developing Securely Improvements</a:t>
            </a:r>
            <a:endParaRPr sz="2420">
              <a:latin typeface="Calibri" panose="020F0502020204030204" pitchFamily="34" charset="0"/>
              <a:ea typeface="Calibri" panose="020F0502020204030204" pitchFamily="34" charset="0"/>
              <a:cs typeface="Calibri" panose="020F0502020204030204" pitchFamily="34" charset="0"/>
              <a:sym typeface="Poppins Light"/>
            </a:endParaRPr>
          </a:p>
        </p:txBody>
      </p:sp>
      <p:pic>
        <p:nvPicPr>
          <p:cNvPr id="1427" name="Google Shape;1427;p69" title="Group 1000002969.png"/>
          <p:cNvPicPr preferRelativeResize="0"/>
          <p:nvPr/>
        </p:nvPicPr>
        <p:blipFill rotWithShape="1">
          <a:blip r:embed="rId5">
            <a:alphaModFix/>
          </a:blip>
          <a:srcRect/>
          <a:stretch/>
        </p:blipFill>
        <p:spPr>
          <a:xfrm>
            <a:off x="4195263" y="2010813"/>
            <a:ext cx="753475" cy="504238"/>
          </a:xfrm>
          <a:prstGeom prst="rect">
            <a:avLst/>
          </a:prstGeom>
          <a:noFill/>
          <a:ln>
            <a:noFill/>
          </a:ln>
        </p:spPr>
      </p:pic>
      <p:pic>
        <p:nvPicPr>
          <p:cNvPr id="1428" name="Google Shape;1428;p69" title="Group 1000003039.png"/>
          <p:cNvPicPr preferRelativeResize="0"/>
          <p:nvPr/>
        </p:nvPicPr>
        <p:blipFill rotWithShape="1">
          <a:blip r:embed="rId6">
            <a:alphaModFix/>
          </a:blip>
          <a:srcRect/>
          <a:stretch/>
        </p:blipFill>
        <p:spPr>
          <a:xfrm>
            <a:off x="7196474" y="1993500"/>
            <a:ext cx="511400" cy="538875"/>
          </a:xfrm>
          <a:prstGeom prst="rect">
            <a:avLst/>
          </a:prstGeom>
          <a:noFill/>
          <a:ln>
            <a:noFill/>
          </a:ln>
        </p:spPr>
      </p:pic>
      <p:sp>
        <p:nvSpPr>
          <p:cNvPr id="1429" name="Google Shape;1429;p69"/>
          <p:cNvSpPr txBox="1"/>
          <p:nvPr/>
        </p:nvSpPr>
        <p:spPr>
          <a:xfrm>
            <a:off x="3262836" y="3084550"/>
            <a:ext cx="2575800" cy="1367400"/>
          </a:xfrm>
          <a:prstGeom prst="rect">
            <a:avLst/>
          </a:prstGeom>
          <a:noFill/>
          <a:ln>
            <a:noFill/>
          </a:ln>
        </p:spPr>
        <p:txBody>
          <a:bodyPr spcFirstLastPara="1" wrap="square" lIns="68575" tIns="34275" rIns="68575" bIns="34275" anchor="t" anchorCtr="0">
            <a:normAutofit/>
          </a:bodyPr>
          <a:lstStyle/>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Build on a clean image base with WizOS. Hardened, minimal, near-zero-CVE base images.</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a:p>
            <a:pPr marL="285750" marR="0" lvl="0" indent="-95250" algn="l" rtl="0">
              <a:lnSpc>
                <a:spcPct val="112000"/>
              </a:lnSpc>
              <a:spcBef>
                <a:spcPts val="0"/>
              </a:spcBef>
              <a:spcAft>
                <a:spcPts val="0"/>
              </a:spcAft>
              <a:buClr>
                <a:srgbClr val="01123F"/>
              </a:buClr>
              <a:buSzPts val="600"/>
              <a:buFont typeface="Poppins Light"/>
              <a:buChar char="●"/>
            </a:pPr>
            <a:r>
              <a:rPr lang="en"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rPr>
              <a:t>Allows Enforce quality with proper image tagging via Wiz CLI. Stamps each image by digest, giving full code-to-cloud traceability.</a:t>
            </a:r>
            <a:endParaRPr sz="900" b="0" i="0" u="none" strike="noStrike" cap="none" dirty="0">
              <a:solidFill>
                <a:srgbClr val="01123F"/>
              </a:solidFill>
              <a:latin typeface="Calibri" panose="020F0502020204030204" pitchFamily="34" charset="0"/>
              <a:ea typeface="Calibri" panose="020F0502020204030204" pitchFamily="34" charset="0"/>
              <a:cs typeface="Calibri" panose="020F0502020204030204" pitchFamily="34" charset="0"/>
              <a:sym typeface="Poppins Ligh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850"/>
        <p:cNvGrpSpPr/>
        <p:nvPr/>
      </p:nvGrpSpPr>
      <p:grpSpPr>
        <a:xfrm>
          <a:off x="0" y="0"/>
          <a:ext cx="0" cy="0"/>
          <a:chOff x="0" y="0"/>
          <a:chExt cx="0" cy="0"/>
        </a:xfrm>
      </p:grpSpPr>
      <p:sp>
        <p:nvSpPr>
          <p:cNvPr id="851" name="Google Shape;851;p62"/>
          <p:cNvSpPr txBox="1"/>
          <p:nvPr/>
        </p:nvSpPr>
        <p:spPr>
          <a:xfrm>
            <a:off x="468449" y="2483713"/>
            <a:ext cx="3273600" cy="484718"/>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700" b="0" i="0" u="none" strike="noStrike" cap="none" dirty="0">
                <a:solidFill>
                  <a:schemeClr val="lt1"/>
                </a:solidFill>
                <a:latin typeface="Calibri"/>
                <a:ea typeface="Calibri"/>
                <a:cs typeface="Calibri"/>
                <a:sym typeface="Calibri"/>
              </a:rPr>
              <a:t>Best Practice Review</a:t>
            </a:r>
            <a:endParaRPr sz="2700" b="0" i="0" u="none" strike="noStrike" cap="none" dirty="0">
              <a:solidFill>
                <a:schemeClr val="lt1"/>
              </a:solidFill>
              <a:latin typeface="Calibri"/>
              <a:ea typeface="Calibri"/>
              <a:cs typeface="Calibri"/>
              <a:sym typeface="Calibri"/>
            </a:endParaRPr>
          </a:p>
        </p:txBody>
      </p:sp>
      <p:pic>
        <p:nvPicPr>
          <p:cNvPr id="852" name="Google Shape;852;p62" title="opening_photo.png"/>
          <p:cNvPicPr preferRelativeResize="0"/>
          <p:nvPr/>
        </p:nvPicPr>
        <p:blipFill rotWithShape="1">
          <a:blip r:embed="rId3">
            <a:alphaModFix/>
          </a:blip>
          <a:srcRect/>
          <a:stretch/>
        </p:blipFill>
        <p:spPr>
          <a:xfrm>
            <a:off x="4256533" y="1409675"/>
            <a:ext cx="4306800" cy="2143875"/>
          </a:xfrm>
          <a:prstGeom prst="rect">
            <a:avLst/>
          </a:prstGeom>
          <a:noFill/>
          <a:ln>
            <a:noFill/>
          </a:ln>
        </p:spPr>
      </p:pic>
      <p:pic>
        <p:nvPicPr>
          <p:cNvPr id="853" name="Google Shape;853;p62" title="cloud.png"/>
          <p:cNvPicPr preferRelativeResize="0"/>
          <p:nvPr/>
        </p:nvPicPr>
        <p:blipFill rotWithShape="1">
          <a:blip r:embed="rId4">
            <a:alphaModFix/>
          </a:blip>
          <a:srcRect/>
          <a:stretch/>
        </p:blipFill>
        <p:spPr>
          <a:xfrm>
            <a:off x="6699300" y="3318246"/>
            <a:ext cx="2444700" cy="1825254"/>
          </a:xfrm>
          <a:prstGeom prst="rect">
            <a:avLst/>
          </a:prstGeom>
          <a:noFill/>
          <a:ln>
            <a:noFill/>
          </a:ln>
        </p:spPr>
      </p:pic>
      <p:pic>
        <p:nvPicPr>
          <p:cNvPr id="854" name="Google Shape;854;p62" title="logo.png"/>
          <p:cNvPicPr preferRelativeResize="0"/>
          <p:nvPr/>
        </p:nvPicPr>
        <p:blipFill rotWithShape="1">
          <a:blip r:embed="rId5">
            <a:alphaModFix/>
          </a:blip>
          <a:srcRect/>
          <a:stretch/>
        </p:blipFill>
        <p:spPr>
          <a:xfrm>
            <a:off x="553277" y="1994713"/>
            <a:ext cx="637001" cy="3041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Shape 859"/>
        <p:cNvGrpSpPr/>
        <p:nvPr/>
      </p:nvGrpSpPr>
      <p:grpSpPr>
        <a:xfrm>
          <a:off x="0" y="0"/>
          <a:ext cx="0" cy="0"/>
          <a:chOff x="0" y="0"/>
          <a:chExt cx="0" cy="0"/>
        </a:xfrm>
      </p:grpSpPr>
      <p:sp>
        <p:nvSpPr>
          <p:cNvPr id="860" name="Google Shape;860;p63"/>
          <p:cNvSpPr/>
          <p:nvPr/>
        </p:nvSpPr>
        <p:spPr>
          <a:xfrm>
            <a:off x="457190" y="141377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Scanning Non-OS Disks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1" name="Google Shape;861;p63"/>
          <p:cNvSpPr/>
          <p:nvPr/>
        </p:nvSpPr>
        <p:spPr>
          <a:xfrm>
            <a:off x="457190" y="164456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Virtual Machine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2" name="Google Shape;862;p63"/>
          <p:cNvSpPr/>
          <p:nvPr/>
        </p:nvSpPr>
        <p:spPr>
          <a:xfrm>
            <a:off x="457190" y="187536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Shared AWS CMKs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3" name="Google Shape;863;p63"/>
          <p:cNvSpPr/>
          <p:nvPr/>
        </p:nvSpPr>
        <p:spPr>
          <a:xfrm>
            <a:off x="457190" y="2106157"/>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AWS Scanning via Temp Volumes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4" name="Google Shape;864;p63"/>
          <p:cNvSpPr/>
          <p:nvPr/>
        </p:nvSpPr>
        <p:spPr>
          <a:xfrm>
            <a:off x="457190" y="2336951"/>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AWS LightSail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5" name="Google Shape;865;p63"/>
          <p:cNvSpPr/>
          <p:nvPr/>
        </p:nvSpPr>
        <p:spPr>
          <a:xfrm>
            <a:off x="457190" y="256774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AWS Lambda Version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6" name="Google Shape;866;p63"/>
          <p:cNvSpPr/>
          <p:nvPr/>
        </p:nvSpPr>
        <p:spPr>
          <a:xfrm>
            <a:off x="457190" y="279853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Custom Scanner Tags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7" name="Google Shape;867;p63"/>
          <p:cNvSpPr/>
          <p:nvPr/>
        </p:nvSpPr>
        <p:spPr>
          <a:xfrm>
            <a:off x="457190" y="302933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Workload Scanning Exclusions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8" name="Google Shape;868;p63"/>
          <p:cNvSpPr/>
          <p:nvPr/>
        </p:nvSpPr>
        <p:spPr>
          <a:xfrm>
            <a:off x="457190" y="3260127"/>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Compute Instance Group Sampling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9" name="Google Shape;869;p63"/>
          <p:cNvSpPr/>
          <p:nvPr/>
        </p:nvSpPr>
        <p:spPr>
          <a:xfrm>
            <a:off x="457190" y="3490921"/>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ADE Private Endpoints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0" name="Google Shape;870;p63"/>
          <p:cNvSpPr/>
          <p:nvPr/>
        </p:nvSpPr>
        <p:spPr>
          <a:xfrm>
            <a:off x="457190" y="3721715"/>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ADE Private Endpoints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1" name="Google Shape;871;p63"/>
          <p:cNvSpPr/>
          <p:nvPr/>
        </p:nvSpPr>
        <p:spPr>
          <a:xfrm>
            <a:off x="457190" y="3952509"/>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Calibri"/>
                <a:hlinkClick r:id="rId3"/>
              </a:rPr>
              <a:t>Near Real-Time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2" name="Google Shape;872;p63"/>
          <p:cNvSpPr/>
          <p:nvPr/>
        </p:nvSpPr>
        <p:spPr>
          <a:xfrm>
            <a:off x="458865" y="4183303"/>
            <a:ext cx="19704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Calibri"/>
                <a:hlinkClick r:id="rId3"/>
              </a:rPr>
              <a:t>Include NRT Workload Scanning</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3" name="Google Shape;873;p63"/>
          <p:cNvSpPr/>
          <p:nvPr/>
        </p:nvSpPr>
        <p:spPr>
          <a:xfrm>
            <a:off x="454207" y="4414097"/>
            <a:ext cx="1978500" cy="22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86"/>
              <a:buFont typeface="DM Sans"/>
              <a:buNone/>
            </a:pPr>
            <a:r>
              <a:rPr lang="en" sz="783" b="0"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Calibri"/>
                <a:hlinkClick r:id="rId4"/>
              </a:rPr>
              <a:t>Agentless File Integrity Monitoring</a:t>
            </a:r>
            <a:endParaRPr sz="783" b="0" i="0" u="none" strike="noStrike" cap="none">
              <a:solidFill>
                <a:srgbClr val="01123F"/>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4" name="Google Shape;874;p63"/>
          <p:cNvSpPr/>
          <p:nvPr/>
        </p:nvSpPr>
        <p:spPr>
          <a:xfrm>
            <a:off x="4880822" y="1401575"/>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Scanner Mode (Basic/Advanced)</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5" name="Google Shape;875;p63"/>
          <p:cNvSpPr/>
          <p:nvPr/>
        </p:nvSpPr>
        <p:spPr>
          <a:xfrm>
            <a:off x="4880822" y="1604536"/>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Advanced Scan Source: Custom Targets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6" name="Google Shape;876;p63"/>
          <p:cNvSpPr/>
          <p:nvPr/>
        </p:nvSpPr>
        <p:spPr>
          <a:xfrm>
            <a:off x="4880822" y="180749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Advanced Scan Source: Reconnaissance</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7" name="Google Shape;877;p63"/>
          <p:cNvSpPr/>
          <p:nvPr/>
        </p:nvSpPr>
        <p:spPr>
          <a:xfrm>
            <a:off x="4880822" y="201045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Advanced Scan Source: Code</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8" name="Google Shape;878;p63"/>
          <p:cNvSpPr/>
          <p:nvPr/>
        </p:nvSpPr>
        <p:spPr>
          <a:xfrm>
            <a:off x="4880822" y="221341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Advanced Scan Source: API Security</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79" name="Google Shape;879;p63"/>
          <p:cNvSpPr/>
          <p:nvPr/>
        </p:nvSpPr>
        <p:spPr>
          <a:xfrm>
            <a:off x="4880822" y="2416380"/>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Advanced Scan Source: Runtime Sensor</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0" name="Google Shape;880;p63"/>
          <p:cNvSpPr/>
          <p:nvPr/>
        </p:nvSpPr>
        <p:spPr>
          <a:xfrm>
            <a:off x="4880822" y="2619341"/>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Advanced Scan Source: SaaS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1" name="Google Shape;881;p63"/>
          <p:cNvSpPr/>
          <p:nvPr/>
        </p:nvSpPr>
        <p:spPr>
          <a:xfrm>
            <a:off x="4880822" y="2822303"/>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Rules: Misconfiguration Detection</a:t>
            </a:r>
            <a:endParaRPr sz="737"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2" name="Google Shape;882;p63"/>
          <p:cNvSpPr/>
          <p:nvPr/>
        </p:nvSpPr>
        <p:spPr>
          <a:xfrm>
            <a:off x="4881077" y="3025264"/>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Rules: Default Credentials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3" name="Google Shape;883;p63"/>
          <p:cNvSpPr/>
          <p:nvPr/>
        </p:nvSpPr>
        <p:spPr>
          <a:xfrm>
            <a:off x="4881333" y="3228225"/>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Rules: High-Profile Threat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4" name="Google Shape;884;p63"/>
          <p:cNvSpPr/>
          <p:nvPr/>
        </p:nvSpPr>
        <p:spPr>
          <a:xfrm>
            <a:off x="4875837" y="3431186"/>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Rules: DAST</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5" name="Google Shape;885;p63"/>
          <p:cNvSpPr/>
          <p:nvPr/>
        </p:nvSpPr>
        <p:spPr>
          <a:xfrm>
            <a:off x="4870341" y="363414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Rules: Vulnerability Exploitability</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6" name="Google Shape;886;p63"/>
          <p:cNvSpPr/>
          <p:nvPr/>
        </p:nvSpPr>
        <p:spPr>
          <a:xfrm>
            <a:off x="4864845" y="383710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Rules: Early Access Rules</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7" name="Google Shape;887;p63"/>
          <p:cNvSpPr/>
          <p:nvPr/>
        </p:nvSpPr>
        <p:spPr>
          <a:xfrm>
            <a:off x="4857389" y="404006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Risk: Vulnerability Assessment</a:t>
            </a:r>
            <a:endParaRPr sz="737"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8" name="Google Shape;888;p63"/>
          <p:cNvSpPr/>
          <p:nvPr/>
        </p:nvSpPr>
        <p:spPr>
          <a:xfrm>
            <a:off x="4855344" y="4243030"/>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Risk: Sensitive Data Findings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89" name="Google Shape;889;p63"/>
          <p:cNvSpPr/>
          <p:nvPr/>
        </p:nvSpPr>
        <p:spPr>
          <a:xfrm>
            <a:off x="7769390" y="1840063"/>
            <a:ext cx="1031700" cy="140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461"/>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{{ASM_RECON_R}}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0" name="Google Shape;890;p63"/>
          <p:cNvSpPr/>
          <p:nvPr/>
        </p:nvSpPr>
        <p:spPr>
          <a:xfrm>
            <a:off x="7769390" y="2856085"/>
            <a:ext cx="1031700" cy="140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461"/>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{{ASM_MISC_R}}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1" name="Google Shape;891;p63"/>
          <p:cNvSpPr txBox="1"/>
          <p:nvPr/>
        </p:nvSpPr>
        <p:spPr>
          <a:xfrm>
            <a:off x="7769386" y="1433654"/>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{{ASM_MODE_R}}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2" name="Google Shape;892;p63"/>
          <p:cNvSpPr txBox="1"/>
          <p:nvPr/>
        </p:nvSpPr>
        <p:spPr>
          <a:xfrm>
            <a:off x="7769386" y="1636859"/>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{{ASM_CUST_R}}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3" name="Google Shape;893;p63"/>
          <p:cNvSpPr txBox="1"/>
          <p:nvPr/>
        </p:nvSpPr>
        <p:spPr>
          <a:xfrm>
            <a:off x="7769381" y="2043268"/>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{{ASM_CODE_R}}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4" name="Google Shape;894;p63"/>
          <p:cNvSpPr txBox="1"/>
          <p:nvPr/>
        </p:nvSpPr>
        <p:spPr>
          <a:xfrm>
            <a:off x="7769386" y="2246472"/>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{{ASM_API_R}}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5" name="Google Shape;895;p63"/>
          <p:cNvSpPr txBox="1"/>
          <p:nvPr/>
        </p:nvSpPr>
        <p:spPr>
          <a:xfrm>
            <a:off x="7769381" y="2449676"/>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{{ASM_RS_R}}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6" name="Google Shape;896;p63"/>
          <p:cNvSpPr txBox="1"/>
          <p:nvPr/>
        </p:nvSpPr>
        <p:spPr>
          <a:xfrm>
            <a:off x="7769386" y="2652881"/>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{{ASM_SASS_R}}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7" name="Google Shape;897;p63"/>
          <p:cNvSpPr txBox="1"/>
          <p:nvPr/>
        </p:nvSpPr>
        <p:spPr>
          <a:xfrm>
            <a:off x="7775393" y="3059290"/>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{{ASM_CRED_R}}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8" name="Google Shape;898;p63"/>
          <p:cNvSpPr txBox="1"/>
          <p:nvPr/>
        </p:nvSpPr>
        <p:spPr>
          <a:xfrm>
            <a:off x="7781400" y="3262494"/>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{{ASM_HPT_R}}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99" name="Google Shape;899;p63"/>
          <p:cNvSpPr txBox="1"/>
          <p:nvPr/>
        </p:nvSpPr>
        <p:spPr>
          <a:xfrm>
            <a:off x="7775904" y="3465698"/>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{{ASM_DAST_R}}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0" name="Google Shape;900;p63"/>
          <p:cNvSpPr txBox="1"/>
          <p:nvPr/>
        </p:nvSpPr>
        <p:spPr>
          <a:xfrm>
            <a:off x="7770409" y="3668903"/>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{{ASM_VEXP_R}}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1" name="Google Shape;901;p63"/>
          <p:cNvSpPr txBox="1"/>
          <p:nvPr/>
        </p:nvSpPr>
        <p:spPr>
          <a:xfrm>
            <a:off x="7764913" y="3872107"/>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{{ASM_EAR_R}}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2" name="Google Shape;902;p63"/>
          <p:cNvSpPr txBox="1"/>
          <p:nvPr/>
        </p:nvSpPr>
        <p:spPr>
          <a:xfrm>
            <a:off x="7757456" y="4075312"/>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{{ASM_VULN_R}}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3" name="Google Shape;903;p63"/>
          <p:cNvSpPr txBox="1"/>
          <p:nvPr/>
        </p:nvSpPr>
        <p:spPr>
          <a:xfrm>
            <a:off x="7755412" y="4278516"/>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{{ASM_DATA_R}}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4" name="Google Shape;904;p63"/>
          <p:cNvSpPr/>
          <p:nvPr/>
        </p:nvSpPr>
        <p:spPr>
          <a:xfrm>
            <a:off x="6921549" y="1401575"/>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{{ASM_MODE}}</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5" name="Google Shape;905;p63"/>
          <p:cNvSpPr/>
          <p:nvPr/>
        </p:nvSpPr>
        <p:spPr>
          <a:xfrm>
            <a:off x="6921549" y="160452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{{ASM_CUST}}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6" name="Google Shape;906;p63"/>
          <p:cNvSpPr/>
          <p:nvPr/>
        </p:nvSpPr>
        <p:spPr>
          <a:xfrm>
            <a:off x="6921549" y="180746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{{ASM_RECON}}</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7" name="Google Shape;907;p63"/>
          <p:cNvSpPr/>
          <p:nvPr/>
        </p:nvSpPr>
        <p:spPr>
          <a:xfrm>
            <a:off x="6921549" y="2010412"/>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{{ASM_CODE}}</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8" name="Google Shape;908;p63"/>
          <p:cNvSpPr/>
          <p:nvPr/>
        </p:nvSpPr>
        <p:spPr>
          <a:xfrm>
            <a:off x="6921549" y="2213357"/>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{{ASM_API}}</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9" name="Google Shape;909;p63"/>
          <p:cNvSpPr/>
          <p:nvPr/>
        </p:nvSpPr>
        <p:spPr>
          <a:xfrm>
            <a:off x="6921549" y="2416303"/>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{{ASM_RS}}</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0" name="Google Shape;910;p63"/>
          <p:cNvSpPr/>
          <p:nvPr/>
        </p:nvSpPr>
        <p:spPr>
          <a:xfrm>
            <a:off x="6921549" y="2619248"/>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{{ASM_SAAS}}</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1" name="Google Shape;911;p63"/>
          <p:cNvSpPr/>
          <p:nvPr/>
        </p:nvSpPr>
        <p:spPr>
          <a:xfrm>
            <a:off x="6921549" y="2822194"/>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{{ASM_MISC}}</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2" name="Google Shape;912;p63"/>
          <p:cNvSpPr/>
          <p:nvPr/>
        </p:nvSpPr>
        <p:spPr>
          <a:xfrm>
            <a:off x="6921216" y="3025139"/>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{{ASM_CRED}}</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3" name="Google Shape;913;p63"/>
          <p:cNvSpPr/>
          <p:nvPr/>
        </p:nvSpPr>
        <p:spPr>
          <a:xfrm>
            <a:off x="6927625" y="3228085"/>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{{ASM_HPT}}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4" name="Google Shape;914;p63"/>
          <p:cNvSpPr/>
          <p:nvPr/>
        </p:nvSpPr>
        <p:spPr>
          <a:xfrm>
            <a:off x="6922129" y="3431030"/>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{{ASM_DAST}}</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5" name="Google Shape;915;p63"/>
          <p:cNvSpPr/>
          <p:nvPr/>
        </p:nvSpPr>
        <p:spPr>
          <a:xfrm>
            <a:off x="6916633" y="363397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{{ASM_VEXP}}</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6" name="Google Shape;916;p63"/>
          <p:cNvSpPr/>
          <p:nvPr/>
        </p:nvSpPr>
        <p:spPr>
          <a:xfrm>
            <a:off x="6911137" y="383692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{{ASM_EAR}}</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7" name="Google Shape;917;p63"/>
          <p:cNvSpPr/>
          <p:nvPr/>
        </p:nvSpPr>
        <p:spPr>
          <a:xfrm>
            <a:off x="6903681" y="4039867"/>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{{ASM_VULN}}</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8" name="Google Shape;918;p63"/>
          <p:cNvSpPr/>
          <p:nvPr/>
        </p:nvSpPr>
        <p:spPr>
          <a:xfrm>
            <a:off x="6901636" y="4242812"/>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{{ASM_DATA}}</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19" name="Google Shape;919;p63"/>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0" name="Google Shape;920;p63"/>
          <p:cNvSpPr/>
          <p:nvPr/>
        </p:nvSpPr>
        <p:spPr>
          <a:xfrm>
            <a:off x="457200" y="164592"/>
            <a:ext cx="64008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Calibri"/>
              </a:rPr>
              <a:t>Scanner Configuration — Workload &amp; Attack Surface</a:t>
            </a:r>
            <a:endParaRPr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1" name="Google Shape;921;p63"/>
          <p:cNvSpPr/>
          <p:nvPr/>
        </p:nvSpPr>
        <p:spPr>
          <a:xfrm>
            <a:off x="457200" y="548640"/>
            <a:ext cx="73152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900"/>
              <a:buFont typeface="DM Sans"/>
              <a:buNone/>
            </a:pP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Current workload scanner and attack surface management configuration settings.</a:t>
            </a: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2" name="Google Shape;922;p63"/>
          <p:cNvSpPr/>
          <p:nvPr/>
        </p:nvSpPr>
        <p:spPr>
          <a:xfrm>
            <a:off x="239233" y="868680"/>
            <a:ext cx="4224479" cy="2742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3" name="Google Shape;923;p63"/>
          <p:cNvSpPr/>
          <p:nvPr/>
        </p:nvSpPr>
        <p:spPr>
          <a:xfrm>
            <a:off x="243488" y="868680"/>
            <a:ext cx="93340" cy="2742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4" name="Google Shape;924;p63"/>
          <p:cNvSpPr/>
          <p:nvPr/>
        </p:nvSpPr>
        <p:spPr>
          <a:xfrm>
            <a:off x="502920" y="858268"/>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Calibri"/>
                <a:hlinkClick r:id="rId5"/>
              </a:rPr>
              <a:t>WORKLOAD SCANNER</a:t>
            </a:r>
            <a:r>
              <a:rPr lang="en" sz="11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6"/>
              </a:rPr>
              <a:t>↗</a:t>
            </a:r>
            <a:endParaRPr sz="900" b="0" i="0" u="none" strike="noStrike" cap="none">
              <a:solidFill>
                <a:srgbClr val="0254EC"/>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5" name="Google Shape;925;p63"/>
          <p:cNvSpPr/>
          <p:nvPr/>
        </p:nvSpPr>
        <p:spPr>
          <a:xfrm>
            <a:off x="365760" y="1212609"/>
            <a:ext cx="3977700" cy="201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6" name="Google Shape;926;p63"/>
          <p:cNvSpPr/>
          <p:nvPr/>
        </p:nvSpPr>
        <p:spPr>
          <a:xfrm>
            <a:off x="457200" y="1212609"/>
            <a:ext cx="19887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7" name="Google Shape;927;p63"/>
          <p:cNvSpPr/>
          <p:nvPr/>
        </p:nvSpPr>
        <p:spPr>
          <a:xfrm>
            <a:off x="2514439" y="1212602"/>
            <a:ext cx="1034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28" name="Google Shape;928;p63"/>
          <p:cNvSpPr/>
          <p:nvPr/>
        </p:nvSpPr>
        <p:spPr>
          <a:xfrm>
            <a:off x="3398583" y="1212602"/>
            <a:ext cx="9909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29" name="Google Shape;929;p63"/>
          <p:cNvCxnSpPr/>
          <p:nvPr/>
        </p:nvCxnSpPr>
        <p:spPr>
          <a:xfrm>
            <a:off x="365750" y="1644243"/>
            <a:ext cx="3977700" cy="0"/>
          </a:xfrm>
          <a:prstGeom prst="straightConnector1">
            <a:avLst/>
          </a:prstGeom>
          <a:noFill/>
          <a:ln w="9525" cap="flat" cmpd="sng">
            <a:solidFill>
              <a:srgbClr val="888888"/>
            </a:solidFill>
            <a:prstDash val="solid"/>
            <a:round/>
            <a:headEnd type="none" w="sm" len="sm"/>
            <a:tailEnd type="none" w="sm" len="sm"/>
          </a:ln>
        </p:spPr>
      </p:cxnSp>
      <p:sp>
        <p:nvSpPr>
          <p:cNvPr id="930" name="Google Shape;930;p63"/>
          <p:cNvSpPr/>
          <p:nvPr/>
        </p:nvSpPr>
        <p:spPr>
          <a:xfrm>
            <a:off x="2514443" y="141377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{{WS_NONOS}}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31" name="Google Shape;931;p63"/>
          <p:cNvSpPr/>
          <p:nvPr/>
        </p:nvSpPr>
        <p:spPr>
          <a:xfrm>
            <a:off x="3412672" y="1453521"/>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{{WS_NONOS_R}}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32" name="Google Shape;932;p63"/>
          <p:cNvCxnSpPr/>
          <p:nvPr/>
        </p:nvCxnSpPr>
        <p:spPr>
          <a:xfrm>
            <a:off x="365750" y="1874226"/>
            <a:ext cx="3977700" cy="0"/>
          </a:xfrm>
          <a:prstGeom prst="straightConnector1">
            <a:avLst/>
          </a:prstGeom>
          <a:noFill/>
          <a:ln w="9525" cap="flat" cmpd="sng">
            <a:solidFill>
              <a:srgbClr val="888888"/>
            </a:solidFill>
            <a:prstDash val="solid"/>
            <a:round/>
            <a:headEnd type="none" w="sm" len="sm"/>
            <a:tailEnd type="none" w="sm" len="sm"/>
          </a:ln>
        </p:spPr>
      </p:cxnSp>
      <p:sp>
        <p:nvSpPr>
          <p:cNvPr id="933" name="Google Shape;933;p63"/>
          <p:cNvSpPr/>
          <p:nvPr/>
        </p:nvSpPr>
        <p:spPr>
          <a:xfrm>
            <a:off x="2514443" y="164456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{{WS_VM}}</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34" name="Google Shape;934;p63"/>
          <p:cNvSpPr/>
          <p:nvPr/>
        </p:nvSpPr>
        <p:spPr>
          <a:xfrm>
            <a:off x="3412669" y="1683431"/>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{{WS_VM_R}}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35" name="Google Shape;935;p63"/>
          <p:cNvSpPr/>
          <p:nvPr/>
        </p:nvSpPr>
        <p:spPr>
          <a:xfrm>
            <a:off x="2514443" y="187536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{{WS_CMK}}</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36" name="Google Shape;936;p63"/>
          <p:cNvCxnSpPr/>
          <p:nvPr/>
        </p:nvCxnSpPr>
        <p:spPr>
          <a:xfrm>
            <a:off x="365750" y="2104209"/>
            <a:ext cx="3977700" cy="0"/>
          </a:xfrm>
          <a:prstGeom prst="straightConnector1">
            <a:avLst/>
          </a:prstGeom>
          <a:noFill/>
          <a:ln w="9525" cap="flat" cmpd="sng">
            <a:solidFill>
              <a:srgbClr val="888888"/>
            </a:solidFill>
            <a:prstDash val="solid"/>
            <a:round/>
            <a:headEnd type="none" w="sm" len="sm"/>
            <a:tailEnd type="none" w="sm" len="sm"/>
          </a:ln>
        </p:spPr>
      </p:cxnSp>
      <p:cxnSp>
        <p:nvCxnSpPr>
          <p:cNvPr id="937" name="Google Shape;937;p63"/>
          <p:cNvCxnSpPr/>
          <p:nvPr/>
        </p:nvCxnSpPr>
        <p:spPr>
          <a:xfrm>
            <a:off x="365750" y="2334193"/>
            <a:ext cx="3977700" cy="0"/>
          </a:xfrm>
          <a:prstGeom prst="straightConnector1">
            <a:avLst/>
          </a:prstGeom>
          <a:noFill/>
          <a:ln w="9525" cap="flat" cmpd="sng">
            <a:solidFill>
              <a:srgbClr val="888888"/>
            </a:solidFill>
            <a:prstDash val="solid"/>
            <a:round/>
            <a:headEnd type="none" w="sm" len="sm"/>
            <a:tailEnd type="none" w="sm" len="sm"/>
          </a:ln>
        </p:spPr>
      </p:cxnSp>
      <p:sp>
        <p:nvSpPr>
          <p:cNvPr id="938" name="Google Shape;938;p63"/>
          <p:cNvSpPr/>
          <p:nvPr/>
        </p:nvSpPr>
        <p:spPr>
          <a:xfrm>
            <a:off x="2514443" y="2106157"/>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{{WS_TVOL}}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39" name="Google Shape;939;p63"/>
          <p:cNvCxnSpPr/>
          <p:nvPr/>
        </p:nvCxnSpPr>
        <p:spPr>
          <a:xfrm>
            <a:off x="365750" y="2564176"/>
            <a:ext cx="3977700" cy="0"/>
          </a:xfrm>
          <a:prstGeom prst="straightConnector1">
            <a:avLst/>
          </a:prstGeom>
          <a:noFill/>
          <a:ln w="9525" cap="flat" cmpd="sng">
            <a:solidFill>
              <a:srgbClr val="888888"/>
            </a:solidFill>
            <a:prstDash val="solid"/>
            <a:round/>
            <a:headEnd type="none" w="sm" len="sm"/>
            <a:tailEnd type="none" w="sm" len="sm"/>
          </a:ln>
        </p:spPr>
      </p:cxnSp>
      <p:sp>
        <p:nvSpPr>
          <p:cNvPr id="940" name="Google Shape;940;p63"/>
          <p:cNvSpPr/>
          <p:nvPr/>
        </p:nvSpPr>
        <p:spPr>
          <a:xfrm>
            <a:off x="2514443" y="2336951"/>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{{WS_LSAIL}}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1" name="Google Shape;941;p63"/>
          <p:cNvCxnSpPr/>
          <p:nvPr/>
        </p:nvCxnSpPr>
        <p:spPr>
          <a:xfrm>
            <a:off x="365750" y="2794159"/>
            <a:ext cx="3977700" cy="0"/>
          </a:xfrm>
          <a:prstGeom prst="straightConnector1">
            <a:avLst/>
          </a:prstGeom>
          <a:noFill/>
          <a:ln w="9525" cap="flat" cmpd="sng">
            <a:solidFill>
              <a:srgbClr val="888888"/>
            </a:solidFill>
            <a:prstDash val="solid"/>
            <a:round/>
            <a:headEnd type="none" w="sm" len="sm"/>
            <a:tailEnd type="none" w="sm" len="sm"/>
          </a:ln>
        </p:spPr>
      </p:cxnSp>
      <p:sp>
        <p:nvSpPr>
          <p:cNvPr id="942" name="Google Shape;942;p63"/>
          <p:cNvSpPr/>
          <p:nvPr/>
        </p:nvSpPr>
        <p:spPr>
          <a:xfrm>
            <a:off x="2514443" y="256774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{{WS_LAMB}}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3" name="Google Shape;943;p63"/>
          <p:cNvCxnSpPr/>
          <p:nvPr/>
        </p:nvCxnSpPr>
        <p:spPr>
          <a:xfrm>
            <a:off x="365750" y="3024142"/>
            <a:ext cx="3977700" cy="0"/>
          </a:xfrm>
          <a:prstGeom prst="straightConnector1">
            <a:avLst/>
          </a:prstGeom>
          <a:noFill/>
          <a:ln w="9525" cap="flat" cmpd="sng">
            <a:solidFill>
              <a:srgbClr val="888888"/>
            </a:solidFill>
            <a:prstDash val="solid"/>
            <a:round/>
            <a:headEnd type="none" w="sm" len="sm"/>
            <a:tailEnd type="none" w="sm" len="sm"/>
          </a:ln>
        </p:spPr>
      </p:cxnSp>
      <p:sp>
        <p:nvSpPr>
          <p:cNvPr id="944" name="Google Shape;944;p63"/>
          <p:cNvSpPr/>
          <p:nvPr/>
        </p:nvSpPr>
        <p:spPr>
          <a:xfrm>
            <a:off x="2514443" y="279853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{{WS_TAGS}}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5" name="Google Shape;945;p63"/>
          <p:cNvCxnSpPr/>
          <p:nvPr/>
        </p:nvCxnSpPr>
        <p:spPr>
          <a:xfrm>
            <a:off x="365750" y="3254126"/>
            <a:ext cx="3977700" cy="0"/>
          </a:xfrm>
          <a:prstGeom prst="straightConnector1">
            <a:avLst/>
          </a:prstGeom>
          <a:noFill/>
          <a:ln w="9525" cap="flat" cmpd="sng">
            <a:solidFill>
              <a:srgbClr val="888888"/>
            </a:solidFill>
            <a:prstDash val="solid"/>
            <a:round/>
            <a:headEnd type="none" w="sm" len="sm"/>
            <a:tailEnd type="none" w="sm" len="sm"/>
          </a:ln>
        </p:spPr>
      </p:cxnSp>
      <p:sp>
        <p:nvSpPr>
          <p:cNvPr id="946" name="Google Shape;946;p63"/>
          <p:cNvSpPr/>
          <p:nvPr/>
        </p:nvSpPr>
        <p:spPr>
          <a:xfrm>
            <a:off x="2514443" y="302933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{{WS_EXCL}}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47" name="Google Shape;947;p63"/>
          <p:cNvSpPr/>
          <p:nvPr/>
        </p:nvSpPr>
        <p:spPr>
          <a:xfrm>
            <a:off x="3412669" y="3052388"/>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{{WS_EXCL_R}}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48" name="Google Shape;948;p63"/>
          <p:cNvCxnSpPr/>
          <p:nvPr/>
        </p:nvCxnSpPr>
        <p:spPr>
          <a:xfrm>
            <a:off x="365750" y="3484109"/>
            <a:ext cx="3977700" cy="0"/>
          </a:xfrm>
          <a:prstGeom prst="straightConnector1">
            <a:avLst/>
          </a:prstGeom>
          <a:noFill/>
          <a:ln w="9525" cap="flat" cmpd="sng">
            <a:solidFill>
              <a:srgbClr val="888888"/>
            </a:solidFill>
            <a:prstDash val="solid"/>
            <a:round/>
            <a:headEnd type="none" w="sm" len="sm"/>
            <a:tailEnd type="none" w="sm" len="sm"/>
          </a:ln>
        </p:spPr>
      </p:cxnSp>
      <p:sp>
        <p:nvSpPr>
          <p:cNvPr id="949" name="Google Shape;949;p63"/>
          <p:cNvSpPr/>
          <p:nvPr/>
        </p:nvSpPr>
        <p:spPr>
          <a:xfrm>
            <a:off x="2514443" y="3260127"/>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{{WS_CIGS}}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50" name="Google Shape;950;p63"/>
          <p:cNvSpPr/>
          <p:nvPr/>
        </p:nvSpPr>
        <p:spPr>
          <a:xfrm>
            <a:off x="3412669" y="3282298"/>
            <a:ext cx="939600" cy="1752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{{WS_CIGS_R}}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51" name="Google Shape;951;p63"/>
          <p:cNvCxnSpPr/>
          <p:nvPr/>
        </p:nvCxnSpPr>
        <p:spPr>
          <a:xfrm>
            <a:off x="365750" y="3714092"/>
            <a:ext cx="3977700" cy="0"/>
          </a:xfrm>
          <a:prstGeom prst="straightConnector1">
            <a:avLst/>
          </a:prstGeom>
          <a:noFill/>
          <a:ln w="9525" cap="flat" cmpd="sng">
            <a:solidFill>
              <a:srgbClr val="888888"/>
            </a:solidFill>
            <a:prstDash val="solid"/>
            <a:round/>
            <a:headEnd type="none" w="sm" len="sm"/>
            <a:tailEnd type="none" w="sm" len="sm"/>
          </a:ln>
        </p:spPr>
      </p:cxnSp>
      <p:sp>
        <p:nvSpPr>
          <p:cNvPr id="952" name="Google Shape;952;p63"/>
          <p:cNvSpPr/>
          <p:nvPr/>
        </p:nvSpPr>
        <p:spPr>
          <a:xfrm>
            <a:off x="2514443" y="3490921"/>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{{WS_ADE1}}</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53" name="Google Shape;953;p63"/>
          <p:cNvCxnSpPr/>
          <p:nvPr/>
        </p:nvCxnSpPr>
        <p:spPr>
          <a:xfrm>
            <a:off x="365750" y="3944076"/>
            <a:ext cx="3977700" cy="0"/>
          </a:xfrm>
          <a:prstGeom prst="straightConnector1">
            <a:avLst/>
          </a:prstGeom>
          <a:noFill/>
          <a:ln w="9525" cap="flat" cmpd="sng">
            <a:solidFill>
              <a:srgbClr val="888888"/>
            </a:solidFill>
            <a:prstDash val="solid"/>
            <a:round/>
            <a:headEnd type="none" w="sm" len="sm"/>
            <a:tailEnd type="none" w="sm" len="sm"/>
          </a:ln>
        </p:spPr>
      </p:cxnSp>
      <p:sp>
        <p:nvSpPr>
          <p:cNvPr id="954" name="Google Shape;954;p63"/>
          <p:cNvSpPr/>
          <p:nvPr/>
        </p:nvSpPr>
        <p:spPr>
          <a:xfrm>
            <a:off x="2514443" y="3721715"/>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{{WS_ADE2}}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55" name="Google Shape;955;p63"/>
          <p:cNvCxnSpPr/>
          <p:nvPr/>
        </p:nvCxnSpPr>
        <p:spPr>
          <a:xfrm>
            <a:off x="365750" y="4174059"/>
            <a:ext cx="3977700" cy="0"/>
          </a:xfrm>
          <a:prstGeom prst="straightConnector1">
            <a:avLst/>
          </a:prstGeom>
          <a:noFill/>
          <a:ln w="9525" cap="flat" cmpd="sng">
            <a:solidFill>
              <a:srgbClr val="888888"/>
            </a:solidFill>
            <a:prstDash val="solid"/>
            <a:round/>
            <a:headEnd type="none" w="sm" len="sm"/>
            <a:tailEnd type="none" w="sm" len="sm"/>
          </a:ln>
        </p:spPr>
      </p:cxnSp>
      <p:sp>
        <p:nvSpPr>
          <p:cNvPr id="956" name="Google Shape;956;p63"/>
          <p:cNvSpPr/>
          <p:nvPr/>
        </p:nvSpPr>
        <p:spPr>
          <a:xfrm>
            <a:off x="2514443" y="3952509"/>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{{WS_NRT}}</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57" name="Google Shape;957;p63"/>
          <p:cNvSpPr/>
          <p:nvPr/>
        </p:nvSpPr>
        <p:spPr>
          <a:xfrm>
            <a:off x="4676033" y="868680"/>
            <a:ext cx="4224479" cy="274200"/>
          </a:xfrm>
          <a:prstGeom prst="rect">
            <a:avLst/>
          </a:prstGeom>
          <a:solidFill>
            <a:srgbClr val="DCC0C0"/>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58" name="Google Shape;958;p63"/>
          <p:cNvSpPr/>
          <p:nvPr/>
        </p:nvSpPr>
        <p:spPr>
          <a:xfrm>
            <a:off x="4678332" y="868680"/>
            <a:ext cx="91440" cy="274200"/>
          </a:xfrm>
          <a:prstGeom prst="rect">
            <a:avLst/>
          </a:prstGeom>
          <a:solidFill>
            <a:srgbClr val="DC262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59" name="Google Shape;959;p63"/>
          <p:cNvSpPr/>
          <p:nvPr/>
        </p:nvSpPr>
        <p:spPr>
          <a:xfrm>
            <a:off x="4937760" y="858268"/>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C262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Calibri"/>
                <a:hlinkClick r:id="rId7"/>
              </a:rPr>
              <a:t>ATTACK SURFACE MANAGEMENT</a:t>
            </a:r>
            <a:r>
              <a:rPr lang="en" sz="1100" b="0" i="0" u="none" strike="noStrike" cap="none">
                <a:solidFill>
                  <a:srgbClr val="CC0000"/>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6"/>
              </a:rPr>
              <a:t>↗</a:t>
            </a:r>
            <a:endParaRPr sz="1100" b="0" i="0" u="none" strike="noStrike" cap="none">
              <a:solidFill>
                <a:srgbClr val="CC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0" name="Google Shape;960;p63"/>
          <p:cNvSpPr/>
          <p:nvPr/>
        </p:nvSpPr>
        <p:spPr>
          <a:xfrm>
            <a:off x="4788323" y="1204132"/>
            <a:ext cx="3947400" cy="1977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1" name="Google Shape;961;p63"/>
          <p:cNvSpPr/>
          <p:nvPr/>
        </p:nvSpPr>
        <p:spPr>
          <a:xfrm>
            <a:off x="4879063" y="1204132"/>
            <a:ext cx="19734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2" name="Google Shape;962;p63"/>
          <p:cNvSpPr/>
          <p:nvPr/>
        </p:nvSpPr>
        <p:spPr>
          <a:xfrm>
            <a:off x="6929140" y="1204132"/>
            <a:ext cx="8682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3" name="Google Shape;963;p63"/>
          <p:cNvSpPr/>
          <p:nvPr/>
        </p:nvSpPr>
        <p:spPr>
          <a:xfrm>
            <a:off x="7777620" y="1204132"/>
            <a:ext cx="1026300" cy="197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64" name="Google Shape;964;p63"/>
          <p:cNvCxnSpPr/>
          <p:nvPr/>
        </p:nvCxnSpPr>
        <p:spPr>
          <a:xfrm>
            <a:off x="4788600" y="1598105"/>
            <a:ext cx="4012500" cy="0"/>
          </a:xfrm>
          <a:prstGeom prst="straightConnector1">
            <a:avLst/>
          </a:prstGeom>
          <a:noFill/>
          <a:ln w="9525" cap="flat" cmpd="sng">
            <a:solidFill>
              <a:srgbClr val="888888"/>
            </a:solidFill>
            <a:prstDash val="solid"/>
            <a:round/>
            <a:headEnd type="none" w="sm" len="sm"/>
            <a:tailEnd type="none" w="sm" len="sm"/>
          </a:ln>
        </p:spPr>
      </p:cxnSp>
      <p:cxnSp>
        <p:nvCxnSpPr>
          <p:cNvPr id="965" name="Google Shape;965;p63"/>
          <p:cNvCxnSpPr/>
          <p:nvPr/>
        </p:nvCxnSpPr>
        <p:spPr>
          <a:xfrm>
            <a:off x="4788600" y="1800944"/>
            <a:ext cx="4012500" cy="0"/>
          </a:xfrm>
          <a:prstGeom prst="straightConnector1">
            <a:avLst/>
          </a:prstGeom>
          <a:noFill/>
          <a:ln w="9525" cap="flat" cmpd="sng">
            <a:solidFill>
              <a:srgbClr val="888888"/>
            </a:solidFill>
            <a:prstDash val="solid"/>
            <a:round/>
            <a:headEnd type="none" w="sm" len="sm"/>
            <a:tailEnd type="none" w="sm" len="sm"/>
          </a:ln>
        </p:spPr>
      </p:cxnSp>
      <p:cxnSp>
        <p:nvCxnSpPr>
          <p:cNvPr id="966" name="Google Shape;966;p63"/>
          <p:cNvCxnSpPr/>
          <p:nvPr/>
        </p:nvCxnSpPr>
        <p:spPr>
          <a:xfrm>
            <a:off x="4788600" y="2003784"/>
            <a:ext cx="4012500" cy="0"/>
          </a:xfrm>
          <a:prstGeom prst="straightConnector1">
            <a:avLst/>
          </a:prstGeom>
          <a:noFill/>
          <a:ln w="9525" cap="flat" cmpd="sng">
            <a:solidFill>
              <a:srgbClr val="888888"/>
            </a:solidFill>
            <a:prstDash val="solid"/>
            <a:round/>
            <a:headEnd type="none" w="sm" len="sm"/>
            <a:tailEnd type="none" w="sm" len="sm"/>
          </a:ln>
        </p:spPr>
      </p:cxnSp>
      <p:cxnSp>
        <p:nvCxnSpPr>
          <p:cNvPr id="967" name="Google Shape;967;p63"/>
          <p:cNvCxnSpPr/>
          <p:nvPr/>
        </p:nvCxnSpPr>
        <p:spPr>
          <a:xfrm>
            <a:off x="4788600" y="2206623"/>
            <a:ext cx="4012500" cy="0"/>
          </a:xfrm>
          <a:prstGeom prst="straightConnector1">
            <a:avLst/>
          </a:prstGeom>
          <a:noFill/>
          <a:ln w="9525" cap="flat" cmpd="sng">
            <a:solidFill>
              <a:srgbClr val="888888"/>
            </a:solidFill>
            <a:prstDash val="solid"/>
            <a:round/>
            <a:headEnd type="none" w="sm" len="sm"/>
            <a:tailEnd type="none" w="sm" len="sm"/>
          </a:ln>
        </p:spPr>
      </p:cxnSp>
      <p:cxnSp>
        <p:nvCxnSpPr>
          <p:cNvPr id="968" name="Google Shape;968;p63"/>
          <p:cNvCxnSpPr/>
          <p:nvPr/>
        </p:nvCxnSpPr>
        <p:spPr>
          <a:xfrm>
            <a:off x="4788600" y="2409463"/>
            <a:ext cx="4012500" cy="0"/>
          </a:xfrm>
          <a:prstGeom prst="straightConnector1">
            <a:avLst/>
          </a:prstGeom>
          <a:noFill/>
          <a:ln w="9525" cap="flat" cmpd="sng">
            <a:solidFill>
              <a:srgbClr val="888888"/>
            </a:solidFill>
            <a:prstDash val="solid"/>
            <a:round/>
            <a:headEnd type="none" w="sm" len="sm"/>
            <a:tailEnd type="none" w="sm" len="sm"/>
          </a:ln>
        </p:spPr>
      </p:cxnSp>
      <p:cxnSp>
        <p:nvCxnSpPr>
          <p:cNvPr id="969" name="Google Shape;969;p63"/>
          <p:cNvCxnSpPr/>
          <p:nvPr/>
        </p:nvCxnSpPr>
        <p:spPr>
          <a:xfrm>
            <a:off x="4788600" y="2612303"/>
            <a:ext cx="4012500" cy="0"/>
          </a:xfrm>
          <a:prstGeom prst="straightConnector1">
            <a:avLst/>
          </a:prstGeom>
          <a:noFill/>
          <a:ln w="9525" cap="flat" cmpd="sng">
            <a:solidFill>
              <a:srgbClr val="888888"/>
            </a:solidFill>
            <a:prstDash val="solid"/>
            <a:round/>
            <a:headEnd type="none" w="sm" len="sm"/>
            <a:tailEnd type="none" w="sm" len="sm"/>
          </a:ln>
        </p:spPr>
      </p:cxnSp>
      <p:cxnSp>
        <p:nvCxnSpPr>
          <p:cNvPr id="970" name="Google Shape;970;p63"/>
          <p:cNvCxnSpPr/>
          <p:nvPr/>
        </p:nvCxnSpPr>
        <p:spPr>
          <a:xfrm>
            <a:off x="4788600" y="2815142"/>
            <a:ext cx="4012500" cy="0"/>
          </a:xfrm>
          <a:prstGeom prst="straightConnector1">
            <a:avLst/>
          </a:prstGeom>
          <a:noFill/>
          <a:ln w="9525" cap="flat" cmpd="sng">
            <a:solidFill>
              <a:srgbClr val="888888"/>
            </a:solidFill>
            <a:prstDash val="solid"/>
            <a:round/>
            <a:headEnd type="none" w="sm" len="sm"/>
            <a:tailEnd type="none" w="sm" len="sm"/>
          </a:ln>
        </p:spPr>
      </p:cxnSp>
      <p:cxnSp>
        <p:nvCxnSpPr>
          <p:cNvPr id="971" name="Google Shape;971;p63"/>
          <p:cNvCxnSpPr/>
          <p:nvPr/>
        </p:nvCxnSpPr>
        <p:spPr>
          <a:xfrm>
            <a:off x="4794352" y="3626501"/>
            <a:ext cx="4012500" cy="0"/>
          </a:xfrm>
          <a:prstGeom prst="straightConnector1">
            <a:avLst/>
          </a:prstGeom>
          <a:noFill/>
          <a:ln w="9525" cap="flat" cmpd="sng">
            <a:solidFill>
              <a:srgbClr val="888888"/>
            </a:solidFill>
            <a:prstDash val="solid"/>
            <a:round/>
            <a:headEnd type="none" w="sm" len="sm"/>
            <a:tailEnd type="none" w="sm" len="sm"/>
          </a:ln>
        </p:spPr>
      </p:cxnSp>
      <p:sp>
        <p:nvSpPr>
          <p:cNvPr id="972" name="Google Shape;972;p63"/>
          <p:cNvSpPr txBox="1"/>
          <p:nvPr/>
        </p:nvSpPr>
        <p:spPr>
          <a:xfrm>
            <a:off x="3412674" y="1913341"/>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{{WS_CMK_R}}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73" name="Google Shape;973;p63"/>
          <p:cNvSpPr txBox="1"/>
          <p:nvPr/>
        </p:nvSpPr>
        <p:spPr>
          <a:xfrm>
            <a:off x="3412674" y="2141150"/>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{{WS_TVOL_R}}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74" name="Google Shape;974;p63"/>
          <p:cNvSpPr txBox="1"/>
          <p:nvPr/>
        </p:nvSpPr>
        <p:spPr>
          <a:xfrm>
            <a:off x="3412674" y="2368960"/>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{{WS_LSAIL_R}}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75" name="Google Shape;975;p63"/>
          <p:cNvSpPr txBox="1"/>
          <p:nvPr/>
        </p:nvSpPr>
        <p:spPr>
          <a:xfrm>
            <a:off x="3412674" y="2596769"/>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{{WS_LAMB_R}}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76" name="Google Shape;976;p63"/>
          <p:cNvSpPr txBox="1"/>
          <p:nvPr/>
        </p:nvSpPr>
        <p:spPr>
          <a:xfrm>
            <a:off x="3412675" y="2824579"/>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{{WS_TAGS_R}}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77" name="Google Shape;977;p63"/>
          <p:cNvSpPr txBox="1"/>
          <p:nvPr/>
        </p:nvSpPr>
        <p:spPr>
          <a:xfrm>
            <a:off x="3412674" y="3512208"/>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{{WS_ADE1_R}}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78" name="Google Shape;978;p63"/>
          <p:cNvSpPr txBox="1"/>
          <p:nvPr/>
        </p:nvSpPr>
        <p:spPr>
          <a:xfrm>
            <a:off x="3412674" y="3740017"/>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{{WS_ADE2_R}}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79" name="Google Shape;979;p63"/>
          <p:cNvSpPr txBox="1"/>
          <p:nvPr/>
        </p:nvSpPr>
        <p:spPr>
          <a:xfrm>
            <a:off x="3412674" y="3967827"/>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{{WS_NRT_R}}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80" name="Google Shape;980;p63"/>
          <p:cNvCxnSpPr/>
          <p:nvPr/>
        </p:nvCxnSpPr>
        <p:spPr>
          <a:xfrm>
            <a:off x="4805551" y="1390969"/>
            <a:ext cx="3947400" cy="0"/>
          </a:xfrm>
          <a:prstGeom prst="straightConnector1">
            <a:avLst/>
          </a:prstGeom>
          <a:noFill/>
          <a:ln w="14300" cap="flat" cmpd="sng">
            <a:solidFill>
              <a:srgbClr val="888888"/>
            </a:solidFill>
            <a:prstDash val="solid"/>
            <a:round/>
            <a:headEnd type="none" w="sm" len="sm"/>
            <a:tailEnd type="none" w="sm" len="sm"/>
          </a:ln>
        </p:spPr>
      </p:cxnSp>
      <p:cxnSp>
        <p:nvCxnSpPr>
          <p:cNvPr id="981" name="Google Shape;981;p63"/>
          <p:cNvCxnSpPr/>
          <p:nvPr/>
        </p:nvCxnSpPr>
        <p:spPr>
          <a:xfrm>
            <a:off x="377157" y="1403236"/>
            <a:ext cx="3977700" cy="0"/>
          </a:xfrm>
          <a:prstGeom prst="straightConnector1">
            <a:avLst/>
          </a:prstGeom>
          <a:noFill/>
          <a:ln w="14300" cap="flat" cmpd="sng">
            <a:solidFill>
              <a:srgbClr val="888888"/>
            </a:solidFill>
            <a:prstDash val="solid"/>
            <a:round/>
            <a:headEnd type="none" w="sm" len="sm"/>
            <a:tailEnd type="none" w="sm" len="sm"/>
          </a:ln>
        </p:spPr>
      </p:cxnSp>
      <p:sp>
        <p:nvSpPr>
          <p:cNvPr id="982" name="Google Shape;982;p63"/>
          <p:cNvSpPr/>
          <p:nvPr/>
        </p:nvSpPr>
        <p:spPr>
          <a:xfrm>
            <a:off x="7010768" y="134170"/>
            <a:ext cx="2491200" cy="434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9CA3AF"/>
              </a:buClr>
              <a:buSzPts val="500"/>
              <a:buFont typeface="Arial"/>
              <a:buNone/>
            </a:pP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Calibri"/>
              </a:rPr>
              <a:t>✓ = Aligned with Wiz Recommendation</a:t>
            </a:r>
            <a:b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Calibri"/>
              </a:rPr>
            </a:br>
            <a:r>
              <a:rPr lang="en"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Calibri"/>
              </a:rPr>
              <a:t>✗ = May want to revisit configuration </a:t>
            </a:r>
            <a:endParaRPr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rgbClr val="9CA3AF"/>
              </a:buClr>
              <a:buSzPts val="500"/>
              <a:buFont typeface="Arial"/>
              <a:buNone/>
            </a:pPr>
            <a:r>
              <a:rPr lang="en" sz="800" b="1"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N/A = Informational, customer preference</a:t>
            </a:r>
            <a:endParaRPr sz="10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83" name="Google Shape;983;p63"/>
          <p:cNvCxnSpPr/>
          <p:nvPr/>
        </p:nvCxnSpPr>
        <p:spPr>
          <a:xfrm>
            <a:off x="4794607" y="3017982"/>
            <a:ext cx="4012500" cy="0"/>
          </a:xfrm>
          <a:prstGeom prst="straightConnector1">
            <a:avLst/>
          </a:prstGeom>
          <a:noFill/>
          <a:ln w="9525" cap="flat" cmpd="sng">
            <a:solidFill>
              <a:srgbClr val="888888"/>
            </a:solidFill>
            <a:prstDash val="solid"/>
            <a:round/>
            <a:headEnd type="none" w="sm" len="sm"/>
            <a:tailEnd type="none" w="sm" len="sm"/>
          </a:ln>
        </p:spPr>
      </p:cxnSp>
      <p:cxnSp>
        <p:nvCxnSpPr>
          <p:cNvPr id="984" name="Google Shape;984;p63"/>
          <p:cNvCxnSpPr/>
          <p:nvPr/>
        </p:nvCxnSpPr>
        <p:spPr>
          <a:xfrm>
            <a:off x="4794607" y="3220821"/>
            <a:ext cx="4012500" cy="0"/>
          </a:xfrm>
          <a:prstGeom prst="straightConnector1">
            <a:avLst/>
          </a:prstGeom>
          <a:noFill/>
          <a:ln w="9525" cap="flat" cmpd="sng">
            <a:solidFill>
              <a:srgbClr val="888888"/>
            </a:solidFill>
            <a:prstDash val="solid"/>
            <a:round/>
            <a:headEnd type="none" w="sm" len="sm"/>
            <a:tailEnd type="none" w="sm" len="sm"/>
          </a:ln>
        </p:spPr>
      </p:cxnSp>
      <p:cxnSp>
        <p:nvCxnSpPr>
          <p:cNvPr id="985" name="Google Shape;985;p63"/>
          <p:cNvCxnSpPr/>
          <p:nvPr/>
        </p:nvCxnSpPr>
        <p:spPr>
          <a:xfrm>
            <a:off x="4800614" y="3423661"/>
            <a:ext cx="4012500" cy="0"/>
          </a:xfrm>
          <a:prstGeom prst="straightConnector1">
            <a:avLst/>
          </a:prstGeom>
          <a:noFill/>
          <a:ln w="9525" cap="flat" cmpd="sng">
            <a:solidFill>
              <a:srgbClr val="888888"/>
            </a:solidFill>
            <a:prstDash val="solid"/>
            <a:round/>
            <a:headEnd type="none" w="sm" len="sm"/>
            <a:tailEnd type="none" w="sm" len="sm"/>
          </a:ln>
        </p:spPr>
      </p:cxnSp>
      <p:cxnSp>
        <p:nvCxnSpPr>
          <p:cNvPr id="986" name="Google Shape;986;p63"/>
          <p:cNvCxnSpPr/>
          <p:nvPr/>
        </p:nvCxnSpPr>
        <p:spPr>
          <a:xfrm>
            <a:off x="4783871" y="3829340"/>
            <a:ext cx="4012500" cy="0"/>
          </a:xfrm>
          <a:prstGeom prst="straightConnector1">
            <a:avLst/>
          </a:prstGeom>
          <a:noFill/>
          <a:ln w="9525" cap="flat" cmpd="sng">
            <a:solidFill>
              <a:srgbClr val="888888"/>
            </a:solidFill>
            <a:prstDash val="solid"/>
            <a:round/>
            <a:headEnd type="none" w="sm" len="sm"/>
            <a:tailEnd type="none" w="sm" len="sm"/>
          </a:ln>
        </p:spPr>
      </p:cxnSp>
      <p:cxnSp>
        <p:nvCxnSpPr>
          <p:cNvPr id="987" name="Google Shape;987;p63"/>
          <p:cNvCxnSpPr/>
          <p:nvPr/>
        </p:nvCxnSpPr>
        <p:spPr>
          <a:xfrm>
            <a:off x="4778376" y="4032180"/>
            <a:ext cx="4012500" cy="0"/>
          </a:xfrm>
          <a:prstGeom prst="straightConnector1">
            <a:avLst/>
          </a:prstGeom>
          <a:noFill/>
          <a:ln w="9525" cap="flat" cmpd="sng">
            <a:solidFill>
              <a:srgbClr val="888888"/>
            </a:solidFill>
            <a:prstDash val="solid"/>
            <a:round/>
            <a:headEnd type="none" w="sm" len="sm"/>
            <a:tailEnd type="none" w="sm" len="sm"/>
          </a:ln>
        </p:spPr>
      </p:cxnSp>
      <p:cxnSp>
        <p:nvCxnSpPr>
          <p:cNvPr id="988" name="Google Shape;988;p63"/>
          <p:cNvCxnSpPr/>
          <p:nvPr/>
        </p:nvCxnSpPr>
        <p:spPr>
          <a:xfrm>
            <a:off x="4776331" y="4235019"/>
            <a:ext cx="4012500" cy="0"/>
          </a:xfrm>
          <a:prstGeom prst="straightConnector1">
            <a:avLst/>
          </a:prstGeom>
          <a:noFill/>
          <a:ln w="9525" cap="flat" cmpd="sng">
            <a:solidFill>
              <a:srgbClr val="888888"/>
            </a:solidFill>
            <a:prstDash val="solid"/>
            <a:round/>
            <a:headEnd type="none" w="sm" len="sm"/>
            <a:tailEnd type="none" w="sm" len="sm"/>
          </a:ln>
        </p:spPr>
      </p:cxnSp>
      <p:cxnSp>
        <p:nvCxnSpPr>
          <p:cNvPr id="989" name="Google Shape;989;p63"/>
          <p:cNvCxnSpPr/>
          <p:nvPr/>
        </p:nvCxnSpPr>
        <p:spPr>
          <a:xfrm>
            <a:off x="4774287" y="4437859"/>
            <a:ext cx="4012500" cy="0"/>
          </a:xfrm>
          <a:prstGeom prst="straightConnector1">
            <a:avLst/>
          </a:prstGeom>
          <a:noFill/>
          <a:ln w="9525" cap="flat" cmpd="sng">
            <a:solidFill>
              <a:srgbClr val="888888"/>
            </a:solidFill>
            <a:prstDash val="solid"/>
            <a:round/>
            <a:headEnd type="none" w="sm" len="sm"/>
            <a:tailEnd type="none" w="sm" len="sm"/>
          </a:ln>
        </p:spPr>
      </p:cxnSp>
      <p:sp>
        <p:nvSpPr>
          <p:cNvPr id="990" name="Google Shape;990;p63"/>
          <p:cNvSpPr/>
          <p:nvPr/>
        </p:nvSpPr>
        <p:spPr>
          <a:xfrm>
            <a:off x="2516118" y="4183303"/>
            <a:ext cx="875100" cy="230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{{WS_NRTW}}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91" name="Google Shape;991;p63"/>
          <p:cNvSpPr txBox="1"/>
          <p:nvPr/>
        </p:nvSpPr>
        <p:spPr>
          <a:xfrm>
            <a:off x="3408069" y="4195636"/>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{{WS_NRTW_R}}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92" name="Google Shape;992;p63"/>
          <p:cNvSpPr/>
          <p:nvPr/>
        </p:nvSpPr>
        <p:spPr>
          <a:xfrm>
            <a:off x="2519847" y="4414097"/>
            <a:ext cx="878700" cy="225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{{WS_AFIM}}</a:t>
            </a:r>
            <a:endParaRPr sz="686"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993" name="Google Shape;993;p63"/>
          <p:cNvCxnSpPr/>
          <p:nvPr/>
        </p:nvCxnSpPr>
        <p:spPr>
          <a:xfrm>
            <a:off x="362488" y="4634025"/>
            <a:ext cx="3993600" cy="0"/>
          </a:xfrm>
          <a:prstGeom prst="straightConnector1">
            <a:avLst/>
          </a:prstGeom>
          <a:noFill/>
          <a:ln w="9525" cap="flat" cmpd="sng">
            <a:solidFill>
              <a:srgbClr val="888888"/>
            </a:solidFill>
            <a:prstDash val="solid"/>
            <a:round/>
            <a:headEnd type="none" w="sm" len="sm"/>
            <a:tailEnd type="none" w="sm" len="sm"/>
          </a:ln>
        </p:spPr>
      </p:cxnSp>
      <p:cxnSp>
        <p:nvCxnSpPr>
          <p:cNvPr id="994" name="Google Shape;994;p63"/>
          <p:cNvCxnSpPr/>
          <p:nvPr/>
        </p:nvCxnSpPr>
        <p:spPr>
          <a:xfrm>
            <a:off x="364163" y="4404042"/>
            <a:ext cx="3993600" cy="0"/>
          </a:xfrm>
          <a:prstGeom prst="straightConnector1">
            <a:avLst/>
          </a:prstGeom>
          <a:noFill/>
          <a:ln w="9525" cap="flat" cmpd="sng">
            <a:solidFill>
              <a:srgbClr val="888888"/>
            </a:solidFill>
            <a:prstDash val="solid"/>
            <a:round/>
            <a:headEnd type="none" w="sm" len="sm"/>
            <a:tailEnd type="none" w="sm" len="sm"/>
          </a:ln>
        </p:spPr>
      </p:cxnSp>
      <p:sp>
        <p:nvSpPr>
          <p:cNvPr id="995" name="Google Shape;995;p63"/>
          <p:cNvSpPr txBox="1"/>
          <p:nvPr/>
        </p:nvSpPr>
        <p:spPr>
          <a:xfrm>
            <a:off x="3403463" y="4423446"/>
            <a:ext cx="939600" cy="173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{{WS_AFIM_R}}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pic>
        <p:nvPicPr>
          <p:cNvPr id="996" name="Google Shape;996;p63"/>
          <p:cNvPicPr preferRelativeResize="0"/>
          <p:nvPr/>
        </p:nvPicPr>
        <p:blipFill rotWithShape="1">
          <a:blip r:embed="rId8">
            <a:alphaModFix/>
          </a:blip>
          <a:srcRect/>
          <a:stretch/>
        </p:blipFill>
        <p:spPr>
          <a:xfrm>
            <a:off x="8285539" y="4822005"/>
            <a:ext cx="733511" cy="212512"/>
          </a:xfrm>
          <a:prstGeom prst="rect">
            <a:avLst/>
          </a:prstGeom>
          <a:noFill/>
          <a:ln>
            <a:noFill/>
          </a:ln>
        </p:spPr>
      </p:pic>
      <p:cxnSp>
        <p:nvCxnSpPr>
          <p:cNvPr id="997" name="Google Shape;997;p63"/>
          <p:cNvCxnSpPr/>
          <p:nvPr/>
        </p:nvCxnSpPr>
        <p:spPr>
          <a:xfrm>
            <a:off x="4771650" y="4641518"/>
            <a:ext cx="4012500" cy="0"/>
          </a:xfrm>
          <a:prstGeom prst="straightConnector1">
            <a:avLst/>
          </a:prstGeom>
          <a:noFill/>
          <a:ln w="9525" cap="flat" cmpd="sng">
            <a:solidFill>
              <a:srgbClr val="888888"/>
            </a:solidFill>
            <a:prstDash val="solid"/>
            <a:round/>
            <a:headEnd type="none" w="sm" len="sm"/>
            <a:tailEnd type="none" w="sm" len="sm"/>
          </a:ln>
        </p:spPr>
      </p:cxnSp>
      <p:sp>
        <p:nvSpPr>
          <p:cNvPr id="998" name="Google Shape;998;p63"/>
          <p:cNvSpPr/>
          <p:nvPr/>
        </p:nvSpPr>
        <p:spPr>
          <a:xfrm>
            <a:off x="4852708" y="4446568"/>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Risk: Secret Findings Detection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99" name="Google Shape;999;p63"/>
          <p:cNvSpPr/>
          <p:nvPr/>
        </p:nvSpPr>
        <p:spPr>
          <a:xfrm>
            <a:off x="4850663" y="4649529"/>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Risk: Secret Validation</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00" name="Google Shape;1000;p63"/>
          <p:cNvSpPr txBox="1"/>
          <p:nvPr/>
        </p:nvSpPr>
        <p:spPr>
          <a:xfrm>
            <a:off x="7752775" y="4481811"/>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{{ASM_SEC_R}}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01" name="Google Shape;1001;p63"/>
          <p:cNvSpPr txBox="1"/>
          <p:nvPr/>
        </p:nvSpPr>
        <p:spPr>
          <a:xfrm>
            <a:off x="7750731" y="4685015"/>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{{ASM_SV_R}}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02" name="Google Shape;1002;p63"/>
          <p:cNvSpPr/>
          <p:nvPr/>
        </p:nvSpPr>
        <p:spPr>
          <a:xfrm>
            <a:off x="6899000" y="4446366"/>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{{ASM_SEC}}</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03" name="Google Shape;1003;p63"/>
          <p:cNvSpPr/>
          <p:nvPr/>
        </p:nvSpPr>
        <p:spPr>
          <a:xfrm>
            <a:off x="6896955" y="4649311"/>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{{ASM_SV}}</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04" name="Google Shape;1004;p63"/>
          <p:cNvCxnSpPr/>
          <p:nvPr/>
        </p:nvCxnSpPr>
        <p:spPr>
          <a:xfrm rot="10800000" flipH="1">
            <a:off x="4779864" y="4844405"/>
            <a:ext cx="4011300" cy="13800"/>
          </a:xfrm>
          <a:prstGeom prst="straightConnector1">
            <a:avLst/>
          </a:prstGeom>
          <a:noFill/>
          <a:ln w="9525" cap="flat" cmpd="sng">
            <a:solidFill>
              <a:srgbClr val="888888"/>
            </a:solidFill>
            <a:prstDash val="solid"/>
            <a:round/>
            <a:headEnd type="none" w="sm" len="sm"/>
            <a:tailEnd type="none" w="sm" len="sm"/>
          </a:ln>
        </p:spPr>
      </p:cxnSp>
      <p:sp>
        <p:nvSpPr>
          <p:cNvPr id="1005" name="Google Shape;1005;p63"/>
          <p:cNvSpPr/>
          <p:nvPr/>
        </p:nvSpPr>
        <p:spPr>
          <a:xfrm>
            <a:off x="4849232" y="4864397"/>
            <a:ext cx="1987200" cy="195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645"/>
              <a:buFont typeface="DM Sans"/>
              <a:buNone/>
            </a:pPr>
            <a:r>
              <a:rPr lang="en"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Application Endpoint Exposure Level</a:t>
            </a:r>
            <a:endParaRPr sz="737"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06" name="Google Shape;1006;p63"/>
          <p:cNvSpPr txBox="1"/>
          <p:nvPr/>
        </p:nvSpPr>
        <p:spPr>
          <a:xfrm>
            <a:off x="7761860" y="4899639"/>
            <a:ext cx="1031700" cy="140400"/>
          </a:xfrm>
          <a:prstGeom prst="rect">
            <a:avLst/>
          </a:prstGeom>
          <a:noFill/>
          <a:ln>
            <a:noFill/>
          </a:ln>
        </p:spPr>
        <p:txBody>
          <a:bodyPr spcFirstLastPara="1" wrap="square" lIns="63150" tIns="63150" rIns="63150" bIns="63150" anchor="ctr" anchorCtr="0">
            <a:noAutofit/>
          </a:bodyPr>
          <a:lstStyle/>
          <a:p>
            <a:pPr marL="0" marR="0" lvl="0" indent="0" algn="ctr" rtl="0">
              <a:lnSpc>
                <a:spcPct val="100000"/>
              </a:lnSpc>
              <a:spcBef>
                <a:spcPts val="0"/>
              </a:spcBef>
              <a:spcAft>
                <a:spcPts val="0"/>
              </a:spcAft>
              <a:buClr>
                <a:srgbClr val="000000"/>
              </a:buClr>
              <a:buSzPts val="737"/>
              <a:buFont typeface="Arial"/>
              <a:buNone/>
            </a:pPr>
            <a:r>
              <a:rPr lang="en"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{{ASM_EXPL_R}}</a:t>
            </a:r>
            <a:endParaRPr sz="737"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07" name="Google Shape;1007;p63"/>
          <p:cNvSpPr/>
          <p:nvPr/>
        </p:nvSpPr>
        <p:spPr>
          <a:xfrm>
            <a:off x="6895524" y="4864194"/>
            <a:ext cx="882000" cy="195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645"/>
              <a:buFont typeface="Arial"/>
              <a:buNone/>
            </a:pPr>
            <a:r>
              <a:rPr lang="en" sz="645"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{{ASM_EXPL}}</a:t>
            </a:r>
            <a:endParaRPr sz="645"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08" name="Google Shape;1008;p63"/>
          <p:cNvSpPr/>
          <p:nvPr/>
        </p:nvSpPr>
        <p:spPr>
          <a:xfrm>
            <a:off x="239233" y="867612"/>
            <a:ext cx="4224479" cy="414676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009" name="Google Shape;1009;p63"/>
          <p:cNvSpPr/>
          <p:nvPr/>
        </p:nvSpPr>
        <p:spPr>
          <a:xfrm>
            <a:off x="4676033" y="867086"/>
            <a:ext cx="4224479" cy="4194012"/>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14"/>
        <p:cNvGrpSpPr/>
        <p:nvPr/>
      </p:nvGrpSpPr>
      <p:grpSpPr>
        <a:xfrm>
          <a:off x="0" y="0"/>
          <a:ext cx="0" cy="0"/>
          <a:chOff x="0" y="0"/>
          <a:chExt cx="0" cy="0"/>
        </a:xfrm>
      </p:grpSpPr>
      <p:pic>
        <p:nvPicPr>
          <p:cNvPr id="1015" name="Google Shape;1015;p64"/>
          <p:cNvPicPr preferRelativeResize="0"/>
          <p:nvPr/>
        </p:nvPicPr>
        <p:blipFill rotWithShape="1">
          <a:blip r:embed="rId3">
            <a:alphaModFix/>
          </a:blip>
          <a:srcRect/>
          <a:stretch/>
        </p:blipFill>
        <p:spPr>
          <a:xfrm>
            <a:off x="8048746" y="4692300"/>
            <a:ext cx="943800" cy="381270"/>
          </a:xfrm>
          <a:prstGeom prst="rect">
            <a:avLst/>
          </a:prstGeom>
          <a:noFill/>
          <a:ln>
            <a:noFill/>
          </a:ln>
        </p:spPr>
      </p:pic>
      <p:sp>
        <p:nvSpPr>
          <p:cNvPr id="1016" name="Google Shape;1016;p64"/>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17" name="Google Shape;1017;p64"/>
          <p:cNvSpPr/>
          <p:nvPr/>
        </p:nvSpPr>
        <p:spPr>
          <a:xfrm>
            <a:off x="457200" y="164588"/>
            <a:ext cx="69444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Calibri"/>
              </a:rPr>
              <a:t>Scanner Configuration — Vulnerability &amp; Data Security</a:t>
            </a:r>
            <a:endParaRPr sz="2000" b="0" i="0" u="none" strike="noStrike" cap="none">
              <a:solidFill>
                <a:schemeClr val="dk2"/>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18" name="Google Shape;1018;p64"/>
          <p:cNvSpPr/>
          <p:nvPr/>
        </p:nvSpPr>
        <p:spPr>
          <a:xfrm>
            <a:off x="457200" y="548640"/>
            <a:ext cx="73152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900"/>
              <a:buFont typeface="DM Sans"/>
              <a:buNone/>
            </a:pPr>
            <a:r>
              <a:rPr lang="en"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Current vulnerability scanner tuning and data security scanning coverage.</a:t>
            </a:r>
            <a:endParaRPr sz="11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19" name="Google Shape;1019;p64"/>
          <p:cNvSpPr/>
          <p:nvPr/>
        </p:nvSpPr>
        <p:spPr>
          <a:xfrm>
            <a:off x="239233" y="868680"/>
            <a:ext cx="4224479" cy="274200"/>
          </a:xfrm>
          <a:prstGeom prst="rect">
            <a:avLst/>
          </a:prstGeom>
          <a:solidFill>
            <a:srgbClr val="EFE6C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0" name="Google Shape;1020;p64"/>
          <p:cNvSpPr/>
          <p:nvPr/>
        </p:nvSpPr>
        <p:spPr>
          <a:xfrm>
            <a:off x="243492" y="868680"/>
            <a:ext cx="93336" cy="274200"/>
          </a:xfrm>
          <a:prstGeom prst="rect">
            <a:avLst/>
          </a:prstGeom>
          <a:solidFill>
            <a:srgbClr val="D97706"/>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1" name="Google Shape;1021;p64"/>
          <p:cNvSpPr/>
          <p:nvPr/>
        </p:nvSpPr>
        <p:spPr>
          <a:xfrm>
            <a:off x="502920" y="847856"/>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Calibri"/>
                <a:hlinkClick r:id="rId4"/>
              </a:rPr>
              <a:t>VULNERABILITY SCANNER</a:t>
            </a:r>
            <a:r>
              <a:rPr lang="en" sz="1100" b="0"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5"/>
              </a:rPr>
              <a:t>↗</a:t>
            </a:r>
            <a:endParaRPr sz="900" b="0" i="0" u="none" strike="noStrike" cap="none">
              <a:solidFill>
                <a:srgbClr val="D97706"/>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2" name="Google Shape;1022;p64"/>
          <p:cNvSpPr/>
          <p:nvPr/>
        </p:nvSpPr>
        <p:spPr>
          <a:xfrm>
            <a:off x="371458" y="1191602"/>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3" name="Google Shape;1023;p64"/>
          <p:cNvSpPr/>
          <p:nvPr/>
        </p:nvSpPr>
        <p:spPr>
          <a:xfrm>
            <a:off x="371454" y="1180568"/>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4" name="Google Shape;1024;p64"/>
          <p:cNvSpPr/>
          <p:nvPr/>
        </p:nvSpPr>
        <p:spPr>
          <a:xfrm>
            <a:off x="2537260" y="1191602"/>
            <a:ext cx="8751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5" name="Google Shape;1025;p64"/>
          <p:cNvSpPr/>
          <p:nvPr/>
        </p:nvSpPr>
        <p:spPr>
          <a:xfrm>
            <a:off x="3429612" y="1186270"/>
            <a:ext cx="10341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6" name="Google Shape;1026;p64"/>
          <p:cNvSpPr/>
          <p:nvPr/>
        </p:nvSpPr>
        <p:spPr>
          <a:xfrm>
            <a:off x="371449" y="1431983"/>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27" name="Google Shape;1027;p64"/>
          <p:cNvCxnSpPr/>
          <p:nvPr/>
        </p:nvCxnSpPr>
        <p:spPr>
          <a:xfrm>
            <a:off x="371449" y="1678076"/>
            <a:ext cx="3977700" cy="0"/>
          </a:xfrm>
          <a:prstGeom prst="straightConnector1">
            <a:avLst/>
          </a:prstGeom>
          <a:noFill/>
          <a:ln w="9525" cap="flat" cmpd="sng">
            <a:solidFill>
              <a:srgbClr val="E5E7EB"/>
            </a:solidFill>
            <a:prstDash val="solid"/>
            <a:round/>
            <a:headEnd type="none" w="sm" len="sm"/>
            <a:tailEnd type="none" w="sm" len="sm"/>
          </a:ln>
        </p:spPr>
      </p:cxnSp>
      <p:sp>
        <p:nvSpPr>
          <p:cNvPr id="1028" name="Google Shape;1028;p64"/>
          <p:cNvSpPr/>
          <p:nvPr/>
        </p:nvSpPr>
        <p:spPr>
          <a:xfrm>
            <a:off x="371445" y="1431975"/>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OS-Package Managed Code Libraries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29" name="Google Shape;1029;p64"/>
          <p:cNvSpPr/>
          <p:nvPr/>
        </p:nvSpPr>
        <p:spPr>
          <a:xfrm>
            <a:off x="2569586" y="1431983"/>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{{VS_OSPKG}}</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0" name="Google Shape;1030;p64"/>
          <p:cNvSpPr/>
          <p:nvPr/>
        </p:nvSpPr>
        <p:spPr>
          <a:xfrm>
            <a:off x="371449" y="1678076"/>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31" name="Google Shape;1031;p64"/>
          <p:cNvCxnSpPr/>
          <p:nvPr/>
        </p:nvCxnSpPr>
        <p:spPr>
          <a:xfrm>
            <a:off x="355736" y="1916264"/>
            <a:ext cx="3977700" cy="0"/>
          </a:xfrm>
          <a:prstGeom prst="straightConnector1">
            <a:avLst/>
          </a:prstGeom>
          <a:noFill/>
          <a:ln w="9525" cap="flat" cmpd="sng">
            <a:solidFill>
              <a:srgbClr val="888888"/>
            </a:solidFill>
            <a:prstDash val="solid"/>
            <a:round/>
            <a:headEnd type="none" w="sm" len="sm"/>
            <a:tailEnd type="none" w="sm" len="sm"/>
          </a:ln>
        </p:spPr>
      </p:cxnSp>
      <p:sp>
        <p:nvSpPr>
          <p:cNvPr id="1032" name="Google Shape;1032;p64"/>
          <p:cNvSpPr/>
          <p:nvPr/>
        </p:nvSpPr>
        <p:spPr>
          <a:xfrm>
            <a:off x="371445" y="1678069"/>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Windows App Bundled Libraries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3" name="Google Shape;1033;p64"/>
          <p:cNvSpPr/>
          <p:nvPr/>
        </p:nvSpPr>
        <p:spPr>
          <a:xfrm>
            <a:off x="2569586" y="1678076"/>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{{VS_WINB}}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4" name="Google Shape;1034;p64"/>
          <p:cNvSpPr/>
          <p:nvPr/>
        </p:nvSpPr>
        <p:spPr>
          <a:xfrm>
            <a:off x="371449" y="1924169"/>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35" name="Google Shape;1035;p64"/>
          <p:cNvCxnSpPr/>
          <p:nvPr/>
        </p:nvCxnSpPr>
        <p:spPr>
          <a:xfrm>
            <a:off x="371449" y="2170262"/>
            <a:ext cx="3977700" cy="0"/>
          </a:xfrm>
          <a:prstGeom prst="straightConnector1">
            <a:avLst/>
          </a:prstGeom>
          <a:noFill/>
          <a:ln w="9525" cap="flat" cmpd="sng">
            <a:solidFill>
              <a:srgbClr val="E5E7EB"/>
            </a:solidFill>
            <a:prstDash val="solid"/>
            <a:round/>
            <a:headEnd type="none" w="sm" len="sm"/>
            <a:tailEnd type="none" w="sm" len="sm"/>
          </a:ln>
        </p:spPr>
      </p:cxnSp>
      <p:sp>
        <p:nvSpPr>
          <p:cNvPr id="1036" name="Google Shape;1036;p64"/>
          <p:cNvSpPr/>
          <p:nvPr/>
        </p:nvSpPr>
        <p:spPr>
          <a:xfrm>
            <a:off x="371445" y="192416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Go Standard Library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7" name="Google Shape;1037;p64"/>
          <p:cNvSpPr/>
          <p:nvPr/>
        </p:nvSpPr>
        <p:spPr>
          <a:xfrm>
            <a:off x="2569586" y="1924169"/>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{{VS_GOSTD}}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38" name="Google Shape;1038;p64"/>
          <p:cNvSpPr/>
          <p:nvPr/>
        </p:nvSpPr>
        <p:spPr>
          <a:xfrm>
            <a:off x="371449" y="2170262"/>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39" name="Google Shape;1039;p64"/>
          <p:cNvCxnSpPr/>
          <p:nvPr/>
        </p:nvCxnSpPr>
        <p:spPr>
          <a:xfrm>
            <a:off x="358777" y="2406445"/>
            <a:ext cx="3977700" cy="0"/>
          </a:xfrm>
          <a:prstGeom prst="straightConnector1">
            <a:avLst/>
          </a:prstGeom>
          <a:noFill/>
          <a:ln w="9525" cap="flat" cmpd="sng">
            <a:solidFill>
              <a:srgbClr val="888888"/>
            </a:solidFill>
            <a:prstDash val="solid"/>
            <a:round/>
            <a:headEnd type="none" w="sm" len="sm"/>
            <a:tailEnd type="none" w="sm" len="sm"/>
          </a:ln>
        </p:spPr>
      </p:cxnSp>
      <p:sp>
        <p:nvSpPr>
          <p:cNvPr id="1040" name="Google Shape;1040;p64"/>
          <p:cNvSpPr/>
          <p:nvPr/>
        </p:nvSpPr>
        <p:spPr>
          <a:xfrm>
            <a:off x="371445" y="217025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Code Library Exclusion Paths (Legacy)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1" name="Google Shape;1041;p64"/>
          <p:cNvSpPr/>
          <p:nvPr/>
        </p:nvSpPr>
        <p:spPr>
          <a:xfrm>
            <a:off x="2569586" y="2170262"/>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{{VS_EXCL}}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2" name="Google Shape;1042;p64"/>
          <p:cNvSpPr/>
          <p:nvPr/>
        </p:nvSpPr>
        <p:spPr>
          <a:xfrm>
            <a:off x="371449" y="2416355"/>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43" name="Google Shape;1043;p64"/>
          <p:cNvCxnSpPr/>
          <p:nvPr/>
        </p:nvCxnSpPr>
        <p:spPr>
          <a:xfrm>
            <a:off x="361818" y="2665905"/>
            <a:ext cx="3977700" cy="0"/>
          </a:xfrm>
          <a:prstGeom prst="straightConnector1">
            <a:avLst/>
          </a:prstGeom>
          <a:noFill/>
          <a:ln w="9525" cap="flat" cmpd="sng">
            <a:solidFill>
              <a:srgbClr val="E5E7EB"/>
            </a:solidFill>
            <a:prstDash val="solid"/>
            <a:round/>
            <a:headEnd type="none" w="sm" len="sm"/>
            <a:tailEnd type="none" w="sm" len="sm"/>
          </a:ln>
        </p:spPr>
      </p:cxnSp>
      <p:sp>
        <p:nvSpPr>
          <p:cNvPr id="1044" name="Google Shape;1044;p64"/>
          <p:cNvSpPr/>
          <p:nvPr/>
        </p:nvSpPr>
        <p:spPr>
          <a:xfrm>
            <a:off x="371445" y="241635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Ignore Red Hat OpenShift Vulns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5" name="Google Shape;1045;p64"/>
          <p:cNvSpPr/>
          <p:nvPr/>
        </p:nvSpPr>
        <p:spPr>
          <a:xfrm>
            <a:off x="2569586" y="2416355"/>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{{VS_RHOS}}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6" name="Google Shape;1046;p64"/>
          <p:cNvSpPr/>
          <p:nvPr/>
        </p:nvSpPr>
        <p:spPr>
          <a:xfrm>
            <a:off x="371449" y="2662448"/>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47" name="Google Shape;1047;p64"/>
          <p:cNvCxnSpPr/>
          <p:nvPr/>
        </p:nvCxnSpPr>
        <p:spPr>
          <a:xfrm>
            <a:off x="364860" y="2898661"/>
            <a:ext cx="3977700" cy="0"/>
          </a:xfrm>
          <a:prstGeom prst="straightConnector1">
            <a:avLst/>
          </a:prstGeom>
          <a:noFill/>
          <a:ln w="9525" cap="flat" cmpd="sng">
            <a:solidFill>
              <a:srgbClr val="888888"/>
            </a:solidFill>
            <a:prstDash val="solid"/>
            <a:round/>
            <a:headEnd type="none" w="sm" len="sm"/>
            <a:tailEnd type="none" w="sm" len="sm"/>
          </a:ln>
        </p:spPr>
      </p:cxnSp>
      <p:sp>
        <p:nvSpPr>
          <p:cNvPr id="1048" name="Google Shape;1048;p64"/>
          <p:cNvSpPr/>
          <p:nvPr/>
        </p:nvSpPr>
        <p:spPr>
          <a:xfrm>
            <a:off x="371445" y="266244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Manifest Files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49" name="Google Shape;1049;p64"/>
          <p:cNvSpPr/>
          <p:nvPr/>
        </p:nvSpPr>
        <p:spPr>
          <a:xfrm>
            <a:off x="2569586" y="2662448"/>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{{VS_MANIF}}</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0" name="Google Shape;1050;p64"/>
          <p:cNvSpPr/>
          <p:nvPr/>
        </p:nvSpPr>
        <p:spPr>
          <a:xfrm>
            <a:off x="3395224" y="2698429"/>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{{VS_MANIF_R}}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1" name="Google Shape;1051;p64"/>
          <p:cNvSpPr/>
          <p:nvPr/>
        </p:nvSpPr>
        <p:spPr>
          <a:xfrm>
            <a:off x="371449" y="2908541"/>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52" name="Google Shape;1052;p64"/>
          <p:cNvCxnSpPr/>
          <p:nvPr/>
        </p:nvCxnSpPr>
        <p:spPr>
          <a:xfrm>
            <a:off x="367901" y="3157103"/>
            <a:ext cx="3977700" cy="0"/>
          </a:xfrm>
          <a:prstGeom prst="straightConnector1">
            <a:avLst/>
          </a:prstGeom>
          <a:noFill/>
          <a:ln w="9525" cap="flat" cmpd="sng">
            <a:solidFill>
              <a:srgbClr val="E5E7EB"/>
            </a:solidFill>
            <a:prstDash val="solid"/>
            <a:round/>
            <a:headEnd type="none" w="sm" len="sm"/>
            <a:tailEnd type="none" w="sm" len="sm"/>
          </a:ln>
        </p:spPr>
      </p:cxnSp>
      <p:sp>
        <p:nvSpPr>
          <p:cNvPr id="1053" name="Google Shape;1053;p64"/>
          <p:cNvSpPr/>
          <p:nvPr/>
        </p:nvSpPr>
        <p:spPr>
          <a:xfrm>
            <a:off x="371445" y="290853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Lock Files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4" name="Google Shape;1054;p64"/>
          <p:cNvSpPr/>
          <p:nvPr/>
        </p:nvSpPr>
        <p:spPr>
          <a:xfrm>
            <a:off x="2569586" y="2908541"/>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{{VS_LOCK}}</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5" name="Google Shape;1055;p64"/>
          <p:cNvSpPr/>
          <p:nvPr/>
        </p:nvSpPr>
        <p:spPr>
          <a:xfrm>
            <a:off x="3395224" y="2947594"/>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{{VS_LOCK_R}}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6" name="Google Shape;1056;p64"/>
          <p:cNvSpPr/>
          <p:nvPr/>
        </p:nvSpPr>
        <p:spPr>
          <a:xfrm>
            <a:off x="371449" y="3154634"/>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57" name="Google Shape;1057;p64"/>
          <p:cNvCxnSpPr/>
          <p:nvPr/>
        </p:nvCxnSpPr>
        <p:spPr>
          <a:xfrm>
            <a:off x="370942" y="3389859"/>
            <a:ext cx="3977700" cy="0"/>
          </a:xfrm>
          <a:prstGeom prst="straightConnector1">
            <a:avLst/>
          </a:prstGeom>
          <a:noFill/>
          <a:ln w="9525" cap="flat" cmpd="sng">
            <a:solidFill>
              <a:srgbClr val="888888"/>
            </a:solidFill>
            <a:prstDash val="solid"/>
            <a:round/>
            <a:headEnd type="none" w="sm" len="sm"/>
            <a:tailEnd type="none" w="sm" len="sm"/>
          </a:ln>
        </p:spPr>
      </p:cxnSp>
      <p:sp>
        <p:nvSpPr>
          <p:cNvPr id="1058" name="Google Shape;1058;p64"/>
          <p:cNvSpPr/>
          <p:nvPr/>
        </p:nvSpPr>
        <p:spPr>
          <a:xfrm>
            <a:off x="371445" y="315463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Artifacts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59" name="Google Shape;1059;p64"/>
          <p:cNvSpPr/>
          <p:nvPr/>
        </p:nvSpPr>
        <p:spPr>
          <a:xfrm>
            <a:off x="2569586" y="3154634"/>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{{VS_ARTIF}}</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0" name="Google Shape;1060;p64"/>
          <p:cNvSpPr/>
          <p:nvPr/>
        </p:nvSpPr>
        <p:spPr>
          <a:xfrm>
            <a:off x="3395224" y="3196759"/>
            <a:ext cx="956400" cy="1854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{{VS_ARTIF_R}}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1" name="Google Shape;1061;p64"/>
          <p:cNvSpPr/>
          <p:nvPr/>
        </p:nvSpPr>
        <p:spPr>
          <a:xfrm>
            <a:off x="371449" y="3400727"/>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62" name="Google Shape;1062;p64"/>
          <p:cNvCxnSpPr/>
          <p:nvPr/>
        </p:nvCxnSpPr>
        <p:spPr>
          <a:xfrm>
            <a:off x="371449" y="3646820"/>
            <a:ext cx="3977700" cy="0"/>
          </a:xfrm>
          <a:prstGeom prst="straightConnector1">
            <a:avLst/>
          </a:prstGeom>
          <a:noFill/>
          <a:ln w="9525" cap="flat" cmpd="sng">
            <a:solidFill>
              <a:srgbClr val="E5E7EB"/>
            </a:solidFill>
            <a:prstDash val="solid"/>
            <a:round/>
            <a:headEnd type="none" w="sm" len="sm"/>
            <a:tailEnd type="none" w="sm" len="sm"/>
          </a:ln>
        </p:spPr>
      </p:cxnSp>
      <p:sp>
        <p:nvSpPr>
          <p:cNvPr id="1063" name="Google Shape;1063;p64"/>
          <p:cNvSpPr/>
          <p:nvPr/>
        </p:nvSpPr>
        <p:spPr>
          <a:xfrm>
            <a:off x="371445" y="340072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Dependency Scopes: Maven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4" name="Google Shape;1064;p64"/>
          <p:cNvSpPr/>
          <p:nvPr/>
        </p:nvSpPr>
        <p:spPr>
          <a:xfrm>
            <a:off x="2569586" y="3400727"/>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{{VS_MAVEN}}</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5" name="Google Shape;1065;p64"/>
          <p:cNvSpPr/>
          <p:nvPr/>
        </p:nvSpPr>
        <p:spPr>
          <a:xfrm>
            <a:off x="371449" y="3646820"/>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66" name="Google Shape;1066;p64"/>
          <p:cNvCxnSpPr/>
          <p:nvPr/>
        </p:nvCxnSpPr>
        <p:spPr>
          <a:xfrm>
            <a:off x="373984" y="3874636"/>
            <a:ext cx="3977700" cy="0"/>
          </a:xfrm>
          <a:prstGeom prst="straightConnector1">
            <a:avLst/>
          </a:prstGeom>
          <a:noFill/>
          <a:ln w="9525" cap="flat" cmpd="sng">
            <a:solidFill>
              <a:srgbClr val="888888"/>
            </a:solidFill>
            <a:prstDash val="solid"/>
            <a:round/>
            <a:headEnd type="none" w="sm" len="sm"/>
            <a:tailEnd type="none" w="sm" len="sm"/>
          </a:ln>
        </p:spPr>
      </p:cxnSp>
      <p:sp>
        <p:nvSpPr>
          <p:cNvPr id="1067" name="Google Shape;1067;p64"/>
          <p:cNvSpPr/>
          <p:nvPr/>
        </p:nvSpPr>
        <p:spPr>
          <a:xfrm>
            <a:off x="371450" y="3646825"/>
            <a:ext cx="21657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Dependency Scopes: JS (npm/pnpm/Yarn)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8" name="Google Shape;1068;p64"/>
          <p:cNvSpPr/>
          <p:nvPr/>
        </p:nvSpPr>
        <p:spPr>
          <a:xfrm>
            <a:off x="2569586" y="3646820"/>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{{VS_JSDEP}}</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69" name="Google Shape;1069;p64"/>
          <p:cNvSpPr/>
          <p:nvPr/>
        </p:nvSpPr>
        <p:spPr>
          <a:xfrm>
            <a:off x="371449" y="3892913"/>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70" name="Google Shape;1070;p64"/>
          <p:cNvCxnSpPr/>
          <p:nvPr/>
        </p:nvCxnSpPr>
        <p:spPr>
          <a:xfrm>
            <a:off x="371449" y="4139007"/>
            <a:ext cx="3977700" cy="0"/>
          </a:xfrm>
          <a:prstGeom prst="straightConnector1">
            <a:avLst/>
          </a:prstGeom>
          <a:noFill/>
          <a:ln w="9525" cap="flat" cmpd="sng">
            <a:solidFill>
              <a:srgbClr val="E5E7EB"/>
            </a:solidFill>
            <a:prstDash val="solid"/>
            <a:round/>
            <a:headEnd type="none" w="sm" len="sm"/>
            <a:tailEnd type="none" w="sm" len="sm"/>
          </a:ln>
        </p:spPr>
      </p:cxnSp>
      <p:sp>
        <p:nvSpPr>
          <p:cNvPr id="1071" name="Google Shape;1071;p64"/>
          <p:cNvSpPr/>
          <p:nvPr/>
        </p:nvSpPr>
        <p:spPr>
          <a:xfrm>
            <a:off x="371445" y="389291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Dependency Scopes: Gradle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2" name="Google Shape;1072;p64"/>
          <p:cNvSpPr/>
          <p:nvPr/>
        </p:nvSpPr>
        <p:spPr>
          <a:xfrm>
            <a:off x="2569586" y="3892913"/>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{{VS_GRADL}}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3" name="Google Shape;1073;p64"/>
          <p:cNvSpPr/>
          <p:nvPr/>
        </p:nvSpPr>
        <p:spPr>
          <a:xfrm>
            <a:off x="371449" y="4139007"/>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74" name="Google Shape;1074;p64"/>
          <p:cNvCxnSpPr/>
          <p:nvPr/>
        </p:nvCxnSpPr>
        <p:spPr>
          <a:xfrm>
            <a:off x="377025" y="4385100"/>
            <a:ext cx="3977700" cy="0"/>
          </a:xfrm>
          <a:prstGeom prst="straightConnector1">
            <a:avLst/>
          </a:prstGeom>
          <a:noFill/>
          <a:ln w="9525" cap="flat" cmpd="sng">
            <a:solidFill>
              <a:srgbClr val="888888"/>
            </a:solidFill>
            <a:prstDash val="solid"/>
            <a:round/>
            <a:headEnd type="none" w="sm" len="sm"/>
            <a:tailEnd type="none" w="sm" len="sm"/>
          </a:ln>
        </p:spPr>
      </p:cxnSp>
      <p:sp>
        <p:nvSpPr>
          <p:cNvPr id="1075" name="Google Shape;1075;p64"/>
          <p:cNvSpPr/>
          <p:nvPr/>
        </p:nvSpPr>
        <p:spPr>
          <a:xfrm>
            <a:off x="371445" y="413900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End of Life Detection</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6" name="Google Shape;1076;p64"/>
          <p:cNvSpPr/>
          <p:nvPr/>
        </p:nvSpPr>
        <p:spPr>
          <a:xfrm>
            <a:off x="2569586" y="4139007"/>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{{VS_EOL}}</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7" name="Google Shape;1077;p64"/>
          <p:cNvSpPr/>
          <p:nvPr/>
        </p:nvSpPr>
        <p:spPr>
          <a:xfrm>
            <a:off x="4671607" y="799572"/>
            <a:ext cx="4224479" cy="274200"/>
          </a:xfrm>
          <a:prstGeom prst="rect">
            <a:avLst/>
          </a:prstGeom>
          <a:solidFill>
            <a:srgbClr val="E6DDF7"/>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8" name="Google Shape;1078;p64"/>
          <p:cNvSpPr/>
          <p:nvPr/>
        </p:nvSpPr>
        <p:spPr>
          <a:xfrm flipH="1">
            <a:off x="4672397" y="799572"/>
            <a:ext cx="92559" cy="274200"/>
          </a:xfrm>
          <a:prstGeom prst="rect">
            <a:avLst/>
          </a:prstGeom>
          <a:solidFill>
            <a:srgbClr val="7C3AED"/>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79" name="Google Shape;1079;p64"/>
          <p:cNvSpPr/>
          <p:nvPr/>
        </p:nvSpPr>
        <p:spPr>
          <a:xfrm>
            <a:off x="4937760" y="778748"/>
            <a:ext cx="3794700" cy="2742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7C3AED"/>
              </a:buClr>
              <a:buSzPts val="1000"/>
              <a:buFont typeface="DM Sans"/>
              <a:buNone/>
            </a:pPr>
            <a:r>
              <a:rPr lang="en" sz="1100" b="1" i="0" u="sng" strike="noStrike" cap="none">
                <a:solidFill>
                  <a:schemeClr val="hlink"/>
                </a:solidFill>
                <a:latin typeface="Calibri" panose="020F0502020204030204" pitchFamily="34" charset="0"/>
                <a:ea typeface="Calibri" panose="020F0502020204030204" pitchFamily="34" charset="0"/>
                <a:cs typeface="Calibri" panose="020F0502020204030204" pitchFamily="34" charset="0"/>
                <a:sym typeface="Calibri"/>
                <a:hlinkClick r:id="rId6"/>
              </a:rPr>
              <a:t>DATA SECURITY SCANNER</a:t>
            </a:r>
            <a:r>
              <a:rPr lang="en" sz="1100" b="0" i="0" u="none" strike="noStrike" cap="none">
                <a:solidFill>
                  <a:srgbClr val="9900FF"/>
                </a:solidFill>
                <a:latin typeface="Calibri" panose="020F0502020204030204" pitchFamily="34" charset="0"/>
                <a:ea typeface="Calibri" panose="020F0502020204030204" pitchFamily="34" charset="0"/>
                <a:cs typeface="Calibri" panose="020F0502020204030204" pitchFamily="34" charset="0"/>
                <a:sym typeface="Calibri"/>
              </a:rPr>
              <a:t> </a:t>
            </a:r>
            <a:r>
              <a:rPr lang="en" sz="1300" b="0" i="0" u="none" strike="noStrike" cap="none">
                <a:solidFill>
                  <a:schemeClr val="hlink"/>
                </a:solidFill>
                <a:uFill>
                  <a:noFill/>
                </a:uFill>
                <a:latin typeface="Calibri" panose="020F0502020204030204" pitchFamily="34" charset="0"/>
                <a:ea typeface="Calibri" panose="020F0502020204030204" pitchFamily="34" charset="0"/>
                <a:cs typeface="Calibri" panose="020F0502020204030204" pitchFamily="34" charset="0"/>
                <a:sym typeface="Calibri"/>
                <a:hlinkClick r:id="rId5"/>
              </a:rPr>
              <a:t>↗</a:t>
            </a:r>
            <a:r>
              <a:rPr lang="en" sz="12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t>
            </a:r>
            <a:endParaRPr sz="1100" b="0" i="0" u="none" strike="noStrike" cap="none">
              <a:solidFill>
                <a:srgbClr val="9900FF"/>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0" name="Google Shape;1080;p64"/>
          <p:cNvSpPr/>
          <p:nvPr/>
        </p:nvSpPr>
        <p:spPr>
          <a:xfrm>
            <a:off x="4800600" y="1132096"/>
            <a:ext cx="3977700" cy="2013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1" name="Google Shape;1081;p64"/>
          <p:cNvSpPr/>
          <p:nvPr/>
        </p:nvSpPr>
        <p:spPr>
          <a:xfrm>
            <a:off x="4892040" y="1132096"/>
            <a:ext cx="19887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Setting</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2" name="Google Shape;1082;p64"/>
          <p:cNvSpPr/>
          <p:nvPr/>
        </p:nvSpPr>
        <p:spPr>
          <a:xfrm>
            <a:off x="6916585" y="1132096"/>
            <a:ext cx="875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Status</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3" name="Google Shape;1083;p64"/>
          <p:cNvSpPr/>
          <p:nvPr/>
        </p:nvSpPr>
        <p:spPr>
          <a:xfrm>
            <a:off x="7869988" y="1132096"/>
            <a:ext cx="1034100" cy="2013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panose="020F0502020204030204" pitchFamily="34" charset="0"/>
                <a:ea typeface="Calibri" panose="020F0502020204030204" pitchFamily="34" charset="0"/>
                <a:cs typeface="Calibri" panose="020F0502020204030204" pitchFamily="34" charset="0"/>
                <a:sym typeface="Calibri"/>
              </a:rPr>
              <a:t>Recommended</a:t>
            </a:r>
            <a:endParaRPr sz="10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4" name="Google Shape;1084;p64"/>
          <p:cNvSpPr/>
          <p:nvPr/>
        </p:nvSpPr>
        <p:spPr>
          <a:xfrm>
            <a:off x="4800600" y="1333264"/>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85" name="Google Shape;1085;p64"/>
          <p:cNvCxnSpPr/>
          <p:nvPr/>
        </p:nvCxnSpPr>
        <p:spPr>
          <a:xfrm>
            <a:off x="4800600" y="1521418"/>
            <a:ext cx="3977700" cy="0"/>
          </a:xfrm>
          <a:prstGeom prst="straightConnector1">
            <a:avLst/>
          </a:prstGeom>
          <a:noFill/>
          <a:ln w="9525" cap="flat" cmpd="sng">
            <a:solidFill>
              <a:srgbClr val="888888"/>
            </a:solidFill>
            <a:prstDash val="solid"/>
            <a:round/>
            <a:headEnd type="none" w="sm" len="sm"/>
            <a:tailEnd type="none" w="sm" len="sm"/>
          </a:ln>
        </p:spPr>
      </p:cxnSp>
      <p:sp>
        <p:nvSpPr>
          <p:cNvPr id="1086" name="Google Shape;1086;p64"/>
          <p:cNvSpPr/>
          <p:nvPr/>
        </p:nvSpPr>
        <p:spPr>
          <a:xfrm>
            <a:off x="4892040" y="1333264"/>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Data Security Scanner</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7" name="Google Shape;1087;p64"/>
          <p:cNvSpPr/>
          <p:nvPr/>
        </p:nvSpPr>
        <p:spPr>
          <a:xfrm>
            <a:off x="6883223" y="1333264"/>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{{DSS_ON}}</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88" name="Google Shape;1088;p64"/>
          <p:cNvSpPr/>
          <p:nvPr/>
        </p:nvSpPr>
        <p:spPr>
          <a:xfrm>
            <a:off x="4800600" y="1521418"/>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89" name="Google Shape;1089;p64"/>
          <p:cNvCxnSpPr/>
          <p:nvPr/>
        </p:nvCxnSpPr>
        <p:spPr>
          <a:xfrm>
            <a:off x="4800600" y="1773843"/>
            <a:ext cx="3977700" cy="0"/>
          </a:xfrm>
          <a:prstGeom prst="straightConnector1">
            <a:avLst/>
          </a:prstGeom>
          <a:noFill/>
          <a:ln w="9525" cap="flat" cmpd="sng">
            <a:solidFill>
              <a:srgbClr val="888888"/>
            </a:solidFill>
            <a:prstDash val="solid"/>
            <a:round/>
            <a:headEnd type="none" w="sm" len="sm"/>
            <a:tailEnd type="none" w="sm" len="sm"/>
          </a:ln>
        </p:spPr>
      </p:cxnSp>
      <p:sp>
        <p:nvSpPr>
          <p:cNvPr id="1090" name="Google Shape;1090;p64"/>
          <p:cNvSpPr/>
          <p:nvPr/>
        </p:nvSpPr>
        <p:spPr>
          <a:xfrm>
            <a:off x="4892044" y="1523856"/>
            <a:ext cx="1970400" cy="267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Buckets (Public &amp; Private)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1" name="Google Shape;1091;p64"/>
          <p:cNvSpPr/>
          <p:nvPr/>
        </p:nvSpPr>
        <p:spPr>
          <a:xfrm>
            <a:off x="6883221" y="1523417"/>
            <a:ext cx="1091197" cy="267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{{DSS_BUCK}}</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2" name="Google Shape;1092;p64"/>
          <p:cNvSpPr/>
          <p:nvPr/>
        </p:nvSpPr>
        <p:spPr>
          <a:xfrm>
            <a:off x="7864530" y="1527427"/>
            <a:ext cx="943800" cy="2607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{{DSS_BUCK_R}}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3" name="Google Shape;1093;p64"/>
          <p:cNvSpPr/>
          <p:nvPr/>
        </p:nvSpPr>
        <p:spPr>
          <a:xfrm>
            <a:off x="4800600" y="1795107"/>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94" name="Google Shape;1094;p64"/>
          <p:cNvCxnSpPr/>
          <p:nvPr/>
        </p:nvCxnSpPr>
        <p:spPr>
          <a:xfrm>
            <a:off x="4800600" y="1983260"/>
            <a:ext cx="3977700" cy="0"/>
          </a:xfrm>
          <a:prstGeom prst="straightConnector1">
            <a:avLst/>
          </a:prstGeom>
          <a:noFill/>
          <a:ln w="9525" cap="flat" cmpd="sng">
            <a:solidFill>
              <a:srgbClr val="888888"/>
            </a:solidFill>
            <a:prstDash val="solid"/>
            <a:round/>
            <a:headEnd type="none" w="sm" len="sm"/>
            <a:tailEnd type="none" w="sm" len="sm"/>
          </a:ln>
        </p:spPr>
      </p:cxnSp>
      <p:sp>
        <p:nvSpPr>
          <p:cNvPr id="1095" name="Google Shape;1095;p64"/>
          <p:cNvSpPr/>
          <p:nvPr/>
        </p:nvSpPr>
        <p:spPr>
          <a:xfrm>
            <a:off x="4892040" y="179394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Storage: Azure PE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6" name="Google Shape;1096;p64"/>
          <p:cNvSpPr/>
          <p:nvPr/>
        </p:nvSpPr>
        <p:spPr>
          <a:xfrm>
            <a:off x="6883223" y="1795107"/>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{{DSS_AZ1}}</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097" name="Google Shape;1097;p64"/>
          <p:cNvSpPr/>
          <p:nvPr/>
        </p:nvSpPr>
        <p:spPr>
          <a:xfrm>
            <a:off x="4800600" y="1983260"/>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098" name="Google Shape;1098;p64"/>
          <p:cNvCxnSpPr/>
          <p:nvPr/>
        </p:nvCxnSpPr>
        <p:spPr>
          <a:xfrm>
            <a:off x="4800600" y="2171414"/>
            <a:ext cx="3977700" cy="0"/>
          </a:xfrm>
          <a:prstGeom prst="straightConnector1">
            <a:avLst/>
          </a:prstGeom>
          <a:noFill/>
          <a:ln w="9525" cap="flat" cmpd="sng">
            <a:solidFill>
              <a:srgbClr val="888888"/>
            </a:solidFill>
            <a:prstDash val="solid"/>
            <a:round/>
            <a:headEnd type="none" w="sm" len="sm"/>
            <a:tailEnd type="none" w="sm" len="sm"/>
          </a:ln>
        </p:spPr>
      </p:cxnSp>
      <p:sp>
        <p:nvSpPr>
          <p:cNvPr id="1099" name="Google Shape;1099;p64"/>
          <p:cNvSpPr/>
          <p:nvPr/>
        </p:nvSpPr>
        <p:spPr>
          <a:xfrm>
            <a:off x="4892040" y="1984540"/>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Storage: Azure PE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0" name="Google Shape;1100;p64"/>
          <p:cNvSpPr/>
          <p:nvPr/>
        </p:nvSpPr>
        <p:spPr>
          <a:xfrm>
            <a:off x="6883223" y="1983260"/>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{{DSS_AZ2}}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1" name="Google Shape;1101;p64"/>
          <p:cNvSpPr/>
          <p:nvPr/>
        </p:nvSpPr>
        <p:spPr>
          <a:xfrm>
            <a:off x="4800600" y="2553470"/>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02" name="Google Shape;1102;p64"/>
          <p:cNvCxnSpPr/>
          <p:nvPr/>
        </p:nvCxnSpPr>
        <p:spPr>
          <a:xfrm>
            <a:off x="4800600" y="2741624"/>
            <a:ext cx="3977700" cy="0"/>
          </a:xfrm>
          <a:prstGeom prst="straightConnector1">
            <a:avLst/>
          </a:prstGeom>
          <a:noFill/>
          <a:ln w="9525" cap="flat" cmpd="sng">
            <a:solidFill>
              <a:srgbClr val="888888"/>
            </a:solidFill>
            <a:prstDash val="solid"/>
            <a:round/>
            <a:headEnd type="none" w="sm" len="sm"/>
            <a:tailEnd type="none" w="sm" len="sm"/>
          </a:ln>
        </p:spPr>
      </p:cxnSp>
      <p:sp>
        <p:nvSpPr>
          <p:cNvPr id="1103" name="Google Shape;1103;p64"/>
          <p:cNvSpPr/>
          <p:nvPr/>
        </p:nvSpPr>
        <p:spPr>
          <a:xfrm>
            <a:off x="4892040" y="2556316"/>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Virtual Drives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4" name="Google Shape;1104;p64"/>
          <p:cNvSpPr/>
          <p:nvPr/>
        </p:nvSpPr>
        <p:spPr>
          <a:xfrm>
            <a:off x="6883223" y="2553470"/>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{{DSS_VDRV}}</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5" name="Google Shape;1105;p64"/>
          <p:cNvSpPr/>
          <p:nvPr/>
        </p:nvSpPr>
        <p:spPr>
          <a:xfrm>
            <a:off x="7864530" y="2578982"/>
            <a:ext cx="943800" cy="1578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9CA3AF"/>
              </a:buClr>
              <a:buSzPts val="5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{{DSS_VDRV_R}}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6" name="Google Shape;1106;p64"/>
          <p:cNvSpPr/>
          <p:nvPr/>
        </p:nvSpPr>
        <p:spPr>
          <a:xfrm>
            <a:off x="4800600" y="2741624"/>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07" name="Google Shape;1107;p64"/>
          <p:cNvCxnSpPr/>
          <p:nvPr/>
        </p:nvCxnSpPr>
        <p:spPr>
          <a:xfrm>
            <a:off x="4800600" y="2929777"/>
            <a:ext cx="3977700" cy="0"/>
          </a:xfrm>
          <a:prstGeom prst="straightConnector1">
            <a:avLst/>
          </a:prstGeom>
          <a:noFill/>
          <a:ln w="9525" cap="flat" cmpd="sng">
            <a:solidFill>
              <a:srgbClr val="888888"/>
            </a:solidFill>
            <a:prstDash val="solid"/>
            <a:round/>
            <a:headEnd type="none" w="sm" len="sm"/>
            <a:tailEnd type="none" w="sm" len="sm"/>
          </a:ln>
        </p:spPr>
      </p:cxnSp>
      <p:sp>
        <p:nvSpPr>
          <p:cNvPr id="1108" name="Google Shape;1108;p64"/>
          <p:cNvSpPr/>
          <p:nvPr/>
        </p:nvSpPr>
        <p:spPr>
          <a:xfrm>
            <a:off x="4892040" y="274690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Cloud Managed Databases (PaaS)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09" name="Google Shape;1109;p64"/>
          <p:cNvSpPr/>
          <p:nvPr/>
        </p:nvSpPr>
        <p:spPr>
          <a:xfrm>
            <a:off x="6883223" y="2741624"/>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{{DSS_PAAS}}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0" name="Google Shape;1110;p64"/>
          <p:cNvSpPr/>
          <p:nvPr/>
        </p:nvSpPr>
        <p:spPr>
          <a:xfrm>
            <a:off x="4800600" y="2929777"/>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11" name="Google Shape;1111;p64"/>
          <p:cNvCxnSpPr/>
          <p:nvPr/>
        </p:nvCxnSpPr>
        <p:spPr>
          <a:xfrm>
            <a:off x="4800600" y="3117931"/>
            <a:ext cx="3977700" cy="0"/>
          </a:xfrm>
          <a:prstGeom prst="straightConnector1">
            <a:avLst/>
          </a:prstGeom>
          <a:noFill/>
          <a:ln w="9525" cap="flat" cmpd="sng">
            <a:solidFill>
              <a:srgbClr val="888888"/>
            </a:solidFill>
            <a:prstDash val="solid"/>
            <a:round/>
            <a:headEnd type="none" w="sm" len="sm"/>
            <a:tailEnd type="none" w="sm" len="sm"/>
          </a:ln>
        </p:spPr>
      </p:cxnSp>
      <p:sp>
        <p:nvSpPr>
          <p:cNvPr id="1112" name="Google Shape;1112;p64"/>
          <p:cNvSpPr/>
          <p:nvPr/>
        </p:nvSpPr>
        <p:spPr>
          <a:xfrm>
            <a:off x="4892040" y="2937500"/>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Data Warehouses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3" name="Google Shape;1113;p64"/>
          <p:cNvSpPr/>
          <p:nvPr/>
        </p:nvSpPr>
        <p:spPr>
          <a:xfrm>
            <a:off x="6883223" y="2929777"/>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{{DSS_DW}}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4" name="Google Shape;1114;p64"/>
          <p:cNvSpPr/>
          <p:nvPr/>
        </p:nvSpPr>
        <p:spPr>
          <a:xfrm>
            <a:off x="4800600" y="3117931"/>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15" name="Google Shape;1115;p64"/>
          <p:cNvCxnSpPr/>
          <p:nvPr/>
        </p:nvCxnSpPr>
        <p:spPr>
          <a:xfrm>
            <a:off x="4800600" y="3306084"/>
            <a:ext cx="3977700" cy="0"/>
          </a:xfrm>
          <a:prstGeom prst="straightConnector1">
            <a:avLst/>
          </a:prstGeom>
          <a:noFill/>
          <a:ln w="9525" cap="flat" cmpd="sng">
            <a:solidFill>
              <a:srgbClr val="888888"/>
            </a:solidFill>
            <a:prstDash val="solid"/>
            <a:round/>
            <a:headEnd type="none" w="sm" len="sm"/>
            <a:tailEnd type="none" w="sm" len="sm"/>
          </a:ln>
        </p:spPr>
      </p:cxnSp>
      <p:sp>
        <p:nvSpPr>
          <p:cNvPr id="1116" name="Google Shape;1116;p64"/>
          <p:cNvSpPr/>
          <p:nvPr/>
        </p:nvSpPr>
        <p:spPr>
          <a:xfrm>
            <a:off x="4892040" y="3128092"/>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Google BigQuery</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7" name="Google Shape;1117;p64"/>
          <p:cNvSpPr/>
          <p:nvPr/>
        </p:nvSpPr>
        <p:spPr>
          <a:xfrm>
            <a:off x="6883223" y="3117931"/>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{{DSS_BQ}}</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18" name="Google Shape;1118;p64"/>
          <p:cNvSpPr/>
          <p:nvPr/>
        </p:nvSpPr>
        <p:spPr>
          <a:xfrm>
            <a:off x="4800600" y="3306084"/>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19" name="Google Shape;1119;p64"/>
          <p:cNvCxnSpPr/>
          <p:nvPr/>
        </p:nvCxnSpPr>
        <p:spPr>
          <a:xfrm>
            <a:off x="4800600" y="3494238"/>
            <a:ext cx="3977700" cy="0"/>
          </a:xfrm>
          <a:prstGeom prst="straightConnector1">
            <a:avLst/>
          </a:prstGeom>
          <a:noFill/>
          <a:ln w="9525" cap="flat" cmpd="sng">
            <a:solidFill>
              <a:srgbClr val="888888"/>
            </a:solidFill>
            <a:prstDash val="solid"/>
            <a:round/>
            <a:headEnd type="none" w="sm" len="sm"/>
            <a:tailEnd type="none" w="sm" len="sm"/>
          </a:ln>
        </p:spPr>
      </p:cxnSp>
      <p:sp>
        <p:nvSpPr>
          <p:cNvPr id="1120" name="Google Shape;1120;p64"/>
          <p:cNvSpPr/>
          <p:nvPr/>
        </p:nvSpPr>
        <p:spPr>
          <a:xfrm>
            <a:off x="4892040" y="3318684"/>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Amazon DynamoDB</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1" name="Google Shape;1121;p64"/>
          <p:cNvSpPr/>
          <p:nvPr/>
        </p:nvSpPr>
        <p:spPr>
          <a:xfrm>
            <a:off x="6883223" y="3306084"/>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{{DSS_DDB}}</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2" name="Google Shape;1122;p64"/>
          <p:cNvSpPr/>
          <p:nvPr/>
        </p:nvSpPr>
        <p:spPr>
          <a:xfrm>
            <a:off x="4800600" y="3494238"/>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23" name="Google Shape;1123;p64"/>
          <p:cNvCxnSpPr/>
          <p:nvPr/>
        </p:nvCxnSpPr>
        <p:spPr>
          <a:xfrm>
            <a:off x="4800600" y="3682392"/>
            <a:ext cx="3977700" cy="0"/>
          </a:xfrm>
          <a:prstGeom prst="straightConnector1">
            <a:avLst/>
          </a:prstGeom>
          <a:noFill/>
          <a:ln w="9525" cap="flat" cmpd="sng">
            <a:solidFill>
              <a:srgbClr val="888888"/>
            </a:solidFill>
            <a:prstDash val="solid"/>
            <a:round/>
            <a:headEnd type="none" w="sm" len="sm"/>
            <a:tailEnd type="none" w="sm" len="sm"/>
          </a:ln>
        </p:spPr>
      </p:cxnSp>
      <p:sp>
        <p:nvSpPr>
          <p:cNvPr id="1124" name="Google Shape;1124;p64"/>
          <p:cNvSpPr/>
          <p:nvPr/>
        </p:nvSpPr>
        <p:spPr>
          <a:xfrm>
            <a:off x="4892040" y="3509276"/>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Snowflake</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5" name="Google Shape;1125;p64"/>
          <p:cNvSpPr/>
          <p:nvPr/>
        </p:nvSpPr>
        <p:spPr>
          <a:xfrm>
            <a:off x="6883223" y="3494238"/>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{{DSS_SNOW}}</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6" name="Google Shape;1126;p64"/>
          <p:cNvSpPr/>
          <p:nvPr/>
        </p:nvSpPr>
        <p:spPr>
          <a:xfrm>
            <a:off x="4800600" y="3682392"/>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27" name="Google Shape;1127;p64"/>
          <p:cNvCxnSpPr/>
          <p:nvPr/>
        </p:nvCxnSpPr>
        <p:spPr>
          <a:xfrm>
            <a:off x="4800600" y="3870545"/>
            <a:ext cx="3977700" cy="0"/>
          </a:xfrm>
          <a:prstGeom prst="straightConnector1">
            <a:avLst/>
          </a:prstGeom>
          <a:noFill/>
          <a:ln w="9525" cap="flat" cmpd="sng">
            <a:solidFill>
              <a:srgbClr val="888888"/>
            </a:solidFill>
            <a:prstDash val="solid"/>
            <a:round/>
            <a:headEnd type="none" w="sm" len="sm"/>
            <a:tailEnd type="none" w="sm" len="sm"/>
          </a:ln>
        </p:spPr>
      </p:cxnSp>
      <p:sp>
        <p:nvSpPr>
          <p:cNvPr id="1128" name="Google Shape;1128;p64"/>
          <p:cNvSpPr/>
          <p:nvPr/>
        </p:nvSpPr>
        <p:spPr>
          <a:xfrm>
            <a:off x="4892040" y="3699868"/>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Hosted Databases (IaaS)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29" name="Google Shape;1129;p64"/>
          <p:cNvSpPr/>
          <p:nvPr/>
        </p:nvSpPr>
        <p:spPr>
          <a:xfrm>
            <a:off x="6883223" y="3682392"/>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{{DSS_IAAS}}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0" name="Google Shape;1130;p64"/>
          <p:cNvSpPr/>
          <p:nvPr/>
        </p:nvSpPr>
        <p:spPr>
          <a:xfrm>
            <a:off x="4800600" y="3870545"/>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31" name="Google Shape;1131;p64"/>
          <p:cNvCxnSpPr/>
          <p:nvPr/>
        </p:nvCxnSpPr>
        <p:spPr>
          <a:xfrm>
            <a:off x="4800600" y="4058699"/>
            <a:ext cx="3977700" cy="0"/>
          </a:xfrm>
          <a:prstGeom prst="straightConnector1">
            <a:avLst/>
          </a:prstGeom>
          <a:noFill/>
          <a:ln w="9525" cap="flat" cmpd="sng">
            <a:solidFill>
              <a:srgbClr val="888888"/>
            </a:solidFill>
            <a:prstDash val="solid"/>
            <a:round/>
            <a:headEnd type="none" w="sm" len="sm"/>
            <a:tailEnd type="none" w="sm" len="sm"/>
          </a:ln>
        </p:spPr>
      </p:cxnSp>
      <p:sp>
        <p:nvSpPr>
          <p:cNvPr id="1132" name="Google Shape;1132;p64"/>
          <p:cNvSpPr/>
          <p:nvPr/>
        </p:nvSpPr>
        <p:spPr>
          <a:xfrm>
            <a:off x="4892040" y="3890460"/>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VM Disks (OS and non-OS)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3" name="Google Shape;1133;p64"/>
          <p:cNvSpPr/>
          <p:nvPr/>
        </p:nvSpPr>
        <p:spPr>
          <a:xfrm>
            <a:off x="6883223" y="3870545"/>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{{DSS_VMD}}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4" name="Google Shape;1134;p64"/>
          <p:cNvSpPr/>
          <p:nvPr/>
        </p:nvSpPr>
        <p:spPr>
          <a:xfrm>
            <a:off x="4800600" y="4058699"/>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35" name="Google Shape;1135;p64"/>
          <p:cNvCxnSpPr/>
          <p:nvPr/>
        </p:nvCxnSpPr>
        <p:spPr>
          <a:xfrm>
            <a:off x="4800600" y="4246852"/>
            <a:ext cx="3977700" cy="0"/>
          </a:xfrm>
          <a:prstGeom prst="straightConnector1">
            <a:avLst/>
          </a:prstGeom>
          <a:noFill/>
          <a:ln w="9525" cap="flat" cmpd="sng">
            <a:solidFill>
              <a:srgbClr val="888888"/>
            </a:solidFill>
            <a:prstDash val="solid"/>
            <a:round/>
            <a:headEnd type="none" w="sm" len="sm"/>
            <a:tailEnd type="none" w="sm" len="sm"/>
          </a:ln>
        </p:spPr>
      </p:cxnSp>
      <p:sp>
        <p:nvSpPr>
          <p:cNvPr id="1136" name="Google Shape;1136;p64"/>
          <p:cNvSpPr/>
          <p:nvPr/>
        </p:nvSpPr>
        <p:spPr>
          <a:xfrm>
            <a:off x="4892040" y="4081051"/>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Serverless Functions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7" name="Google Shape;1137;p64"/>
          <p:cNvSpPr/>
          <p:nvPr/>
        </p:nvSpPr>
        <p:spPr>
          <a:xfrm>
            <a:off x="6883223" y="4058699"/>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{{DSS_SLS}}</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38" name="Google Shape;1138;p64"/>
          <p:cNvSpPr/>
          <p:nvPr/>
        </p:nvSpPr>
        <p:spPr>
          <a:xfrm>
            <a:off x="4800600" y="4246852"/>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39" name="Google Shape;1139;p64"/>
          <p:cNvCxnSpPr/>
          <p:nvPr/>
        </p:nvCxnSpPr>
        <p:spPr>
          <a:xfrm>
            <a:off x="4800600" y="4435006"/>
            <a:ext cx="3977700" cy="0"/>
          </a:xfrm>
          <a:prstGeom prst="straightConnector1">
            <a:avLst/>
          </a:prstGeom>
          <a:noFill/>
          <a:ln w="9525" cap="flat" cmpd="sng">
            <a:solidFill>
              <a:srgbClr val="888888"/>
            </a:solidFill>
            <a:prstDash val="solid"/>
            <a:round/>
            <a:headEnd type="none" w="sm" len="sm"/>
            <a:tailEnd type="none" w="sm" len="sm"/>
          </a:ln>
        </p:spPr>
      </p:cxnSp>
      <p:sp>
        <p:nvSpPr>
          <p:cNvPr id="1140" name="Google Shape;1140;p64"/>
          <p:cNvSpPr/>
          <p:nvPr/>
        </p:nvSpPr>
        <p:spPr>
          <a:xfrm>
            <a:off x="4892040" y="4271643"/>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Vertex 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1" name="Google Shape;1141;p64"/>
          <p:cNvSpPr/>
          <p:nvPr/>
        </p:nvSpPr>
        <p:spPr>
          <a:xfrm>
            <a:off x="6883223" y="4246852"/>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{{DSS_AIV}}</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2" name="Google Shape;1142;p64"/>
          <p:cNvSpPr/>
          <p:nvPr/>
        </p:nvSpPr>
        <p:spPr>
          <a:xfrm>
            <a:off x="4816611" y="4449251"/>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43" name="Google Shape;1143;p64"/>
          <p:cNvCxnSpPr/>
          <p:nvPr/>
        </p:nvCxnSpPr>
        <p:spPr>
          <a:xfrm>
            <a:off x="4816611" y="4637405"/>
            <a:ext cx="3977700" cy="0"/>
          </a:xfrm>
          <a:prstGeom prst="straightConnector1">
            <a:avLst/>
          </a:prstGeom>
          <a:noFill/>
          <a:ln w="9525" cap="flat" cmpd="sng">
            <a:solidFill>
              <a:srgbClr val="888888"/>
            </a:solidFill>
            <a:prstDash val="solid"/>
            <a:round/>
            <a:headEnd type="none" w="sm" len="sm"/>
            <a:tailEnd type="none" w="sm" len="sm"/>
          </a:ln>
        </p:spPr>
      </p:cxnSp>
      <p:sp>
        <p:nvSpPr>
          <p:cNvPr id="1144" name="Google Shape;1144;p64"/>
          <p:cNvSpPr/>
          <p:nvPr/>
        </p:nvSpPr>
        <p:spPr>
          <a:xfrm>
            <a:off x="4908051" y="4462235"/>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Azure OpenAI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5" name="Google Shape;1145;p64"/>
          <p:cNvSpPr/>
          <p:nvPr/>
        </p:nvSpPr>
        <p:spPr>
          <a:xfrm>
            <a:off x="6899234" y="4449251"/>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{{DSS_AIAO}}</a:t>
            </a:r>
            <a:endParaRPr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6" name="Google Shape;1146;p64"/>
          <p:cNvSpPr/>
          <p:nvPr/>
        </p:nvSpPr>
        <p:spPr>
          <a:xfrm>
            <a:off x="4816611" y="4637405"/>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7" name="Google Shape;1147;p64"/>
          <p:cNvSpPr/>
          <p:nvPr/>
        </p:nvSpPr>
        <p:spPr>
          <a:xfrm>
            <a:off x="4908051" y="4652827"/>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OpenAI</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8" name="Google Shape;1148;p64"/>
          <p:cNvSpPr/>
          <p:nvPr/>
        </p:nvSpPr>
        <p:spPr>
          <a:xfrm>
            <a:off x="6899234" y="4637405"/>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{{DSS_AIOA}}</a:t>
            </a:r>
            <a:endParaRPr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49" name="Google Shape;1149;p64"/>
          <p:cNvSpPr/>
          <p:nvPr/>
        </p:nvSpPr>
        <p:spPr>
          <a:xfrm>
            <a:off x="4816865" y="4843419"/>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0" name="Google Shape;1150;p64"/>
          <p:cNvSpPr/>
          <p:nvPr/>
        </p:nvSpPr>
        <p:spPr>
          <a:xfrm>
            <a:off x="4908305" y="4843419"/>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Shadow Data</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1" name="Google Shape;1151;p64"/>
          <p:cNvSpPr/>
          <p:nvPr/>
        </p:nvSpPr>
        <p:spPr>
          <a:xfrm>
            <a:off x="6899488" y="4843419"/>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{{DSS_SHAD}}</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2" name="Google Shape;1152;p64"/>
          <p:cNvSpPr txBox="1"/>
          <p:nvPr/>
        </p:nvSpPr>
        <p:spPr>
          <a:xfrm>
            <a:off x="3395224" y="1457671"/>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{{VS_OSPKG_R}}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3" name="Google Shape;1153;p64"/>
          <p:cNvSpPr txBox="1"/>
          <p:nvPr/>
        </p:nvSpPr>
        <p:spPr>
          <a:xfrm>
            <a:off x="3395224" y="1705822"/>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{{VS_WINB_R}}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4" name="Google Shape;1154;p64"/>
          <p:cNvSpPr txBox="1"/>
          <p:nvPr/>
        </p:nvSpPr>
        <p:spPr>
          <a:xfrm>
            <a:off x="3395224" y="1953974"/>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{{VS_GOSTD_R}}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5" name="Google Shape;1155;p64"/>
          <p:cNvSpPr txBox="1"/>
          <p:nvPr/>
        </p:nvSpPr>
        <p:spPr>
          <a:xfrm>
            <a:off x="3395224" y="2202126"/>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{{VS_EXCL_R}}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6" name="Google Shape;1156;p64"/>
          <p:cNvSpPr txBox="1"/>
          <p:nvPr/>
        </p:nvSpPr>
        <p:spPr>
          <a:xfrm>
            <a:off x="3395224" y="2450277"/>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{{VS_RHOS_R}}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7" name="Google Shape;1157;p64"/>
          <p:cNvSpPr txBox="1"/>
          <p:nvPr/>
        </p:nvSpPr>
        <p:spPr>
          <a:xfrm>
            <a:off x="3395224" y="3445924"/>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{{VS_MAVEN_R}}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8" name="Google Shape;1158;p64"/>
          <p:cNvSpPr txBox="1"/>
          <p:nvPr/>
        </p:nvSpPr>
        <p:spPr>
          <a:xfrm>
            <a:off x="3395224" y="3694076"/>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{{VS_JSDEP_R}}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59" name="Google Shape;1159;p64"/>
          <p:cNvSpPr txBox="1"/>
          <p:nvPr/>
        </p:nvSpPr>
        <p:spPr>
          <a:xfrm>
            <a:off x="3395224" y="3942227"/>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{{VS_GRADL_R}}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0" name="Google Shape;1160;p64"/>
          <p:cNvSpPr txBox="1"/>
          <p:nvPr/>
        </p:nvSpPr>
        <p:spPr>
          <a:xfrm>
            <a:off x="3395224" y="4190379"/>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{{VS_EOL_R}}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1" name="Google Shape;1161;p64"/>
          <p:cNvSpPr txBox="1"/>
          <p:nvPr/>
        </p:nvSpPr>
        <p:spPr>
          <a:xfrm>
            <a:off x="7864530" y="1338961"/>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{{DSS_ON_R}}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2" name="Google Shape;1162;p64"/>
          <p:cNvSpPr txBox="1"/>
          <p:nvPr/>
        </p:nvSpPr>
        <p:spPr>
          <a:xfrm>
            <a:off x="7864530" y="1819992"/>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{{DSS_AZ1_R}}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3" name="Google Shape;1163;p64"/>
          <p:cNvSpPr txBox="1"/>
          <p:nvPr/>
        </p:nvSpPr>
        <p:spPr>
          <a:xfrm>
            <a:off x="7864530" y="200845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{{DSS_AZ2_R}}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4" name="Google Shape;1164;p64"/>
          <p:cNvSpPr txBox="1"/>
          <p:nvPr/>
        </p:nvSpPr>
        <p:spPr>
          <a:xfrm>
            <a:off x="7864530" y="2767448"/>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{{DSS_PAAS_R}}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5" name="Google Shape;1165;p64"/>
          <p:cNvSpPr txBox="1"/>
          <p:nvPr/>
        </p:nvSpPr>
        <p:spPr>
          <a:xfrm>
            <a:off x="7854823" y="2955915"/>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{{DSS_DW_R}}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6" name="Google Shape;1166;p64"/>
          <p:cNvSpPr txBox="1"/>
          <p:nvPr/>
        </p:nvSpPr>
        <p:spPr>
          <a:xfrm>
            <a:off x="7854823" y="3144382"/>
            <a:ext cx="946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{{DSS_BQ_R}}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7" name="Google Shape;1167;p64"/>
          <p:cNvSpPr txBox="1"/>
          <p:nvPr/>
        </p:nvSpPr>
        <p:spPr>
          <a:xfrm>
            <a:off x="7864530" y="333284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{{DSS_DDB_R}}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8" name="Google Shape;1168;p64"/>
          <p:cNvSpPr txBox="1"/>
          <p:nvPr/>
        </p:nvSpPr>
        <p:spPr>
          <a:xfrm>
            <a:off x="7864530" y="3521315"/>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{{DSS_SNOW_R}}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69" name="Google Shape;1169;p64"/>
          <p:cNvSpPr txBox="1"/>
          <p:nvPr/>
        </p:nvSpPr>
        <p:spPr>
          <a:xfrm>
            <a:off x="7864530" y="3709782"/>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{{DSS_IAAS_R}}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70" name="Google Shape;1170;p64"/>
          <p:cNvSpPr txBox="1"/>
          <p:nvPr/>
        </p:nvSpPr>
        <p:spPr>
          <a:xfrm>
            <a:off x="7864530" y="3898249"/>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{{DSS_VMD_R}}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71" name="Google Shape;1171;p64"/>
          <p:cNvSpPr txBox="1"/>
          <p:nvPr/>
        </p:nvSpPr>
        <p:spPr>
          <a:xfrm>
            <a:off x="7864530" y="4086716"/>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{{DSS_SLS_R}}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72" name="Google Shape;1172;p64"/>
          <p:cNvSpPr txBox="1"/>
          <p:nvPr/>
        </p:nvSpPr>
        <p:spPr>
          <a:xfrm>
            <a:off x="7864530" y="4275183"/>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{{DSS_AIV_R}}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73" name="Google Shape;1173;p64"/>
          <p:cNvSpPr txBox="1"/>
          <p:nvPr/>
        </p:nvSpPr>
        <p:spPr>
          <a:xfrm>
            <a:off x="7880542" y="4477894"/>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{{DSS_AIAO_R}}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74" name="Google Shape;1174;p64"/>
          <p:cNvSpPr txBox="1"/>
          <p:nvPr/>
        </p:nvSpPr>
        <p:spPr>
          <a:xfrm>
            <a:off x="7880542" y="4666361"/>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{{DSS_AIOA_R}}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75" name="Google Shape;1175;p64"/>
          <p:cNvSpPr txBox="1"/>
          <p:nvPr/>
        </p:nvSpPr>
        <p:spPr>
          <a:xfrm>
            <a:off x="7880549" y="4830150"/>
            <a:ext cx="943800" cy="1881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{{DSS_SHAD_R}}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76" name="Google Shape;1176;p64"/>
          <p:cNvCxnSpPr/>
          <p:nvPr/>
        </p:nvCxnSpPr>
        <p:spPr>
          <a:xfrm>
            <a:off x="383107" y="4139500"/>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7" name="Google Shape;1177;p64"/>
          <p:cNvCxnSpPr/>
          <p:nvPr/>
        </p:nvCxnSpPr>
        <p:spPr>
          <a:xfrm>
            <a:off x="380066" y="3648302"/>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8" name="Google Shape;1178;p64"/>
          <p:cNvCxnSpPr/>
          <p:nvPr/>
        </p:nvCxnSpPr>
        <p:spPr>
          <a:xfrm>
            <a:off x="360551" y="3158776"/>
            <a:ext cx="3977700" cy="0"/>
          </a:xfrm>
          <a:prstGeom prst="straightConnector1">
            <a:avLst/>
          </a:prstGeom>
          <a:noFill/>
          <a:ln w="9525" cap="flat" cmpd="sng">
            <a:solidFill>
              <a:srgbClr val="888888"/>
            </a:solidFill>
            <a:prstDash val="solid"/>
            <a:round/>
            <a:headEnd type="none" w="sm" len="sm"/>
            <a:tailEnd type="none" w="sm" len="sm"/>
          </a:ln>
        </p:spPr>
      </p:cxnSp>
      <p:cxnSp>
        <p:nvCxnSpPr>
          <p:cNvPr id="1179" name="Google Shape;1179;p64"/>
          <p:cNvCxnSpPr/>
          <p:nvPr/>
        </p:nvCxnSpPr>
        <p:spPr>
          <a:xfrm>
            <a:off x="349400" y="2660090"/>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0" name="Google Shape;1180;p64"/>
          <p:cNvCxnSpPr/>
          <p:nvPr/>
        </p:nvCxnSpPr>
        <p:spPr>
          <a:xfrm>
            <a:off x="349653" y="2174706"/>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1" name="Google Shape;1181;p64"/>
          <p:cNvCxnSpPr/>
          <p:nvPr/>
        </p:nvCxnSpPr>
        <p:spPr>
          <a:xfrm>
            <a:off x="352695" y="1683508"/>
            <a:ext cx="3977700" cy="0"/>
          </a:xfrm>
          <a:prstGeom prst="straightConnector1">
            <a:avLst/>
          </a:prstGeom>
          <a:noFill/>
          <a:ln w="9525" cap="flat" cmpd="sng">
            <a:solidFill>
              <a:srgbClr val="888888"/>
            </a:solidFill>
            <a:prstDash val="solid"/>
            <a:round/>
            <a:headEnd type="none" w="sm" len="sm"/>
            <a:tailEnd type="none" w="sm" len="sm"/>
          </a:ln>
        </p:spPr>
      </p:cxnSp>
      <p:cxnSp>
        <p:nvCxnSpPr>
          <p:cNvPr id="1182" name="Google Shape;1182;p64"/>
          <p:cNvCxnSpPr/>
          <p:nvPr/>
        </p:nvCxnSpPr>
        <p:spPr>
          <a:xfrm>
            <a:off x="4817960" y="1322458"/>
            <a:ext cx="3977700" cy="0"/>
          </a:xfrm>
          <a:prstGeom prst="straightConnector1">
            <a:avLst/>
          </a:prstGeom>
          <a:noFill/>
          <a:ln w="14300" cap="flat" cmpd="sng">
            <a:solidFill>
              <a:srgbClr val="888888"/>
            </a:solidFill>
            <a:prstDash val="solid"/>
            <a:round/>
            <a:headEnd type="none" w="sm" len="sm"/>
            <a:tailEnd type="none" w="sm" len="sm"/>
          </a:ln>
        </p:spPr>
      </p:cxnSp>
      <p:cxnSp>
        <p:nvCxnSpPr>
          <p:cNvPr id="1183" name="Google Shape;1183;p64"/>
          <p:cNvCxnSpPr/>
          <p:nvPr/>
        </p:nvCxnSpPr>
        <p:spPr>
          <a:xfrm>
            <a:off x="370950" y="1408929"/>
            <a:ext cx="3977700" cy="0"/>
          </a:xfrm>
          <a:prstGeom prst="straightConnector1">
            <a:avLst/>
          </a:prstGeom>
          <a:noFill/>
          <a:ln w="14300" cap="flat" cmpd="sng">
            <a:solidFill>
              <a:srgbClr val="888888"/>
            </a:solidFill>
            <a:prstDash val="solid"/>
            <a:round/>
            <a:headEnd type="none" w="sm" len="sm"/>
            <a:tailEnd type="none" w="sm" len="sm"/>
          </a:ln>
        </p:spPr>
      </p:cxnSp>
      <p:sp>
        <p:nvSpPr>
          <p:cNvPr id="1184" name="Google Shape;1184;p64"/>
          <p:cNvSpPr/>
          <p:nvPr/>
        </p:nvSpPr>
        <p:spPr>
          <a:xfrm>
            <a:off x="4805920" y="2181309"/>
            <a:ext cx="3977700" cy="1881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85" name="Google Shape;1185;p64"/>
          <p:cNvCxnSpPr/>
          <p:nvPr/>
        </p:nvCxnSpPr>
        <p:spPr>
          <a:xfrm>
            <a:off x="4805920" y="2369463"/>
            <a:ext cx="3977700" cy="0"/>
          </a:xfrm>
          <a:prstGeom prst="straightConnector1">
            <a:avLst/>
          </a:prstGeom>
          <a:noFill/>
          <a:ln w="9525" cap="flat" cmpd="sng">
            <a:solidFill>
              <a:srgbClr val="888888"/>
            </a:solidFill>
            <a:prstDash val="solid"/>
            <a:round/>
            <a:headEnd type="none" w="sm" len="sm"/>
            <a:tailEnd type="none" w="sm" len="sm"/>
          </a:ln>
        </p:spPr>
      </p:cxnSp>
      <p:sp>
        <p:nvSpPr>
          <p:cNvPr id="1186" name="Google Shape;1186;p64"/>
          <p:cNvSpPr/>
          <p:nvPr/>
        </p:nvSpPr>
        <p:spPr>
          <a:xfrm>
            <a:off x="4897361" y="2175132"/>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CosmosDB: Azure PE (Disabled Public)</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87" name="Google Shape;1187;p64"/>
          <p:cNvSpPr/>
          <p:nvPr/>
        </p:nvSpPr>
        <p:spPr>
          <a:xfrm>
            <a:off x="6888543" y="2181309"/>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{{DSS_CDBAZ1}}</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88" name="Google Shape;1188;p64"/>
          <p:cNvSpPr/>
          <p:nvPr/>
        </p:nvSpPr>
        <p:spPr>
          <a:xfrm>
            <a:off x="4805920" y="2369463"/>
            <a:ext cx="3977700" cy="1881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89" name="Google Shape;1189;p64"/>
          <p:cNvCxnSpPr/>
          <p:nvPr/>
        </p:nvCxnSpPr>
        <p:spPr>
          <a:xfrm>
            <a:off x="4805920" y="2563319"/>
            <a:ext cx="3977700" cy="0"/>
          </a:xfrm>
          <a:prstGeom prst="straightConnector1">
            <a:avLst/>
          </a:prstGeom>
          <a:noFill/>
          <a:ln w="9525" cap="flat" cmpd="sng">
            <a:solidFill>
              <a:srgbClr val="888888"/>
            </a:solidFill>
            <a:prstDash val="solid"/>
            <a:round/>
            <a:headEnd type="none" w="sm" len="sm"/>
            <a:tailEnd type="none" w="sm" len="sm"/>
          </a:ln>
        </p:spPr>
      </p:cxnSp>
      <p:sp>
        <p:nvSpPr>
          <p:cNvPr id="1190" name="Google Shape;1190;p64"/>
          <p:cNvSpPr/>
          <p:nvPr/>
        </p:nvSpPr>
        <p:spPr>
          <a:xfrm>
            <a:off x="4897361" y="2365724"/>
            <a:ext cx="19704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CosmosDB: Azure PE (Selected VNets)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1" name="Google Shape;1191;p64"/>
          <p:cNvSpPr/>
          <p:nvPr/>
        </p:nvSpPr>
        <p:spPr>
          <a:xfrm>
            <a:off x="6888543" y="2369463"/>
            <a:ext cx="875100" cy="1881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{{DSS_CDBAZ2}}</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2" name="Google Shape;1192;p64"/>
          <p:cNvSpPr txBox="1"/>
          <p:nvPr/>
        </p:nvSpPr>
        <p:spPr>
          <a:xfrm>
            <a:off x="7869851" y="2206194"/>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{{DSS_CDBAZ1_R}}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3" name="Google Shape;1193;p64"/>
          <p:cNvSpPr txBox="1"/>
          <p:nvPr/>
        </p:nvSpPr>
        <p:spPr>
          <a:xfrm>
            <a:off x="7869851" y="2394661"/>
            <a:ext cx="943800" cy="1578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{{DSS_CDBAZ2_R}}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94" name="Google Shape;1194;p64"/>
          <p:cNvCxnSpPr/>
          <p:nvPr/>
        </p:nvCxnSpPr>
        <p:spPr>
          <a:xfrm>
            <a:off x="4816611" y="4831261"/>
            <a:ext cx="3977700" cy="0"/>
          </a:xfrm>
          <a:prstGeom prst="straightConnector1">
            <a:avLst/>
          </a:prstGeom>
          <a:noFill/>
          <a:ln w="9525" cap="flat" cmpd="sng">
            <a:solidFill>
              <a:srgbClr val="888888"/>
            </a:solidFill>
            <a:prstDash val="solid"/>
            <a:round/>
            <a:headEnd type="none" w="sm" len="sm"/>
            <a:tailEnd type="none" w="sm" len="sm"/>
          </a:ln>
        </p:spPr>
      </p:cxnSp>
      <p:sp>
        <p:nvSpPr>
          <p:cNvPr id="1195" name="Google Shape;1195;p64"/>
          <p:cNvSpPr/>
          <p:nvPr/>
        </p:nvSpPr>
        <p:spPr>
          <a:xfrm>
            <a:off x="7042170" y="146730"/>
            <a:ext cx="2491200" cy="434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9CA3AF"/>
              </a:buClr>
              <a:buSzPts val="500"/>
              <a:buFont typeface="Arial"/>
              <a:buNone/>
            </a:pPr>
            <a: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Calibri"/>
              </a:rPr>
              <a:t>✓ = Aligned with Wiz Recommendation</a:t>
            </a:r>
            <a:br>
              <a:rPr lang="en" sz="800" b="1" i="0" u="none" strike="noStrike" cap="none">
                <a:solidFill>
                  <a:srgbClr val="218C21"/>
                </a:solidFill>
                <a:latin typeface="Calibri" panose="020F0502020204030204" pitchFamily="34" charset="0"/>
                <a:ea typeface="Calibri" panose="020F0502020204030204" pitchFamily="34" charset="0"/>
                <a:cs typeface="Calibri" panose="020F0502020204030204" pitchFamily="34" charset="0"/>
                <a:sym typeface="Calibri"/>
              </a:rPr>
            </a:br>
            <a:r>
              <a:rPr lang="en"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Calibri"/>
              </a:rPr>
              <a:t>✗ = May want to revisit configuration </a:t>
            </a:r>
            <a:endParaRPr sz="800" b="1" i="0" u="none" strike="noStrike" cap="none">
              <a:solidFill>
                <a:srgbClr val="CC1212"/>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rgbClr val="9CA3AF"/>
              </a:buClr>
              <a:buSzPts val="500"/>
              <a:buFont typeface="Arial"/>
              <a:buNone/>
            </a:pPr>
            <a:r>
              <a:rPr lang="en" sz="800" b="1"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N/A = Informational, customer preference</a:t>
            </a:r>
            <a:endParaRPr sz="10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6" name="Google Shape;1196;p64"/>
          <p:cNvSpPr/>
          <p:nvPr/>
        </p:nvSpPr>
        <p:spPr>
          <a:xfrm>
            <a:off x="366844" y="4379330"/>
            <a:ext cx="3977700" cy="2460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cxnSp>
        <p:nvCxnSpPr>
          <p:cNvPr id="1197" name="Google Shape;1197;p64"/>
          <p:cNvCxnSpPr/>
          <p:nvPr/>
        </p:nvCxnSpPr>
        <p:spPr>
          <a:xfrm>
            <a:off x="372419" y="4625423"/>
            <a:ext cx="3977700" cy="0"/>
          </a:xfrm>
          <a:prstGeom prst="straightConnector1">
            <a:avLst/>
          </a:prstGeom>
          <a:noFill/>
          <a:ln w="9525" cap="flat" cmpd="sng">
            <a:solidFill>
              <a:srgbClr val="888888"/>
            </a:solidFill>
            <a:prstDash val="solid"/>
            <a:round/>
            <a:headEnd type="none" w="sm" len="sm"/>
            <a:tailEnd type="none" w="sm" len="sm"/>
          </a:ln>
        </p:spPr>
      </p:cxnSp>
      <p:sp>
        <p:nvSpPr>
          <p:cNvPr id="1198" name="Google Shape;1198;p64"/>
          <p:cNvSpPr/>
          <p:nvPr/>
        </p:nvSpPr>
        <p:spPr>
          <a:xfrm>
            <a:off x="373120" y="4379331"/>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panose="020F0502020204030204" pitchFamily="34" charset="0"/>
                <a:ea typeface="Calibri" panose="020F0502020204030204" pitchFamily="34" charset="0"/>
                <a:cs typeface="Calibri" panose="020F0502020204030204" pitchFamily="34" charset="0"/>
                <a:sym typeface="Calibri"/>
              </a:rPr>
              <a:t>Linux Vulnerabilities</a:t>
            </a:r>
            <a:endParaRPr sz="8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199" name="Google Shape;1199;p64"/>
          <p:cNvSpPr/>
          <p:nvPr/>
        </p:nvSpPr>
        <p:spPr>
          <a:xfrm>
            <a:off x="2571260" y="4379330"/>
            <a:ext cx="8751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700"/>
              <a:buFont typeface="Arial"/>
              <a:buNone/>
            </a:pPr>
            <a:r>
              <a:rPr lang="en" sz="700" b="0" i="0" u="none" strike="noStrike" cap="none">
                <a:solidFill>
                  <a:srgbClr val="1A56DB"/>
                </a:solidFill>
                <a:latin typeface="Calibri" panose="020F0502020204030204" pitchFamily="34" charset="0"/>
                <a:ea typeface="Calibri" panose="020F0502020204030204" pitchFamily="34" charset="0"/>
                <a:cs typeface="Calibri" panose="020F0502020204030204" pitchFamily="34" charset="0"/>
                <a:sym typeface="Calibri"/>
              </a:rPr>
              <a:t>{{VS_LVULN}}</a:t>
            </a:r>
            <a:endParaRPr sz="700" b="0" i="0" u="none" strike="noStrike" cap="none">
              <a:solidFill>
                <a:schemeClr val="dk1"/>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00" name="Google Shape;1200;p64"/>
          <p:cNvSpPr txBox="1"/>
          <p:nvPr/>
        </p:nvSpPr>
        <p:spPr>
          <a:xfrm>
            <a:off x="3396898" y="4430702"/>
            <a:ext cx="956400" cy="184500"/>
          </a:xfrm>
          <a:prstGeom prst="rect">
            <a:avLst/>
          </a:prstGeom>
          <a:noFill/>
          <a:ln>
            <a:noFill/>
          </a:ln>
        </p:spPr>
        <p:txBody>
          <a:bodyPr spcFirstLastPara="1" wrap="square" lIns="68575" tIns="68575" rIns="68575" bIns="6857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en"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rPr>
              <a:t>{{VS_LVULN_R}}</a:t>
            </a:r>
            <a:endParaRPr sz="800" b="0" i="0" u="none" strike="noStrike" cap="none">
              <a:solidFill>
                <a:srgbClr val="595959"/>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201" name="Google Shape;1201;p64"/>
          <p:cNvSpPr/>
          <p:nvPr/>
        </p:nvSpPr>
        <p:spPr>
          <a:xfrm>
            <a:off x="239233" y="867612"/>
            <a:ext cx="4224479" cy="4146767"/>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Arial"/>
            </a:endParaRPr>
          </a:p>
        </p:txBody>
      </p:sp>
      <p:sp>
        <p:nvSpPr>
          <p:cNvPr id="1202" name="Google Shape;1202;p64"/>
          <p:cNvSpPr/>
          <p:nvPr/>
        </p:nvSpPr>
        <p:spPr>
          <a:xfrm>
            <a:off x="4671608" y="795592"/>
            <a:ext cx="4224479" cy="4277976"/>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Calibri" panose="020F0502020204030204" pitchFamily="34" charset="0"/>
              <a:ea typeface="Calibri" panose="020F0502020204030204" pitchFamily="34" charset="0"/>
              <a:cs typeface="Calibri" panose="020F0502020204030204" pitchFamily="34" charset="0"/>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07"/>
        <p:cNvGrpSpPr/>
        <p:nvPr/>
      </p:nvGrpSpPr>
      <p:grpSpPr>
        <a:xfrm>
          <a:off x="0" y="0"/>
          <a:ext cx="0" cy="0"/>
          <a:chOff x="0" y="0"/>
          <a:chExt cx="0" cy="0"/>
        </a:xfrm>
      </p:grpSpPr>
      <p:sp>
        <p:nvSpPr>
          <p:cNvPr id="1208" name="Google Shape;1208;p65"/>
          <p:cNvSpPr/>
          <p:nvPr/>
        </p:nvSpPr>
        <p:spPr>
          <a:xfrm>
            <a:off x="0" y="0"/>
            <a:ext cx="9144000" cy="54900"/>
          </a:xfrm>
          <a:prstGeom prst="rect">
            <a:avLst/>
          </a:prstGeom>
          <a:solidFill>
            <a:srgbClr val="1A56D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09" name="Google Shape;1209;p65"/>
          <p:cNvSpPr/>
          <p:nvPr/>
        </p:nvSpPr>
        <p:spPr>
          <a:xfrm>
            <a:off x="457200" y="164588"/>
            <a:ext cx="6944400" cy="3657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A56DB"/>
              </a:buClr>
              <a:buSzPts val="1600"/>
              <a:buFont typeface="DM Sans"/>
              <a:buNone/>
            </a:pPr>
            <a:r>
              <a:rPr lang="en" sz="2000" b="0" i="0" u="none" strike="noStrike" cap="none" dirty="0">
                <a:solidFill>
                  <a:schemeClr val="dk2"/>
                </a:solidFill>
                <a:latin typeface="Calibri"/>
                <a:ea typeface="Calibri"/>
                <a:cs typeface="Calibri"/>
                <a:sym typeface="Calibri"/>
              </a:rPr>
              <a:t>Potential Third-Party Principal Cleanup</a:t>
            </a:r>
            <a:endParaRPr sz="2000" b="0" i="0" u="none" strike="noStrike" cap="none" dirty="0">
              <a:solidFill>
                <a:schemeClr val="dk2"/>
              </a:solidFill>
              <a:latin typeface="Calibri"/>
              <a:ea typeface="Calibri"/>
              <a:cs typeface="Calibri"/>
              <a:sym typeface="Calibri"/>
            </a:endParaRPr>
          </a:p>
        </p:txBody>
      </p:sp>
      <p:sp>
        <p:nvSpPr>
          <p:cNvPr id="1210" name="Google Shape;1210;p65"/>
          <p:cNvSpPr/>
          <p:nvPr/>
        </p:nvSpPr>
        <p:spPr>
          <a:xfrm>
            <a:off x="457200" y="548650"/>
            <a:ext cx="8344500" cy="2286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dirty="0">
                <a:solidFill>
                  <a:srgbClr val="595959"/>
                </a:solidFill>
                <a:latin typeface="Calibri"/>
                <a:ea typeface="Calibri"/>
                <a:cs typeface="Calibri"/>
                <a:sym typeface="Calibri"/>
              </a:rPr>
              <a:t>Third-party principals detected in your cloud environments, grouped </a:t>
            </a:r>
            <a:r>
              <a:rPr lang="en" sz="1100" b="0" i="0" u="none" strike="noStrike" cap="none">
                <a:solidFill>
                  <a:srgbClr val="595959"/>
                </a:solidFill>
                <a:latin typeface="Calibri"/>
                <a:ea typeface="Calibri"/>
                <a:cs typeface="Calibri"/>
                <a:sym typeface="Calibri"/>
              </a:rPr>
              <a:t>by platform </a:t>
            </a:r>
            <a:r>
              <a:rPr lang="en" sz="1100" b="0" i="0" u="none" strike="noStrike" cap="none" dirty="0">
                <a:solidFill>
                  <a:srgbClr val="595959"/>
                </a:solidFill>
                <a:latin typeface="Calibri"/>
                <a:ea typeface="Calibri"/>
                <a:cs typeface="Calibri"/>
                <a:sym typeface="Calibri"/>
              </a:rPr>
              <a:t>capabilities.</a:t>
            </a:r>
            <a:endParaRPr sz="1100" b="0" i="0" u="none" strike="noStrike" cap="none" dirty="0">
              <a:solidFill>
                <a:srgbClr val="595959"/>
              </a:solidFill>
              <a:latin typeface="Calibri"/>
              <a:ea typeface="Calibri"/>
              <a:cs typeface="Calibri"/>
              <a:sym typeface="Calibri"/>
            </a:endParaRPr>
          </a:p>
          <a:p>
            <a:pPr marL="0" marR="0" lvl="0" indent="0" algn="l" rtl="0">
              <a:lnSpc>
                <a:spcPct val="100000"/>
              </a:lnSpc>
              <a:spcBef>
                <a:spcPts val="0"/>
              </a:spcBef>
              <a:spcAft>
                <a:spcPts val="0"/>
              </a:spcAft>
              <a:buClr>
                <a:srgbClr val="6B7280"/>
              </a:buClr>
              <a:buSzPts val="900"/>
              <a:buFont typeface="DM Sans"/>
              <a:buNone/>
            </a:pPr>
            <a:endParaRPr sz="1100" b="0" i="0" u="none" strike="noStrike" cap="none" dirty="0">
              <a:solidFill>
                <a:srgbClr val="595959"/>
              </a:solidFill>
              <a:latin typeface="Calibri"/>
              <a:ea typeface="Calibri"/>
              <a:cs typeface="Calibri"/>
              <a:sym typeface="Calibri"/>
            </a:endParaRPr>
          </a:p>
        </p:txBody>
      </p:sp>
      <p:sp>
        <p:nvSpPr>
          <p:cNvPr id="1211" name="Google Shape;1211;p65"/>
          <p:cNvSpPr/>
          <p:nvPr/>
        </p:nvSpPr>
        <p:spPr>
          <a:xfrm>
            <a:off x="365750" y="868675"/>
            <a:ext cx="4019400" cy="431400"/>
          </a:xfrm>
          <a:prstGeom prst="rect">
            <a:avLst/>
          </a:prstGeom>
          <a:solidFill>
            <a:srgbClr val="F4CCC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12" name="Google Shape;1212;p65"/>
          <p:cNvSpPr/>
          <p:nvPr/>
        </p:nvSpPr>
        <p:spPr>
          <a:xfrm>
            <a:off x="365750" y="868672"/>
            <a:ext cx="36600" cy="431400"/>
          </a:xfrm>
          <a:prstGeom prst="rect">
            <a:avLst/>
          </a:prstGeom>
          <a:solidFill>
            <a:srgbClr val="85200C"/>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13" name="Google Shape;1213;p65"/>
          <p:cNvSpPr/>
          <p:nvPr/>
        </p:nvSpPr>
        <p:spPr>
          <a:xfrm>
            <a:off x="502911" y="948505"/>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dirty="0">
                <a:solidFill>
                  <a:schemeClr val="hlink"/>
                </a:solidFill>
                <a:latin typeface="Calibri"/>
                <a:ea typeface="Calibri"/>
                <a:cs typeface="Calibri"/>
                <a:sym typeface="Calibri"/>
                <a:hlinkClick r:id="rId3"/>
              </a:rPr>
              <a:t>CLOUD SECURITY PLATFORM </a:t>
            </a:r>
            <a:r>
              <a:rPr lang="en" sz="1400" b="1" i="0" u="none" strike="noStrike" cap="none" dirty="0">
                <a:solidFill>
                  <a:schemeClr val="hlink"/>
                </a:solidFill>
                <a:uFill>
                  <a:noFill/>
                </a:uFill>
                <a:latin typeface="Calibri"/>
                <a:ea typeface="Calibri"/>
                <a:cs typeface="Calibri"/>
                <a:sym typeface="Calibri"/>
                <a:hlinkClick r:id="rId3"/>
              </a:rPr>
              <a:t>↗</a:t>
            </a:r>
            <a:br>
              <a:rPr lang="en" sz="1100" b="1" i="0" u="none" strike="noStrike" cap="none" dirty="0">
                <a:solidFill>
                  <a:srgbClr val="D97706"/>
                </a:solidFill>
                <a:latin typeface="Calibri"/>
                <a:ea typeface="Calibri"/>
                <a:cs typeface="Calibri"/>
                <a:sym typeface="Calibri"/>
              </a:rPr>
            </a:br>
            <a:r>
              <a:rPr lang="en" sz="1100" b="0" i="0" u="none" strike="noStrike" cap="none" dirty="0">
                <a:solidFill>
                  <a:srgbClr val="CC4125"/>
                </a:solidFill>
                <a:latin typeface="Calibri"/>
                <a:ea typeface="Calibri"/>
                <a:cs typeface="Calibri"/>
                <a:sym typeface="Calibri"/>
              </a:rPr>
              <a:t>Principals associated with CNAPP, CSPM, CIEM, DSPM</a:t>
            </a:r>
            <a:br>
              <a:rPr lang="en" sz="1100" b="1" i="0" u="none" strike="noStrike" cap="none" dirty="0">
                <a:solidFill>
                  <a:srgbClr val="D97706"/>
                </a:solidFill>
                <a:latin typeface="Calibri"/>
                <a:ea typeface="Calibri"/>
                <a:cs typeface="Calibri"/>
                <a:sym typeface="Calibri"/>
              </a:rPr>
            </a:br>
            <a:endParaRPr sz="1100" b="0" i="0" u="none" strike="noStrike" cap="none" dirty="0">
              <a:solidFill>
                <a:schemeClr val="dk1"/>
              </a:solidFill>
              <a:latin typeface="Calibri"/>
              <a:ea typeface="Calibri"/>
              <a:cs typeface="Calibri"/>
              <a:sym typeface="Calibri"/>
            </a:endParaRPr>
          </a:p>
        </p:txBody>
      </p:sp>
      <p:sp>
        <p:nvSpPr>
          <p:cNvPr id="1214" name="Google Shape;1214;p65"/>
          <p:cNvSpPr/>
          <p:nvPr/>
        </p:nvSpPr>
        <p:spPr>
          <a:xfrm>
            <a:off x="371458" y="1391184"/>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15" name="Google Shape;1215;p65"/>
          <p:cNvSpPr/>
          <p:nvPr/>
        </p:nvSpPr>
        <p:spPr>
          <a:xfrm>
            <a:off x="371454" y="1380149"/>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a:ea typeface="Calibri"/>
                <a:cs typeface="Calibri"/>
                <a:sym typeface="Calibri"/>
              </a:rPr>
              <a:t>Technology</a:t>
            </a:r>
            <a:endParaRPr sz="1000" b="0" i="0" u="none" strike="noStrike" cap="none">
              <a:solidFill>
                <a:schemeClr val="dk1"/>
              </a:solidFill>
              <a:latin typeface="Calibri"/>
              <a:ea typeface="Calibri"/>
              <a:cs typeface="Calibri"/>
              <a:sym typeface="Calibri"/>
            </a:endParaRPr>
          </a:p>
        </p:txBody>
      </p:sp>
      <p:sp>
        <p:nvSpPr>
          <p:cNvPr id="1216" name="Google Shape;1216;p65"/>
          <p:cNvSpPr/>
          <p:nvPr/>
        </p:nvSpPr>
        <p:spPr>
          <a:xfrm>
            <a:off x="2308825" y="1392425"/>
            <a:ext cx="736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a:ea typeface="Calibri"/>
                <a:cs typeface="Calibri"/>
                <a:sym typeface="Calibri"/>
              </a:rPr>
              <a:t># of SAs</a:t>
            </a:r>
            <a:endParaRPr sz="1000" b="0" i="0" u="none" strike="noStrike" cap="none">
              <a:solidFill>
                <a:schemeClr val="dk1"/>
              </a:solidFill>
              <a:latin typeface="Calibri"/>
              <a:ea typeface="Calibri"/>
              <a:cs typeface="Calibri"/>
              <a:sym typeface="Calibri"/>
            </a:endParaRPr>
          </a:p>
        </p:txBody>
      </p:sp>
      <p:sp>
        <p:nvSpPr>
          <p:cNvPr id="1217" name="Google Shape;1217;p65"/>
          <p:cNvSpPr/>
          <p:nvPr/>
        </p:nvSpPr>
        <p:spPr>
          <a:xfrm>
            <a:off x="2926225" y="1385850"/>
            <a:ext cx="15945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a:ea typeface="Calibri"/>
                <a:cs typeface="Calibri"/>
                <a:sym typeface="Calibri"/>
              </a:rPr>
              <a:t>First / Last Created</a:t>
            </a:r>
            <a:endParaRPr sz="1000" b="0" i="0" u="none" strike="noStrike" cap="none">
              <a:solidFill>
                <a:schemeClr val="dk1"/>
              </a:solidFill>
              <a:latin typeface="Calibri"/>
              <a:ea typeface="Calibri"/>
              <a:cs typeface="Calibri"/>
              <a:sym typeface="Calibri"/>
            </a:endParaRPr>
          </a:p>
        </p:txBody>
      </p:sp>
      <p:sp>
        <p:nvSpPr>
          <p:cNvPr id="1218" name="Google Shape;1218;p65"/>
          <p:cNvSpPr/>
          <p:nvPr/>
        </p:nvSpPr>
        <p:spPr>
          <a:xfrm>
            <a:off x="371449" y="1631564"/>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19" name="Google Shape;1219;p65"/>
          <p:cNvCxnSpPr/>
          <p:nvPr/>
        </p:nvCxnSpPr>
        <p:spPr>
          <a:xfrm>
            <a:off x="371449" y="1877657"/>
            <a:ext cx="3977700" cy="0"/>
          </a:xfrm>
          <a:prstGeom prst="straightConnector1">
            <a:avLst/>
          </a:prstGeom>
          <a:noFill/>
          <a:ln w="9525" cap="flat" cmpd="sng">
            <a:solidFill>
              <a:srgbClr val="E5E7EB"/>
            </a:solidFill>
            <a:prstDash val="solid"/>
            <a:round/>
            <a:headEnd type="none" w="sm" len="sm"/>
            <a:tailEnd type="none" w="sm" len="sm"/>
          </a:ln>
        </p:spPr>
      </p:cxnSp>
      <p:sp>
        <p:nvSpPr>
          <p:cNvPr id="1220" name="Google Shape;1220;p65"/>
          <p:cNvSpPr/>
          <p:nvPr/>
        </p:nvSpPr>
        <p:spPr>
          <a:xfrm>
            <a:off x="371445" y="163155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{{PI_T1_1}}</a:t>
            </a:r>
            <a:endParaRPr sz="800" b="0" i="0" u="none" strike="noStrike" cap="none">
              <a:solidFill>
                <a:schemeClr val="dk1"/>
              </a:solidFill>
              <a:latin typeface="Calibri"/>
              <a:ea typeface="Calibri"/>
              <a:cs typeface="Calibri"/>
              <a:sym typeface="Calibri"/>
            </a:endParaRPr>
          </a:p>
        </p:txBody>
      </p:sp>
      <p:sp>
        <p:nvSpPr>
          <p:cNvPr id="1221" name="Google Shape;1221;p65"/>
          <p:cNvSpPr/>
          <p:nvPr/>
        </p:nvSpPr>
        <p:spPr>
          <a:xfrm>
            <a:off x="2311680" y="1631575"/>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{{PI_T1_1_SA}}</a:t>
            </a:r>
            <a:endParaRPr sz="700" b="0" i="0" u="none" strike="noStrike" cap="none">
              <a:solidFill>
                <a:schemeClr val="dk1"/>
              </a:solidFill>
              <a:latin typeface="Calibri"/>
              <a:ea typeface="Calibri"/>
              <a:cs typeface="Calibri"/>
              <a:sym typeface="Calibri"/>
            </a:endParaRPr>
          </a:p>
        </p:txBody>
      </p:sp>
      <p:sp>
        <p:nvSpPr>
          <p:cNvPr id="1222" name="Google Shape;1222;p65"/>
          <p:cNvSpPr/>
          <p:nvPr/>
        </p:nvSpPr>
        <p:spPr>
          <a:xfrm>
            <a:off x="371449" y="1877657"/>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23" name="Google Shape;1223;p65"/>
          <p:cNvCxnSpPr/>
          <p:nvPr/>
        </p:nvCxnSpPr>
        <p:spPr>
          <a:xfrm>
            <a:off x="355736" y="2115845"/>
            <a:ext cx="3977700" cy="0"/>
          </a:xfrm>
          <a:prstGeom prst="straightConnector1">
            <a:avLst/>
          </a:prstGeom>
          <a:noFill/>
          <a:ln w="9525" cap="flat" cmpd="sng">
            <a:solidFill>
              <a:srgbClr val="888888"/>
            </a:solidFill>
            <a:prstDash val="solid"/>
            <a:round/>
            <a:headEnd type="none" w="sm" len="sm"/>
            <a:tailEnd type="none" w="sm" len="sm"/>
          </a:ln>
        </p:spPr>
      </p:cxnSp>
      <p:sp>
        <p:nvSpPr>
          <p:cNvPr id="1224" name="Google Shape;1224;p65"/>
          <p:cNvSpPr/>
          <p:nvPr/>
        </p:nvSpPr>
        <p:spPr>
          <a:xfrm>
            <a:off x="371445" y="187765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{{PI_T1_2}}</a:t>
            </a:r>
            <a:endParaRPr sz="800" b="0" i="0" u="none" strike="noStrike" cap="none">
              <a:solidFill>
                <a:schemeClr val="dk1"/>
              </a:solidFill>
              <a:latin typeface="Calibri"/>
              <a:ea typeface="Calibri"/>
              <a:cs typeface="Calibri"/>
              <a:sym typeface="Calibri"/>
            </a:endParaRPr>
          </a:p>
        </p:txBody>
      </p:sp>
      <p:sp>
        <p:nvSpPr>
          <p:cNvPr id="1225" name="Google Shape;1225;p65"/>
          <p:cNvSpPr/>
          <p:nvPr/>
        </p:nvSpPr>
        <p:spPr>
          <a:xfrm>
            <a:off x="371449" y="2123750"/>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26" name="Google Shape;1226;p65"/>
          <p:cNvCxnSpPr/>
          <p:nvPr/>
        </p:nvCxnSpPr>
        <p:spPr>
          <a:xfrm>
            <a:off x="371449" y="2369843"/>
            <a:ext cx="3977700" cy="0"/>
          </a:xfrm>
          <a:prstGeom prst="straightConnector1">
            <a:avLst/>
          </a:prstGeom>
          <a:noFill/>
          <a:ln w="9525" cap="flat" cmpd="sng">
            <a:solidFill>
              <a:srgbClr val="E5E7EB"/>
            </a:solidFill>
            <a:prstDash val="solid"/>
            <a:round/>
            <a:headEnd type="none" w="sm" len="sm"/>
            <a:tailEnd type="none" w="sm" len="sm"/>
          </a:ln>
        </p:spPr>
      </p:cxnSp>
      <p:sp>
        <p:nvSpPr>
          <p:cNvPr id="1227" name="Google Shape;1227;p65"/>
          <p:cNvSpPr/>
          <p:nvPr/>
        </p:nvSpPr>
        <p:spPr>
          <a:xfrm>
            <a:off x="371445" y="212374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{{PI_T1_3}}</a:t>
            </a:r>
            <a:endParaRPr sz="800" b="0" i="0" u="none" strike="noStrike" cap="none">
              <a:solidFill>
                <a:schemeClr val="dk1"/>
              </a:solidFill>
              <a:latin typeface="Calibri"/>
              <a:ea typeface="Calibri"/>
              <a:cs typeface="Calibri"/>
              <a:sym typeface="Calibri"/>
            </a:endParaRPr>
          </a:p>
        </p:txBody>
      </p:sp>
      <p:sp>
        <p:nvSpPr>
          <p:cNvPr id="1228" name="Google Shape;1228;p65"/>
          <p:cNvSpPr/>
          <p:nvPr/>
        </p:nvSpPr>
        <p:spPr>
          <a:xfrm>
            <a:off x="371449" y="2369843"/>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29" name="Google Shape;1229;p65"/>
          <p:cNvCxnSpPr/>
          <p:nvPr/>
        </p:nvCxnSpPr>
        <p:spPr>
          <a:xfrm>
            <a:off x="358777" y="2606026"/>
            <a:ext cx="3977700" cy="0"/>
          </a:xfrm>
          <a:prstGeom prst="straightConnector1">
            <a:avLst/>
          </a:prstGeom>
          <a:noFill/>
          <a:ln w="9525" cap="flat" cmpd="sng">
            <a:solidFill>
              <a:srgbClr val="888888"/>
            </a:solidFill>
            <a:prstDash val="solid"/>
            <a:round/>
            <a:headEnd type="none" w="sm" len="sm"/>
            <a:tailEnd type="none" w="sm" len="sm"/>
          </a:ln>
        </p:spPr>
      </p:cxnSp>
      <p:sp>
        <p:nvSpPr>
          <p:cNvPr id="1230" name="Google Shape;1230;p65"/>
          <p:cNvSpPr/>
          <p:nvPr/>
        </p:nvSpPr>
        <p:spPr>
          <a:xfrm>
            <a:off x="371445" y="236983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{{PI_T1_4}}</a:t>
            </a:r>
            <a:endParaRPr sz="800" b="0" i="0" u="none" strike="noStrike" cap="none">
              <a:solidFill>
                <a:schemeClr val="dk1"/>
              </a:solidFill>
              <a:latin typeface="Calibri"/>
              <a:ea typeface="Calibri"/>
              <a:cs typeface="Calibri"/>
              <a:sym typeface="Calibri"/>
            </a:endParaRPr>
          </a:p>
        </p:txBody>
      </p:sp>
      <p:sp>
        <p:nvSpPr>
          <p:cNvPr id="1231" name="Google Shape;1231;p65"/>
          <p:cNvSpPr/>
          <p:nvPr/>
        </p:nvSpPr>
        <p:spPr>
          <a:xfrm>
            <a:off x="371449" y="261593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32" name="Google Shape;1232;p65"/>
          <p:cNvCxnSpPr/>
          <p:nvPr/>
        </p:nvCxnSpPr>
        <p:spPr>
          <a:xfrm>
            <a:off x="361818" y="2865486"/>
            <a:ext cx="3977700" cy="0"/>
          </a:xfrm>
          <a:prstGeom prst="straightConnector1">
            <a:avLst/>
          </a:prstGeom>
          <a:noFill/>
          <a:ln w="9525" cap="flat" cmpd="sng">
            <a:solidFill>
              <a:srgbClr val="E5E7EB"/>
            </a:solidFill>
            <a:prstDash val="solid"/>
            <a:round/>
            <a:headEnd type="none" w="sm" len="sm"/>
            <a:tailEnd type="none" w="sm" len="sm"/>
          </a:ln>
        </p:spPr>
      </p:cxnSp>
      <p:sp>
        <p:nvSpPr>
          <p:cNvPr id="1233" name="Google Shape;1233;p65"/>
          <p:cNvSpPr/>
          <p:nvPr/>
        </p:nvSpPr>
        <p:spPr>
          <a:xfrm>
            <a:off x="371445" y="261593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{{PI_T1_5}}</a:t>
            </a:r>
            <a:endParaRPr sz="800" b="0" i="0" u="none" strike="noStrike" cap="none">
              <a:solidFill>
                <a:schemeClr val="dk1"/>
              </a:solidFill>
              <a:latin typeface="Calibri"/>
              <a:ea typeface="Calibri"/>
              <a:cs typeface="Calibri"/>
              <a:sym typeface="Calibri"/>
            </a:endParaRPr>
          </a:p>
        </p:txBody>
      </p:sp>
      <p:cxnSp>
        <p:nvCxnSpPr>
          <p:cNvPr id="1234" name="Google Shape;1234;p65"/>
          <p:cNvCxnSpPr/>
          <p:nvPr/>
        </p:nvCxnSpPr>
        <p:spPr>
          <a:xfrm>
            <a:off x="349400" y="2859671"/>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5" name="Google Shape;1235;p65"/>
          <p:cNvCxnSpPr/>
          <p:nvPr/>
        </p:nvCxnSpPr>
        <p:spPr>
          <a:xfrm>
            <a:off x="349653" y="2374288"/>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6" name="Google Shape;1236;p65"/>
          <p:cNvCxnSpPr/>
          <p:nvPr/>
        </p:nvCxnSpPr>
        <p:spPr>
          <a:xfrm>
            <a:off x="352695" y="1883089"/>
            <a:ext cx="3977700" cy="0"/>
          </a:xfrm>
          <a:prstGeom prst="straightConnector1">
            <a:avLst/>
          </a:prstGeom>
          <a:noFill/>
          <a:ln w="9525" cap="flat" cmpd="sng">
            <a:solidFill>
              <a:srgbClr val="888888"/>
            </a:solidFill>
            <a:prstDash val="solid"/>
            <a:round/>
            <a:headEnd type="none" w="sm" len="sm"/>
            <a:tailEnd type="none" w="sm" len="sm"/>
          </a:ln>
        </p:spPr>
      </p:cxnSp>
      <p:cxnSp>
        <p:nvCxnSpPr>
          <p:cNvPr id="1237" name="Google Shape;1237;p65"/>
          <p:cNvCxnSpPr/>
          <p:nvPr/>
        </p:nvCxnSpPr>
        <p:spPr>
          <a:xfrm>
            <a:off x="370950" y="1608510"/>
            <a:ext cx="3977700" cy="0"/>
          </a:xfrm>
          <a:prstGeom prst="straightConnector1">
            <a:avLst/>
          </a:prstGeom>
          <a:noFill/>
          <a:ln w="14300" cap="flat" cmpd="sng">
            <a:solidFill>
              <a:srgbClr val="888888"/>
            </a:solidFill>
            <a:prstDash val="solid"/>
            <a:round/>
            <a:headEnd type="none" w="sm" len="sm"/>
            <a:tailEnd type="none" w="sm" len="sm"/>
          </a:ln>
        </p:spPr>
      </p:cxnSp>
      <p:sp>
        <p:nvSpPr>
          <p:cNvPr id="1238" name="Google Shape;1238;p65"/>
          <p:cNvSpPr/>
          <p:nvPr/>
        </p:nvSpPr>
        <p:spPr>
          <a:xfrm>
            <a:off x="4711846" y="3088397"/>
            <a:ext cx="4023300" cy="431400"/>
          </a:xfrm>
          <a:prstGeom prst="rect">
            <a:avLst/>
          </a:prstGeom>
          <a:solidFill>
            <a:srgbClr val="D9D9D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EAD1DC"/>
              </a:solidFill>
              <a:latin typeface="Calibri"/>
              <a:ea typeface="Calibri"/>
              <a:cs typeface="Calibri"/>
              <a:sym typeface="Calibri"/>
            </a:endParaRPr>
          </a:p>
        </p:txBody>
      </p:sp>
      <p:sp>
        <p:nvSpPr>
          <p:cNvPr id="1239" name="Google Shape;1239;p65"/>
          <p:cNvSpPr/>
          <p:nvPr/>
        </p:nvSpPr>
        <p:spPr>
          <a:xfrm>
            <a:off x="4711846" y="3088397"/>
            <a:ext cx="36600" cy="431400"/>
          </a:xfrm>
          <a:prstGeom prst="rect">
            <a:avLst/>
          </a:prstGeom>
          <a:solidFill>
            <a:srgbClr val="59595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40" name="Google Shape;1240;p65"/>
          <p:cNvSpPr/>
          <p:nvPr/>
        </p:nvSpPr>
        <p:spPr>
          <a:xfrm>
            <a:off x="4849006" y="3168230"/>
            <a:ext cx="3886139"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dirty="0">
                <a:solidFill>
                  <a:schemeClr val="hlink"/>
                </a:solidFill>
                <a:latin typeface="Calibri"/>
                <a:ea typeface="Calibri"/>
                <a:cs typeface="Calibri"/>
                <a:sym typeface="Calibri"/>
                <a:hlinkClick r:id="rId4"/>
              </a:rPr>
              <a:t>RUNTIME / WORKLOAD PROTECTION </a:t>
            </a:r>
            <a:r>
              <a:rPr lang="en" sz="1400" b="1" i="0" u="none" strike="noStrike" cap="none" dirty="0">
                <a:solidFill>
                  <a:schemeClr val="hlink"/>
                </a:solidFill>
                <a:uFill>
                  <a:noFill/>
                </a:uFill>
                <a:latin typeface="Calibri"/>
                <a:ea typeface="Calibri"/>
                <a:cs typeface="Calibri"/>
                <a:sym typeface="Calibri"/>
                <a:hlinkClick r:id="rId4"/>
              </a:rPr>
              <a:t>↗</a:t>
            </a:r>
            <a:br>
              <a:rPr lang="en" sz="1100" b="1" i="0" u="none" strike="noStrike" cap="none" dirty="0">
                <a:solidFill>
                  <a:srgbClr val="595959"/>
                </a:solidFill>
                <a:latin typeface="Calibri"/>
                <a:ea typeface="Calibri"/>
                <a:cs typeface="Calibri"/>
                <a:sym typeface="Calibri"/>
              </a:rPr>
            </a:br>
            <a:r>
              <a:rPr lang="en" sz="1100" b="0" i="0" u="none" strike="noStrike" cap="none" dirty="0">
                <a:solidFill>
                  <a:srgbClr val="595959"/>
                </a:solidFill>
                <a:latin typeface="Calibri"/>
                <a:ea typeface="Calibri"/>
                <a:cs typeface="Calibri"/>
                <a:sym typeface="Calibri"/>
              </a:rPr>
              <a:t>Principals associated with Threat Detection, Runtime Agents, CWPP</a:t>
            </a:r>
            <a:br>
              <a:rPr lang="en" sz="1100" b="1" i="0" u="none" strike="noStrike" cap="none" dirty="0">
                <a:solidFill>
                  <a:srgbClr val="D97706"/>
                </a:solidFill>
                <a:latin typeface="Calibri"/>
                <a:ea typeface="Calibri"/>
                <a:cs typeface="Calibri"/>
                <a:sym typeface="Calibri"/>
              </a:rPr>
            </a:br>
            <a:endParaRPr sz="1100" b="0" i="0" u="none" strike="noStrike" cap="none" dirty="0">
              <a:solidFill>
                <a:schemeClr val="dk1"/>
              </a:solidFill>
              <a:latin typeface="Calibri"/>
              <a:ea typeface="Calibri"/>
              <a:cs typeface="Calibri"/>
              <a:sym typeface="Calibri"/>
            </a:endParaRPr>
          </a:p>
        </p:txBody>
      </p:sp>
      <p:sp>
        <p:nvSpPr>
          <p:cNvPr id="1241" name="Google Shape;1241;p65"/>
          <p:cNvSpPr/>
          <p:nvPr/>
        </p:nvSpPr>
        <p:spPr>
          <a:xfrm>
            <a:off x="4717478" y="884700"/>
            <a:ext cx="4023300" cy="431400"/>
          </a:xfrm>
          <a:prstGeom prst="rect">
            <a:avLst/>
          </a:prstGeom>
          <a:solidFill>
            <a:srgbClr val="CBDA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42" name="Google Shape;1242;p65"/>
          <p:cNvSpPr/>
          <p:nvPr/>
        </p:nvSpPr>
        <p:spPr>
          <a:xfrm>
            <a:off x="4688967" y="884697"/>
            <a:ext cx="36600" cy="431400"/>
          </a:xfrm>
          <a:prstGeom prst="rect">
            <a:avLst/>
          </a:prstGeom>
          <a:solidFill>
            <a:srgbClr val="0B539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43" name="Google Shape;1243;p65"/>
          <p:cNvSpPr/>
          <p:nvPr/>
        </p:nvSpPr>
        <p:spPr>
          <a:xfrm>
            <a:off x="4854639" y="964530"/>
            <a:ext cx="3794700" cy="4314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D97706"/>
              </a:buClr>
              <a:buSzPts val="1000"/>
              <a:buFont typeface="DM Sans"/>
              <a:buNone/>
            </a:pPr>
            <a:r>
              <a:rPr lang="en" sz="1100" b="1" i="0" u="sng" strike="noStrike" cap="none" dirty="0">
                <a:solidFill>
                  <a:schemeClr val="hlink"/>
                </a:solidFill>
                <a:latin typeface="Calibri"/>
                <a:ea typeface="Calibri"/>
                <a:cs typeface="Calibri"/>
                <a:sym typeface="Calibri"/>
                <a:hlinkClick r:id="rId5"/>
              </a:rPr>
              <a:t>CODE SECURITY </a:t>
            </a:r>
            <a:r>
              <a:rPr lang="en" sz="1400" b="1" i="0" u="none" strike="noStrike" cap="none" dirty="0">
                <a:solidFill>
                  <a:schemeClr val="hlink"/>
                </a:solidFill>
                <a:uFill>
                  <a:noFill/>
                </a:uFill>
                <a:latin typeface="Calibri"/>
                <a:ea typeface="Calibri"/>
                <a:cs typeface="Calibri"/>
                <a:sym typeface="Calibri"/>
                <a:hlinkClick r:id="rId5"/>
              </a:rPr>
              <a:t>↗</a:t>
            </a:r>
            <a:br>
              <a:rPr lang="en" sz="1100" b="1" i="0" u="none" strike="noStrike" cap="none" dirty="0">
                <a:solidFill>
                  <a:srgbClr val="0B5394"/>
                </a:solidFill>
                <a:latin typeface="Calibri"/>
                <a:ea typeface="Calibri"/>
                <a:cs typeface="Calibri"/>
                <a:sym typeface="Calibri"/>
              </a:rPr>
            </a:br>
            <a:r>
              <a:rPr lang="en" sz="1100" b="0" i="0" u="none" strike="noStrike" cap="none" dirty="0">
                <a:solidFill>
                  <a:srgbClr val="0B5394"/>
                </a:solidFill>
                <a:latin typeface="Calibri"/>
                <a:ea typeface="Calibri"/>
                <a:cs typeface="Calibri"/>
                <a:sym typeface="Calibri"/>
              </a:rPr>
              <a:t>Principals associated with Code, SAST, SCA, CLI/IDE</a:t>
            </a:r>
            <a:br>
              <a:rPr lang="en" sz="1100" b="1" i="0" u="none" strike="noStrike" cap="none" dirty="0">
                <a:solidFill>
                  <a:srgbClr val="D97706"/>
                </a:solidFill>
                <a:latin typeface="Calibri"/>
                <a:ea typeface="Calibri"/>
                <a:cs typeface="Calibri"/>
                <a:sym typeface="Calibri"/>
              </a:rPr>
            </a:br>
            <a:endParaRPr sz="1100" b="0" i="0" u="none" strike="noStrike" cap="none" dirty="0">
              <a:solidFill>
                <a:schemeClr val="dk1"/>
              </a:solidFill>
              <a:latin typeface="Calibri"/>
              <a:ea typeface="Calibri"/>
              <a:cs typeface="Calibri"/>
              <a:sym typeface="Calibri"/>
            </a:endParaRPr>
          </a:p>
        </p:txBody>
      </p:sp>
      <p:sp>
        <p:nvSpPr>
          <p:cNvPr id="1244" name="Google Shape;1244;p65"/>
          <p:cNvSpPr/>
          <p:nvPr/>
        </p:nvSpPr>
        <p:spPr>
          <a:xfrm>
            <a:off x="2308828" y="1875197"/>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{{PI_T1_2_SA}}</a:t>
            </a:r>
            <a:endParaRPr sz="700" b="0" i="0" u="none" strike="noStrike" cap="none">
              <a:solidFill>
                <a:schemeClr val="dk1"/>
              </a:solidFill>
              <a:latin typeface="Calibri"/>
              <a:ea typeface="Calibri"/>
              <a:cs typeface="Calibri"/>
              <a:sym typeface="Calibri"/>
            </a:endParaRPr>
          </a:p>
        </p:txBody>
      </p:sp>
      <p:sp>
        <p:nvSpPr>
          <p:cNvPr id="1245" name="Google Shape;1245;p65"/>
          <p:cNvSpPr/>
          <p:nvPr/>
        </p:nvSpPr>
        <p:spPr>
          <a:xfrm>
            <a:off x="2317385" y="2118819"/>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{{PI_T1_3_SA}}</a:t>
            </a:r>
            <a:endParaRPr sz="700" b="0" i="0" u="none" strike="noStrike" cap="none">
              <a:solidFill>
                <a:schemeClr val="dk1"/>
              </a:solidFill>
              <a:latin typeface="Calibri"/>
              <a:ea typeface="Calibri"/>
              <a:cs typeface="Calibri"/>
              <a:sym typeface="Calibri"/>
            </a:endParaRPr>
          </a:p>
        </p:txBody>
      </p:sp>
      <p:sp>
        <p:nvSpPr>
          <p:cNvPr id="1246" name="Google Shape;1246;p65"/>
          <p:cNvSpPr/>
          <p:nvPr/>
        </p:nvSpPr>
        <p:spPr>
          <a:xfrm>
            <a:off x="2320237" y="2362441"/>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{{PI_T1_4_SA}}</a:t>
            </a:r>
            <a:endParaRPr sz="700" b="0" i="0" u="none" strike="noStrike" cap="none">
              <a:solidFill>
                <a:schemeClr val="dk1"/>
              </a:solidFill>
              <a:latin typeface="Calibri"/>
              <a:ea typeface="Calibri"/>
              <a:cs typeface="Calibri"/>
              <a:sym typeface="Calibri"/>
            </a:endParaRPr>
          </a:p>
        </p:txBody>
      </p:sp>
      <p:sp>
        <p:nvSpPr>
          <p:cNvPr id="1247" name="Google Shape;1247;p65"/>
          <p:cNvSpPr/>
          <p:nvPr/>
        </p:nvSpPr>
        <p:spPr>
          <a:xfrm>
            <a:off x="2314532" y="260606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{{PI_T1_5_SA}}</a:t>
            </a:r>
            <a:endParaRPr sz="700" b="0" i="0" u="none" strike="noStrike" cap="none">
              <a:solidFill>
                <a:schemeClr val="dk1"/>
              </a:solidFill>
              <a:latin typeface="Calibri"/>
              <a:ea typeface="Calibri"/>
              <a:cs typeface="Calibri"/>
              <a:sym typeface="Calibri"/>
            </a:endParaRPr>
          </a:p>
        </p:txBody>
      </p:sp>
      <p:sp>
        <p:nvSpPr>
          <p:cNvPr id="1248" name="Google Shape;1248;p65"/>
          <p:cNvSpPr/>
          <p:nvPr/>
        </p:nvSpPr>
        <p:spPr>
          <a:xfrm>
            <a:off x="2926250" y="1629200"/>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{{PI_T1_1_FA}} / {{PI_T1_1_LA}}</a:t>
            </a:r>
            <a:endParaRPr sz="800" b="0" i="0" u="none" strike="noStrike" cap="none">
              <a:solidFill>
                <a:schemeClr val="dk1"/>
              </a:solidFill>
              <a:latin typeface="Calibri"/>
              <a:ea typeface="Calibri"/>
              <a:cs typeface="Calibri"/>
              <a:sym typeface="Calibri"/>
            </a:endParaRPr>
          </a:p>
        </p:txBody>
      </p:sp>
      <p:sp>
        <p:nvSpPr>
          <p:cNvPr id="1249" name="Google Shape;1249;p65"/>
          <p:cNvSpPr/>
          <p:nvPr/>
        </p:nvSpPr>
        <p:spPr>
          <a:xfrm>
            <a:off x="2930509" y="187280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{{PI_T1_2_FA}} / {{PI_T1_2_LA}}</a:t>
            </a:r>
            <a:endParaRPr sz="800" b="0" i="0" u="none" strike="noStrike" cap="none">
              <a:solidFill>
                <a:schemeClr val="dk1"/>
              </a:solidFill>
              <a:latin typeface="Calibri"/>
              <a:ea typeface="Calibri"/>
              <a:cs typeface="Calibri"/>
              <a:sym typeface="Calibri"/>
            </a:endParaRPr>
          </a:p>
        </p:txBody>
      </p:sp>
      <p:sp>
        <p:nvSpPr>
          <p:cNvPr id="1250" name="Google Shape;1250;p65"/>
          <p:cNvSpPr/>
          <p:nvPr/>
        </p:nvSpPr>
        <p:spPr>
          <a:xfrm>
            <a:off x="2934768" y="2116406"/>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{{PI_T1_3_FA}} / {{PI_T1_3_LA}}</a:t>
            </a:r>
            <a:endParaRPr sz="800" b="0" i="0" u="none" strike="noStrike" cap="none">
              <a:solidFill>
                <a:schemeClr val="dk1"/>
              </a:solidFill>
              <a:latin typeface="Calibri"/>
              <a:ea typeface="Calibri"/>
              <a:cs typeface="Calibri"/>
              <a:sym typeface="Calibri"/>
            </a:endParaRPr>
          </a:p>
        </p:txBody>
      </p:sp>
      <p:sp>
        <p:nvSpPr>
          <p:cNvPr id="1251" name="Google Shape;1251;p65"/>
          <p:cNvSpPr/>
          <p:nvPr/>
        </p:nvSpPr>
        <p:spPr>
          <a:xfrm>
            <a:off x="2943286" y="2360009"/>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{{PI_T1_4_FA}} / {{PI_T1_4_LA}}</a:t>
            </a:r>
            <a:endParaRPr sz="800" b="0" i="0" u="none" strike="noStrike" cap="none">
              <a:solidFill>
                <a:schemeClr val="dk1"/>
              </a:solidFill>
              <a:latin typeface="Calibri"/>
              <a:ea typeface="Calibri"/>
              <a:cs typeface="Calibri"/>
              <a:sym typeface="Calibri"/>
            </a:endParaRPr>
          </a:p>
        </p:txBody>
      </p:sp>
      <p:sp>
        <p:nvSpPr>
          <p:cNvPr id="1252" name="Google Shape;1252;p65"/>
          <p:cNvSpPr/>
          <p:nvPr/>
        </p:nvSpPr>
        <p:spPr>
          <a:xfrm>
            <a:off x="2939027" y="260361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{{PI_T1_5_FA}} / {{PI_T1_5_LA}}</a:t>
            </a:r>
            <a:endParaRPr sz="800" b="0" i="0" u="none" strike="noStrike" cap="none">
              <a:solidFill>
                <a:schemeClr val="dk1"/>
              </a:solidFill>
              <a:latin typeface="Calibri"/>
              <a:ea typeface="Calibri"/>
              <a:cs typeface="Calibri"/>
              <a:sym typeface="Calibri"/>
            </a:endParaRPr>
          </a:p>
        </p:txBody>
      </p:sp>
      <p:sp>
        <p:nvSpPr>
          <p:cNvPr id="1253" name="Google Shape;1253;p65"/>
          <p:cNvSpPr/>
          <p:nvPr/>
        </p:nvSpPr>
        <p:spPr>
          <a:xfrm>
            <a:off x="4723186" y="1386854"/>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54" name="Google Shape;1254;p65"/>
          <p:cNvSpPr/>
          <p:nvPr/>
        </p:nvSpPr>
        <p:spPr>
          <a:xfrm>
            <a:off x="4706075" y="1375819"/>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a:ea typeface="Calibri"/>
                <a:cs typeface="Calibri"/>
                <a:sym typeface="Calibri"/>
              </a:rPr>
              <a:t>Technology</a:t>
            </a:r>
            <a:endParaRPr sz="1000" b="0" i="0" u="none" strike="noStrike" cap="none">
              <a:solidFill>
                <a:schemeClr val="dk1"/>
              </a:solidFill>
              <a:latin typeface="Calibri"/>
              <a:ea typeface="Calibri"/>
              <a:cs typeface="Calibri"/>
              <a:sym typeface="Calibri"/>
            </a:endParaRPr>
          </a:p>
        </p:txBody>
      </p:sp>
      <p:sp>
        <p:nvSpPr>
          <p:cNvPr id="1255" name="Google Shape;1255;p65"/>
          <p:cNvSpPr/>
          <p:nvPr/>
        </p:nvSpPr>
        <p:spPr>
          <a:xfrm>
            <a:off x="6607455" y="1388100"/>
            <a:ext cx="772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a:ea typeface="Calibri"/>
                <a:cs typeface="Calibri"/>
                <a:sym typeface="Calibri"/>
              </a:rPr>
              <a:t># of SAs</a:t>
            </a:r>
            <a:endParaRPr sz="1000" b="0" i="0" u="none" strike="noStrike" cap="none">
              <a:solidFill>
                <a:schemeClr val="dk1"/>
              </a:solidFill>
              <a:latin typeface="Calibri"/>
              <a:ea typeface="Calibri"/>
              <a:cs typeface="Calibri"/>
              <a:sym typeface="Calibri"/>
            </a:endParaRPr>
          </a:p>
        </p:txBody>
      </p:sp>
      <p:sp>
        <p:nvSpPr>
          <p:cNvPr id="1256" name="Google Shape;1256;p65"/>
          <p:cNvSpPr/>
          <p:nvPr/>
        </p:nvSpPr>
        <p:spPr>
          <a:xfrm>
            <a:off x="7277955" y="1381525"/>
            <a:ext cx="16212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a:ea typeface="Calibri"/>
                <a:cs typeface="Calibri"/>
                <a:sym typeface="Calibri"/>
              </a:rPr>
              <a:t>First / Last Created</a:t>
            </a:r>
            <a:endParaRPr sz="1000" b="0" i="0" u="none" strike="noStrike" cap="none">
              <a:solidFill>
                <a:schemeClr val="dk1"/>
              </a:solidFill>
              <a:latin typeface="Calibri"/>
              <a:ea typeface="Calibri"/>
              <a:cs typeface="Calibri"/>
              <a:sym typeface="Calibri"/>
            </a:endParaRPr>
          </a:p>
        </p:txBody>
      </p:sp>
      <p:sp>
        <p:nvSpPr>
          <p:cNvPr id="1257" name="Google Shape;1257;p65"/>
          <p:cNvSpPr/>
          <p:nvPr/>
        </p:nvSpPr>
        <p:spPr>
          <a:xfrm>
            <a:off x="4723178" y="1627234"/>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58" name="Google Shape;1258;p65"/>
          <p:cNvCxnSpPr/>
          <p:nvPr/>
        </p:nvCxnSpPr>
        <p:spPr>
          <a:xfrm>
            <a:off x="4723178" y="1873327"/>
            <a:ext cx="3977700" cy="0"/>
          </a:xfrm>
          <a:prstGeom prst="straightConnector1">
            <a:avLst/>
          </a:prstGeom>
          <a:noFill/>
          <a:ln w="9525" cap="flat" cmpd="sng">
            <a:solidFill>
              <a:srgbClr val="E5E7EB"/>
            </a:solidFill>
            <a:prstDash val="solid"/>
            <a:round/>
            <a:headEnd type="none" w="sm" len="sm"/>
            <a:tailEnd type="none" w="sm" len="sm"/>
          </a:ln>
        </p:spPr>
      </p:cxnSp>
      <p:sp>
        <p:nvSpPr>
          <p:cNvPr id="1259" name="Google Shape;1259;p65"/>
          <p:cNvSpPr/>
          <p:nvPr/>
        </p:nvSpPr>
        <p:spPr>
          <a:xfrm>
            <a:off x="4706067" y="1627226"/>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{{PI_T2_1}}</a:t>
            </a:r>
            <a:endParaRPr sz="800" b="0" i="0" u="none" strike="noStrike" cap="none">
              <a:solidFill>
                <a:schemeClr val="dk1"/>
              </a:solidFill>
              <a:latin typeface="Calibri"/>
              <a:ea typeface="Calibri"/>
              <a:cs typeface="Calibri"/>
              <a:sym typeface="Calibri"/>
            </a:endParaRPr>
          </a:p>
        </p:txBody>
      </p:sp>
      <p:sp>
        <p:nvSpPr>
          <p:cNvPr id="1260" name="Google Shape;1260;p65"/>
          <p:cNvSpPr/>
          <p:nvPr/>
        </p:nvSpPr>
        <p:spPr>
          <a:xfrm>
            <a:off x="6609971" y="1627250"/>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{{PI_T2_1_SA}}</a:t>
            </a:r>
            <a:endParaRPr sz="700" b="0" i="0" u="none" strike="noStrike" cap="none">
              <a:solidFill>
                <a:schemeClr val="dk1"/>
              </a:solidFill>
              <a:latin typeface="Calibri"/>
              <a:ea typeface="Calibri"/>
              <a:cs typeface="Calibri"/>
              <a:sym typeface="Calibri"/>
            </a:endParaRPr>
          </a:p>
        </p:txBody>
      </p:sp>
      <p:sp>
        <p:nvSpPr>
          <p:cNvPr id="1261" name="Google Shape;1261;p65"/>
          <p:cNvSpPr/>
          <p:nvPr/>
        </p:nvSpPr>
        <p:spPr>
          <a:xfrm>
            <a:off x="4723178" y="1873327"/>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62" name="Google Shape;1262;p65"/>
          <p:cNvCxnSpPr/>
          <p:nvPr/>
        </p:nvCxnSpPr>
        <p:spPr>
          <a:xfrm>
            <a:off x="4707464" y="2111515"/>
            <a:ext cx="3977700" cy="0"/>
          </a:xfrm>
          <a:prstGeom prst="straightConnector1">
            <a:avLst/>
          </a:prstGeom>
          <a:noFill/>
          <a:ln w="9525" cap="flat" cmpd="sng">
            <a:solidFill>
              <a:srgbClr val="888888"/>
            </a:solidFill>
            <a:prstDash val="solid"/>
            <a:round/>
            <a:headEnd type="none" w="sm" len="sm"/>
            <a:tailEnd type="none" w="sm" len="sm"/>
          </a:ln>
        </p:spPr>
      </p:cxnSp>
      <p:sp>
        <p:nvSpPr>
          <p:cNvPr id="1263" name="Google Shape;1263;p65"/>
          <p:cNvSpPr/>
          <p:nvPr/>
        </p:nvSpPr>
        <p:spPr>
          <a:xfrm>
            <a:off x="4706067" y="1873320"/>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{{PI_T2_2}}</a:t>
            </a:r>
            <a:endParaRPr sz="800" b="0" i="0" u="none" strike="noStrike" cap="none">
              <a:solidFill>
                <a:schemeClr val="dk1"/>
              </a:solidFill>
              <a:latin typeface="Calibri"/>
              <a:ea typeface="Calibri"/>
              <a:cs typeface="Calibri"/>
              <a:sym typeface="Calibri"/>
            </a:endParaRPr>
          </a:p>
        </p:txBody>
      </p:sp>
      <p:sp>
        <p:nvSpPr>
          <p:cNvPr id="1264" name="Google Shape;1264;p65"/>
          <p:cNvSpPr/>
          <p:nvPr/>
        </p:nvSpPr>
        <p:spPr>
          <a:xfrm>
            <a:off x="4723178" y="2119420"/>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65" name="Google Shape;1265;p65"/>
          <p:cNvCxnSpPr/>
          <p:nvPr/>
        </p:nvCxnSpPr>
        <p:spPr>
          <a:xfrm>
            <a:off x="4723178" y="2365513"/>
            <a:ext cx="3977700" cy="0"/>
          </a:xfrm>
          <a:prstGeom prst="straightConnector1">
            <a:avLst/>
          </a:prstGeom>
          <a:noFill/>
          <a:ln w="9525" cap="flat" cmpd="sng">
            <a:solidFill>
              <a:srgbClr val="E5E7EB"/>
            </a:solidFill>
            <a:prstDash val="solid"/>
            <a:round/>
            <a:headEnd type="none" w="sm" len="sm"/>
            <a:tailEnd type="none" w="sm" len="sm"/>
          </a:ln>
        </p:spPr>
      </p:cxnSp>
      <p:sp>
        <p:nvSpPr>
          <p:cNvPr id="1266" name="Google Shape;1266;p65"/>
          <p:cNvSpPr/>
          <p:nvPr/>
        </p:nvSpPr>
        <p:spPr>
          <a:xfrm>
            <a:off x="4706067" y="2119414"/>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{{PI_T2_3}}</a:t>
            </a:r>
            <a:endParaRPr sz="800" b="0" i="0" u="none" strike="noStrike" cap="none">
              <a:solidFill>
                <a:schemeClr val="dk1"/>
              </a:solidFill>
              <a:latin typeface="Calibri"/>
              <a:ea typeface="Calibri"/>
              <a:cs typeface="Calibri"/>
              <a:sym typeface="Calibri"/>
            </a:endParaRPr>
          </a:p>
        </p:txBody>
      </p:sp>
      <p:sp>
        <p:nvSpPr>
          <p:cNvPr id="1267" name="Google Shape;1267;p65"/>
          <p:cNvSpPr/>
          <p:nvPr/>
        </p:nvSpPr>
        <p:spPr>
          <a:xfrm>
            <a:off x="4723178" y="2365513"/>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68" name="Google Shape;1268;p65"/>
          <p:cNvCxnSpPr/>
          <p:nvPr/>
        </p:nvCxnSpPr>
        <p:spPr>
          <a:xfrm>
            <a:off x="4710506" y="2601696"/>
            <a:ext cx="3977700" cy="0"/>
          </a:xfrm>
          <a:prstGeom prst="straightConnector1">
            <a:avLst/>
          </a:prstGeom>
          <a:noFill/>
          <a:ln w="9525" cap="flat" cmpd="sng">
            <a:solidFill>
              <a:srgbClr val="888888"/>
            </a:solidFill>
            <a:prstDash val="solid"/>
            <a:round/>
            <a:headEnd type="none" w="sm" len="sm"/>
            <a:tailEnd type="none" w="sm" len="sm"/>
          </a:ln>
        </p:spPr>
      </p:cxnSp>
      <p:sp>
        <p:nvSpPr>
          <p:cNvPr id="1269" name="Google Shape;1269;p65"/>
          <p:cNvSpPr/>
          <p:nvPr/>
        </p:nvSpPr>
        <p:spPr>
          <a:xfrm>
            <a:off x="4706067" y="2365508"/>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{{PI_T2_4}}</a:t>
            </a:r>
            <a:endParaRPr sz="800" b="0" i="0" u="none" strike="noStrike" cap="none">
              <a:solidFill>
                <a:schemeClr val="dk1"/>
              </a:solidFill>
              <a:latin typeface="Calibri"/>
              <a:ea typeface="Calibri"/>
              <a:cs typeface="Calibri"/>
              <a:sym typeface="Calibri"/>
            </a:endParaRPr>
          </a:p>
        </p:txBody>
      </p:sp>
      <p:sp>
        <p:nvSpPr>
          <p:cNvPr id="1270" name="Google Shape;1270;p65"/>
          <p:cNvSpPr/>
          <p:nvPr/>
        </p:nvSpPr>
        <p:spPr>
          <a:xfrm>
            <a:off x="4723178" y="261160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71" name="Google Shape;1271;p65"/>
          <p:cNvSpPr/>
          <p:nvPr/>
        </p:nvSpPr>
        <p:spPr>
          <a:xfrm>
            <a:off x="4706067" y="261160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{{PI_T2_5}}</a:t>
            </a:r>
            <a:endParaRPr sz="800" b="0" i="0" u="none" strike="noStrike" cap="none">
              <a:solidFill>
                <a:schemeClr val="dk1"/>
              </a:solidFill>
              <a:latin typeface="Calibri"/>
              <a:ea typeface="Calibri"/>
              <a:cs typeface="Calibri"/>
              <a:sym typeface="Calibri"/>
            </a:endParaRPr>
          </a:p>
        </p:txBody>
      </p:sp>
      <p:cxnSp>
        <p:nvCxnSpPr>
          <p:cNvPr id="1272" name="Google Shape;1272;p65"/>
          <p:cNvCxnSpPr/>
          <p:nvPr/>
        </p:nvCxnSpPr>
        <p:spPr>
          <a:xfrm>
            <a:off x="4716068" y="2855341"/>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3" name="Google Shape;1273;p65"/>
          <p:cNvCxnSpPr/>
          <p:nvPr/>
        </p:nvCxnSpPr>
        <p:spPr>
          <a:xfrm>
            <a:off x="4701382" y="2369958"/>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4" name="Google Shape;1274;p65"/>
          <p:cNvCxnSpPr/>
          <p:nvPr/>
        </p:nvCxnSpPr>
        <p:spPr>
          <a:xfrm>
            <a:off x="4704423" y="1878759"/>
            <a:ext cx="3977700" cy="0"/>
          </a:xfrm>
          <a:prstGeom prst="straightConnector1">
            <a:avLst/>
          </a:prstGeom>
          <a:noFill/>
          <a:ln w="9525" cap="flat" cmpd="sng">
            <a:solidFill>
              <a:srgbClr val="888888"/>
            </a:solidFill>
            <a:prstDash val="solid"/>
            <a:round/>
            <a:headEnd type="none" w="sm" len="sm"/>
            <a:tailEnd type="none" w="sm" len="sm"/>
          </a:ln>
        </p:spPr>
      </p:cxnSp>
      <p:cxnSp>
        <p:nvCxnSpPr>
          <p:cNvPr id="1275" name="Google Shape;1275;p65"/>
          <p:cNvCxnSpPr/>
          <p:nvPr/>
        </p:nvCxnSpPr>
        <p:spPr>
          <a:xfrm>
            <a:off x="4722679" y="1604180"/>
            <a:ext cx="3977700" cy="0"/>
          </a:xfrm>
          <a:prstGeom prst="straightConnector1">
            <a:avLst/>
          </a:prstGeom>
          <a:noFill/>
          <a:ln w="14300" cap="flat" cmpd="sng">
            <a:solidFill>
              <a:srgbClr val="888888"/>
            </a:solidFill>
            <a:prstDash val="solid"/>
            <a:round/>
            <a:headEnd type="none" w="sm" len="sm"/>
            <a:tailEnd type="none" w="sm" len="sm"/>
          </a:ln>
        </p:spPr>
      </p:cxnSp>
      <p:sp>
        <p:nvSpPr>
          <p:cNvPr id="1276" name="Google Shape;1276;p65"/>
          <p:cNvSpPr/>
          <p:nvPr/>
        </p:nvSpPr>
        <p:spPr>
          <a:xfrm>
            <a:off x="6606980" y="1870869"/>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{{PI_T2_2_SA}}</a:t>
            </a:r>
            <a:endParaRPr sz="700" b="0" i="0" u="none" strike="noStrike" cap="none">
              <a:solidFill>
                <a:schemeClr val="dk1"/>
              </a:solidFill>
              <a:latin typeface="Calibri"/>
              <a:ea typeface="Calibri"/>
              <a:cs typeface="Calibri"/>
              <a:sym typeface="Calibri"/>
            </a:endParaRPr>
          </a:p>
        </p:txBody>
      </p:sp>
      <p:sp>
        <p:nvSpPr>
          <p:cNvPr id="1277" name="Google Shape;1277;p65"/>
          <p:cNvSpPr/>
          <p:nvPr/>
        </p:nvSpPr>
        <p:spPr>
          <a:xfrm>
            <a:off x="6615954" y="2114489"/>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{{PI_T2_3_SA}}</a:t>
            </a:r>
            <a:endParaRPr sz="700" b="0" i="0" u="none" strike="noStrike" cap="none">
              <a:solidFill>
                <a:schemeClr val="dk1"/>
              </a:solidFill>
              <a:latin typeface="Calibri"/>
              <a:ea typeface="Calibri"/>
              <a:cs typeface="Calibri"/>
              <a:sym typeface="Calibri"/>
            </a:endParaRPr>
          </a:p>
        </p:txBody>
      </p:sp>
      <p:sp>
        <p:nvSpPr>
          <p:cNvPr id="1278" name="Google Shape;1278;p65"/>
          <p:cNvSpPr/>
          <p:nvPr/>
        </p:nvSpPr>
        <p:spPr>
          <a:xfrm>
            <a:off x="6618945" y="2358108"/>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{{PI_T2_4_SA}}</a:t>
            </a:r>
            <a:endParaRPr sz="700" b="0" i="0" u="none" strike="noStrike" cap="none">
              <a:solidFill>
                <a:schemeClr val="dk1"/>
              </a:solidFill>
              <a:latin typeface="Calibri"/>
              <a:ea typeface="Calibri"/>
              <a:cs typeface="Calibri"/>
              <a:sym typeface="Calibri"/>
            </a:endParaRPr>
          </a:p>
        </p:txBody>
      </p:sp>
      <p:sp>
        <p:nvSpPr>
          <p:cNvPr id="1279" name="Google Shape;1279;p65"/>
          <p:cNvSpPr/>
          <p:nvPr/>
        </p:nvSpPr>
        <p:spPr>
          <a:xfrm>
            <a:off x="6612962" y="2601728"/>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{{PI_T2_5_SA}}</a:t>
            </a:r>
            <a:endParaRPr sz="700" b="0" i="0" u="none" strike="noStrike" cap="none">
              <a:solidFill>
                <a:schemeClr val="dk1"/>
              </a:solidFill>
              <a:latin typeface="Calibri"/>
              <a:ea typeface="Calibri"/>
              <a:cs typeface="Calibri"/>
              <a:sym typeface="Calibri"/>
            </a:endParaRPr>
          </a:p>
        </p:txBody>
      </p:sp>
      <p:sp>
        <p:nvSpPr>
          <p:cNvPr id="1280" name="Google Shape;1280;p65"/>
          <p:cNvSpPr/>
          <p:nvPr/>
        </p:nvSpPr>
        <p:spPr>
          <a:xfrm>
            <a:off x="7277980" y="1624875"/>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{{PI_T2_1_FA}} / {{PI_T2_1_LA}}</a:t>
            </a:r>
            <a:endParaRPr sz="800" b="0" i="0" u="none" strike="noStrike" cap="none">
              <a:solidFill>
                <a:schemeClr val="dk1"/>
              </a:solidFill>
              <a:latin typeface="Calibri"/>
              <a:ea typeface="Calibri"/>
              <a:cs typeface="Calibri"/>
              <a:sym typeface="Calibri"/>
            </a:endParaRPr>
          </a:p>
        </p:txBody>
      </p:sp>
      <p:sp>
        <p:nvSpPr>
          <p:cNvPr id="1281" name="Google Shape;1281;p65"/>
          <p:cNvSpPr/>
          <p:nvPr/>
        </p:nvSpPr>
        <p:spPr>
          <a:xfrm>
            <a:off x="7282310" y="1868476"/>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{{PI_T2_2_FA}} / {{PI_T2_2_LA}}</a:t>
            </a:r>
            <a:endParaRPr sz="800" b="0" i="0" u="none" strike="noStrike" cap="none">
              <a:solidFill>
                <a:schemeClr val="dk1"/>
              </a:solidFill>
              <a:latin typeface="Calibri"/>
              <a:ea typeface="Calibri"/>
              <a:cs typeface="Calibri"/>
              <a:sym typeface="Calibri"/>
            </a:endParaRPr>
          </a:p>
        </p:txBody>
      </p:sp>
      <p:sp>
        <p:nvSpPr>
          <p:cNvPr id="1282" name="Google Shape;1282;p65"/>
          <p:cNvSpPr/>
          <p:nvPr/>
        </p:nvSpPr>
        <p:spPr>
          <a:xfrm>
            <a:off x="7286640" y="2112076"/>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{{PI_T2_3_FA}} / {{PI_T2_3_LA}}</a:t>
            </a:r>
            <a:endParaRPr sz="800" b="0" i="0" u="none" strike="noStrike" cap="none">
              <a:solidFill>
                <a:schemeClr val="dk1"/>
              </a:solidFill>
              <a:latin typeface="Calibri"/>
              <a:ea typeface="Calibri"/>
              <a:cs typeface="Calibri"/>
              <a:sym typeface="Calibri"/>
            </a:endParaRPr>
          </a:p>
        </p:txBody>
      </p:sp>
      <p:sp>
        <p:nvSpPr>
          <p:cNvPr id="1283" name="Google Shape;1283;p65"/>
          <p:cNvSpPr/>
          <p:nvPr/>
        </p:nvSpPr>
        <p:spPr>
          <a:xfrm>
            <a:off x="7295300" y="2355677"/>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{{PI_T2_4_FA}} / {{PI_T2_4_LA}}</a:t>
            </a:r>
            <a:endParaRPr sz="800" b="0" i="0" u="none" strike="noStrike" cap="none">
              <a:solidFill>
                <a:schemeClr val="dk1"/>
              </a:solidFill>
              <a:latin typeface="Calibri"/>
              <a:ea typeface="Calibri"/>
              <a:cs typeface="Calibri"/>
              <a:sym typeface="Calibri"/>
            </a:endParaRPr>
          </a:p>
        </p:txBody>
      </p:sp>
      <p:sp>
        <p:nvSpPr>
          <p:cNvPr id="1284" name="Google Shape;1284;p65"/>
          <p:cNvSpPr/>
          <p:nvPr/>
        </p:nvSpPr>
        <p:spPr>
          <a:xfrm>
            <a:off x="7290970" y="2599278"/>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{{PI_T2_5_FA}} / {{PI_T2_5_LA}}</a:t>
            </a:r>
            <a:endParaRPr sz="800" b="0" i="0" u="none" strike="noStrike" cap="none">
              <a:solidFill>
                <a:schemeClr val="dk1"/>
              </a:solidFill>
              <a:latin typeface="Calibri"/>
              <a:ea typeface="Calibri"/>
              <a:cs typeface="Calibri"/>
              <a:sym typeface="Calibri"/>
            </a:endParaRPr>
          </a:p>
        </p:txBody>
      </p:sp>
      <p:sp>
        <p:nvSpPr>
          <p:cNvPr id="1285" name="Google Shape;1285;p65"/>
          <p:cNvSpPr/>
          <p:nvPr/>
        </p:nvSpPr>
        <p:spPr>
          <a:xfrm>
            <a:off x="4733920" y="3618329"/>
            <a:ext cx="3977700" cy="240900"/>
          </a:xfrm>
          <a:prstGeom prst="rect">
            <a:avLst/>
          </a:prstGeom>
          <a:no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286" name="Google Shape;1286;p65"/>
          <p:cNvSpPr/>
          <p:nvPr/>
        </p:nvSpPr>
        <p:spPr>
          <a:xfrm>
            <a:off x="4716809" y="3607294"/>
            <a:ext cx="1988700" cy="2409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a:ea typeface="Calibri"/>
                <a:cs typeface="Calibri"/>
                <a:sym typeface="Calibri"/>
              </a:rPr>
              <a:t>Technology</a:t>
            </a:r>
            <a:endParaRPr sz="1000" b="0" i="0" u="none" strike="noStrike" cap="none">
              <a:solidFill>
                <a:schemeClr val="dk1"/>
              </a:solidFill>
              <a:latin typeface="Calibri"/>
              <a:ea typeface="Calibri"/>
              <a:cs typeface="Calibri"/>
              <a:sym typeface="Calibri"/>
            </a:endParaRPr>
          </a:p>
        </p:txBody>
      </p:sp>
      <p:sp>
        <p:nvSpPr>
          <p:cNvPr id="1287" name="Google Shape;1287;p65"/>
          <p:cNvSpPr/>
          <p:nvPr/>
        </p:nvSpPr>
        <p:spPr>
          <a:xfrm>
            <a:off x="6618189" y="3619575"/>
            <a:ext cx="7728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a:ea typeface="Calibri"/>
                <a:cs typeface="Calibri"/>
                <a:sym typeface="Calibri"/>
              </a:rPr>
              <a:t># of SAs</a:t>
            </a:r>
            <a:endParaRPr sz="1000" b="0" i="0" u="none" strike="noStrike" cap="none">
              <a:solidFill>
                <a:schemeClr val="dk1"/>
              </a:solidFill>
              <a:latin typeface="Calibri"/>
              <a:ea typeface="Calibri"/>
              <a:cs typeface="Calibri"/>
              <a:sym typeface="Calibri"/>
            </a:endParaRPr>
          </a:p>
        </p:txBody>
      </p:sp>
      <p:sp>
        <p:nvSpPr>
          <p:cNvPr id="1288" name="Google Shape;1288;p65"/>
          <p:cNvSpPr/>
          <p:nvPr/>
        </p:nvSpPr>
        <p:spPr>
          <a:xfrm>
            <a:off x="7288689" y="3613000"/>
            <a:ext cx="1621200" cy="2409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6B7280"/>
              </a:buClr>
              <a:buSzPts val="700"/>
              <a:buFont typeface="DM Sans"/>
              <a:buNone/>
            </a:pPr>
            <a:r>
              <a:rPr lang="en" sz="1000" b="1" i="0" u="none" strike="noStrike" cap="none">
                <a:solidFill>
                  <a:srgbClr val="6B7280"/>
                </a:solidFill>
                <a:latin typeface="Calibri"/>
                <a:ea typeface="Calibri"/>
                <a:cs typeface="Calibri"/>
                <a:sym typeface="Calibri"/>
              </a:rPr>
              <a:t>First / Last Created</a:t>
            </a:r>
            <a:endParaRPr sz="1000" b="0" i="0" u="none" strike="noStrike" cap="none">
              <a:solidFill>
                <a:schemeClr val="dk1"/>
              </a:solidFill>
              <a:latin typeface="Calibri"/>
              <a:ea typeface="Calibri"/>
              <a:cs typeface="Calibri"/>
              <a:sym typeface="Calibri"/>
            </a:endParaRPr>
          </a:p>
        </p:txBody>
      </p:sp>
      <p:sp>
        <p:nvSpPr>
          <p:cNvPr id="1289" name="Google Shape;1289;p65"/>
          <p:cNvSpPr/>
          <p:nvPr/>
        </p:nvSpPr>
        <p:spPr>
          <a:xfrm>
            <a:off x="4733912" y="3858709"/>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90" name="Google Shape;1290;p65"/>
          <p:cNvCxnSpPr/>
          <p:nvPr/>
        </p:nvCxnSpPr>
        <p:spPr>
          <a:xfrm>
            <a:off x="4733912" y="4104802"/>
            <a:ext cx="3977700" cy="0"/>
          </a:xfrm>
          <a:prstGeom prst="straightConnector1">
            <a:avLst/>
          </a:prstGeom>
          <a:noFill/>
          <a:ln w="9525" cap="flat" cmpd="sng">
            <a:solidFill>
              <a:srgbClr val="E5E7EB"/>
            </a:solidFill>
            <a:prstDash val="solid"/>
            <a:round/>
            <a:headEnd type="none" w="sm" len="sm"/>
            <a:tailEnd type="none" w="sm" len="sm"/>
          </a:ln>
        </p:spPr>
      </p:cxnSp>
      <p:sp>
        <p:nvSpPr>
          <p:cNvPr id="1291" name="Google Shape;1291;p65"/>
          <p:cNvSpPr/>
          <p:nvPr/>
        </p:nvSpPr>
        <p:spPr>
          <a:xfrm>
            <a:off x="4716801" y="3858701"/>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{{PI_T3_1}}</a:t>
            </a:r>
            <a:endParaRPr sz="800" b="0" i="0" u="none" strike="noStrike" cap="none">
              <a:solidFill>
                <a:schemeClr val="dk1"/>
              </a:solidFill>
              <a:latin typeface="Calibri"/>
              <a:ea typeface="Calibri"/>
              <a:cs typeface="Calibri"/>
              <a:sym typeface="Calibri"/>
            </a:endParaRPr>
          </a:p>
        </p:txBody>
      </p:sp>
      <p:sp>
        <p:nvSpPr>
          <p:cNvPr id="1292" name="Google Shape;1292;p65"/>
          <p:cNvSpPr/>
          <p:nvPr/>
        </p:nvSpPr>
        <p:spPr>
          <a:xfrm>
            <a:off x="6620705" y="3858725"/>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{{PI_T3_1_SA}}</a:t>
            </a:r>
            <a:endParaRPr sz="700" b="0" i="0" u="none" strike="noStrike" cap="none">
              <a:solidFill>
                <a:schemeClr val="dk1"/>
              </a:solidFill>
              <a:latin typeface="Calibri"/>
              <a:ea typeface="Calibri"/>
              <a:cs typeface="Calibri"/>
              <a:sym typeface="Calibri"/>
            </a:endParaRPr>
          </a:p>
        </p:txBody>
      </p:sp>
      <p:sp>
        <p:nvSpPr>
          <p:cNvPr id="1293" name="Google Shape;1293;p65"/>
          <p:cNvSpPr/>
          <p:nvPr/>
        </p:nvSpPr>
        <p:spPr>
          <a:xfrm>
            <a:off x="4733912" y="4104802"/>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94" name="Google Shape;1294;p65"/>
          <p:cNvCxnSpPr/>
          <p:nvPr/>
        </p:nvCxnSpPr>
        <p:spPr>
          <a:xfrm>
            <a:off x="4718198" y="4342990"/>
            <a:ext cx="3977700" cy="0"/>
          </a:xfrm>
          <a:prstGeom prst="straightConnector1">
            <a:avLst/>
          </a:prstGeom>
          <a:noFill/>
          <a:ln w="9525" cap="flat" cmpd="sng">
            <a:solidFill>
              <a:srgbClr val="888888"/>
            </a:solidFill>
            <a:prstDash val="solid"/>
            <a:round/>
            <a:headEnd type="none" w="sm" len="sm"/>
            <a:tailEnd type="none" w="sm" len="sm"/>
          </a:ln>
        </p:spPr>
      </p:cxnSp>
      <p:sp>
        <p:nvSpPr>
          <p:cNvPr id="1295" name="Google Shape;1295;p65"/>
          <p:cNvSpPr/>
          <p:nvPr/>
        </p:nvSpPr>
        <p:spPr>
          <a:xfrm>
            <a:off x="4716801" y="4104795"/>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{{PI_T3_2}}</a:t>
            </a:r>
            <a:endParaRPr sz="800" b="0" i="0" u="none" strike="noStrike" cap="none">
              <a:solidFill>
                <a:schemeClr val="dk1"/>
              </a:solidFill>
              <a:latin typeface="Calibri"/>
              <a:ea typeface="Calibri"/>
              <a:cs typeface="Calibri"/>
              <a:sym typeface="Calibri"/>
            </a:endParaRPr>
          </a:p>
        </p:txBody>
      </p:sp>
      <p:sp>
        <p:nvSpPr>
          <p:cNvPr id="1296" name="Google Shape;1296;p65"/>
          <p:cNvSpPr/>
          <p:nvPr/>
        </p:nvSpPr>
        <p:spPr>
          <a:xfrm>
            <a:off x="4733912" y="4350895"/>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297" name="Google Shape;1297;p65"/>
          <p:cNvCxnSpPr/>
          <p:nvPr/>
        </p:nvCxnSpPr>
        <p:spPr>
          <a:xfrm>
            <a:off x="4733912" y="4596988"/>
            <a:ext cx="3977700" cy="0"/>
          </a:xfrm>
          <a:prstGeom prst="straightConnector1">
            <a:avLst/>
          </a:prstGeom>
          <a:noFill/>
          <a:ln w="9525" cap="flat" cmpd="sng">
            <a:solidFill>
              <a:srgbClr val="E5E7EB"/>
            </a:solidFill>
            <a:prstDash val="solid"/>
            <a:round/>
            <a:headEnd type="none" w="sm" len="sm"/>
            <a:tailEnd type="none" w="sm" len="sm"/>
          </a:ln>
        </p:spPr>
      </p:cxnSp>
      <p:sp>
        <p:nvSpPr>
          <p:cNvPr id="1298" name="Google Shape;1298;p65"/>
          <p:cNvSpPr/>
          <p:nvPr/>
        </p:nvSpPr>
        <p:spPr>
          <a:xfrm>
            <a:off x="4716801" y="4350889"/>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{{PI_T3_3}}</a:t>
            </a:r>
            <a:endParaRPr sz="800" b="0" i="0" u="none" strike="noStrike" cap="none">
              <a:solidFill>
                <a:schemeClr val="dk1"/>
              </a:solidFill>
              <a:latin typeface="Calibri"/>
              <a:ea typeface="Calibri"/>
              <a:cs typeface="Calibri"/>
              <a:sym typeface="Calibri"/>
            </a:endParaRPr>
          </a:p>
        </p:txBody>
      </p:sp>
      <p:sp>
        <p:nvSpPr>
          <p:cNvPr id="1299" name="Google Shape;1299;p65"/>
          <p:cNvSpPr/>
          <p:nvPr/>
        </p:nvSpPr>
        <p:spPr>
          <a:xfrm>
            <a:off x="4733912" y="4596988"/>
            <a:ext cx="3977700" cy="246000"/>
          </a:xfrm>
          <a:prstGeom prst="rect">
            <a:avLst/>
          </a:prstGeom>
          <a:solidFill>
            <a:srgbClr val="F9FAFB"/>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300" name="Google Shape;1300;p65"/>
          <p:cNvCxnSpPr/>
          <p:nvPr/>
        </p:nvCxnSpPr>
        <p:spPr>
          <a:xfrm>
            <a:off x="4721240" y="4833171"/>
            <a:ext cx="3977700" cy="0"/>
          </a:xfrm>
          <a:prstGeom prst="straightConnector1">
            <a:avLst/>
          </a:prstGeom>
          <a:noFill/>
          <a:ln w="9525" cap="flat" cmpd="sng">
            <a:solidFill>
              <a:srgbClr val="888888"/>
            </a:solidFill>
            <a:prstDash val="solid"/>
            <a:round/>
            <a:headEnd type="none" w="sm" len="sm"/>
            <a:tailEnd type="none" w="sm" len="sm"/>
          </a:ln>
        </p:spPr>
      </p:cxnSp>
      <p:sp>
        <p:nvSpPr>
          <p:cNvPr id="1301" name="Google Shape;1301;p65"/>
          <p:cNvSpPr/>
          <p:nvPr/>
        </p:nvSpPr>
        <p:spPr>
          <a:xfrm>
            <a:off x="4716801" y="4596983"/>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{{PI_T3_4}}</a:t>
            </a:r>
            <a:endParaRPr sz="800" b="0" i="0" u="none" strike="noStrike" cap="none">
              <a:solidFill>
                <a:schemeClr val="dk1"/>
              </a:solidFill>
              <a:latin typeface="Calibri"/>
              <a:ea typeface="Calibri"/>
              <a:cs typeface="Calibri"/>
              <a:sym typeface="Calibri"/>
            </a:endParaRPr>
          </a:p>
        </p:txBody>
      </p:sp>
      <p:sp>
        <p:nvSpPr>
          <p:cNvPr id="1302" name="Google Shape;1302;p65"/>
          <p:cNvSpPr/>
          <p:nvPr/>
        </p:nvSpPr>
        <p:spPr>
          <a:xfrm>
            <a:off x="4733912" y="4843081"/>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303" name="Google Shape;1303;p65"/>
          <p:cNvSpPr/>
          <p:nvPr/>
        </p:nvSpPr>
        <p:spPr>
          <a:xfrm>
            <a:off x="4716801" y="4843077"/>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{{PI_T3_5}}</a:t>
            </a:r>
            <a:endParaRPr sz="800" b="0" i="0" u="none" strike="noStrike" cap="none">
              <a:solidFill>
                <a:schemeClr val="dk1"/>
              </a:solidFill>
              <a:latin typeface="Calibri"/>
              <a:ea typeface="Calibri"/>
              <a:cs typeface="Calibri"/>
              <a:sym typeface="Calibri"/>
            </a:endParaRPr>
          </a:p>
        </p:txBody>
      </p:sp>
      <p:cxnSp>
        <p:nvCxnSpPr>
          <p:cNvPr id="1304" name="Google Shape;1304;p65"/>
          <p:cNvCxnSpPr/>
          <p:nvPr/>
        </p:nvCxnSpPr>
        <p:spPr>
          <a:xfrm>
            <a:off x="4694756" y="5086816"/>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5" name="Google Shape;1305;p65"/>
          <p:cNvCxnSpPr/>
          <p:nvPr/>
        </p:nvCxnSpPr>
        <p:spPr>
          <a:xfrm>
            <a:off x="4712116" y="4601433"/>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6" name="Google Shape;1306;p65"/>
          <p:cNvCxnSpPr/>
          <p:nvPr/>
        </p:nvCxnSpPr>
        <p:spPr>
          <a:xfrm>
            <a:off x="4715157" y="4110234"/>
            <a:ext cx="3977700" cy="0"/>
          </a:xfrm>
          <a:prstGeom prst="straightConnector1">
            <a:avLst/>
          </a:prstGeom>
          <a:noFill/>
          <a:ln w="9525" cap="flat" cmpd="sng">
            <a:solidFill>
              <a:srgbClr val="888888"/>
            </a:solidFill>
            <a:prstDash val="solid"/>
            <a:round/>
            <a:headEnd type="none" w="sm" len="sm"/>
            <a:tailEnd type="none" w="sm" len="sm"/>
          </a:ln>
        </p:spPr>
      </p:cxnSp>
      <p:cxnSp>
        <p:nvCxnSpPr>
          <p:cNvPr id="1307" name="Google Shape;1307;p65"/>
          <p:cNvCxnSpPr/>
          <p:nvPr/>
        </p:nvCxnSpPr>
        <p:spPr>
          <a:xfrm>
            <a:off x="4733413" y="3835655"/>
            <a:ext cx="3977700" cy="0"/>
          </a:xfrm>
          <a:prstGeom prst="straightConnector1">
            <a:avLst/>
          </a:prstGeom>
          <a:noFill/>
          <a:ln w="14300" cap="flat" cmpd="sng">
            <a:solidFill>
              <a:srgbClr val="888888"/>
            </a:solidFill>
            <a:prstDash val="solid"/>
            <a:round/>
            <a:headEnd type="none" w="sm" len="sm"/>
            <a:tailEnd type="none" w="sm" len="sm"/>
          </a:ln>
        </p:spPr>
      </p:cxnSp>
      <p:sp>
        <p:nvSpPr>
          <p:cNvPr id="1308" name="Google Shape;1308;p65"/>
          <p:cNvSpPr/>
          <p:nvPr/>
        </p:nvSpPr>
        <p:spPr>
          <a:xfrm>
            <a:off x="6617714" y="4102344"/>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{{PI_T3_2_SA}}</a:t>
            </a:r>
            <a:endParaRPr sz="700" b="0" i="0" u="none" strike="noStrike" cap="none">
              <a:solidFill>
                <a:schemeClr val="dk1"/>
              </a:solidFill>
              <a:latin typeface="Calibri"/>
              <a:ea typeface="Calibri"/>
              <a:cs typeface="Calibri"/>
              <a:sym typeface="Calibri"/>
            </a:endParaRPr>
          </a:p>
        </p:txBody>
      </p:sp>
      <p:sp>
        <p:nvSpPr>
          <p:cNvPr id="1309" name="Google Shape;1309;p65"/>
          <p:cNvSpPr/>
          <p:nvPr/>
        </p:nvSpPr>
        <p:spPr>
          <a:xfrm>
            <a:off x="6626688" y="4345964"/>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{{PI_T3_3_SA}}</a:t>
            </a:r>
            <a:endParaRPr sz="700" b="0" i="0" u="none" strike="noStrike" cap="none">
              <a:solidFill>
                <a:schemeClr val="dk1"/>
              </a:solidFill>
              <a:latin typeface="Calibri"/>
              <a:ea typeface="Calibri"/>
              <a:cs typeface="Calibri"/>
              <a:sym typeface="Calibri"/>
            </a:endParaRPr>
          </a:p>
        </p:txBody>
      </p:sp>
      <p:sp>
        <p:nvSpPr>
          <p:cNvPr id="1310" name="Google Shape;1310;p65"/>
          <p:cNvSpPr/>
          <p:nvPr/>
        </p:nvSpPr>
        <p:spPr>
          <a:xfrm>
            <a:off x="6629679" y="4589583"/>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{{PI_T3_4_SA}}</a:t>
            </a:r>
            <a:endParaRPr sz="700" b="0" i="0" u="none" strike="noStrike" cap="none">
              <a:solidFill>
                <a:schemeClr val="dk1"/>
              </a:solidFill>
              <a:latin typeface="Calibri"/>
              <a:ea typeface="Calibri"/>
              <a:cs typeface="Calibri"/>
              <a:sym typeface="Calibri"/>
            </a:endParaRPr>
          </a:p>
        </p:txBody>
      </p:sp>
      <p:sp>
        <p:nvSpPr>
          <p:cNvPr id="1311" name="Google Shape;1311;p65"/>
          <p:cNvSpPr/>
          <p:nvPr/>
        </p:nvSpPr>
        <p:spPr>
          <a:xfrm>
            <a:off x="6623696" y="4833203"/>
            <a:ext cx="772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{{PI_T3_5_SA}}</a:t>
            </a:r>
            <a:endParaRPr sz="700" b="0" i="0" u="none" strike="noStrike" cap="none">
              <a:solidFill>
                <a:schemeClr val="dk1"/>
              </a:solidFill>
              <a:latin typeface="Calibri"/>
              <a:ea typeface="Calibri"/>
              <a:cs typeface="Calibri"/>
              <a:sym typeface="Calibri"/>
            </a:endParaRPr>
          </a:p>
        </p:txBody>
      </p:sp>
      <p:sp>
        <p:nvSpPr>
          <p:cNvPr id="1312" name="Google Shape;1312;p65"/>
          <p:cNvSpPr/>
          <p:nvPr/>
        </p:nvSpPr>
        <p:spPr>
          <a:xfrm>
            <a:off x="7288714" y="3856350"/>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{{PI_T3_1_FA}} / {{PI_T3_1_LA}}</a:t>
            </a:r>
            <a:endParaRPr sz="800" b="0" i="0" u="none" strike="noStrike" cap="none">
              <a:solidFill>
                <a:schemeClr val="dk1"/>
              </a:solidFill>
              <a:latin typeface="Calibri"/>
              <a:ea typeface="Calibri"/>
              <a:cs typeface="Calibri"/>
              <a:sym typeface="Calibri"/>
            </a:endParaRPr>
          </a:p>
        </p:txBody>
      </p:sp>
      <p:sp>
        <p:nvSpPr>
          <p:cNvPr id="1313" name="Google Shape;1313;p65"/>
          <p:cNvSpPr/>
          <p:nvPr/>
        </p:nvSpPr>
        <p:spPr>
          <a:xfrm>
            <a:off x="7293044" y="4099951"/>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{{PI_T3_2_FA}} / {{PI_T3_2_LA}}</a:t>
            </a:r>
            <a:endParaRPr sz="800" b="0" i="0" u="none" strike="noStrike" cap="none">
              <a:solidFill>
                <a:schemeClr val="dk1"/>
              </a:solidFill>
              <a:latin typeface="Calibri"/>
              <a:ea typeface="Calibri"/>
              <a:cs typeface="Calibri"/>
              <a:sym typeface="Calibri"/>
            </a:endParaRPr>
          </a:p>
        </p:txBody>
      </p:sp>
      <p:sp>
        <p:nvSpPr>
          <p:cNvPr id="1314" name="Google Shape;1314;p65"/>
          <p:cNvSpPr/>
          <p:nvPr/>
        </p:nvSpPr>
        <p:spPr>
          <a:xfrm>
            <a:off x="7297374" y="4343551"/>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{{PI_T3_3_FA}} / {{PI_T3_3_LA}}</a:t>
            </a:r>
            <a:endParaRPr sz="800" b="0" i="0" u="none" strike="noStrike" cap="none">
              <a:solidFill>
                <a:schemeClr val="dk1"/>
              </a:solidFill>
              <a:latin typeface="Calibri"/>
              <a:ea typeface="Calibri"/>
              <a:cs typeface="Calibri"/>
              <a:sym typeface="Calibri"/>
            </a:endParaRPr>
          </a:p>
        </p:txBody>
      </p:sp>
      <p:sp>
        <p:nvSpPr>
          <p:cNvPr id="1315" name="Google Shape;1315;p65"/>
          <p:cNvSpPr/>
          <p:nvPr/>
        </p:nvSpPr>
        <p:spPr>
          <a:xfrm>
            <a:off x="7306035" y="4587152"/>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{{PI_T3_4_FA}} / {{PI_T3_4_LA}}</a:t>
            </a:r>
            <a:endParaRPr sz="800" b="0" i="0" u="none" strike="noStrike" cap="none">
              <a:solidFill>
                <a:schemeClr val="dk1"/>
              </a:solidFill>
              <a:latin typeface="Calibri"/>
              <a:ea typeface="Calibri"/>
              <a:cs typeface="Calibri"/>
              <a:sym typeface="Calibri"/>
            </a:endParaRPr>
          </a:p>
        </p:txBody>
      </p:sp>
      <p:sp>
        <p:nvSpPr>
          <p:cNvPr id="1316" name="Google Shape;1316;p65"/>
          <p:cNvSpPr/>
          <p:nvPr/>
        </p:nvSpPr>
        <p:spPr>
          <a:xfrm>
            <a:off x="7301704" y="4830753"/>
            <a:ext cx="16212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{{PI_T3_5_FA}} / {{PI_T3_5_LA}}</a:t>
            </a:r>
            <a:endParaRPr sz="800" b="0" i="0" u="none" strike="noStrike" cap="none">
              <a:solidFill>
                <a:schemeClr val="dk1"/>
              </a:solidFill>
              <a:latin typeface="Calibri"/>
              <a:ea typeface="Calibri"/>
              <a:cs typeface="Calibri"/>
              <a:sym typeface="Calibri"/>
            </a:endParaRPr>
          </a:p>
        </p:txBody>
      </p:sp>
      <p:sp>
        <p:nvSpPr>
          <p:cNvPr id="1317" name="Google Shape;1317;p65"/>
          <p:cNvSpPr/>
          <p:nvPr/>
        </p:nvSpPr>
        <p:spPr>
          <a:xfrm>
            <a:off x="369464" y="28911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318" name="Google Shape;1318;p65"/>
          <p:cNvCxnSpPr/>
          <p:nvPr/>
        </p:nvCxnSpPr>
        <p:spPr>
          <a:xfrm>
            <a:off x="359833" y="3140736"/>
            <a:ext cx="3977700" cy="0"/>
          </a:xfrm>
          <a:prstGeom prst="straightConnector1">
            <a:avLst/>
          </a:prstGeom>
          <a:noFill/>
          <a:ln w="9525" cap="flat" cmpd="sng">
            <a:solidFill>
              <a:srgbClr val="E5E7EB"/>
            </a:solidFill>
            <a:prstDash val="solid"/>
            <a:round/>
            <a:headEnd type="none" w="sm" len="sm"/>
            <a:tailEnd type="none" w="sm" len="sm"/>
          </a:ln>
        </p:spPr>
      </p:cxnSp>
      <p:sp>
        <p:nvSpPr>
          <p:cNvPr id="1319" name="Google Shape;1319;p65"/>
          <p:cNvSpPr/>
          <p:nvPr/>
        </p:nvSpPr>
        <p:spPr>
          <a:xfrm>
            <a:off x="369460" y="28911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{{PI_T1_6}}</a:t>
            </a:r>
            <a:endParaRPr sz="800" b="0" i="0" u="none" strike="noStrike" cap="none">
              <a:solidFill>
                <a:schemeClr val="dk1"/>
              </a:solidFill>
              <a:latin typeface="Calibri"/>
              <a:ea typeface="Calibri"/>
              <a:cs typeface="Calibri"/>
              <a:sym typeface="Calibri"/>
            </a:endParaRPr>
          </a:p>
        </p:txBody>
      </p:sp>
      <p:cxnSp>
        <p:nvCxnSpPr>
          <p:cNvPr id="1320" name="Google Shape;1320;p65"/>
          <p:cNvCxnSpPr/>
          <p:nvPr/>
        </p:nvCxnSpPr>
        <p:spPr>
          <a:xfrm>
            <a:off x="347415" y="3134921"/>
            <a:ext cx="3977700" cy="0"/>
          </a:xfrm>
          <a:prstGeom prst="straightConnector1">
            <a:avLst/>
          </a:prstGeom>
          <a:noFill/>
          <a:ln w="9525" cap="flat" cmpd="sng">
            <a:solidFill>
              <a:srgbClr val="888888"/>
            </a:solidFill>
            <a:prstDash val="solid"/>
            <a:round/>
            <a:headEnd type="none" w="sm" len="sm"/>
            <a:tailEnd type="none" w="sm" len="sm"/>
          </a:ln>
        </p:spPr>
      </p:cxnSp>
      <p:sp>
        <p:nvSpPr>
          <p:cNvPr id="1321" name="Google Shape;1321;p65"/>
          <p:cNvSpPr/>
          <p:nvPr/>
        </p:nvSpPr>
        <p:spPr>
          <a:xfrm>
            <a:off x="2312547" y="28813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{{PI_T1_6_SA}}</a:t>
            </a:r>
            <a:endParaRPr sz="700" b="0" i="0" u="none" strike="noStrike" cap="none">
              <a:solidFill>
                <a:schemeClr val="dk1"/>
              </a:solidFill>
              <a:latin typeface="Calibri"/>
              <a:ea typeface="Calibri"/>
              <a:cs typeface="Calibri"/>
              <a:sym typeface="Calibri"/>
            </a:endParaRPr>
          </a:p>
        </p:txBody>
      </p:sp>
      <p:sp>
        <p:nvSpPr>
          <p:cNvPr id="1322" name="Google Shape;1322;p65"/>
          <p:cNvSpPr/>
          <p:nvPr/>
        </p:nvSpPr>
        <p:spPr>
          <a:xfrm>
            <a:off x="2937042" y="28788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{{PI_T1_6_FA}} / {{PI_T1_6_LA}}</a:t>
            </a:r>
            <a:endParaRPr sz="800" b="0" i="0" u="none" strike="noStrike" cap="none">
              <a:solidFill>
                <a:schemeClr val="dk1"/>
              </a:solidFill>
              <a:latin typeface="Calibri"/>
              <a:ea typeface="Calibri"/>
              <a:cs typeface="Calibri"/>
              <a:sym typeface="Calibri"/>
            </a:endParaRPr>
          </a:p>
        </p:txBody>
      </p:sp>
      <p:sp>
        <p:nvSpPr>
          <p:cNvPr id="1323" name="Google Shape;1323;p65"/>
          <p:cNvSpPr/>
          <p:nvPr/>
        </p:nvSpPr>
        <p:spPr>
          <a:xfrm>
            <a:off x="380824" y="31565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324" name="Google Shape;1324;p65"/>
          <p:cNvCxnSpPr/>
          <p:nvPr/>
        </p:nvCxnSpPr>
        <p:spPr>
          <a:xfrm>
            <a:off x="371193" y="3406136"/>
            <a:ext cx="3977700" cy="0"/>
          </a:xfrm>
          <a:prstGeom prst="straightConnector1">
            <a:avLst/>
          </a:prstGeom>
          <a:noFill/>
          <a:ln w="9525" cap="flat" cmpd="sng">
            <a:solidFill>
              <a:srgbClr val="E5E7EB"/>
            </a:solidFill>
            <a:prstDash val="solid"/>
            <a:round/>
            <a:headEnd type="none" w="sm" len="sm"/>
            <a:tailEnd type="none" w="sm" len="sm"/>
          </a:ln>
        </p:spPr>
      </p:cxnSp>
      <p:sp>
        <p:nvSpPr>
          <p:cNvPr id="1325" name="Google Shape;1325;p65"/>
          <p:cNvSpPr/>
          <p:nvPr/>
        </p:nvSpPr>
        <p:spPr>
          <a:xfrm>
            <a:off x="380820" y="31565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{{PI_T1_7}}</a:t>
            </a:r>
            <a:endParaRPr sz="800" b="0" i="0" u="none" strike="noStrike" cap="none">
              <a:solidFill>
                <a:schemeClr val="dk1"/>
              </a:solidFill>
              <a:latin typeface="Calibri"/>
              <a:ea typeface="Calibri"/>
              <a:cs typeface="Calibri"/>
              <a:sym typeface="Calibri"/>
            </a:endParaRPr>
          </a:p>
        </p:txBody>
      </p:sp>
      <p:cxnSp>
        <p:nvCxnSpPr>
          <p:cNvPr id="1326" name="Google Shape;1326;p65"/>
          <p:cNvCxnSpPr/>
          <p:nvPr/>
        </p:nvCxnSpPr>
        <p:spPr>
          <a:xfrm>
            <a:off x="358775" y="3400321"/>
            <a:ext cx="3977700" cy="0"/>
          </a:xfrm>
          <a:prstGeom prst="straightConnector1">
            <a:avLst/>
          </a:prstGeom>
          <a:noFill/>
          <a:ln w="9525" cap="flat" cmpd="sng">
            <a:solidFill>
              <a:srgbClr val="888888"/>
            </a:solidFill>
            <a:prstDash val="solid"/>
            <a:round/>
            <a:headEnd type="none" w="sm" len="sm"/>
            <a:tailEnd type="none" w="sm" len="sm"/>
          </a:ln>
        </p:spPr>
      </p:cxnSp>
      <p:sp>
        <p:nvSpPr>
          <p:cNvPr id="1327" name="Google Shape;1327;p65"/>
          <p:cNvSpPr/>
          <p:nvPr/>
        </p:nvSpPr>
        <p:spPr>
          <a:xfrm>
            <a:off x="2323907" y="31467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{{PI_T1_7_SA}}</a:t>
            </a:r>
            <a:endParaRPr sz="700" b="0" i="0" u="none" strike="noStrike" cap="none">
              <a:solidFill>
                <a:schemeClr val="dk1"/>
              </a:solidFill>
              <a:latin typeface="Calibri"/>
              <a:ea typeface="Calibri"/>
              <a:cs typeface="Calibri"/>
              <a:sym typeface="Calibri"/>
            </a:endParaRPr>
          </a:p>
        </p:txBody>
      </p:sp>
      <p:sp>
        <p:nvSpPr>
          <p:cNvPr id="1328" name="Google Shape;1328;p65"/>
          <p:cNvSpPr/>
          <p:nvPr/>
        </p:nvSpPr>
        <p:spPr>
          <a:xfrm>
            <a:off x="2948402" y="31442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{{PI_T1_7_FA}} / {{PI_T1_7_LA}}</a:t>
            </a:r>
            <a:endParaRPr sz="800" b="0" i="0" u="none" strike="noStrike" cap="none">
              <a:solidFill>
                <a:schemeClr val="dk1"/>
              </a:solidFill>
              <a:latin typeface="Calibri"/>
              <a:ea typeface="Calibri"/>
              <a:cs typeface="Calibri"/>
              <a:sym typeface="Calibri"/>
            </a:endParaRPr>
          </a:p>
        </p:txBody>
      </p:sp>
      <p:sp>
        <p:nvSpPr>
          <p:cNvPr id="1329" name="Google Shape;1329;p65"/>
          <p:cNvSpPr/>
          <p:nvPr/>
        </p:nvSpPr>
        <p:spPr>
          <a:xfrm>
            <a:off x="377476" y="3421986"/>
            <a:ext cx="3977700" cy="2460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cxnSp>
        <p:nvCxnSpPr>
          <p:cNvPr id="1330" name="Google Shape;1330;p65"/>
          <p:cNvCxnSpPr/>
          <p:nvPr/>
        </p:nvCxnSpPr>
        <p:spPr>
          <a:xfrm>
            <a:off x="367845" y="3671536"/>
            <a:ext cx="3977700" cy="0"/>
          </a:xfrm>
          <a:prstGeom prst="straightConnector1">
            <a:avLst/>
          </a:prstGeom>
          <a:noFill/>
          <a:ln w="9525" cap="flat" cmpd="sng">
            <a:solidFill>
              <a:srgbClr val="E5E7EB"/>
            </a:solidFill>
            <a:prstDash val="solid"/>
            <a:round/>
            <a:headEnd type="none" w="sm" len="sm"/>
            <a:tailEnd type="none" w="sm" len="sm"/>
          </a:ln>
        </p:spPr>
      </p:cxnSp>
      <p:sp>
        <p:nvSpPr>
          <p:cNvPr id="1331" name="Google Shape;1331;p65"/>
          <p:cNvSpPr/>
          <p:nvPr/>
        </p:nvSpPr>
        <p:spPr>
          <a:xfrm>
            <a:off x="377472" y="3421982"/>
            <a:ext cx="2061600" cy="24600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{{PI_T1_8}}</a:t>
            </a:r>
            <a:endParaRPr sz="800" b="0" i="0" u="none" strike="noStrike" cap="none">
              <a:solidFill>
                <a:schemeClr val="dk1"/>
              </a:solidFill>
              <a:latin typeface="Calibri"/>
              <a:ea typeface="Calibri"/>
              <a:cs typeface="Calibri"/>
              <a:sym typeface="Calibri"/>
            </a:endParaRPr>
          </a:p>
        </p:txBody>
      </p:sp>
      <p:cxnSp>
        <p:nvCxnSpPr>
          <p:cNvPr id="1332" name="Google Shape;1332;p65"/>
          <p:cNvCxnSpPr/>
          <p:nvPr/>
        </p:nvCxnSpPr>
        <p:spPr>
          <a:xfrm>
            <a:off x="355427" y="3665721"/>
            <a:ext cx="3977700" cy="0"/>
          </a:xfrm>
          <a:prstGeom prst="straightConnector1">
            <a:avLst/>
          </a:prstGeom>
          <a:noFill/>
          <a:ln w="9525" cap="flat" cmpd="sng">
            <a:solidFill>
              <a:srgbClr val="888888"/>
            </a:solidFill>
            <a:prstDash val="solid"/>
            <a:round/>
            <a:headEnd type="none" w="sm" len="sm"/>
            <a:tailEnd type="none" w="sm" len="sm"/>
          </a:ln>
        </p:spPr>
      </p:cxnSp>
      <p:sp>
        <p:nvSpPr>
          <p:cNvPr id="1333" name="Google Shape;1333;p65"/>
          <p:cNvSpPr/>
          <p:nvPr/>
        </p:nvSpPr>
        <p:spPr>
          <a:xfrm>
            <a:off x="2320559" y="3412113"/>
            <a:ext cx="7368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{{PI_T1_8_SA}}</a:t>
            </a:r>
            <a:endParaRPr sz="700" b="0" i="0" u="none" strike="noStrike" cap="none">
              <a:solidFill>
                <a:schemeClr val="dk1"/>
              </a:solidFill>
              <a:latin typeface="Calibri"/>
              <a:ea typeface="Calibri"/>
              <a:cs typeface="Calibri"/>
              <a:sym typeface="Calibri"/>
            </a:endParaRPr>
          </a:p>
        </p:txBody>
      </p:sp>
      <p:sp>
        <p:nvSpPr>
          <p:cNvPr id="1334" name="Google Shape;1334;p65"/>
          <p:cNvSpPr/>
          <p:nvPr/>
        </p:nvSpPr>
        <p:spPr>
          <a:xfrm>
            <a:off x="2945054" y="3409663"/>
            <a:ext cx="1594500" cy="2460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1F2937"/>
              </a:buClr>
              <a:buSzPts val="700"/>
              <a:buFont typeface="DM Sans"/>
              <a:buNone/>
            </a:pPr>
            <a:r>
              <a:rPr lang="en" sz="800" b="0" i="0" u="none" strike="noStrike" cap="none">
                <a:solidFill>
                  <a:srgbClr val="1F2937"/>
                </a:solidFill>
                <a:latin typeface="Calibri"/>
                <a:ea typeface="Calibri"/>
                <a:cs typeface="Calibri"/>
                <a:sym typeface="Calibri"/>
              </a:rPr>
              <a:t>{{PI_T1_8_FA}} / {{PI_T1_8_LA}}</a:t>
            </a:r>
            <a:endParaRPr sz="800" b="0" i="0" u="none" strike="noStrike" cap="non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ontent Slides">
  <a:themeElements>
    <a:clrScheme name="Wiz Colors">
      <a:dk1>
        <a:srgbClr val="01123F"/>
      </a:dk1>
      <a:lt1>
        <a:srgbClr val="FFFFFF"/>
      </a:lt1>
      <a:dk2>
        <a:srgbClr val="0054EC"/>
      </a:dk2>
      <a:lt2>
        <a:srgbClr val="F3F8FF"/>
      </a:lt2>
      <a:accent1>
        <a:srgbClr val="B8D3FF"/>
      </a:accent1>
      <a:accent2>
        <a:srgbClr val="6195FF"/>
      </a:accent2>
      <a:accent3>
        <a:srgbClr val="FFBFFF"/>
      </a:accent3>
      <a:accent4>
        <a:srgbClr val="F595F5"/>
      </a:accent4>
      <a:accent5>
        <a:srgbClr val="E9F9EE"/>
      </a:accent5>
      <a:accent6>
        <a:srgbClr val="FFEFEF"/>
      </a:accent6>
      <a:hlink>
        <a:srgbClr val="0055F5"/>
      </a:hlink>
      <a:folHlink>
        <a:srgbClr val="01123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760</TotalTime>
  <Words>5106</Words>
  <Application>Microsoft Office PowerPoint</Application>
  <PresentationFormat>On-screen Show (16:9)</PresentationFormat>
  <Paragraphs>796</Paragraphs>
  <Slides>23</Slides>
  <Notes>23</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23</vt:i4>
      </vt:variant>
    </vt:vector>
  </HeadingPairs>
  <TitlesOfParts>
    <vt:vector size="30" baseType="lpstr">
      <vt:lpstr>Calibri</vt:lpstr>
      <vt:lpstr>Arial</vt:lpstr>
      <vt:lpstr>DM Sans</vt:lpstr>
      <vt:lpstr>Poppins Light</vt:lpstr>
      <vt:lpstr>DM Sans Medium</vt:lpstr>
      <vt:lpstr>Simple Light</vt:lpstr>
      <vt:lpstr>Content Slides</vt:lpstr>
      <vt:lpstr>PowerPoint Presentation</vt:lpstr>
      <vt:lpstr>Wiz Adoption &amp; Democratization Maturity Model </vt:lpstr>
      <vt:lpstr>Cloud and AI Visibility Snapshot</vt:lpstr>
      <vt:lpstr>Top Three Focus Areas to Improve Cloud Visibility &amp; Coverage</vt:lpstr>
      <vt:lpstr>Wiz Adoption &amp; Usage Snapshot</vt:lpstr>
      <vt:lpstr>Wiz System Health &amp; Scans Snapshot</vt:lpstr>
      <vt:lpstr>Democratization Snapshot</vt:lpstr>
      <vt:lpstr>Top Three Focus Areas to Mature for Democratization Improvements</vt:lpstr>
      <vt:lpstr>Preview Hub Availability vs Usage</vt:lpstr>
      <vt:lpstr>Preview Hub Availability vs Usage</vt:lpstr>
      <vt:lpstr>Roadmap Tracker Usage</vt:lpstr>
      <vt:lpstr>PowerPoint Presentation</vt:lpstr>
      <vt:lpstr>Wiz Security Maturity Model </vt:lpstr>
      <vt:lpstr>Cloud Security Posture Snapshot</vt:lpstr>
      <vt:lpstr>Cloud Security Risk Snapshot</vt:lpstr>
      <vt:lpstr>Top Three Focus Areas to Improve Security Posture &amp; Risk Reduction</vt:lpstr>
      <vt:lpstr>PowerPoint Presentation</vt:lpstr>
      <vt:lpstr>Secure Development Snapshot</vt:lpstr>
      <vt:lpstr>Top Three Focus Areas to Mature for Developing Securely Improvements</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Wiz Health Assessment</dc:creator>
  <cp:lastModifiedBy>Lindsey Petrone</cp:lastModifiedBy>
  <cp:revision>15</cp:revision>
  <dcterms:modified xsi:type="dcterms:W3CDTF">2026-09-04T19:41:03Z</dcterms:modified>
</cp:coreProperties>
</file>